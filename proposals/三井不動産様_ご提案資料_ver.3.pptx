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3.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4.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charts/chart5.xml" ContentType="application/vnd.openxmlformats-officedocument.drawingml.chart+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222222"/>
                </a:solidFill>
                <a:latin typeface="Noto Sans JP"/>
              </a:defRPr>
            </a:pPr>
            <a:r>
              <a:rPr sz="1100" b="0" i="0" u="none" strike="noStrike">
                <a:solidFill>
                  <a:srgbClr val="222222"/>
                </a:solidFill>
                <a:latin typeface="Noto Sans JP"/>
              </a:rPr>
              <a:t>森林所有者の所有規模</a:t>
            </a:r>
          </a:p>
        </c:rich>
      </c:tx>
      <c:layout/>
      <c:overlay val="0"/>
    </c:title>
    <c:autoTitleDeleted val="0"/>
    <c:plotArea>
      <c:layout/>
      <c:doughnutChart>
        <c:varyColors val="1"/>
        <c:ser>
          <c:idx val="0"/>
          <c:order val="0"/>
          <c:tx>
            <c:strRef>
              <c:f>Sheet1!$B$1</c:f>
              <c:strCache>
                <c:ptCount val="1"/>
                <c:pt idx="0">
                  <c:v>所有規模</c:v>
                </c:pt>
              </c:strCache>
            </c:strRef>
          </c:tx>
          <c:spPr>
            <a:solidFill>
              <a:schemeClr val="accent1"/>
            </a:solidFill>
            <a:ln w="9525" cap="flat">
              <a:solidFill>
                <a:srgbClr val="F9F9F9"/>
              </a:solidFill>
              <a:prstDash val="solid"/>
              <a:round/>
            </a:ln>
            <a:effectLst/>
          </c:spPr>
          <c:dPt>
            <c:idx val="0"/>
            <c:bubble3D val="0"/>
            <c:spPr>
              <a:solidFill>
                <a:srgbClr val="1F9970"/>
              </a:solidFill>
              <a:ln w="12700" cap="flat">
                <a:solidFill>
                  <a:srgbClr val="FFFFFF"/>
                </a:solidFill>
                <a:prstDash val="solid"/>
                <a:round/>
              </a:ln>
              <a:effectLst/>
            </c:spPr>
          </c:dPt>
          <c:dPt>
            <c:idx val="1"/>
            <c:bubble3D val="0"/>
            <c:spPr>
              <a:solidFill>
                <a:srgbClr val="BFE3D3"/>
              </a:solidFill>
              <a:ln w="12700"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5ha未満</c:v>
                </c:pt>
                <c:pt idx="1">
                  <c:v>5ha以上</c:v>
                </c:pt>
              </c:strCache>
            </c:strRef>
          </c:cat>
          <c:val>
            <c:numRef>
              <c:f>Sheet1!$B$2:$B$3</c:f>
              <c:numCache>
                <c:ptCount val="2"/>
                <c:pt idx="0">
                  <c:v>89</c:v>
                </c:pt>
                <c:pt idx="1">
                  <c:v>11</c:v>
                </c:pt>
              </c:numCache>
            </c:numRef>
          </c:val>
        </c:ser>
        <c:firstSliceAng val="0"/>
        <c:holeSize val="58"/>
      </c:doughnutChart>
      <c:spPr>
        <a:noFill/>
        <a:ln>
          <a:noFill/>
        </a:ln>
        <a:effectLst/>
      </c:spPr>
    </c:plotArea>
    <c:legend>
      <c:legendPos val="b"/>
      <c:overlay val="0"/>
      <c:txPr>
        <a:bodyPr/>
        <a:lstStyle/>
        <a:p>
          <a:pPr>
            <a:defRPr sz="900">
              <a:latin typeface="Noto Sans JP"/>
              <a:cs typeface="Noto Sans JP"/>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222222"/>
                </a:solidFill>
                <a:latin typeface="Noto Sans JP"/>
              </a:defRPr>
            </a:pPr>
            <a:r>
              <a:rPr sz="1100" b="0" i="0" u="none" strike="noStrike">
                <a:solidFill>
                  <a:srgbClr val="222222"/>
                </a:solidFill>
                <a:latin typeface="Noto Sans JP"/>
              </a:rPr>
              <a:t>森林経営計画 認定率</a:t>
            </a:r>
          </a:p>
        </c:rich>
      </c:tx>
      <c:layout/>
      <c:overlay val="0"/>
    </c:title>
    <c:autoTitleDeleted val="0"/>
    <c:plotArea>
      <c:layout/>
      <c:barChart>
        <c:barDir val="col"/>
        <c:grouping val="clustered"/>
        <c:varyColors val="0"/>
        <c:ser>
          <c:idx val="0"/>
          <c:order val="0"/>
          <c:tx>
            <c:strRef>
              <c:f>Sheet1!$B$1</c:f>
              <c:strCache>
                <c:ptCount val="1"/>
                <c:pt idx="0">
                  <c:v>認定率</c:v>
                </c:pt>
              </c:strCache>
            </c:strRef>
          </c:tx>
          <c:spPr>
            <a:solidFill>
              <a:srgbClr val="D9534F"/>
            </a:solidFill>
            <a:effectLst/>
          </c:spPr>
          <c:invertIfNegative val="0"/>
          <c:dLbls>
            <c:numFmt formatCode="0&quot;%&quot;" sourceLinked="0"/>
            <c:txPr>
              <a:bodyPr/>
              <a:lstStyle/>
              <a:p>
                <a:pPr>
                  <a:defRPr b="1" i="0" strike="noStrike" sz="1400" u="none">
                    <a:solidFill>
                      <a:srgbClr val="000000"/>
                    </a:solidFill>
                    <a:latin typeface="Noto Sans JP"/>
                  </a:defRPr>
                </a:pPr>
              </a:p>
            </c:txPr>
            <c:showLegendKey val="0"/>
            <c:showVal val="1"/>
            <c:showCatName val="0"/>
            <c:showSerName val="0"/>
            <c:showPercent val="0"/>
            <c:showBubbleSize val="0"/>
            <c:showLeaderLines val="0"/>
          </c:dLbls>
          <c:dPt>
            <c:idx val="0"/>
            <c:invertIfNegative val="0"/>
            <c:bubble3D val="0"/>
            <c:spPr>
              <a:solidFill>
                <a:srgbClr val="D9534F"/>
              </a:solidFill>
              <a:effectLst/>
            </c:spPr>
          </c:dPt>
          <c:dPt>
            <c:idx val="1"/>
            <c:invertIfNegative val="0"/>
            <c:bubble3D val="0"/>
            <c:spPr>
              <a:solidFill>
                <a:srgbClr val="9E9E9E"/>
              </a:solidFill>
              <a:effectLst/>
            </c:spPr>
          </c:dPt>
          <c:cat>
            <c:multiLvlStrRef>
              <c:f>Sheet1!$A$2:$A$3</c:f>
              <c:multiLvlStrCache>
                <c:ptCount val="2"/>
                <c:lvl>
                  <c:pt idx="0">
                    <c:v>八王子市</c:v>
                  </c:pt>
                  <c:pt idx="1">
                    <c:v>多摩地域平均</c:v>
                  </c:pt>
                </c:lvl>
              </c:multiLvlStrCache>
            </c:multiLvlStrRef>
          </c:cat>
          <c:val>
            <c:numRef>
              <c:f>Sheet1!$B$2:$B$3</c:f>
              <c:numCache>
                <c:formatCode>General</c:formatCode>
                <c:ptCount val="2"/>
                <c:pt idx="0">
                  <c:v>25</c:v>
                </c:pt>
                <c:pt idx="1">
                  <c:v>36</c:v>
                </c:pt>
              </c:numCache>
            </c:numRef>
          </c:val>
        </c:ser>
        <c:dLbls>
          <c:numFmt formatCode="0&quot;%&quot;" sourceLinked="0"/>
          <c:txPr>
            <a:bodyPr/>
            <a:lstStyle/>
            <a:p>
              <a:pPr>
                <a:defRPr b="1" i="0" strike="noStrike" sz="1400" u="none">
                  <a:solidFill>
                    <a:srgbClr val="000000"/>
                  </a:solidFill>
                  <a:latin typeface="Noto Sans JP"/>
                </a:defRPr>
              </a:pPr>
            </a:p>
          </c:txPr>
          <c:showLegendKey val="0"/>
          <c:showVal val="1"/>
          <c:showCatName val="0"/>
          <c:showSerName val="0"/>
          <c:showPercent val="0"/>
          <c:showBubbleSize val="0"/>
          <c:showLeaderLines val="0"/>
        </c:dLbls>
        <c:gapWidth val="8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222222"/>
                </a:solidFill>
                <a:latin typeface="Noto Sans JP"/>
              </a:defRPr>
            </a:pPr>
            <a:endParaRPr lang="en-US"/>
          </a:p>
        </c:txPr>
        <c:crossAx val="2094734552"/>
        <c:crosses val="autoZero"/>
        <c:auto val="1"/>
        <c:lblAlgn val="ctr"/>
        <c:noMultiLvlLbl val="1"/>
      </c:catAx>
      <c:valAx>
        <c:axId val="2094734552"/>
        <c:scaling>
          <c:orientation val="minMax"/>
          <c:max val="45"/>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222222"/>
                </a:solidFill>
                <a:latin typeface="Noto Sans JP"/>
              </a:defRPr>
            </a:pPr>
            <a:r>
              <a:rPr sz="1100" b="0" i="0" u="none" strike="noStrike">
                <a:solidFill>
                  <a:srgbClr val="222222"/>
                </a:solidFill>
                <a:latin typeface="Noto Sans JP"/>
              </a:rPr>
              <a:t>民有林の林道密度（m/ha）多摩地域 平均6.7</a:t>
            </a:r>
          </a:p>
        </c:rich>
      </c:tx>
      <c:layout/>
      <c:overlay val="0"/>
    </c:title>
    <c:autoTitleDeleted val="0"/>
    <c:plotArea>
      <c:layout/>
      <c:barChart>
        <c:barDir val="bar"/>
        <c:grouping val="stacked"/>
        <c:varyColors val="0"/>
        <c:ser>
          <c:idx val="0"/>
          <c:order val="0"/>
          <c:tx>
            <c:strRef>
              <c:f>Sheet1!$B$1</c:f>
              <c:strCache>
                <c:ptCount val="1"/>
                <c:pt idx="0">
                  <c:v>他市町村</c:v>
                </c:pt>
              </c:strCache>
            </c:strRef>
          </c:tx>
          <c:spPr>
            <a:solidFill>
              <a:srgbClr val="B7C9C1"/>
            </a:solidFill>
            <a:effectLst/>
          </c:spPr>
          <c:invertIfNegative val="0"/>
          <c:dLbls>
            <c:numFmt formatCode="0.0;;" sourceLinked="0"/>
            <c:txPr>
              <a:bodyPr/>
              <a:lstStyle/>
              <a:p>
                <a:pPr>
                  <a:defRPr b="1" i="0" strike="noStrike" sz="10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Sheet1!$A$2:$A$7</c:f>
              <c:multiLvlStrCache>
                <c:ptCount val="6"/>
                <c:lvl>
                  <c:pt idx="0">
                    <c:v>日の出町</c:v>
                  </c:pt>
                  <c:pt idx="1">
                    <c:v>あきる野市</c:v>
                  </c:pt>
                  <c:pt idx="2">
                    <c:v>青梅市</c:v>
                  </c:pt>
                  <c:pt idx="3">
                    <c:v>檜原村</c:v>
                  </c:pt>
                  <c:pt idx="4">
                    <c:v>奥多摩町</c:v>
                  </c:pt>
                  <c:pt idx="5">
                    <c:v>八王子市</c:v>
                  </c:pt>
                </c:lvl>
              </c:multiLvlStrCache>
            </c:multiLvlStrRef>
          </c:cat>
          <c:val>
            <c:numRef>
              <c:f>Sheet1!$B$2:$B$7</c:f>
              <c:numCache>
                <c:formatCode>General</c:formatCode>
                <c:ptCount val="6"/>
                <c:pt idx="0">
                  <c:v>18.3</c:v>
                </c:pt>
                <c:pt idx="1">
                  <c:v>8.8</c:v>
                </c:pt>
                <c:pt idx="2">
                  <c:v>7</c:v>
                </c:pt>
                <c:pt idx="3">
                  <c:v>6.5</c:v>
                </c:pt>
                <c:pt idx="4">
                  <c:v>5.5</c:v>
                </c:pt>
                <c:pt idx="5">
                  <c:v>0</c:v>
                </c:pt>
              </c:numCache>
            </c:numRef>
          </c:val>
        </c:ser>
        <c:ser>
          <c:idx val="1"/>
          <c:order val="1"/>
          <c:tx>
            <c:strRef>
              <c:f>Sheet1!$C$1</c:f>
              <c:strCache>
                <c:ptCount val="1"/>
                <c:pt idx="0">
                  <c:v>八王子市</c:v>
                </c:pt>
              </c:strCache>
            </c:strRef>
          </c:tx>
          <c:spPr>
            <a:solidFill>
              <a:srgbClr val="D9534F"/>
            </a:solidFill>
            <a:effectLst/>
          </c:spPr>
          <c:invertIfNegative val="0"/>
          <c:dLbls>
            <c:numFmt formatCode="0.0;;" sourceLinked="0"/>
            <c:txPr>
              <a:bodyPr/>
              <a:lstStyle/>
              <a:p>
                <a:pPr>
                  <a:defRPr b="1" i="0" strike="noStrike" sz="10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Sheet1!$A$2:$A$7</c:f>
              <c:multiLvlStrCache>
                <c:ptCount val="6"/>
                <c:lvl>
                  <c:pt idx="0">
                    <c:v>日の出町</c:v>
                  </c:pt>
                  <c:pt idx="1">
                    <c:v>あきる野市</c:v>
                  </c:pt>
                  <c:pt idx="2">
                    <c:v>青梅市</c:v>
                  </c:pt>
                  <c:pt idx="3">
                    <c:v>檜原村</c:v>
                  </c:pt>
                  <c:pt idx="4">
                    <c:v>奥多摩町</c:v>
                  </c:pt>
                  <c:pt idx="5">
                    <c:v>八王子市</c:v>
                  </c:pt>
                </c:lvl>
              </c:multiLvlStrCache>
            </c:multiLvlStrRef>
          </c:cat>
          <c:val>
            <c:numRef>
              <c:f>Sheet1!$C$2:$C$7</c:f>
              <c:numCache>
                <c:formatCode>General</c:formatCode>
                <c:ptCount val="6"/>
                <c:pt idx="0">
                  <c:v>0</c:v>
                </c:pt>
                <c:pt idx="1">
                  <c:v>0</c:v>
                </c:pt>
                <c:pt idx="2">
                  <c:v>0</c:v>
                </c:pt>
                <c:pt idx="3">
                  <c:v>0</c:v>
                </c:pt>
                <c:pt idx="4">
                  <c:v>0</c:v>
                </c:pt>
                <c:pt idx="5">
                  <c:v>5.5</c:v>
                </c:pt>
              </c:numCache>
            </c:numRef>
          </c:val>
        </c:ser>
        <c:dLbls>
          <c:numFmt formatCode="0.0;;" sourceLinked="0"/>
          <c:txPr>
            <a:bodyPr/>
            <a:lstStyle/>
            <a:p>
              <a:pPr>
                <a:defRPr b="1" i="0" strike="noStrike" sz="1000" u="none">
                  <a:solidFill>
                    <a:srgbClr val="FFFFFF"/>
                  </a:solidFill>
                  <a:latin typeface="Arial"/>
                </a:defRPr>
              </a:pPr>
            </a:p>
          </c:txPr>
          <c:dLblPos val="inEnd"/>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222222"/>
                </a:solidFill>
                <a:latin typeface="Noto Sans JP"/>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50" b="0" i="0" u="none" strike="noStrike">
                <a:solidFill>
                  <a:srgbClr val="222222"/>
                </a:solidFill>
                <a:latin typeface="Noto Sans JP"/>
              </a:defRPr>
            </a:pPr>
            <a:r>
              <a:rPr sz="1050" b="0" i="0" u="none" strike="noStrike">
                <a:solidFill>
                  <a:srgbClr val="222222"/>
                </a:solidFill>
                <a:latin typeface="Noto Sans JP"/>
              </a:rPr>
              <a:t>譲与税充当可能額の内訳（計1億4,012万円）</a:t>
            </a:r>
          </a:p>
        </c:rich>
      </c:tx>
      <c:layout/>
      <c:overlay val="0"/>
    </c:title>
    <c:autoTitleDeleted val="0"/>
    <c:plotArea>
      <c:layout/>
      <c:doughnutChart>
        <c:varyColors val="1"/>
        <c:ser>
          <c:idx val="0"/>
          <c:order val="0"/>
          <c:tx>
            <c:strRef>
              <c:f>Sheet1!$B$1</c:f>
              <c:strCache>
                <c:ptCount val="1"/>
                <c:pt idx="0">
                  <c:v>充当可能額</c:v>
                </c:pt>
              </c:strCache>
            </c:strRef>
          </c:tx>
          <c:spPr>
            <a:solidFill>
              <a:schemeClr val="accent1"/>
            </a:solidFill>
            <a:ln w="9525" cap="flat">
              <a:solidFill>
                <a:srgbClr val="F9F9F9"/>
              </a:solidFill>
              <a:prstDash val="solid"/>
              <a:round/>
            </a:ln>
            <a:effectLst/>
          </c:spPr>
          <c:dPt>
            <c:idx val="0"/>
            <c:bubble3D val="0"/>
            <c:spPr>
              <a:solidFill>
                <a:srgbClr val="9E9E9E"/>
              </a:solidFill>
              <a:ln w="12700" cap="flat">
                <a:solidFill>
                  <a:srgbClr val="FFFFFF"/>
                </a:solidFill>
                <a:prstDash val="solid"/>
                <a:round/>
              </a:ln>
              <a:effectLst/>
            </c:spPr>
          </c:dPt>
          <c:dPt>
            <c:idx val="1"/>
            <c:bubble3D val="0"/>
            <c:spPr>
              <a:solidFill>
                <a:srgbClr val="D9534F"/>
              </a:solidFill>
              <a:ln w="12700" cap="flat">
                <a:solidFill>
                  <a:srgbClr val="FFFFFF"/>
                </a:solidFill>
                <a:prstDash val="solid"/>
                <a:round/>
              </a:ln>
              <a:effectLst/>
            </c:spPr>
          </c:dPt>
          <c:dPt>
            <c:idx val="2"/>
            <c:bubble3D val="0"/>
            <c:spPr>
              <a:solidFill>
                <a:srgbClr val="7FC4A8"/>
              </a:solidFill>
              <a:ln w="12700" cap="flat">
                <a:solidFill>
                  <a:srgbClr val="FFFFFF"/>
                </a:solidFill>
                <a:prstDash val="solid"/>
                <a:round/>
              </a:ln>
              <a:effectLst/>
            </c:spPr>
          </c:dPt>
          <c:dPt>
            <c:idx val="3"/>
            <c:bubble3D val="0"/>
            <c:spPr>
              <a:solidFill>
                <a:srgbClr val="1F9970"/>
              </a:solidFill>
              <a:ln w="12700" cap="flat">
                <a:solidFill>
                  <a:srgbClr val="FFFFFF"/>
                </a:solidFill>
                <a:prstDash val="solid"/>
                <a:round/>
              </a:ln>
              <a:effectLst/>
            </c:spPr>
          </c:dPt>
          <c:dPt>
            <c:idx val="4"/>
            <c:bubble3D val="0"/>
            <c:spPr>
              <a:solidFill>
                <a:srgbClr val="D0D0D0"/>
              </a:solidFill>
              <a:ln w="12700" cap="flat">
                <a:solidFill>
                  <a:srgbClr val="FFFFFF"/>
                </a:solidFill>
                <a:prstDash val="solid"/>
                <a:round/>
              </a:ln>
              <a:effectLst/>
            </c:spPr>
          </c:dPt>
          <c:dLbls>
            <c:dLbl>
              <c:idx val="0"/>
              <c:numFmt formatCode="0%" sourceLinked="0"/>
              <c:spPr/>
              <c:txPr>
                <a:bodyPr/>
                <a:lstStyle/>
                <a:p>
                  <a:pPr>
                    <a:defRPr sz="8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8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800" b="0" i="0" u="none" strike="noStrike">
                      <a:solidFill>
                        <a:srgbClr val="FFFFFF"/>
                      </a:solidFill>
                      <a:latin typeface="Arial"/>
                    </a:defRPr>
                  </a:pPr>
                </a:p>
              </c:txPr>
              <c:showLegendKey val="0"/>
              <c:showVal val="0"/>
              <c:showCatName val="0"/>
              <c:showSerName val="0"/>
              <c:showPercent val="1"/>
              <c:showBubbleSize val="0"/>
            </c:dLbl>
            <c:dLbl>
              <c:idx val="3"/>
              <c:numFmt formatCode="0%" sourceLinked="0"/>
              <c:spPr/>
              <c:txPr>
                <a:bodyPr/>
                <a:lstStyle/>
                <a:p>
                  <a:pPr>
                    <a:defRPr sz="800" b="0" i="0" u="none" strike="noStrike">
                      <a:solidFill>
                        <a:srgbClr val="FFFFFF"/>
                      </a:solidFill>
                      <a:latin typeface="Arial"/>
                    </a:defRPr>
                  </a:pPr>
                </a:p>
              </c:txPr>
              <c:showLegendKey val="0"/>
              <c:showVal val="0"/>
              <c:showCatName val="0"/>
              <c:showSerName val="0"/>
              <c:showPercent val="1"/>
              <c:showBubbleSize val="0"/>
            </c:dLbl>
            <c:dLbl>
              <c:idx val="4"/>
              <c:numFmt formatCode="0%" sourceLinked="0"/>
              <c:spPr/>
              <c:txPr>
                <a:bodyPr/>
                <a:lstStyle/>
                <a:p>
                  <a:pPr>
                    <a:defRPr sz="8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Sheet1!$A$2:$A$6</c:f>
              <c:strCache>
                <c:ptCount val="5"/>
                <c:pt idx="0">
                  <c:v>土木費（公園・緑地）</c:v>
                </c:pt>
                <c:pt idx="1">
                  <c:v>農林業費（民有林振興）</c:v>
                </c:pt>
                <c:pt idx="2">
                  <c:v>農林業費（その他）</c:v>
                </c:pt>
                <c:pt idx="3">
                  <c:v>教育費（木材利用）</c:v>
                </c:pt>
                <c:pt idx="4">
                  <c:v>総務・衛生費</c:v>
                </c:pt>
              </c:strCache>
            </c:strRef>
          </c:cat>
          <c:val>
            <c:numRef>
              <c:f>Sheet1!$B$2:$B$6</c:f>
              <c:numCache>
                <c:ptCount val="5"/>
                <c:pt idx="0">
                  <c:v>65291</c:v>
                </c:pt>
                <c:pt idx="1">
                  <c:v>14948</c:v>
                </c:pt>
                <c:pt idx="2">
                  <c:v>36679</c:v>
                </c:pt>
                <c:pt idx="3">
                  <c:v>19230</c:v>
                </c:pt>
                <c:pt idx="4">
                  <c:v>3976</c:v>
                </c:pt>
              </c:numCache>
            </c:numRef>
          </c:val>
        </c:ser>
        <c:firstSliceAng val="0"/>
        <c:holeSize val="55"/>
      </c:doughnutChart>
      <c:spPr>
        <a:noFill/>
        <a:ln>
          <a:noFill/>
        </a:ln>
        <a:effectLst/>
      </c:spPr>
    </c:plotArea>
    <c:legend>
      <c:legendPos val="r"/>
      <c:overlay val="0"/>
      <c:txPr>
        <a:bodyPr/>
        <a:lstStyle/>
        <a:p>
          <a:pPr>
            <a:defRPr sz="850">
              <a:latin typeface="Noto Sans JP"/>
              <a:cs typeface="Noto Sans JP"/>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内訳</c:v>
                </c:pt>
              </c:strCache>
            </c:strRef>
          </c:tx>
          <c:spPr>
            <a:solidFill>
              <a:schemeClr val="accent1"/>
            </a:solidFill>
            <a:ln w="9525" cap="flat">
              <a:solidFill>
                <a:srgbClr val="F9F9F9"/>
              </a:solidFill>
              <a:prstDash val="solid"/>
              <a:round/>
            </a:ln>
            <a:effectLst/>
          </c:spPr>
          <c:dPt>
            <c:idx val="0"/>
            <c:bubble3D val="0"/>
            <c:spPr>
              <a:solidFill>
                <a:srgbClr val="1F9970"/>
              </a:solidFill>
              <a:ln w="12700" cap="flat">
                <a:solidFill>
                  <a:srgbClr val="FFFFFF"/>
                </a:solidFill>
                <a:prstDash val="solid"/>
                <a:round/>
              </a:ln>
              <a:effectLst/>
            </c:spPr>
          </c:dPt>
          <c:dPt>
            <c:idx val="1"/>
            <c:bubble3D val="0"/>
            <c:spPr>
              <a:solidFill>
                <a:srgbClr val="16816D"/>
              </a:solidFill>
              <a:ln w="12700" cap="flat">
                <a:solidFill>
                  <a:srgbClr val="FFFFFF"/>
                </a:solidFill>
                <a:prstDash val="solid"/>
                <a:round/>
              </a:ln>
              <a:effectLst/>
            </c:spPr>
          </c:dPt>
          <c:dPt>
            <c:idx val="2"/>
            <c:bubble3D val="0"/>
            <c:spPr>
              <a:solidFill>
                <a:srgbClr val="7FC4A8"/>
              </a:solidFill>
              <a:ln w="12700" cap="flat">
                <a:solidFill>
                  <a:srgbClr val="FFFFFF"/>
                </a:solidFill>
                <a:prstDash val="solid"/>
                <a:round/>
              </a:ln>
              <a:effectLst/>
            </c:spPr>
          </c:dPt>
          <c:dPt>
            <c:idx val="3"/>
            <c:bubble3D val="0"/>
            <c:spPr>
              <a:solidFill>
                <a:srgbClr val="B7C9C1"/>
              </a:solidFill>
              <a:ln w="12700" cap="flat">
                <a:solidFill>
                  <a:srgbClr val="FFFFFF"/>
                </a:solidFill>
                <a:prstDash val="solid"/>
                <a:round/>
              </a:ln>
              <a:effectLst/>
            </c:spPr>
          </c:dPt>
          <c:dPt>
            <c:idx val="4"/>
            <c:bubble3D val="0"/>
            <c:spPr>
              <a:solidFill>
                <a:srgbClr val="D0D0D0"/>
              </a:solidFill>
              <a:ln w="12700" cap="flat">
                <a:solidFill>
                  <a:srgbClr val="FFFFFF"/>
                </a:solidFill>
                <a:prstDash val="solid"/>
                <a:round/>
              </a:ln>
              <a:effectLst/>
            </c:spPr>
          </c:dPt>
          <c:dLbls>
            <c:dLbl>
              <c:idx val="0"/>
              <c:numFmt formatCode="0%" sourceLinked="0"/>
              <c:spPr/>
              <c:txPr>
                <a:bodyPr/>
                <a:lstStyle/>
                <a:p>
                  <a:pPr>
                    <a:defRPr sz="7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7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700" b="0" i="0" u="none" strike="noStrike">
                      <a:solidFill>
                        <a:srgbClr val="FFFFFF"/>
                      </a:solidFill>
                      <a:latin typeface="Arial"/>
                    </a:defRPr>
                  </a:pPr>
                </a:p>
              </c:txPr>
              <c:showLegendKey val="0"/>
              <c:showVal val="0"/>
              <c:showCatName val="0"/>
              <c:showSerName val="0"/>
              <c:showPercent val="1"/>
              <c:showBubbleSize val="0"/>
            </c:dLbl>
            <c:dLbl>
              <c:idx val="3"/>
              <c:numFmt formatCode="0%" sourceLinked="0"/>
              <c:spPr/>
              <c:txPr>
                <a:bodyPr/>
                <a:lstStyle/>
                <a:p>
                  <a:pPr>
                    <a:defRPr sz="700" b="0" i="0" u="none" strike="noStrike">
                      <a:solidFill>
                        <a:srgbClr val="FFFFFF"/>
                      </a:solidFill>
                      <a:latin typeface="Arial"/>
                    </a:defRPr>
                  </a:pPr>
                </a:p>
              </c:txPr>
              <c:showLegendKey val="0"/>
              <c:showVal val="0"/>
              <c:showCatName val="0"/>
              <c:showSerName val="0"/>
              <c:showPercent val="1"/>
              <c:showBubbleSize val="0"/>
            </c:dLbl>
            <c:dLbl>
              <c:idx val="4"/>
              <c:numFmt formatCode="0%" sourceLinked="0"/>
              <c:spPr/>
              <c:txPr>
                <a:bodyPr/>
                <a:lstStyle/>
                <a:p>
                  <a:pPr>
                    <a:defRPr sz="7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Sheet1!$A$2:$A$6</c:f>
              <c:strCache>
                <c:ptCount val="5"/>
                <c:pt idx="0">
                  <c:v>集約化</c:v>
                </c:pt>
                <c:pt idx="1">
                  <c:v>施業</c:v>
                </c:pt>
                <c:pt idx="2">
                  <c:v>造林</c:v>
                </c:pt>
                <c:pt idx="3">
                  <c:v>利用・体験</c:v>
                </c:pt>
                <c:pt idx="4">
                  <c:v>管理</c:v>
                </c:pt>
              </c:strCache>
            </c:strRef>
          </c:cat>
          <c:val>
            <c:numRef>
              <c:f>Sheet1!$B$2:$B$6</c:f>
              <c:numCache>
                <c:ptCount val="5"/>
                <c:pt idx="0">
                  <c:v>7000</c:v>
                </c:pt>
                <c:pt idx="1">
                  <c:v>26000</c:v>
                </c:pt>
                <c:pt idx="2">
                  <c:v>5000</c:v>
                </c:pt>
                <c:pt idx="3">
                  <c:v>9000</c:v>
                </c:pt>
                <c:pt idx="4">
                  <c:v>8000</c:v>
                </c:pt>
              </c:numCache>
            </c:numRef>
          </c:val>
        </c:ser>
        <c:firstSliceAng val="0"/>
        <c:holeSize val="50"/>
      </c:doughnutChart>
      <c:spPr>
        <a:noFill/>
        <a:ln>
          <a:noFill/>
        </a:ln>
        <a:effectLst/>
      </c:spPr>
    </c:plotArea>
    <c:legend>
      <c:legendPos val="r"/>
      <c:overlay val="0"/>
      <c:txPr>
        <a:bodyPr/>
        <a:lstStyle/>
        <a:p>
          <a:pPr>
            <a:defRPr sz="800">
              <a:latin typeface="Noto Sans JP"/>
              <a:cs typeface="Noto Sans JP"/>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超概算は一般的な単価をもとにした仮置きです。対象エリアの現地踏査後に精査します。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slideLayout" Target="../slideLayouts/slideLayout1.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7-1.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slideLayout" Target="../slideLayouts/slideLayout1.xml"/><Relationship Id="rId11"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image-9-1.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slideLayout" Target="../slideLayouts/slideLayout1.xml"/><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2" Type="http://schemas.openxmlformats.org/officeDocument/2006/relationships/chart" Target="/ppt/charts/chart3.xml"/><Relationship Id="rId1" Type="http://schemas.openxmlformats.org/officeDocument/2006/relationships/image" Target="../media/image-11-1.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2" Type="http://schemas.openxmlformats.org/officeDocument/2006/relationships/chart" Target="/ppt/charts/chart4.xml"/><Relationship Id="rId1" Type="http://schemas.openxmlformats.org/officeDocument/2006/relationships/image" Target="../media/image-12-1.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png"/><Relationship Id="rId10" Type="http://schemas.openxmlformats.org/officeDocument/2006/relationships/image" Target="../media/image-14-10.png"/><Relationship Id="rId11" Type="http://schemas.openxmlformats.org/officeDocument/2006/relationships/image" Target="../media/image-14-11.png"/><Relationship Id="rId12" Type="http://schemas.openxmlformats.org/officeDocument/2006/relationships/image" Target="../media/image-14-12.png"/><Relationship Id="rId13" Type="http://schemas.openxmlformats.org/officeDocument/2006/relationships/slideLayout" Target="../slideLayouts/slideLayout1.xml"/><Relationship Id="rId1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1.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jp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jp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jp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jp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image" Target="../media/image-22-7.png"/><Relationship Id="rId8" Type="http://schemas.openxmlformats.org/officeDocument/2006/relationships/image" Target="../media/image-22-8.png"/><Relationship Id="rId9" Type="http://schemas.openxmlformats.org/officeDocument/2006/relationships/image" Target="../media/image-22-9.png"/><Relationship Id="rId10" Type="http://schemas.openxmlformats.org/officeDocument/2006/relationships/image" Target="../media/image-22-10.png"/><Relationship Id="rId11" Type="http://schemas.openxmlformats.org/officeDocument/2006/relationships/image" Target="../media/image-22-11.png"/><Relationship Id="rId12" Type="http://schemas.openxmlformats.org/officeDocument/2006/relationships/image" Target="../media/image-22-12.png"/><Relationship Id="rId13" Type="http://schemas.openxmlformats.org/officeDocument/2006/relationships/image" Target="../media/image-22-13.png"/><Relationship Id="rId14" Type="http://schemas.openxmlformats.org/officeDocument/2006/relationships/slideLayout" Target="../slideLayouts/slideLayout1.xml"/><Relationship Id="rId1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jp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slideLayout" Target="../slideLayouts/slideLayout1.xml"/><Relationship Id="rId7"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image" Target="../media/image-24-7.png"/><Relationship Id="rId8" Type="http://schemas.openxmlformats.org/officeDocument/2006/relationships/image" Target="../media/image-24-8.png"/><Relationship Id="rId9" Type="http://schemas.openxmlformats.org/officeDocument/2006/relationships/image" Target="../media/image-24-9.png"/><Relationship Id="rId10" Type="http://schemas.openxmlformats.org/officeDocument/2006/relationships/image" Target="../media/image-24-10.png"/><Relationship Id="rId11" Type="http://schemas.openxmlformats.org/officeDocument/2006/relationships/image" Target="../media/image-24-11.png"/><Relationship Id="rId12" Type="http://schemas.openxmlformats.org/officeDocument/2006/relationships/slideLayout" Target="../slideLayouts/slideLayout1.xml"/><Relationship Id="rId1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slideLayout" Target="../slideLayouts/slideLayout1.xml"/><Relationship Id="rId7"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image" Target="../media/image-27-7.png"/><Relationship Id="rId8" Type="http://schemas.openxmlformats.org/officeDocument/2006/relationships/image" Target="../media/image-27-8.png"/><Relationship Id="rId9" Type="http://schemas.openxmlformats.org/officeDocument/2006/relationships/image" Target="../media/image-27-9.png"/><Relationship Id="rId10" Type="http://schemas.openxmlformats.org/officeDocument/2006/relationships/image" Target="../media/image-27-10.png"/><Relationship Id="rId11" Type="http://schemas.openxmlformats.org/officeDocument/2006/relationships/image" Target="../media/image-27-11.png"/><Relationship Id="rId12" Type="http://schemas.openxmlformats.org/officeDocument/2006/relationships/image" Target="../media/image-27-12.png"/><Relationship Id="rId13" Type="http://schemas.openxmlformats.org/officeDocument/2006/relationships/image" Target="../media/image-27-13.png"/><Relationship Id="rId14" Type="http://schemas.openxmlformats.org/officeDocument/2006/relationships/slideLayout" Target="../slideLayouts/slideLayout1.xml"/><Relationship Id="rId1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2" Type="http://schemas.openxmlformats.org/officeDocument/2006/relationships/chart" Target="/ppt/charts/chart5.xml"/><Relationship Id="rId1" Type="http://schemas.openxmlformats.org/officeDocument/2006/relationships/image" Target="../media/image-29-1.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tmp/claude-0/-home-user--/135b95b8-9a7c-5e2e-abb3-3369b8f4d943/scratchpad/assets/cover.jpg">    </p:cNvPr>
          <p:cNvPicPr>
            <a:picLocks noChangeAspect="1"/>
          </p:cNvPicPr>
          <p:nvPr/>
        </p:nvPicPr>
        <p:blipFill>
          <a:blip r:embed="rId1"/>
          <a:srcRect l="0" r="0" t="0" b="0"/>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00">
              <a:alpha val="28000"/>
            </a:srgbClr>
          </a:solidFill>
          <a:ln/>
        </p:spPr>
      </p:sp>
      <p:sp>
        <p:nvSpPr>
          <p:cNvPr id="4" name="Shape 1"/>
          <p:cNvSpPr/>
          <p:nvPr/>
        </p:nvSpPr>
        <p:spPr>
          <a:xfrm>
            <a:off x="254000" y="254000"/>
            <a:ext cx="8636000" cy="4381500"/>
          </a:xfrm>
          <a:prstGeom prst="rect">
            <a:avLst/>
          </a:prstGeom>
          <a:ln w="12700">
            <a:solidFill>
              <a:srgbClr val="FFFFFF"/>
            </a:solidFill>
            <a:prstDash val="solid"/>
          </a:ln>
        </p:spPr>
      </p:sp>
      <p:sp>
        <p:nvSpPr>
          <p:cNvPr id="5" name="Text 2"/>
          <p:cNvSpPr txBox="1"/>
          <p:nvPr/>
        </p:nvSpPr>
        <p:spPr>
          <a:xfrm>
            <a:off x="1828800" y="1905000"/>
            <a:ext cx="5486400" cy="279400"/>
          </a:xfrm>
          <a:prstGeom prst="rect">
            <a:avLst/>
          </a:prstGeom>
          <a:noFill/>
          <a:ln/>
        </p:spPr>
        <p:txBody>
          <a:bodyPr wrap="square" lIns="0" tIns="0" rIns="0" bIns="0" rtlCol="0" anchor="t"/>
          <a:lstStyle/>
          <a:p>
            <a:pPr algn="ctr" indent="0" marL="0">
              <a:buNone/>
            </a:pPr>
            <a:r>
              <a:rPr lang="en-US" sz="1300" b="1" dirty="0">
                <a:solidFill>
                  <a:srgbClr val="FFFFFF"/>
                </a:solidFill>
                <a:latin typeface="Noto Sans JP" pitchFamily="34" charset="0"/>
                <a:ea typeface="Noto Sans JP" pitchFamily="34" charset="-122"/>
                <a:cs typeface="Noto Sans JP" pitchFamily="34" charset="-120"/>
              </a:rPr>
              <a:t>三井不動産株式会社 御中</a:t>
            </a:r>
            <a:endParaRPr lang="en-US" sz="1300" dirty="0"/>
          </a:p>
        </p:txBody>
      </p:sp>
      <p:sp>
        <p:nvSpPr>
          <p:cNvPr id="6" name="Text 3"/>
          <p:cNvSpPr txBox="1"/>
          <p:nvPr/>
        </p:nvSpPr>
        <p:spPr>
          <a:xfrm>
            <a:off x="1828800" y="2222500"/>
            <a:ext cx="5486400" cy="431800"/>
          </a:xfrm>
          <a:prstGeom prst="rect">
            <a:avLst/>
          </a:prstGeom>
          <a:noFill/>
          <a:ln/>
        </p:spPr>
        <p:txBody>
          <a:bodyPr wrap="square" lIns="0" tIns="0" rIns="0" bIns="0" rtlCol="0" anchor="t"/>
          <a:lstStyle/>
          <a:p>
            <a:pPr algn="ctr" indent="0" marL="0">
              <a:buNone/>
            </a:pPr>
            <a:r>
              <a:rPr lang="en-US" sz="2400" b="1" dirty="0">
                <a:solidFill>
                  <a:srgbClr val="FFFFFF"/>
                </a:solidFill>
                <a:latin typeface="Noto Sans JP" pitchFamily="34" charset="0"/>
                <a:ea typeface="Noto Sans JP" pitchFamily="34" charset="-122"/>
                <a:cs typeface="Noto Sans JP" pitchFamily="34" charset="-120"/>
              </a:rPr>
              <a:t>ご提案資料</a:t>
            </a:r>
            <a:endParaRPr lang="en-US" sz="2400" dirty="0"/>
          </a:p>
        </p:txBody>
      </p:sp>
      <p:sp>
        <p:nvSpPr>
          <p:cNvPr id="7" name="Text 4"/>
          <p:cNvSpPr txBox="1"/>
          <p:nvPr/>
        </p:nvSpPr>
        <p:spPr>
          <a:xfrm>
            <a:off x="1371600" y="2730500"/>
            <a:ext cx="6400800" cy="254000"/>
          </a:xfrm>
          <a:prstGeom prst="rect">
            <a:avLst/>
          </a:prstGeom>
          <a:noFill/>
          <a:ln/>
        </p:spPr>
        <p:txBody>
          <a:bodyPr wrap="square" lIns="0" tIns="0" rIns="0" bIns="0" rtlCol="0" anchor="t"/>
          <a:lstStyle/>
          <a:p>
            <a:pPr algn="ctr" indent="0" marL="0">
              <a:buNone/>
            </a:pPr>
            <a:r>
              <a:rPr lang="en-US" sz="1200" dirty="0">
                <a:solidFill>
                  <a:srgbClr val="FFFFFF"/>
                </a:solidFill>
                <a:latin typeface="Noto Sans JP" pitchFamily="34" charset="0"/>
                <a:ea typeface="Noto Sans JP" pitchFamily="34" charset="-122"/>
                <a:cs typeface="Noto Sans JP" pitchFamily="34" charset="-120"/>
              </a:rPr>
              <a:t>八王子市における「集約化から整備へ」森林資源循環モデル</a:t>
            </a:r>
            <a:endParaRPr lang="en-US" sz="1200" dirty="0"/>
          </a:p>
        </p:txBody>
      </p:sp>
      <p:pic>
        <p:nvPicPr>
          <p:cNvPr id="8" name="Image 1" descr="/tmp/claude-0/-home-user--/135b95b8-9a7c-5e2e-abb3-3369b8f4d943/scratchpad/assets/logo_white.png">    </p:cNvPr>
          <p:cNvPicPr>
            <a:picLocks noChangeAspect="1"/>
          </p:cNvPicPr>
          <p:nvPr/>
        </p:nvPicPr>
        <p:blipFill>
          <a:blip r:embed="rId2"/>
          <a:stretch>
            <a:fillRect/>
          </a:stretch>
        </p:blipFill>
        <p:spPr>
          <a:xfrm>
            <a:off x="4292600" y="4064000"/>
            <a:ext cx="558800" cy="254000"/>
          </a:xfrm>
          <a:prstGeom prst="rect">
            <a:avLst/>
          </a:prstGeom>
        </p:spPr>
      </p:pic>
      <p:sp>
        <p:nvSpPr>
          <p:cNvPr id="9" name="Shape 5"/>
          <p:cNvSpPr/>
          <p:nvPr/>
        </p:nvSpPr>
        <p:spPr>
          <a:xfrm>
            <a:off x="88900" y="4876800"/>
            <a:ext cx="723900" cy="165100"/>
          </a:xfrm>
          <a:prstGeom prst="rect">
            <a:avLst/>
          </a:prstGeom>
          <a:solidFill>
            <a:srgbClr val="FFFFFF"/>
          </a:solidFill>
          <a:ln w="6350">
            <a:solidFill>
              <a:srgbClr val="B2B2B2"/>
            </a:solidFill>
            <a:prstDash val="solid"/>
          </a:ln>
        </p:spPr>
      </p:sp>
      <p:sp>
        <p:nvSpPr>
          <p:cNvPr id="10" name="Text 6"/>
          <p:cNvSpPr txBox="1"/>
          <p:nvPr/>
        </p:nvSpPr>
        <p:spPr>
          <a:xfrm>
            <a:off x="88900" y="4876800"/>
            <a:ext cx="723900" cy="165100"/>
          </a:xfrm>
          <a:prstGeom prst="rect">
            <a:avLst/>
          </a:prstGeom>
          <a:noFill/>
          <a:ln/>
        </p:spPr>
        <p:txBody>
          <a:bodyPr wrap="square" lIns="0" tIns="0" rIns="0" bIns="0" rtlCol="0" anchor="ctr"/>
          <a:lstStyle/>
          <a:p>
            <a:pPr algn="ctr" indent="0" marL="0">
              <a:buNone/>
            </a:pPr>
            <a:r>
              <a:rPr lang="en-US" sz="700" dirty="0">
                <a:solidFill>
                  <a:srgbClr val="757575"/>
                </a:solidFill>
                <a:latin typeface="Arial" pitchFamily="34" charset="0"/>
                <a:ea typeface="Arial" pitchFamily="34" charset="-122"/>
                <a:cs typeface="Arial" pitchFamily="34" charset="-120"/>
              </a:rPr>
              <a:t>confidential</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tmp/claude-0/-home-user--/135b95b8-9a7c-5e2e-abb3-3369b8f4d943/scratchpad/assets/logo_dark.png">    </p:cNvPr>
          <p:cNvPicPr>
            <a:picLocks noChangeAspect="1"/>
          </p:cNvPicPr>
          <p:nvPr/>
        </p:nvPicPr>
        <p:blipFill>
          <a:blip r:embed="rId1"/>
          <a:stretch>
            <a:fillRect/>
          </a:stretch>
        </p:blipFill>
        <p:spPr>
          <a:xfrm>
            <a:off x="355600" y="160020"/>
            <a:ext cx="558800" cy="254000"/>
          </a:xfrm>
          <a:prstGeom prst="rect">
            <a:avLst/>
          </a:prstGeom>
        </p:spPr>
      </p:pic>
      <p:sp>
        <p:nvSpPr>
          <p:cNvPr id="3" name="Text 0"/>
          <p:cNvSpPr txBox="1"/>
          <p:nvPr/>
        </p:nvSpPr>
        <p:spPr>
          <a:xfrm>
            <a:off x="1397000" y="127000"/>
            <a:ext cx="6350000" cy="304800"/>
          </a:xfrm>
          <a:prstGeom prst="rect">
            <a:avLst/>
          </a:prstGeom>
          <a:noFill/>
          <a:ln/>
        </p:spPr>
        <p:txBody>
          <a:bodyPr wrap="square" lIns="0" tIns="0" rIns="0" bIns="0" rtlCol="0" anchor="ctr"/>
          <a:lstStyle/>
          <a:p>
            <a:pPr algn="ctr" indent="0" marL="0">
              <a:buNone/>
            </a:pPr>
            <a:r>
              <a:rPr lang="en-US" sz="1500" b="1" dirty="0">
                <a:solidFill>
                  <a:srgbClr val="222222"/>
                </a:solidFill>
                <a:latin typeface="Noto Sans JP" pitchFamily="34" charset="0"/>
                <a:ea typeface="Noto Sans JP" pitchFamily="34" charset="-122"/>
                <a:cs typeface="Noto Sans JP" pitchFamily="34" charset="-120"/>
              </a:rPr>
              <a:t>目次</a:t>
            </a:r>
            <a:endParaRPr lang="en-US" sz="1500" dirty="0"/>
          </a:p>
        </p:txBody>
      </p:sp>
      <p:sp>
        <p:nvSpPr>
          <p:cNvPr id="4" name="Shape 1"/>
          <p:cNvSpPr/>
          <p:nvPr/>
        </p:nvSpPr>
        <p:spPr>
          <a:xfrm>
            <a:off x="0" y="539750"/>
            <a:ext cx="9144000" cy="0"/>
          </a:xfrm>
          <a:prstGeom prst="line">
            <a:avLst/>
          </a:prstGeom>
          <a:noFill/>
          <a:ln w="9525">
            <a:solidFill>
              <a:srgbClr val="999999"/>
            </a:solidFill>
            <a:prstDash val="solid"/>
          </a:ln>
        </p:spPr>
      </p:sp>
      <p:sp>
        <p:nvSpPr>
          <p:cNvPr id="5" name="Shape 2"/>
          <p:cNvSpPr/>
          <p:nvPr/>
        </p:nvSpPr>
        <p:spPr>
          <a:xfrm>
            <a:off x="88900" y="4876800"/>
            <a:ext cx="723900" cy="165100"/>
          </a:xfrm>
          <a:prstGeom prst="rect">
            <a:avLst/>
          </a:prstGeom>
          <a:solidFill>
            <a:srgbClr val="FFFFFF"/>
          </a:solidFill>
          <a:ln w="6350">
            <a:solidFill>
              <a:srgbClr val="B2B2B2"/>
            </a:solidFill>
            <a:prstDash val="solid"/>
          </a:ln>
        </p:spPr>
      </p:sp>
      <p:sp>
        <p:nvSpPr>
          <p:cNvPr id="6" name="Text 3"/>
          <p:cNvSpPr txBox="1"/>
          <p:nvPr/>
        </p:nvSpPr>
        <p:spPr>
          <a:xfrm>
            <a:off x="88900" y="4876800"/>
            <a:ext cx="723900" cy="165100"/>
          </a:xfrm>
          <a:prstGeom prst="rect">
            <a:avLst/>
          </a:prstGeom>
          <a:noFill/>
          <a:ln/>
        </p:spPr>
        <p:txBody>
          <a:bodyPr wrap="square" lIns="0" tIns="0" rIns="0" bIns="0" rtlCol="0" anchor="ctr"/>
          <a:lstStyle/>
          <a:p>
            <a:pPr algn="ctr" indent="0" marL="0">
              <a:buNone/>
            </a:pPr>
            <a:r>
              <a:rPr lang="en-US" sz="700" dirty="0">
                <a:solidFill>
                  <a:srgbClr val="757575"/>
                </a:solidFill>
                <a:latin typeface="Arial" pitchFamily="34" charset="0"/>
                <a:ea typeface="Arial" pitchFamily="34" charset="-122"/>
                <a:cs typeface="Arial" pitchFamily="34" charset="-120"/>
              </a:rPr>
              <a:t>confidential</a:t>
            </a:r>
            <a:endParaRPr lang="en-US" sz="700" dirty="0"/>
          </a:p>
        </p:txBody>
      </p:sp>
      <p:sp>
        <p:nvSpPr>
          <p:cNvPr id="7" name="Text 4"/>
          <p:cNvSpPr txBox="1"/>
          <p:nvPr/>
        </p:nvSpPr>
        <p:spPr>
          <a:xfrm>
            <a:off x="8509000" y="4826000"/>
            <a:ext cx="533400" cy="203200"/>
          </a:xfrm>
          <a:prstGeom prst="rect">
            <a:avLst/>
          </a:prstGeom>
          <a:noFill/>
          <a:ln/>
        </p:spPr>
        <p:txBody>
          <a:bodyPr wrap="square" lIns="0" tIns="0" rIns="0" bIns="0" rtlCol="0" anchor="t"/>
          <a:lstStyle/>
          <a:p>
            <a:pPr algn="r" indent="0" marL="0">
              <a:buNone/>
            </a:pPr>
            <a:r>
              <a:rPr lang="en-US" sz="1100" dirty="0">
                <a:solidFill>
                  <a:srgbClr val="757575"/>
                </a:solidFill>
                <a:latin typeface="Noto Sans JP" pitchFamily="34" charset="0"/>
                <a:ea typeface="Noto Sans JP" pitchFamily="34" charset="-122"/>
                <a:cs typeface="Noto Sans JP" pitchFamily="34" charset="-120"/>
              </a:rPr>
              <a:t>2</a:t>
            </a:r>
            <a:endParaRPr lang="en-US" sz="1100" dirty="0"/>
          </a:p>
        </p:txBody>
      </p:sp>
      <p:sp>
        <p:nvSpPr>
          <p:cNvPr id="8" name="Text 5"/>
          <p:cNvSpPr txBox="1"/>
          <p:nvPr/>
        </p:nvSpPr>
        <p:spPr>
          <a:xfrm>
            <a:off x="939800" y="889000"/>
            <a:ext cx="1828800" cy="177800"/>
          </a:xfrm>
          <a:prstGeom prst="rect">
            <a:avLst/>
          </a:prstGeom>
          <a:noFill/>
          <a:ln/>
        </p:spPr>
        <p:txBody>
          <a:bodyPr wrap="square" lIns="0" tIns="0" rIns="0" bIns="0" rtlCol="0" anchor="t"/>
          <a:lstStyle/>
          <a:p>
            <a:pPr indent="0" marL="0">
              <a:buNone/>
            </a:pPr>
            <a:r>
              <a:rPr lang="en-US" sz="1100" b="1" dirty="0">
                <a:solidFill>
                  <a:srgbClr val="1F9970"/>
                </a:solidFill>
                <a:latin typeface="Noto Sans JP" pitchFamily="34" charset="0"/>
                <a:ea typeface="Noto Sans JP" pitchFamily="34" charset="-122"/>
                <a:cs typeface="Noto Sans JP" pitchFamily="34" charset="-120"/>
              </a:rPr>
              <a:t>#INDEX</a:t>
            </a:r>
            <a:endParaRPr lang="en-US" sz="1100" dirty="0"/>
          </a:p>
        </p:txBody>
      </p:sp>
      <p:sp>
        <p:nvSpPr>
          <p:cNvPr id="9" name="Text 6"/>
          <p:cNvSpPr txBox="1"/>
          <p:nvPr/>
        </p:nvSpPr>
        <p:spPr>
          <a:xfrm>
            <a:off x="965200" y="1270000"/>
            <a:ext cx="431800" cy="304800"/>
          </a:xfrm>
          <a:prstGeom prst="rect">
            <a:avLst/>
          </a:prstGeom>
          <a:noFill/>
          <a:ln/>
        </p:spPr>
        <p:txBody>
          <a:bodyPr wrap="square" lIns="0" tIns="0" rIns="0" bIns="0" rtlCol="0" anchor="ctr"/>
          <a:lstStyle/>
          <a:p>
            <a:pPr indent="0" marL="0">
              <a:buNone/>
            </a:pPr>
            <a:r>
              <a:rPr lang="en-US" sz="1600" b="1" dirty="0">
                <a:solidFill>
                  <a:srgbClr val="1F9970"/>
                </a:solidFill>
                <a:latin typeface="Noto Sans JP" pitchFamily="34" charset="0"/>
                <a:ea typeface="Noto Sans JP" pitchFamily="34" charset="-122"/>
                <a:cs typeface="Noto Sans JP" pitchFamily="34" charset="-120"/>
              </a:rPr>
              <a:t>01</a:t>
            </a:r>
            <a:endParaRPr lang="en-US" sz="1600" dirty="0"/>
          </a:p>
        </p:txBody>
      </p:sp>
      <p:sp>
        <p:nvSpPr>
          <p:cNvPr id="10" name="Text 7"/>
          <p:cNvSpPr txBox="1"/>
          <p:nvPr/>
        </p:nvSpPr>
        <p:spPr>
          <a:xfrm>
            <a:off x="1460500" y="1270000"/>
            <a:ext cx="5842000" cy="304800"/>
          </a:xfrm>
          <a:prstGeom prst="rect">
            <a:avLst/>
          </a:prstGeom>
          <a:noFill/>
          <a:ln/>
        </p:spPr>
        <p:txBody>
          <a:bodyPr wrap="square" lIns="0" tIns="0" rIns="0" bIns="0" rtlCol="0" anchor="ctr"/>
          <a:lstStyle/>
          <a:p>
            <a:pPr indent="0" marL="0">
              <a:buNone/>
            </a:pPr>
            <a:r>
              <a:rPr lang="en-US" sz="1500" dirty="0">
                <a:solidFill>
                  <a:srgbClr val="222222"/>
                </a:solidFill>
                <a:latin typeface="Noto Sans JP" pitchFamily="34" charset="0"/>
                <a:ea typeface="Noto Sans JP" pitchFamily="34" charset="-122"/>
                <a:cs typeface="Noto Sans JP" pitchFamily="34" charset="-120"/>
              </a:rPr>
              <a:t>ご相談内容</a:t>
            </a:r>
            <a:endParaRPr lang="en-US" sz="1500" dirty="0"/>
          </a:p>
        </p:txBody>
      </p:sp>
      <p:sp>
        <p:nvSpPr>
          <p:cNvPr id="11" name="Text 8"/>
          <p:cNvSpPr txBox="1"/>
          <p:nvPr/>
        </p:nvSpPr>
        <p:spPr>
          <a:xfrm>
            <a:off x="7620000" y="1270000"/>
            <a:ext cx="508000" cy="304800"/>
          </a:xfrm>
          <a:prstGeom prst="rect">
            <a:avLst/>
          </a:prstGeom>
          <a:noFill/>
          <a:ln/>
        </p:spPr>
        <p:txBody>
          <a:bodyPr wrap="square" lIns="0" tIns="0" rIns="0" bIns="0" rtlCol="0" anchor="ctr"/>
          <a:lstStyle/>
          <a:p>
            <a:pPr algn="r" indent="0" marL="0">
              <a:buNone/>
            </a:pPr>
            <a:r>
              <a:rPr lang="en-US" sz="1500" dirty="0">
                <a:solidFill>
                  <a:srgbClr val="333333"/>
                </a:solidFill>
                <a:latin typeface="Noto Sans JP" pitchFamily="34" charset="0"/>
                <a:ea typeface="Noto Sans JP" pitchFamily="34" charset="-122"/>
                <a:cs typeface="Noto Sans JP" pitchFamily="34" charset="-120"/>
              </a:rPr>
              <a:t>3</a:t>
            </a:r>
            <a:endParaRPr lang="en-US" sz="1500" dirty="0"/>
          </a:p>
        </p:txBody>
      </p:sp>
      <p:sp>
        <p:nvSpPr>
          <p:cNvPr id="12" name="Shape 9"/>
          <p:cNvSpPr/>
          <p:nvPr/>
        </p:nvSpPr>
        <p:spPr>
          <a:xfrm>
            <a:off x="965200" y="1651000"/>
            <a:ext cx="7162800" cy="0"/>
          </a:xfrm>
          <a:prstGeom prst="line">
            <a:avLst/>
          </a:prstGeom>
          <a:noFill/>
          <a:ln w="6350">
            <a:solidFill>
              <a:srgbClr val="E0E0E0"/>
            </a:solidFill>
            <a:prstDash val="solid"/>
          </a:ln>
        </p:spPr>
      </p:sp>
      <p:sp>
        <p:nvSpPr>
          <p:cNvPr id="13" name="Text 10"/>
          <p:cNvSpPr txBox="1"/>
          <p:nvPr/>
        </p:nvSpPr>
        <p:spPr>
          <a:xfrm>
            <a:off x="965200" y="1778000"/>
            <a:ext cx="431800" cy="304800"/>
          </a:xfrm>
          <a:prstGeom prst="rect">
            <a:avLst/>
          </a:prstGeom>
          <a:noFill/>
          <a:ln/>
        </p:spPr>
        <p:txBody>
          <a:bodyPr wrap="square" lIns="0" tIns="0" rIns="0" bIns="0" rtlCol="0" anchor="ctr"/>
          <a:lstStyle/>
          <a:p>
            <a:pPr indent="0" marL="0">
              <a:buNone/>
            </a:pPr>
            <a:r>
              <a:rPr lang="en-US" sz="1600" b="1" dirty="0">
                <a:solidFill>
                  <a:srgbClr val="1F9970"/>
                </a:solidFill>
                <a:latin typeface="Noto Sans JP" pitchFamily="34" charset="0"/>
                <a:ea typeface="Noto Sans JP" pitchFamily="34" charset="-122"/>
                <a:cs typeface="Noto Sans JP" pitchFamily="34" charset="-120"/>
              </a:rPr>
              <a:t>02</a:t>
            </a:r>
            <a:endParaRPr lang="en-US" sz="1600" dirty="0"/>
          </a:p>
        </p:txBody>
      </p:sp>
      <p:sp>
        <p:nvSpPr>
          <p:cNvPr id="14" name="Text 11"/>
          <p:cNvSpPr txBox="1"/>
          <p:nvPr/>
        </p:nvSpPr>
        <p:spPr>
          <a:xfrm>
            <a:off x="1460500" y="1778000"/>
            <a:ext cx="5842000" cy="304800"/>
          </a:xfrm>
          <a:prstGeom prst="rect">
            <a:avLst/>
          </a:prstGeom>
          <a:noFill/>
          <a:ln/>
        </p:spPr>
        <p:txBody>
          <a:bodyPr wrap="square" lIns="0" tIns="0" rIns="0" bIns="0" rtlCol="0" anchor="ctr"/>
          <a:lstStyle/>
          <a:p>
            <a:pPr indent="0" marL="0">
              <a:buNone/>
            </a:pPr>
            <a:r>
              <a:rPr lang="en-US" sz="1500" dirty="0">
                <a:solidFill>
                  <a:srgbClr val="222222"/>
                </a:solidFill>
                <a:latin typeface="Noto Sans JP" pitchFamily="34" charset="0"/>
                <a:ea typeface="Noto Sans JP" pitchFamily="34" charset="-122"/>
                <a:cs typeface="Noto Sans JP" pitchFamily="34" charset="-120"/>
              </a:rPr>
              <a:t>八王子市様の森林の課題</a:t>
            </a:r>
            <a:endParaRPr lang="en-US" sz="1500" dirty="0"/>
          </a:p>
        </p:txBody>
      </p:sp>
      <p:sp>
        <p:nvSpPr>
          <p:cNvPr id="15" name="Text 12"/>
          <p:cNvSpPr txBox="1"/>
          <p:nvPr/>
        </p:nvSpPr>
        <p:spPr>
          <a:xfrm>
            <a:off x="7620000" y="1778000"/>
            <a:ext cx="508000" cy="304800"/>
          </a:xfrm>
          <a:prstGeom prst="rect">
            <a:avLst/>
          </a:prstGeom>
          <a:noFill/>
          <a:ln/>
        </p:spPr>
        <p:txBody>
          <a:bodyPr wrap="square" lIns="0" tIns="0" rIns="0" bIns="0" rtlCol="0" anchor="ctr"/>
          <a:lstStyle/>
          <a:p>
            <a:pPr algn="r" indent="0" marL="0">
              <a:buNone/>
            </a:pPr>
            <a:r>
              <a:rPr lang="en-US" sz="1500" dirty="0">
                <a:solidFill>
                  <a:srgbClr val="333333"/>
                </a:solidFill>
                <a:latin typeface="Noto Sans JP" pitchFamily="34" charset="0"/>
                <a:ea typeface="Noto Sans JP" pitchFamily="34" charset="-122"/>
                <a:cs typeface="Noto Sans JP" pitchFamily="34" charset="-120"/>
              </a:rPr>
              <a:t>5</a:t>
            </a:r>
            <a:endParaRPr lang="en-US" sz="1500" dirty="0"/>
          </a:p>
        </p:txBody>
      </p:sp>
      <p:sp>
        <p:nvSpPr>
          <p:cNvPr id="16" name="Shape 13"/>
          <p:cNvSpPr/>
          <p:nvPr/>
        </p:nvSpPr>
        <p:spPr>
          <a:xfrm>
            <a:off x="965200" y="2159000"/>
            <a:ext cx="7162800" cy="0"/>
          </a:xfrm>
          <a:prstGeom prst="line">
            <a:avLst/>
          </a:prstGeom>
          <a:noFill/>
          <a:ln w="6350">
            <a:solidFill>
              <a:srgbClr val="E0E0E0"/>
            </a:solidFill>
            <a:prstDash val="solid"/>
          </a:ln>
        </p:spPr>
      </p:sp>
      <p:sp>
        <p:nvSpPr>
          <p:cNvPr id="17" name="Text 14"/>
          <p:cNvSpPr txBox="1"/>
          <p:nvPr/>
        </p:nvSpPr>
        <p:spPr>
          <a:xfrm>
            <a:off x="965200" y="2286000"/>
            <a:ext cx="431800" cy="304800"/>
          </a:xfrm>
          <a:prstGeom prst="rect">
            <a:avLst/>
          </a:prstGeom>
          <a:noFill/>
          <a:ln/>
        </p:spPr>
        <p:txBody>
          <a:bodyPr wrap="square" lIns="0" tIns="0" rIns="0" bIns="0" rtlCol="0" anchor="ctr"/>
          <a:lstStyle/>
          <a:p>
            <a:pPr indent="0" marL="0">
              <a:buNone/>
            </a:pPr>
            <a:r>
              <a:rPr lang="en-US" sz="1600" b="1" dirty="0">
                <a:solidFill>
                  <a:srgbClr val="1F9970"/>
                </a:solidFill>
                <a:latin typeface="Noto Sans JP" pitchFamily="34" charset="0"/>
                <a:ea typeface="Noto Sans JP" pitchFamily="34" charset="-122"/>
                <a:cs typeface="Noto Sans JP" pitchFamily="34" charset="-120"/>
              </a:rPr>
              <a:t>03</a:t>
            </a:r>
            <a:endParaRPr lang="en-US" sz="1600" dirty="0"/>
          </a:p>
        </p:txBody>
      </p:sp>
      <p:sp>
        <p:nvSpPr>
          <p:cNvPr id="18" name="Text 15"/>
          <p:cNvSpPr txBox="1"/>
          <p:nvPr/>
        </p:nvSpPr>
        <p:spPr>
          <a:xfrm>
            <a:off x="1460500" y="2286000"/>
            <a:ext cx="5842000" cy="304800"/>
          </a:xfrm>
          <a:prstGeom prst="rect">
            <a:avLst/>
          </a:prstGeom>
          <a:noFill/>
          <a:ln/>
        </p:spPr>
        <p:txBody>
          <a:bodyPr wrap="square" lIns="0" tIns="0" rIns="0" bIns="0" rtlCol="0" anchor="ctr"/>
          <a:lstStyle/>
          <a:p>
            <a:pPr indent="0" marL="0">
              <a:buNone/>
            </a:pPr>
            <a:r>
              <a:rPr lang="en-US" sz="1500" dirty="0">
                <a:solidFill>
                  <a:srgbClr val="222222"/>
                </a:solidFill>
                <a:latin typeface="Noto Sans JP" pitchFamily="34" charset="0"/>
                <a:ea typeface="Noto Sans JP" pitchFamily="34" charset="-122"/>
                <a:cs typeface="Noto Sans JP" pitchFamily="34" charset="-120"/>
              </a:rPr>
              <a:t>ご提案：集約化から整備へモデル</a:t>
            </a:r>
            <a:endParaRPr lang="en-US" sz="1500" dirty="0"/>
          </a:p>
        </p:txBody>
      </p:sp>
      <p:sp>
        <p:nvSpPr>
          <p:cNvPr id="19" name="Text 16"/>
          <p:cNvSpPr txBox="1"/>
          <p:nvPr/>
        </p:nvSpPr>
        <p:spPr>
          <a:xfrm>
            <a:off x="7620000" y="2286000"/>
            <a:ext cx="508000" cy="304800"/>
          </a:xfrm>
          <a:prstGeom prst="rect">
            <a:avLst/>
          </a:prstGeom>
          <a:noFill/>
          <a:ln/>
        </p:spPr>
        <p:txBody>
          <a:bodyPr wrap="square" lIns="0" tIns="0" rIns="0" bIns="0" rtlCol="0" anchor="ctr"/>
          <a:lstStyle/>
          <a:p>
            <a:pPr algn="r" indent="0" marL="0">
              <a:buNone/>
            </a:pPr>
            <a:r>
              <a:rPr lang="en-US" sz="1500" dirty="0">
                <a:solidFill>
                  <a:srgbClr val="333333"/>
                </a:solidFill>
                <a:latin typeface="Noto Sans JP" pitchFamily="34" charset="0"/>
                <a:ea typeface="Noto Sans JP" pitchFamily="34" charset="-122"/>
                <a:cs typeface="Noto Sans JP" pitchFamily="34" charset="-120"/>
              </a:rPr>
              <a:t>13</a:t>
            </a:r>
            <a:endParaRPr lang="en-US" sz="1500" dirty="0"/>
          </a:p>
        </p:txBody>
      </p:sp>
      <p:sp>
        <p:nvSpPr>
          <p:cNvPr id="20" name="Shape 17"/>
          <p:cNvSpPr/>
          <p:nvPr/>
        </p:nvSpPr>
        <p:spPr>
          <a:xfrm>
            <a:off x="965200" y="2667000"/>
            <a:ext cx="7162800" cy="0"/>
          </a:xfrm>
          <a:prstGeom prst="line">
            <a:avLst/>
          </a:prstGeom>
          <a:noFill/>
          <a:ln w="6350">
            <a:solidFill>
              <a:srgbClr val="E0E0E0"/>
            </a:solidFill>
            <a:prstDash val="solid"/>
          </a:ln>
        </p:spPr>
      </p:sp>
      <p:sp>
        <p:nvSpPr>
          <p:cNvPr id="21" name="Text 18"/>
          <p:cNvSpPr txBox="1"/>
          <p:nvPr/>
        </p:nvSpPr>
        <p:spPr>
          <a:xfrm>
            <a:off x="965200" y="2794000"/>
            <a:ext cx="431800" cy="304800"/>
          </a:xfrm>
          <a:prstGeom prst="rect">
            <a:avLst/>
          </a:prstGeom>
          <a:noFill/>
          <a:ln/>
        </p:spPr>
        <p:txBody>
          <a:bodyPr wrap="square" lIns="0" tIns="0" rIns="0" bIns="0" rtlCol="0" anchor="ctr"/>
          <a:lstStyle/>
          <a:p>
            <a:pPr indent="0" marL="0">
              <a:buNone/>
            </a:pPr>
            <a:r>
              <a:rPr lang="en-US" sz="1600" b="1" dirty="0">
                <a:solidFill>
                  <a:srgbClr val="1F9970"/>
                </a:solidFill>
                <a:latin typeface="Noto Sans JP" pitchFamily="34" charset="0"/>
                <a:ea typeface="Noto Sans JP" pitchFamily="34" charset="-122"/>
                <a:cs typeface="Noto Sans JP" pitchFamily="34" charset="-120"/>
              </a:rPr>
              <a:t>04</a:t>
            </a:r>
            <a:endParaRPr lang="en-US" sz="1600" dirty="0"/>
          </a:p>
        </p:txBody>
      </p:sp>
      <p:sp>
        <p:nvSpPr>
          <p:cNvPr id="22" name="Text 19"/>
          <p:cNvSpPr txBox="1"/>
          <p:nvPr/>
        </p:nvSpPr>
        <p:spPr>
          <a:xfrm>
            <a:off x="1460500" y="2794000"/>
            <a:ext cx="5842000" cy="304800"/>
          </a:xfrm>
          <a:prstGeom prst="rect">
            <a:avLst/>
          </a:prstGeom>
          <a:noFill/>
          <a:ln/>
        </p:spPr>
        <p:txBody>
          <a:bodyPr wrap="square" lIns="0" tIns="0" rIns="0" bIns="0" rtlCol="0" anchor="ctr"/>
          <a:lstStyle/>
          <a:p>
            <a:pPr indent="0" marL="0">
              <a:buNone/>
            </a:pPr>
            <a:r>
              <a:rPr lang="en-US" sz="1500" dirty="0">
                <a:solidFill>
                  <a:srgbClr val="222222"/>
                </a:solidFill>
                <a:latin typeface="Noto Sans JP" pitchFamily="34" charset="0"/>
                <a:ea typeface="Noto Sans JP" pitchFamily="34" charset="-122"/>
                <a:cs typeface="Noto Sans JP" pitchFamily="34" charset="-120"/>
              </a:rPr>
              <a:t>木材利用・流通事例／森林体験／木材ワークショップ</a:t>
            </a:r>
            <a:endParaRPr lang="en-US" sz="1500" dirty="0"/>
          </a:p>
        </p:txBody>
      </p:sp>
      <p:sp>
        <p:nvSpPr>
          <p:cNvPr id="23" name="Text 20"/>
          <p:cNvSpPr txBox="1"/>
          <p:nvPr/>
        </p:nvSpPr>
        <p:spPr>
          <a:xfrm>
            <a:off x="7620000" y="2794000"/>
            <a:ext cx="508000" cy="304800"/>
          </a:xfrm>
          <a:prstGeom prst="rect">
            <a:avLst/>
          </a:prstGeom>
          <a:noFill/>
          <a:ln/>
        </p:spPr>
        <p:txBody>
          <a:bodyPr wrap="square" lIns="0" tIns="0" rIns="0" bIns="0" rtlCol="0" anchor="ctr"/>
          <a:lstStyle/>
          <a:p>
            <a:pPr algn="r" indent="0" marL="0">
              <a:buNone/>
            </a:pPr>
            <a:r>
              <a:rPr lang="en-US" sz="1500" dirty="0">
                <a:solidFill>
                  <a:srgbClr val="333333"/>
                </a:solidFill>
                <a:latin typeface="Noto Sans JP" pitchFamily="34" charset="0"/>
                <a:ea typeface="Noto Sans JP" pitchFamily="34" charset="-122"/>
                <a:cs typeface="Noto Sans JP" pitchFamily="34" charset="-120"/>
              </a:rPr>
              <a:t>17</a:t>
            </a:r>
            <a:endParaRPr lang="en-US" sz="1500" dirty="0"/>
          </a:p>
        </p:txBody>
      </p:sp>
      <p:sp>
        <p:nvSpPr>
          <p:cNvPr id="24" name="Shape 21"/>
          <p:cNvSpPr/>
          <p:nvPr/>
        </p:nvSpPr>
        <p:spPr>
          <a:xfrm>
            <a:off x="965200" y="3175000"/>
            <a:ext cx="7162800" cy="0"/>
          </a:xfrm>
          <a:prstGeom prst="line">
            <a:avLst/>
          </a:prstGeom>
          <a:noFill/>
          <a:ln w="6350">
            <a:solidFill>
              <a:srgbClr val="E0E0E0"/>
            </a:solidFill>
            <a:prstDash val="solid"/>
          </a:ln>
        </p:spPr>
      </p:sp>
      <p:sp>
        <p:nvSpPr>
          <p:cNvPr id="25" name="Text 22"/>
          <p:cNvSpPr txBox="1"/>
          <p:nvPr/>
        </p:nvSpPr>
        <p:spPr>
          <a:xfrm>
            <a:off x="965200" y="3302000"/>
            <a:ext cx="431800" cy="304800"/>
          </a:xfrm>
          <a:prstGeom prst="rect">
            <a:avLst/>
          </a:prstGeom>
          <a:noFill/>
          <a:ln/>
        </p:spPr>
        <p:txBody>
          <a:bodyPr wrap="square" lIns="0" tIns="0" rIns="0" bIns="0" rtlCol="0" anchor="ctr"/>
          <a:lstStyle/>
          <a:p>
            <a:pPr indent="0" marL="0">
              <a:buNone/>
            </a:pPr>
            <a:r>
              <a:rPr lang="en-US" sz="1600" b="1" dirty="0">
                <a:solidFill>
                  <a:srgbClr val="1F9970"/>
                </a:solidFill>
                <a:latin typeface="Noto Sans JP" pitchFamily="34" charset="0"/>
                <a:ea typeface="Noto Sans JP" pitchFamily="34" charset="-122"/>
                <a:cs typeface="Noto Sans JP" pitchFamily="34" charset="-120"/>
              </a:rPr>
              <a:t>05</a:t>
            </a:r>
            <a:endParaRPr lang="en-US" sz="1600" dirty="0"/>
          </a:p>
        </p:txBody>
      </p:sp>
      <p:sp>
        <p:nvSpPr>
          <p:cNvPr id="26" name="Text 23"/>
          <p:cNvSpPr txBox="1"/>
          <p:nvPr/>
        </p:nvSpPr>
        <p:spPr>
          <a:xfrm>
            <a:off x="1460500" y="3302000"/>
            <a:ext cx="5842000" cy="304800"/>
          </a:xfrm>
          <a:prstGeom prst="rect">
            <a:avLst/>
          </a:prstGeom>
          <a:noFill/>
          <a:ln/>
        </p:spPr>
        <p:txBody>
          <a:bodyPr wrap="square" lIns="0" tIns="0" rIns="0" bIns="0" rtlCol="0" anchor="ctr"/>
          <a:lstStyle/>
          <a:p>
            <a:pPr indent="0" marL="0">
              <a:buNone/>
            </a:pPr>
            <a:r>
              <a:rPr lang="en-US" sz="1500" dirty="0">
                <a:solidFill>
                  <a:srgbClr val="222222"/>
                </a:solidFill>
                <a:latin typeface="Noto Sans JP" pitchFamily="34" charset="0"/>
                <a:ea typeface="Noto Sans JP" pitchFamily="34" charset="-122"/>
                <a:cs typeface="Noto Sans JP" pitchFamily="34" charset="-120"/>
              </a:rPr>
              <a:t>本提案による波及効果</a:t>
            </a:r>
            <a:endParaRPr lang="en-US" sz="1500" dirty="0"/>
          </a:p>
        </p:txBody>
      </p:sp>
      <p:sp>
        <p:nvSpPr>
          <p:cNvPr id="27" name="Text 24"/>
          <p:cNvSpPr txBox="1"/>
          <p:nvPr/>
        </p:nvSpPr>
        <p:spPr>
          <a:xfrm>
            <a:off x="7620000" y="3302000"/>
            <a:ext cx="508000" cy="304800"/>
          </a:xfrm>
          <a:prstGeom prst="rect">
            <a:avLst/>
          </a:prstGeom>
          <a:noFill/>
          <a:ln/>
        </p:spPr>
        <p:txBody>
          <a:bodyPr wrap="square" lIns="0" tIns="0" rIns="0" bIns="0" rtlCol="0" anchor="ctr"/>
          <a:lstStyle/>
          <a:p>
            <a:pPr algn="r" indent="0" marL="0">
              <a:buNone/>
            </a:pPr>
            <a:r>
              <a:rPr lang="en-US" sz="1500" dirty="0">
                <a:solidFill>
                  <a:srgbClr val="333333"/>
                </a:solidFill>
                <a:latin typeface="Noto Sans JP" pitchFamily="34" charset="0"/>
                <a:ea typeface="Noto Sans JP" pitchFamily="34" charset="-122"/>
                <a:cs typeface="Noto Sans JP" pitchFamily="34" charset="-120"/>
              </a:rPr>
              <a:t>25</a:t>
            </a:r>
            <a:endParaRPr lang="en-US" sz="1500" dirty="0"/>
          </a:p>
        </p:txBody>
      </p:sp>
      <p:sp>
        <p:nvSpPr>
          <p:cNvPr id="28" name="Shape 25"/>
          <p:cNvSpPr/>
          <p:nvPr/>
        </p:nvSpPr>
        <p:spPr>
          <a:xfrm>
            <a:off x="965200" y="3683000"/>
            <a:ext cx="7162800" cy="0"/>
          </a:xfrm>
          <a:prstGeom prst="line">
            <a:avLst/>
          </a:prstGeom>
          <a:noFill/>
          <a:ln w="6350">
            <a:solidFill>
              <a:srgbClr val="E0E0E0"/>
            </a:solidFill>
            <a:prstDash val="solid"/>
          </a:ln>
        </p:spPr>
      </p:sp>
      <p:sp>
        <p:nvSpPr>
          <p:cNvPr id="29" name="Text 26"/>
          <p:cNvSpPr txBox="1"/>
          <p:nvPr/>
        </p:nvSpPr>
        <p:spPr>
          <a:xfrm>
            <a:off x="965200" y="3810000"/>
            <a:ext cx="431800" cy="304800"/>
          </a:xfrm>
          <a:prstGeom prst="rect">
            <a:avLst/>
          </a:prstGeom>
          <a:noFill/>
          <a:ln/>
        </p:spPr>
        <p:txBody>
          <a:bodyPr wrap="square" lIns="0" tIns="0" rIns="0" bIns="0" rtlCol="0" anchor="ctr"/>
          <a:lstStyle/>
          <a:p>
            <a:pPr indent="0" marL="0">
              <a:buNone/>
            </a:pPr>
            <a:r>
              <a:rPr lang="en-US" sz="1600" b="1" dirty="0">
                <a:solidFill>
                  <a:srgbClr val="1F9970"/>
                </a:solidFill>
                <a:latin typeface="Noto Sans JP" pitchFamily="34" charset="0"/>
                <a:ea typeface="Noto Sans JP" pitchFamily="34" charset="-122"/>
                <a:cs typeface="Noto Sans JP" pitchFamily="34" charset="-120"/>
              </a:rPr>
              <a:t>06</a:t>
            </a:r>
            <a:endParaRPr lang="en-US" sz="1600" dirty="0"/>
          </a:p>
        </p:txBody>
      </p:sp>
      <p:sp>
        <p:nvSpPr>
          <p:cNvPr id="30" name="Text 27"/>
          <p:cNvSpPr txBox="1"/>
          <p:nvPr/>
        </p:nvSpPr>
        <p:spPr>
          <a:xfrm>
            <a:off x="1460500" y="3810000"/>
            <a:ext cx="5842000" cy="304800"/>
          </a:xfrm>
          <a:prstGeom prst="rect">
            <a:avLst/>
          </a:prstGeom>
          <a:noFill/>
          <a:ln/>
        </p:spPr>
        <p:txBody>
          <a:bodyPr wrap="square" lIns="0" tIns="0" rIns="0" bIns="0" rtlCol="0" anchor="ctr"/>
          <a:lstStyle/>
          <a:p>
            <a:pPr indent="0" marL="0">
              <a:buNone/>
            </a:pPr>
            <a:r>
              <a:rPr lang="en-US" sz="1500" dirty="0">
                <a:solidFill>
                  <a:srgbClr val="222222"/>
                </a:solidFill>
                <a:latin typeface="Noto Sans JP" pitchFamily="34" charset="0"/>
                <a:ea typeface="Noto Sans JP" pitchFamily="34" charset="-122"/>
                <a:cs typeface="Noto Sans JP" pitchFamily="34" charset="-120"/>
              </a:rPr>
              <a:t>超概算</a:t>
            </a:r>
            <a:endParaRPr lang="en-US" sz="1500" dirty="0"/>
          </a:p>
        </p:txBody>
      </p:sp>
      <p:sp>
        <p:nvSpPr>
          <p:cNvPr id="31" name="Text 28"/>
          <p:cNvSpPr txBox="1"/>
          <p:nvPr/>
        </p:nvSpPr>
        <p:spPr>
          <a:xfrm>
            <a:off x="7620000" y="3810000"/>
            <a:ext cx="508000" cy="304800"/>
          </a:xfrm>
          <a:prstGeom prst="rect">
            <a:avLst/>
          </a:prstGeom>
          <a:noFill/>
          <a:ln/>
        </p:spPr>
        <p:txBody>
          <a:bodyPr wrap="square" lIns="0" tIns="0" rIns="0" bIns="0" rtlCol="0" anchor="ctr"/>
          <a:lstStyle/>
          <a:p>
            <a:pPr algn="r" indent="0" marL="0">
              <a:buNone/>
            </a:pPr>
            <a:r>
              <a:rPr lang="en-US" sz="1500" dirty="0">
                <a:solidFill>
                  <a:srgbClr val="333333"/>
                </a:solidFill>
                <a:latin typeface="Noto Sans JP" pitchFamily="34" charset="0"/>
                <a:ea typeface="Noto Sans JP" pitchFamily="34" charset="-122"/>
                <a:cs typeface="Noto Sans JP" pitchFamily="34" charset="-120"/>
              </a:rPr>
              <a:t>28</a:t>
            </a:r>
            <a:endParaRPr lang="en-US" sz="1500" dirty="0"/>
          </a:p>
        </p:txBody>
      </p:sp>
      <p:sp>
        <p:nvSpPr>
          <p:cNvPr id="32" name="Shape 29"/>
          <p:cNvSpPr/>
          <p:nvPr/>
        </p:nvSpPr>
        <p:spPr>
          <a:xfrm>
            <a:off x="965200" y="4191000"/>
            <a:ext cx="7162800" cy="0"/>
          </a:xfrm>
          <a:prstGeom prst="line">
            <a:avLst/>
          </a:prstGeom>
          <a:noFill/>
          <a:ln w="6350">
            <a:solidFill>
              <a:srgbClr val="E0E0E0"/>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F9970"/>
        </a:solidFill>
      </p:bgPr>
    </p:bg>
    <p:spTree>
      <p:nvGrpSpPr>
        <p:cNvPr id="1" name=""/>
        <p:cNvGrpSpPr/>
        <p:nvPr/>
      </p:nvGrpSpPr>
      <p:grpSpPr>
        <a:xfrm>
          <a:off x="0" y="0"/>
          <a:ext cx="0" cy="0"/>
          <a:chOff x="0" y="0"/>
          <a:chExt cx="0" cy="0"/>
        </a:xfrm>
      </p:grpSpPr>
      <p:sp>
        <p:nvSpPr>
          <p:cNvPr id="2" name="Shape 0"/>
          <p:cNvSpPr/>
          <p:nvPr/>
        </p:nvSpPr>
        <p:spPr>
          <a:xfrm>
            <a:off x="342900" y="342900"/>
            <a:ext cx="8458200" cy="4457700"/>
          </a:xfrm>
          <a:prstGeom prst="rect">
            <a:avLst/>
          </a:prstGeom>
          <a:ln w="12700">
            <a:solidFill>
              <a:srgbClr val="FFFFFF"/>
            </a:solidFill>
            <a:prstDash val="solid"/>
          </a:ln>
        </p:spPr>
      </p:sp>
      <p:sp>
        <p:nvSpPr>
          <p:cNvPr id="3" name="Text 1"/>
          <p:cNvSpPr txBox="1"/>
          <p:nvPr/>
        </p:nvSpPr>
        <p:spPr>
          <a:xfrm>
            <a:off x="762000" y="1778000"/>
            <a:ext cx="7620000" cy="1524000"/>
          </a:xfrm>
          <a:prstGeom prst="rect">
            <a:avLst/>
          </a:prstGeom>
          <a:noFill/>
          <a:ln/>
        </p:spPr>
        <p:txBody>
          <a:bodyPr wrap="square" lIns="0" tIns="0" rIns="0" bIns="0" rtlCol="0" anchor="ctr"/>
          <a:lstStyle/>
          <a:p>
            <a:pPr algn="ctr" indent="0" marL="0">
              <a:buNone/>
            </a:pPr>
            <a:r>
              <a:rPr lang="en-US" sz="2600" b="1" dirty="0">
                <a:solidFill>
                  <a:srgbClr val="FFFFFF"/>
                </a:solidFill>
                <a:latin typeface="Noto Sans JP" pitchFamily="34" charset="0"/>
                <a:ea typeface="Noto Sans JP" pitchFamily="34" charset="-122"/>
                <a:cs typeface="Noto Sans JP" pitchFamily="34" charset="-120"/>
              </a:rPr>
              <a:t>ご相談内容</a:t>
            </a:r>
            <a:endParaRPr lang="en-US" sz="2600" dirty="0"/>
          </a:p>
        </p:txBody>
      </p:sp>
      <p:sp>
        <p:nvSpPr>
          <p:cNvPr id="4" name="Shape 2"/>
          <p:cNvSpPr/>
          <p:nvPr/>
        </p:nvSpPr>
        <p:spPr>
          <a:xfrm>
            <a:off x="88900" y="4876800"/>
            <a:ext cx="723900" cy="165100"/>
          </a:xfrm>
          <a:prstGeom prst="rect">
            <a:avLst/>
          </a:prstGeom>
          <a:solidFill>
            <a:srgbClr val="FFFFFF"/>
          </a:solidFill>
          <a:ln w="6350">
            <a:solidFill>
              <a:srgbClr val="B2B2B2"/>
            </a:solidFill>
            <a:prstDash val="solid"/>
          </a:ln>
        </p:spPr>
      </p:sp>
      <p:sp>
        <p:nvSpPr>
          <p:cNvPr id="5" name="Text 3"/>
          <p:cNvSpPr txBox="1"/>
          <p:nvPr/>
        </p:nvSpPr>
        <p:spPr>
          <a:xfrm>
            <a:off x="88900" y="4876800"/>
            <a:ext cx="723900" cy="165100"/>
          </a:xfrm>
          <a:prstGeom prst="rect">
            <a:avLst/>
          </a:prstGeom>
          <a:noFill/>
          <a:ln/>
        </p:spPr>
        <p:txBody>
          <a:bodyPr wrap="square" lIns="0" tIns="0" rIns="0" bIns="0" rtlCol="0" anchor="ctr"/>
          <a:lstStyle/>
          <a:p>
            <a:pPr algn="ctr" indent="0" marL="0">
              <a:buNone/>
            </a:pPr>
            <a:r>
              <a:rPr lang="en-US" sz="700" dirty="0">
                <a:solidFill>
                  <a:srgbClr val="757575"/>
                </a:solidFill>
                <a:latin typeface="Arial" pitchFamily="34" charset="0"/>
                <a:ea typeface="Arial" pitchFamily="34" charset="-122"/>
                <a:cs typeface="Arial" pitchFamily="34" charset="-120"/>
              </a:rPr>
              <a:t>confidential</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tmp/claude-0/-home-user--/135b95b8-9a7c-5e2e-abb3-3369b8f4d943/scratchpad/assets/logo_dark.png">    </p:cNvPr>
          <p:cNvPicPr>
            <a:picLocks noChangeAspect="1"/>
          </p:cNvPicPr>
          <p:nvPr/>
        </p:nvPicPr>
        <p:blipFill>
          <a:blip r:embed="rId1"/>
          <a:stretch>
            <a:fillRect/>
          </a:stretch>
        </p:blipFill>
        <p:spPr>
          <a:xfrm>
            <a:off x="355600" y="160020"/>
            <a:ext cx="558800" cy="254000"/>
          </a:xfrm>
          <a:prstGeom prst="rect">
            <a:avLst/>
          </a:prstGeom>
        </p:spPr>
      </p:pic>
      <p:sp>
        <p:nvSpPr>
          <p:cNvPr id="3" name="Text 0"/>
          <p:cNvSpPr txBox="1"/>
          <p:nvPr/>
        </p:nvSpPr>
        <p:spPr>
          <a:xfrm>
            <a:off x="1397000" y="127000"/>
            <a:ext cx="6350000" cy="304800"/>
          </a:xfrm>
          <a:prstGeom prst="rect">
            <a:avLst/>
          </a:prstGeom>
          <a:noFill/>
          <a:ln/>
        </p:spPr>
        <p:txBody>
          <a:bodyPr wrap="square" lIns="0" tIns="0" rIns="0" bIns="0" rtlCol="0" anchor="ctr"/>
          <a:lstStyle/>
          <a:p>
            <a:pPr algn="ctr" indent="0" marL="0">
              <a:buNone/>
            </a:pPr>
            <a:r>
              <a:rPr lang="en-US" sz="1500" b="1" dirty="0">
                <a:solidFill>
                  <a:srgbClr val="222222"/>
                </a:solidFill>
                <a:latin typeface="Noto Sans JP" pitchFamily="34" charset="0"/>
                <a:ea typeface="Noto Sans JP" pitchFamily="34" charset="-122"/>
                <a:cs typeface="Noto Sans JP" pitchFamily="34" charset="-120"/>
              </a:rPr>
              <a:t>ご相談内容</a:t>
            </a:r>
            <a:endParaRPr lang="en-US" sz="1500" dirty="0"/>
          </a:p>
        </p:txBody>
      </p:sp>
      <p:sp>
        <p:nvSpPr>
          <p:cNvPr id="4" name="Shape 1"/>
          <p:cNvSpPr/>
          <p:nvPr/>
        </p:nvSpPr>
        <p:spPr>
          <a:xfrm>
            <a:off x="0" y="539750"/>
            <a:ext cx="9144000" cy="0"/>
          </a:xfrm>
          <a:prstGeom prst="line">
            <a:avLst/>
          </a:prstGeom>
          <a:noFill/>
          <a:ln w="9525">
            <a:solidFill>
              <a:srgbClr val="999999"/>
            </a:solidFill>
            <a:prstDash val="solid"/>
          </a:ln>
        </p:spPr>
      </p:sp>
      <p:sp>
        <p:nvSpPr>
          <p:cNvPr id="5" name="Shape 2"/>
          <p:cNvSpPr/>
          <p:nvPr/>
        </p:nvSpPr>
        <p:spPr>
          <a:xfrm>
            <a:off x="88900" y="4876800"/>
            <a:ext cx="723900" cy="165100"/>
          </a:xfrm>
          <a:prstGeom prst="rect">
            <a:avLst/>
          </a:prstGeom>
          <a:solidFill>
            <a:srgbClr val="FFFFFF"/>
          </a:solidFill>
          <a:ln w="6350">
            <a:solidFill>
              <a:srgbClr val="B2B2B2"/>
            </a:solidFill>
            <a:prstDash val="solid"/>
          </a:ln>
        </p:spPr>
      </p:sp>
      <p:sp>
        <p:nvSpPr>
          <p:cNvPr id="6" name="Text 3"/>
          <p:cNvSpPr txBox="1"/>
          <p:nvPr/>
        </p:nvSpPr>
        <p:spPr>
          <a:xfrm>
            <a:off x="88900" y="4876800"/>
            <a:ext cx="723900" cy="165100"/>
          </a:xfrm>
          <a:prstGeom prst="rect">
            <a:avLst/>
          </a:prstGeom>
          <a:noFill/>
          <a:ln/>
        </p:spPr>
        <p:txBody>
          <a:bodyPr wrap="square" lIns="0" tIns="0" rIns="0" bIns="0" rtlCol="0" anchor="ctr"/>
          <a:lstStyle/>
          <a:p>
            <a:pPr algn="ctr" indent="0" marL="0">
              <a:buNone/>
            </a:pPr>
            <a:r>
              <a:rPr lang="en-US" sz="700" dirty="0">
                <a:solidFill>
                  <a:srgbClr val="757575"/>
                </a:solidFill>
                <a:latin typeface="Arial" pitchFamily="34" charset="0"/>
                <a:ea typeface="Arial" pitchFamily="34" charset="-122"/>
                <a:cs typeface="Arial" pitchFamily="34" charset="-120"/>
              </a:rPr>
              <a:t>confidential</a:t>
            </a:r>
            <a:endParaRPr lang="en-US" sz="700" dirty="0"/>
          </a:p>
        </p:txBody>
      </p:sp>
      <p:sp>
        <p:nvSpPr>
          <p:cNvPr id="7" name="Text 4"/>
          <p:cNvSpPr txBox="1"/>
          <p:nvPr/>
        </p:nvSpPr>
        <p:spPr>
          <a:xfrm>
            <a:off x="8509000" y="4826000"/>
            <a:ext cx="533400" cy="203200"/>
          </a:xfrm>
          <a:prstGeom prst="rect">
            <a:avLst/>
          </a:prstGeom>
          <a:noFill/>
          <a:ln/>
        </p:spPr>
        <p:txBody>
          <a:bodyPr wrap="square" lIns="0" tIns="0" rIns="0" bIns="0" rtlCol="0" anchor="t"/>
          <a:lstStyle/>
          <a:p>
            <a:pPr algn="r" indent="0" marL="0">
              <a:buNone/>
            </a:pPr>
            <a:r>
              <a:rPr lang="en-US" sz="1100" dirty="0">
                <a:solidFill>
                  <a:srgbClr val="757575"/>
                </a:solidFill>
                <a:latin typeface="Noto Sans JP" pitchFamily="34" charset="0"/>
                <a:ea typeface="Noto Sans JP" pitchFamily="34" charset="-122"/>
                <a:cs typeface="Noto Sans JP" pitchFamily="34" charset="-120"/>
              </a:rPr>
              <a:t>4</a:t>
            </a:r>
            <a:endParaRPr lang="en-US" sz="1100" dirty="0"/>
          </a:p>
        </p:txBody>
      </p:sp>
      <p:sp>
        <p:nvSpPr>
          <p:cNvPr id="8" name="Shape 5"/>
          <p:cNvSpPr/>
          <p:nvPr/>
        </p:nvSpPr>
        <p:spPr>
          <a:xfrm>
            <a:off x="508000" y="1016000"/>
            <a:ext cx="3937000" cy="3175000"/>
          </a:xfrm>
          <a:prstGeom prst="rect">
            <a:avLst/>
          </a:prstGeom>
          <a:solidFill>
            <a:srgbClr val="E8F5EF"/>
          </a:solidFill>
          <a:ln/>
        </p:spPr>
      </p:sp>
      <p:sp>
        <p:nvSpPr>
          <p:cNvPr id="9" name="Shape 6"/>
          <p:cNvSpPr/>
          <p:nvPr/>
        </p:nvSpPr>
        <p:spPr>
          <a:xfrm>
            <a:off x="762000" y="1270000"/>
            <a:ext cx="584200" cy="584200"/>
          </a:xfrm>
          <a:prstGeom prst="ellipse">
            <a:avLst/>
          </a:prstGeom>
          <a:solidFill>
            <a:srgbClr val="1F9970"/>
          </a:solidFill>
          <a:ln/>
        </p:spPr>
      </p:sp>
      <p:pic>
        <p:nvPicPr>
          <p:cNvPr id="10" name="Image 1" descr="preencoded.png">    </p:cNvPr>
          <p:cNvPicPr>
            <a:picLocks noChangeAspect="1"/>
          </p:cNvPicPr>
          <p:nvPr/>
        </p:nvPicPr>
        <p:blipFill>
          <a:blip r:embed="rId2"/>
          <a:stretch>
            <a:fillRect/>
          </a:stretch>
        </p:blipFill>
        <p:spPr>
          <a:xfrm>
            <a:off x="908050" y="1416050"/>
            <a:ext cx="292100" cy="292100"/>
          </a:xfrm>
          <a:prstGeom prst="rect">
            <a:avLst/>
          </a:prstGeom>
        </p:spPr>
      </p:pic>
      <p:sp>
        <p:nvSpPr>
          <p:cNvPr id="11" name="Text 7"/>
          <p:cNvSpPr txBox="1"/>
          <p:nvPr/>
        </p:nvSpPr>
        <p:spPr>
          <a:xfrm>
            <a:off x="762000" y="2032000"/>
            <a:ext cx="3429000" cy="330200"/>
          </a:xfrm>
          <a:prstGeom prst="rect">
            <a:avLst/>
          </a:prstGeom>
          <a:noFill/>
          <a:ln/>
        </p:spPr>
        <p:txBody>
          <a:bodyPr wrap="square" lIns="0" tIns="0" rIns="0" bIns="0" rtlCol="0" anchor="t"/>
          <a:lstStyle/>
          <a:p>
            <a:pPr indent="0" marL="0">
              <a:buNone/>
            </a:pPr>
            <a:r>
              <a:rPr lang="en-US" sz="1600" b="1" dirty="0">
                <a:solidFill>
                  <a:srgbClr val="222222"/>
                </a:solidFill>
                <a:latin typeface="Noto Sans JP" pitchFamily="34" charset="0"/>
                <a:ea typeface="Noto Sans JP" pitchFamily="34" charset="-122"/>
                <a:cs typeface="Noto Sans JP" pitchFamily="34" charset="-120"/>
              </a:rPr>
              <a:t>自社保有地以外の貢献模索</a:t>
            </a:r>
            <a:endParaRPr lang="en-US" sz="1600" dirty="0"/>
          </a:p>
        </p:txBody>
      </p:sp>
      <p:sp>
        <p:nvSpPr>
          <p:cNvPr id="12" name="Text 8"/>
          <p:cNvSpPr txBox="1"/>
          <p:nvPr/>
        </p:nvSpPr>
        <p:spPr>
          <a:xfrm>
            <a:off x="762000" y="2476500"/>
            <a:ext cx="3429000" cy="1524000"/>
          </a:xfrm>
          <a:prstGeom prst="rect">
            <a:avLst/>
          </a:prstGeom>
          <a:noFill/>
          <a:ln/>
        </p:spPr>
        <p:txBody>
          <a:bodyPr wrap="square" lIns="0" tIns="0" rIns="0" bIns="0" rtlCol="0" anchor="t"/>
          <a:lstStyle/>
          <a:p>
            <a:pPr indent="0" marL="0">
              <a:lnSpc>
                <a:spcPct val="140000"/>
              </a:lnSpc>
              <a:buNone/>
            </a:pPr>
            <a:r>
              <a:rPr lang="en-US" sz="1200" dirty="0">
                <a:solidFill>
                  <a:srgbClr val="444444"/>
                </a:solidFill>
                <a:latin typeface="Noto Sans JP" pitchFamily="34" charset="0"/>
                <a:ea typeface="Noto Sans JP" pitchFamily="34" charset="-122"/>
                <a:cs typeface="Noto Sans JP" pitchFamily="34" charset="-120"/>
              </a:rPr>
              <a:t>南大沢（アウトレット）や日野（データセンター）と同水系にある八王子市様を皮切りに、保有森林以外での地域・環境貢献策を構築したい。</a:t>
            </a:r>
            <a:endParaRPr lang="en-US" sz="1200" dirty="0"/>
          </a:p>
        </p:txBody>
      </p:sp>
      <p:sp>
        <p:nvSpPr>
          <p:cNvPr id="13" name="Shape 9"/>
          <p:cNvSpPr/>
          <p:nvPr/>
        </p:nvSpPr>
        <p:spPr>
          <a:xfrm>
            <a:off x="4699000" y="1016000"/>
            <a:ext cx="3937000" cy="3175000"/>
          </a:xfrm>
          <a:prstGeom prst="rect">
            <a:avLst/>
          </a:prstGeom>
          <a:solidFill>
            <a:srgbClr val="E8F5EF"/>
          </a:solidFill>
          <a:ln/>
        </p:spPr>
      </p:sp>
      <p:sp>
        <p:nvSpPr>
          <p:cNvPr id="14" name="Shape 10"/>
          <p:cNvSpPr/>
          <p:nvPr/>
        </p:nvSpPr>
        <p:spPr>
          <a:xfrm>
            <a:off x="4953000" y="1270000"/>
            <a:ext cx="584200" cy="584200"/>
          </a:xfrm>
          <a:prstGeom prst="ellipse">
            <a:avLst/>
          </a:prstGeom>
          <a:solidFill>
            <a:srgbClr val="1F9970"/>
          </a:solidFill>
          <a:ln/>
        </p:spPr>
      </p:sp>
      <p:pic>
        <p:nvPicPr>
          <p:cNvPr id="15" name="Image 2" descr="preencoded.png">    </p:cNvPr>
          <p:cNvPicPr>
            <a:picLocks noChangeAspect="1"/>
          </p:cNvPicPr>
          <p:nvPr/>
        </p:nvPicPr>
        <p:blipFill>
          <a:blip r:embed="rId3"/>
          <a:stretch>
            <a:fillRect/>
          </a:stretch>
        </p:blipFill>
        <p:spPr>
          <a:xfrm>
            <a:off x="5099050" y="1416050"/>
            <a:ext cx="292100" cy="292100"/>
          </a:xfrm>
          <a:prstGeom prst="rect">
            <a:avLst/>
          </a:prstGeom>
        </p:spPr>
      </p:pic>
      <p:sp>
        <p:nvSpPr>
          <p:cNvPr id="16" name="Text 11"/>
          <p:cNvSpPr txBox="1"/>
          <p:nvPr/>
        </p:nvSpPr>
        <p:spPr>
          <a:xfrm>
            <a:off x="4953000" y="2032000"/>
            <a:ext cx="3429000" cy="330200"/>
          </a:xfrm>
          <a:prstGeom prst="rect">
            <a:avLst/>
          </a:prstGeom>
          <a:noFill/>
          <a:ln/>
        </p:spPr>
        <p:txBody>
          <a:bodyPr wrap="square" lIns="0" tIns="0" rIns="0" bIns="0" rtlCol="0" anchor="t"/>
          <a:lstStyle/>
          <a:p>
            <a:pPr indent="0" marL="0">
              <a:buNone/>
            </a:pPr>
            <a:r>
              <a:rPr lang="en-US" sz="1600" b="1" dirty="0">
                <a:solidFill>
                  <a:srgbClr val="222222"/>
                </a:solidFill>
                <a:latin typeface="Noto Sans JP" pitchFamily="34" charset="0"/>
                <a:ea typeface="Noto Sans JP" pitchFamily="34" charset="-122"/>
                <a:cs typeface="Noto Sans JP" pitchFamily="34" charset="-120"/>
              </a:rPr>
              <a:t>TNFD・脱炭素対応</a:t>
            </a:r>
            <a:endParaRPr lang="en-US" sz="1600" dirty="0"/>
          </a:p>
        </p:txBody>
      </p:sp>
      <p:sp>
        <p:nvSpPr>
          <p:cNvPr id="17" name="Text 12"/>
          <p:cNvSpPr txBox="1"/>
          <p:nvPr/>
        </p:nvSpPr>
        <p:spPr>
          <a:xfrm>
            <a:off x="4953000" y="2476500"/>
            <a:ext cx="3429000" cy="1524000"/>
          </a:xfrm>
          <a:prstGeom prst="rect">
            <a:avLst/>
          </a:prstGeom>
          <a:noFill/>
          <a:ln/>
        </p:spPr>
        <p:txBody>
          <a:bodyPr wrap="square" lIns="0" tIns="0" rIns="0" bIns="0" rtlCol="0" anchor="t"/>
          <a:lstStyle/>
          <a:p>
            <a:pPr indent="0" marL="0">
              <a:lnSpc>
                <a:spcPct val="140000"/>
              </a:lnSpc>
              <a:buNone/>
            </a:pPr>
            <a:r>
              <a:rPr lang="en-US" sz="1200" dirty="0">
                <a:solidFill>
                  <a:srgbClr val="444444"/>
                </a:solidFill>
                <a:latin typeface="Noto Sans JP" pitchFamily="34" charset="0"/>
                <a:ea typeface="Noto Sans JP" pitchFamily="34" charset="-122"/>
                <a:cs typeface="Noto Sans JP" pitchFamily="34" charset="-120"/>
              </a:rPr>
              <a:t>TNFD開示や年明け発表予定の「脱炭素行動計画」を見据え、水資源・生物多様性・森林保全への貢献実績（約6,600haの森林領域を意識）を作りたい。</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F9970"/>
        </a:solidFill>
      </p:bgPr>
    </p:bg>
    <p:spTree>
      <p:nvGrpSpPr>
        <p:cNvPr id="1" name=""/>
        <p:cNvGrpSpPr/>
        <p:nvPr/>
      </p:nvGrpSpPr>
      <p:grpSpPr>
        <a:xfrm>
          <a:off x="0" y="0"/>
          <a:ext cx="0" cy="0"/>
          <a:chOff x="0" y="0"/>
          <a:chExt cx="0" cy="0"/>
        </a:xfrm>
      </p:grpSpPr>
      <p:sp>
        <p:nvSpPr>
          <p:cNvPr id="2" name="Shape 0"/>
          <p:cNvSpPr/>
          <p:nvPr/>
        </p:nvSpPr>
        <p:spPr>
          <a:xfrm>
            <a:off x="342900" y="342900"/>
            <a:ext cx="8458200" cy="4457700"/>
          </a:xfrm>
          <a:prstGeom prst="rect">
            <a:avLst/>
          </a:prstGeom>
          <a:ln w="12700">
            <a:solidFill>
              <a:srgbClr val="FFFFFF"/>
            </a:solidFill>
            <a:prstDash val="solid"/>
          </a:ln>
        </p:spPr>
      </p:sp>
      <p:sp>
        <p:nvSpPr>
          <p:cNvPr id="3" name="Text 1"/>
          <p:cNvSpPr txBox="1"/>
          <p:nvPr/>
        </p:nvSpPr>
        <p:spPr>
          <a:xfrm>
            <a:off x="762000" y="1778000"/>
            <a:ext cx="7620000" cy="1524000"/>
          </a:xfrm>
          <a:prstGeom prst="rect">
            <a:avLst/>
          </a:prstGeom>
          <a:noFill/>
          <a:ln/>
        </p:spPr>
        <p:txBody>
          <a:bodyPr wrap="square" lIns="0" tIns="0" rIns="0" bIns="0" rtlCol="0" anchor="ctr"/>
          <a:lstStyle/>
          <a:p>
            <a:pPr algn="ctr" indent="0" marL="0">
              <a:buNone/>
            </a:pPr>
            <a:r>
              <a:rPr lang="en-US" sz="2600" b="1" dirty="0">
                <a:solidFill>
                  <a:srgbClr val="FFFFFF"/>
                </a:solidFill>
                <a:latin typeface="Noto Sans JP" pitchFamily="34" charset="0"/>
                <a:ea typeface="Noto Sans JP" pitchFamily="34" charset="-122"/>
                <a:cs typeface="Noto Sans JP" pitchFamily="34" charset="-120"/>
              </a:rPr>
              <a:t>八王子市様の森林の課題</a:t>
            </a:r>
            <a:endParaRPr lang="en-US" sz="2600" dirty="0"/>
          </a:p>
        </p:txBody>
      </p:sp>
      <p:sp>
        <p:nvSpPr>
          <p:cNvPr id="4" name="Shape 2"/>
          <p:cNvSpPr/>
          <p:nvPr/>
        </p:nvSpPr>
        <p:spPr>
          <a:xfrm>
            <a:off x="88900" y="4876800"/>
            <a:ext cx="723900" cy="165100"/>
          </a:xfrm>
          <a:prstGeom prst="rect">
            <a:avLst/>
          </a:prstGeom>
          <a:solidFill>
            <a:srgbClr val="FFFFFF"/>
          </a:solidFill>
          <a:ln w="6350">
            <a:solidFill>
              <a:srgbClr val="B2B2B2"/>
            </a:solidFill>
            <a:prstDash val="solid"/>
          </a:ln>
        </p:spPr>
      </p:sp>
      <p:sp>
        <p:nvSpPr>
          <p:cNvPr id="5" name="Text 3"/>
          <p:cNvSpPr txBox="1"/>
          <p:nvPr/>
        </p:nvSpPr>
        <p:spPr>
          <a:xfrm>
            <a:off x="88900" y="4876800"/>
            <a:ext cx="723900" cy="165100"/>
          </a:xfrm>
          <a:prstGeom prst="rect">
            <a:avLst/>
          </a:prstGeom>
          <a:noFill/>
          <a:ln/>
        </p:spPr>
        <p:txBody>
          <a:bodyPr wrap="square" lIns="0" tIns="0" rIns="0" bIns="0" rtlCol="0" anchor="ctr"/>
          <a:lstStyle/>
          <a:p>
            <a:pPr algn="ctr" indent="0" marL="0">
              <a:buNone/>
            </a:pPr>
            <a:r>
              <a:rPr lang="en-US" sz="700" dirty="0">
                <a:solidFill>
                  <a:srgbClr val="757575"/>
                </a:solidFill>
                <a:latin typeface="Arial" pitchFamily="34" charset="0"/>
                <a:ea typeface="Arial" pitchFamily="34" charset="-122"/>
                <a:cs typeface="Arial" pitchFamily="34" charset="-120"/>
              </a:rPr>
              <a:t>confidential</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tmp/claude-0/-home-user--/135b95b8-9a7c-5e2e-abb3-3369b8f4d943/scratchpad/assets/logo_dark.png">    </p:cNvPr>
          <p:cNvPicPr>
            <a:picLocks noChangeAspect="1"/>
          </p:cNvPicPr>
          <p:nvPr/>
        </p:nvPicPr>
        <p:blipFill>
          <a:blip r:embed="rId1"/>
          <a:stretch>
            <a:fillRect/>
          </a:stretch>
        </p:blipFill>
        <p:spPr>
          <a:xfrm>
            <a:off x="355600" y="160020"/>
            <a:ext cx="558800" cy="254000"/>
          </a:xfrm>
          <a:prstGeom prst="rect">
            <a:avLst/>
          </a:prstGeom>
        </p:spPr>
      </p:pic>
      <p:sp>
        <p:nvSpPr>
          <p:cNvPr id="3" name="Text 0"/>
          <p:cNvSpPr txBox="1"/>
          <p:nvPr/>
        </p:nvSpPr>
        <p:spPr>
          <a:xfrm>
            <a:off x="1397000" y="127000"/>
            <a:ext cx="6350000" cy="304800"/>
          </a:xfrm>
          <a:prstGeom prst="rect">
            <a:avLst/>
          </a:prstGeom>
          <a:noFill/>
          <a:ln/>
        </p:spPr>
        <p:txBody>
          <a:bodyPr wrap="square" lIns="0" tIns="0" rIns="0" bIns="0" rtlCol="0" anchor="ctr"/>
          <a:lstStyle/>
          <a:p>
            <a:pPr algn="ctr" indent="0" marL="0">
              <a:buNone/>
            </a:pPr>
            <a:r>
              <a:rPr lang="en-US" sz="1500" b="1" dirty="0">
                <a:solidFill>
                  <a:srgbClr val="222222"/>
                </a:solidFill>
                <a:latin typeface="Noto Sans JP" pitchFamily="34" charset="0"/>
                <a:ea typeface="Noto Sans JP" pitchFamily="34" charset="-122"/>
                <a:cs typeface="Noto Sans JP" pitchFamily="34" charset="-120"/>
              </a:rPr>
              <a:t>八王子市様の森林の課題：全体像</a:t>
            </a:r>
            <a:endParaRPr lang="en-US" sz="1500" dirty="0"/>
          </a:p>
        </p:txBody>
      </p:sp>
      <p:sp>
        <p:nvSpPr>
          <p:cNvPr id="4" name="Shape 1"/>
          <p:cNvSpPr/>
          <p:nvPr/>
        </p:nvSpPr>
        <p:spPr>
          <a:xfrm>
            <a:off x="0" y="539750"/>
            <a:ext cx="9144000" cy="0"/>
          </a:xfrm>
          <a:prstGeom prst="line">
            <a:avLst/>
          </a:prstGeom>
          <a:noFill/>
          <a:ln w="9525">
            <a:solidFill>
              <a:srgbClr val="999999"/>
            </a:solidFill>
            <a:prstDash val="solid"/>
          </a:ln>
        </p:spPr>
      </p:sp>
      <p:sp>
        <p:nvSpPr>
          <p:cNvPr id="5" name="Shape 2"/>
          <p:cNvSpPr/>
          <p:nvPr/>
        </p:nvSpPr>
        <p:spPr>
          <a:xfrm>
            <a:off x="88900" y="4876800"/>
            <a:ext cx="723900" cy="165100"/>
          </a:xfrm>
          <a:prstGeom prst="rect">
            <a:avLst/>
          </a:prstGeom>
          <a:solidFill>
            <a:srgbClr val="FFFFFF"/>
          </a:solidFill>
          <a:ln w="6350">
            <a:solidFill>
              <a:srgbClr val="B2B2B2"/>
            </a:solidFill>
            <a:prstDash val="solid"/>
          </a:ln>
        </p:spPr>
      </p:sp>
      <p:sp>
        <p:nvSpPr>
          <p:cNvPr id="6" name="Text 3"/>
          <p:cNvSpPr txBox="1"/>
          <p:nvPr/>
        </p:nvSpPr>
        <p:spPr>
          <a:xfrm>
            <a:off x="88900" y="4876800"/>
            <a:ext cx="723900" cy="165100"/>
          </a:xfrm>
          <a:prstGeom prst="rect">
            <a:avLst/>
          </a:prstGeom>
          <a:noFill/>
          <a:ln/>
        </p:spPr>
        <p:txBody>
          <a:bodyPr wrap="square" lIns="0" tIns="0" rIns="0" bIns="0" rtlCol="0" anchor="ctr"/>
          <a:lstStyle/>
          <a:p>
            <a:pPr algn="ctr" indent="0" marL="0">
              <a:buNone/>
            </a:pPr>
            <a:r>
              <a:rPr lang="en-US" sz="700" dirty="0">
                <a:solidFill>
                  <a:srgbClr val="757575"/>
                </a:solidFill>
                <a:latin typeface="Arial" pitchFamily="34" charset="0"/>
                <a:ea typeface="Arial" pitchFamily="34" charset="-122"/>
                <a:cs typeface="Arial" pitchFamily="34" charset="-120"/>
              </a:rPr>
              <a:t>confidential</a:t>
            </a:r>
            <a:endParaRPr lang="en-US" sz="700" dirty="0"/>
          </a:p>
        </p:txBody>
      </p:sp>
      <p:sp>
        <p:nvSpPr>
          <p:cNvPr id="7" name="Text 4"/>
          <p:cNvSpPr txBox="1"/>
          <p:nvPr/>
        </p:nvSpPr>
        <p:spPr>
          <a:xfrm>
            <a:off x="8509000" y="4826000"/>
            <a:ext cx="533400" cy="203200"/>
          </a:xfrm>
          <a:prstGeom prst="rect">
            <a:avLst/>
          </a:prstGeom>
          <a:noFill/>
          <a:ln/>
        </p:spPr>
        <p:txBody>
          <a:bodyPr wrap="square" lIns="0" tIns="0" rIns="0" bIns="0" rtlCol="0" anchor="t"/>
          <a:lstStyle/>
          <a:p>
            <a:pPr algn="r" indent="0" marL="0">
              <a:buNone/>
            </a:pPr>
            <a:r>
              <a:rPr lang="en-US" sz="1100" dirty="0">
                <a:solidFill>
                  <a:srgbClr val="757575"/>
                </a:solidFill>
                <a:latin typeface="Noto Sans JP" pitchFamily="34" charset="0"/>
                <a:ea typeface="Noto Sans JP" pitchFamily="34" charset="-122"/>
                <a:cs typeface="Noto Sans JP" pitchFamily="34" charset="-120"/>
              </a:rPr>
              <a:t>6</a:t>
            </a:r>
            <a:endParaRPr lang="en-US" sz="1100" dirty="0"/>
          </a:p>
        </p:txBody>
      </p:sp>
      <p:sp>
        <p:nvSpPr>
          <p:cNvPr id="8" name="Text 5"/>
          <p:cNvSpPr txBox="1"/>
          <p:nvPr/>
        </p:nvSpPr>
        <p:spPr>
          <a:xfrm>
            <a:off x="457200" y="609600"/>
            <a:ext cx="8229600" cy="508000"/>
          </a:xfrm>
          <a:prstGeom prst="rect">
            <a:avLst/>
          </a:prstGeom>
          <a:noFill/>
          <a:ln/>
        </p:spPr>
        <p:txBody>
          <a:bodyPr wrap="square" lIns="0" tIns="0" rIns="0" bIns="0" rtlCol="0" anchor="ctr"/>
          <a:lstStyle/>
          <a:p>
            <a:pPr indent="0" marL="0">
              <a:buNone/>
            </a:pPr>
            <a:r>
              <a:rPr lang="en-US" sz="1300" b="1" dirty="0">
                <a:solidFill>
                  <a:srgbClr val="16816D"/>
                </a:solidFill>
                <a:latin typeface="Noto Sans JP" pitchFamily="34" charset="0"/>
                <a:ea typeface="Noto Sans JP" pitchFamily="34" charset="-122"/>
                <a:cs typeface="Noto Sans JP" pitchFamily="34" charset="-120"/>
              </a:rPr>
              <a:t>「所有者・境界・道・資金」の壁が重なり、集約化から森林整備へ進む入口で止まっています。</a:t>
            </a:r>
            <a:endParaRPr lang="en-US" sz="1300" dirty="0"/>
          </a:p>
        </p:txBody>
      </p:sp>
      <p:sp>
        <p:nvSpPr>
          <p:cNvPr id="9" name="Shape 6"/>
          <p:cNvSpPr/>
          <p:nvPr/>
        </p:nvSpPr>
        <p:spPr>
          <a:xfrm>
            <a:off x="457200" y="1244600"/>
            <a:ext cx="2590800" cy="1574800"/>
          </a:xfrm>
          <a:prstGeom prst="rect">
            <a:avLst/>
          </a:prstGeom>
          <a:solidFill>
            <a:srgbClr val="FFFFFF"/>
          </a:solidFill>
          <a:ln w="12700">
            <a:solidFill>
              <a:srgbClr val="D6E9E0"/>
            </a:solidFill>
            <a:prstDash val="solid"/>
          </a:ln>
          <a:effectLst>
            <a:outerShdw sx="100000" sy="100000" kx="0" ky="0" algn="bl" rotWithShape="0" blurRad="50800" dist="12700" dir="5400000">
              <a:srgbClr val="000000">
                <a:alpha val="8000"/>
              </a:srgbClr>
            </a:outerShdw>
          </a:effectLst>
        </p:spPr>
      </p:sp>
      <p:sp>
        <p:nvSpPr>
          <p:cNvPr id="10" name="Shape 7"/>
          <p:cNvSpPr/>
          <p:nvPr/>
        </p:nvSpPr>
        <p:spPr>
          <a:xfrm>
            <a:off x="609600" y="1397000"/>
            <a:ext cx="381000" cy="381000"/>
          </a:xfrm>
          <a:prstGeom prst="ellipse">
            <a:avLst/>
          </a:prstGeom>
          <a:solidFill>
            <a:srgbClr val="1F9970"/>
          </a:solidFill>
          <a:ln/>
        </p:spPr>
      </p:sp>
      <p:pic>
        <p:nvPicPr>
          <p:cNvPr id="11" name="Image 1" descr="preencoded.png">    </p:cNvPr>
          <p:cNvPicPr>
            <a:picLocks noChangeAspect="1"/>
          </p:cNvPicPr>
          <p:nvPr/>
        </p:nvPicPr>
        <p:blipFill>
          <a:blip r:embed="rId2"/>
          <a:stretch>
            <a:fillRect/>
          </a:stretch>
        </p:blipFill>
        <p:spPr>
          <a:xfrm>
            <a:off x="704850" y="1492250"/>
            <a:ext cx="190500" cy="190500"/>
          </a:xfrm>
          <a:prstGeom prst="rect">
            <a:avLst/>
          </a:prstGeom>
        </p:spPr>
      </p:pic>
      <p:sp>
        <p:nvSpPr>
          <p:cNvPr id="12" name="Text 8"/>
          <p:cNvSpPr txBox="1"/>
          <p:nvPr/>
        </p:nvSpPr>
        <p:spPr>
          <a:xfrm>
            <a:off x="1092200" y="1397000"/>
            <a:ext cx="1879600" cy="381000"/>
          </a:xfrm>
          <a:prstGeom prst="rect">
            <a:avLst/>
          </a:prstGeom>
          <a:noFill/>
          <a:ln/>
        </p:spPr>
        <p:txBody>
          <a:bodyPr wrap="square" lIns="0" tIns="0" rIns="0" bIns="0" rtlCol="0" anchor="ctr"/>
          <a:lstStyle/>
          <a:p>
            <a:pPr indent="0" marL="0">
              <a:buNone/>
            </a:pPr>
            <a:r>
              <a:rPr lang="en-US" sz="1100" b="1" dirty="0">
                <a:solidFill>
                  <a:srgbClr val="222222"/>
                </a:solidFill>
                <a:latin typeface="Noto Sans JP" pitchFamily="34" charset="0"/>
                <a:ea typeface="Noto Sans JP" pitchFamily="34" charset="-122"/>
                <a:cs typeface="Noto Sans JP" pitchFamily="34" charset="-120"/>
              </a:rPr>
              <a:t>① 所有構造の零細・分散</a:t>
            </a:r>
            <a:endParaRPr lang="en-US" sz="1100" dirty="0"/>
          </a:p>
        </p:txBody>
      </p:sp>
      <p:sp>
        <p:nvSpPr>
          <p:cNvPr id="13" name="Text 9"/>
          <p:cNvSpPr txBox="1"/>
          <p:nvPr/>
        </p:nvSpPr>
        <p:spPr>
          <a:xfrm>
            <a:off x="609600" y="1905000"/>
            <a:ext cx="2286000" cy="457200"/>
          </a:xfrm>
          <a:prstGeom prst="rect">
            <a:avLst/>
          </a:prstGeom>
          <a:noFill/>
          <a:ln/>
        </p:spPr>
        <p:txBody>
          <a:bodyPr wrap="square" lIns="0" tIns="0" rIns="0" bIns="0" rtlCol="0" anchor="ctr"/>
          <a:lstStyle/>
          <a:p>
            <a:pPr indent="0" marL="0">
              <a:buNone/>
            </a:pPr>
            <a:r>
              <a:rPr lang="en-US" sz="2600" b="1" dirty="0">
                <a:solidFill>
                  <a:srgbClr val="1F9970"/>
                </a:solidFill>
                <a:latin typeface="Noto Sans JP" pitchFamily="34" charset="0"/>
                <a:ea typeface="Noto Sans JP" pitchFamily="34" charset="-122"/>
                <a:cs typeface="Noto Sans JP" pitchFamily="34" charset="-120"/>
              </a:rPr>
              <a:t>89%</a:t>
            </a:r>
            <a:endParaRPr lang="en-US" sz="2600" dirty="0"/>
          </a:p>
        </p:txBody>
      </p:sp>
      <p:sp>
        <p:nvSpPr>
          <p:cNvPr id="14" name="Text 10"/>
          <p:cNvSpPr txBox="1"/>
          <p:nvPr/>
        </p:nvSpPr>
        <p:spPr>
          <a:xfrm>
            <a:off x="609600" y="2413000"/>
            <a:ext cx="2349500" cy="279400"/>
          </a:xfrm>
          <a:prstGeom prst="rect">
            <a:avLst/>
          </a:prstGeom>
          <a:noFill/>
          <a:ln/>
        </p:spPr>
        <p:txBody>
          <a:bodyPr wrap="square" lIns="0" tIns="0" rIns="0" bIns="0" rtlCol="0" anchor="t"/>
          <a:lstStyle/>
          <a:p>
            <a:pPr indent="0" marL="0">
              <a:buNone/>
            </a:pPr>
            <a:r>
              <a:rPr lang="en-US" sz="950" dirty="0">
                <a:solidFill>
                  <a:srgbClr val="444444"/>
                </a:solidFill>
                <a:latin typeface="Noto Sans JP" pitchFamily="34" charset="0"/>
                <a:ea typeface="Noto Sans JP" pitchFamily="34" charset="-122"/>
                <a:cs typeface="Noto Sans JP" pitchFamily="34" charset="-120"/>
              </a:rPr>
              <a:t>の所有者が5ha未満</a:t>
            </a:r>
            <a:endParaRPr lang="en-US" sz="950" dirty="0"/>
          </a:p>
        </p:txBody>
      </p:sp>
      <p:sp>
        <p:nvSpPr>
          <p:cNvPr id="15" name="Shape 11"/>
          <p:cNvSpPr/>
          <p:nvPr/>
        </p:nvSpPr>
        <p:spPr>
          <a:xfrm>
            <a:off x="3251200" y="1244600"/>
            <a:ext cx="2590800" cy="1574800"/>
          </a:xfrm>
          <a:prstGeom prst="rect">
            <a:avLst/>
          </a:prstGeom>
          <a:solidFill>
            <a:srgbClr val="FFFFFF"/>
          </a:solidFill>
          <a:ln w="12700">
            <a:solidFill>
              <a:srgbClr val="D6E9E0"/>
            </a:solidFill>
            <a:prstDash val="solid"/>
          </a:ln>
          <a:effectLst>
            <a:outerShdw sx="100000" sy="100000" kx="0" ky="0" algn="bl" rotWithShape="0" blurRad="50800" dist="12700" dir="5400000">
              <a:srgbClr val="000000">
                <a:alpha val="8000"/>
              </a:srgbClr>
            </a:outerShdw>
          </a:effectLst>
        </p:spPr>
      </p:sp>
      <p:sp>
        <p:nvSpPr>
          <p:cNvPr id="16" name="Shape 12"/>
          <p:cNvSpPr/>
          <p:nvPr/>
        </p:nvSpPr>
        <p:spPr>
          <a:xfrm>
            <a:off x="3403600" y="1397000"/>
            <a:ext cx="381000" cy="381000"/>
          </a:xfrm>
          <a:prstGeom prst="ellipse">
            <a:avLst/>
          </a:prstGeom>
          <a:solidFill>
            <a:srgbClr val="1F9970"/>
          </a:solidFill>
          <a:ln/>
        </p:spPr>
      </p:sp>
      <p:pic>
        <p:nvPicPr>
          <p:cNvPr id="17" name="Image 2" descr="preencoded.png">    </p:cNvPr>
          <p:cNvPicPr>
            <a:picLocks noChangeAspect="1"/>
          </p:cNvPicPr>
          <p:nvPr/>
        </p:nvPicPr>
        <p:blipFill>
          <a:blip r:embed="rId3"/>
          <a:stretch>
            <a:fillRect/>
          </a:stretch>
        </p:blipFill>
        <p:spPr>
          <a:xfrm>
            <a:off x="3498850" y="1492250"/>
            <a:ext cx="190500" cy="190500"/>
          </a:xfrm>
          <a:prstGeom prst="rect">
            <a:avLst/>
          </a:prstGeom>
        </p:spPr>
      </p:pic>
      <p:sp>
        <p:nvSpPr>
          <p:cNvPr id="18" name="Text 13"/>
          <p:cNvSpPr txBox="1"/>
          <p:nvPr/>
        </p:nvSpPr>
        <p:spPr>
          <a:xfrm>
            <a:off x="3886200" y="1397000"/>
            <a:ext cx="1879600" cy="381000"/>
          </a:xfrm>
          <a:prstGeom prst="rect">
            <a:avLst/>
          </a:prstGeom>
          <a:noFill/>
          <a:ln/>
        </p:spPr>
        <p:txBody>
          <a:bodyPr wrap="square" lIns="0" tIns="0" rIns="0" bIns="0" rtlCol="0" anchor="ctr"/>
          <a:lstStyle/>
          <a:p>
            <a:pPr indent="0" marL="0">
              <a:buNone/>
            </a:pPr>
            <a:r>
              <a:rPr lang="en-US" sz="1100" b="1" dirty="0">
                <a:solidFill>
                  <a:srgbClr val="222222"/>
                </a:solidFill>
                <a:latin typeface="Noto Sans JP" pitchFamily="34" charset="0"/>
                <a:ea typeface="Noto Sans JP" pitchFamily="34" charset="-122"/>
                <a:cs typeface="Noto Sans JP" pitchFamily="34" charset="-120"/>
              </a:rPr>
              <a:t>② 森林境界が不明確</a:t>
            </a:r>
            <a:endParaRPr lang="en-US" sz="1100" dirty="0"/>
          </a:p>
        </p:txBody>
      </p:sp>
      <p:sp>
        <p:nvSpPr>
          <p:cNvPr id="19" name="Text 14"/>
          <p:cNvSpPr txBox="1"/>
          <p:nvPr/>
        </p:nvSpPr>
        <p:spPr>
          <a:xfrm>
            <a:off x="3403600" y="1905000"/>
            <a:ext cx="2286000" cy="457200"/>
          </a:xfrm>
          <a:prstGeom prst="rect">
            <a:avLst/>
          </a:prstGeom>
          <a:noFill/>
          <a:ln/>
        </p:spPr>
        <p:txBody>
          <a:bodyPr wrap="square" lIns="0" tIns="0" rIns="0" bIns="0" rtlCol="0" anchor="ctr"/>
          <a:lstStyle/>
          <a:p>
            <a:pPr indent="0" marL="0">
              <a:buNone/>
            </a:pPr>
            <a:r>
              <a:rPr lang="en-US" sz="2600" b="1" dirty="0">
                <a:solidFill>
                  <a:srgbClr val="1F9970"/>
                </a:solidFill>
                <a:latin typeface="Noto Sans JP" pitchFamily="34" charset="0"/>
                <a:ea typeface="Noto Sans JP" pitchFamily="34" charset="-122"/>
                <a:cs typeface="Noto Sans JP" pitchFamily="34" charset="-120"/>
              </a:rPr>
              <a:t>4%</a:t>
            </a:r>
            <a:endParaRPr lang="en-US" sz="2600" dirty="0"/>
          </a:p>
        </p:txBody>
      </p:sp>
      <p:sp>
        <p:nvSpPr>
          <p:cNvPr id="20" name="Text 15"/>
          <p:cNvSpPr txBox="1"/>
          <p:nvPr/>
        </p:nvSpPr>
        <p:spPr>
          <a:xfrm>
            <a:off x="3403600" y="2413000"/>
            <a:ext cx="2349500" cy="279400"/>
          </a:xfrm>
          <a:prstGeom prst="rect">
            <a:avLst/>
          </a:prstGeom>
          <a:noFill/>
          <a:ln/>
        </p:spPr>
        <p:txBody>
          <a:bodyPr wrap="square" lIns="0" tIns="0" rIns="0" bIns="0" rtlCol="0" anchor="t"/>
          <a:lstStyle/>
          <a:p>
            <a:pPr indent="0" marL="0">
              <a:buNone/>
            </a:pPr>
            <a:r>
              <a:rPr lang="en-US" sz="950" dirty="0">
                <a:solidFill>
                  <a:srgbClr val="444444"/>
                </a:solidFill>
                <a:latin typeface="Noto Sans JP" pitchFamily="34" charset="0"/>
                <a:ea typeface="Noto Sans JP" pitchFamily="34" charset="-122"/>
                <a:cs typeface="Noto Sans JP" pitchFamily="34" charset="-120"/>
              </a:rPr>
              <a:t>地籍調査の進捗率（市全体）</a:t>
            </a:r>
            <a:endParaRPr lang="en-US" sz="950" dirty="0"/>
          </a:p>
        </p:txBody>
      </p:sp>
      <p:sp>
        <p:nvSpPr>
          <p:cNvPr id="21" name="Shape 16"/>
          <p:cNvSpPr/>
          <p:nvPr/>
        </p:nvSpPr>
        <p:spPr>
          <a:xfrm>
            <a:off x="6045200" y="1244600"/>
            <a:ext cx="2590800" cy="1574800"/>
          </a:xfrm>
          <a:prstGeom prst="rect">
            <a:avLst/>
          </a:prstGeom>
          <a:solidFill>
            <a:srgbClr val="FFFFFF"/>
          </a:solidFill>
          <a:ln w="12700">
            <a:solidFill>
              <a:srgbClr val="D6E9E0"/>
            </a:solidFill>
            <a:prstDash val="solid"/>
          </a:ln>
          <a:effectLst>
            <a:outerShdw sx="100000" sy="100000" kx="0" ky="0" algn="bl" rotWithShape="0" blurRad="50800" dist="12700" dir="5400000">
              <a:srgbClr val="000000">
                <a:alpha val="8000"/>
              </a:srgbClr>
            </a:outerShdw>
          </a:effectLst>
        </p:spPr>
      </p:sp>
      <p:sp>
        <p:nvSpPr>
          <p:cNvPr id="22" name="Shape 17"/>
          <p:cNvSpPr/>
          <p:nvPr/>
        </p:nvSpPr>
        <p:spPr>
          <a:xfrm>
            <a:off x="6197600" y="1397000"/>
            <a:ext cx="381000" cy="381000"/>
          </a:xfrm>
          <a:prstGeom prst="ellipse">
            <a:avLst/>
          </a:prstGeom>
          <a:solidFill>
            <a:srgbClr val="1F9970"/>
          </a:solidFill>
          <a:ln/>
        </p:spPr>
      </p:sp>
      <p:pic>
        <p:nvPicPr>
          <p:cNvPr id="23" name="Image 3" descr="preencoded.png">    </p:cNvPr>
          <p:cNvPicPr>
            <a:picLocks noChangeAspect="1"/>
          </p:cNvPicPr>
          <p:nvPr/>
        </p:nvPicPr>
        <p:blipFill>
          <a:blip r:embed="rId4"/>
          <a:stretch>
            <a:fillRect/>
          </a:stretch>
        </p:blipFill>
        <p:spPr>
          <a:xfrm>
            <a:off x="6292850" y="1492250"/>
            <a:ext cx="190500" cy="190500"/>
          </a:xfrm>
          <a:prstGeom prst="rect">
            <a:avLst/>
          </a:prstGeom>
        </p:spPr>
      </p:pic>
      <p:sp>
        <p:nvSpPr>
          <p:cNvPr id="24" name="Text 18"/>
          <p:cNvSpPr txBox="1"/>
          <p:nvPr/>
        </p:nvSpPr>
        <p:spPr>
          <a:xfrm>
            <a:off x="6680200" y="1397000"/>
            <a:ext cx="1879600" cy="381000"/>
          </a:xfrm>
          <a:prstGeom prst="rect">
            <a:avLst/>
          </a:prstGeom>
          <a:noFill/>
          <a:ln/>
        </p:spPr>
        <p:txBody>
          <a:bodyPr wrap="square" lIns="0" tIns="0" rIns="0" bIns="0" rtlCol="0" anchor="ctr"/>
          <a:lstStyle/>
          <a:p>
            <a:pPr indent="0" marL="0">
              <a:buNone/>
            </a:pPr>
            <a:r>
              <a:rPr lang="en-US" sz="1100" b="1" dirty="0">
                <a:solidFill>
                  <a:srgbClr val="222222"/>
                </a:solidFill>
                <a:latin typeface="Noto Sans JP" pitchFamily="34" charset="0"/>
                <a:ea typeface="Noto Sans JP" pitchFamily="34" charset="-122"/>
                <a:cs typeface="Noto Sans JP" pitchFamily="34" charset="-120"/>
              </a:rPr>
              <a:t>③ 森林経営計画の低調</a:t>
            </a:r>
            <a:endParaRPr lang="en-US" sz="1100" dirty="0"/>
          </a:p>
        </p:txBody>
      </p:sp>
      <p:sp>
        <p:nvSpPr>
          <p:cNvPr id="25" name="Text 19"/>
          <p:cNvSpPr txBox="1"/>
          <p:nvPr/>
        </p:nvSpPr>
        <p:spPr>
          <a:xfrm>
            <a:off x="6197600" y="1905000"/>
            <a:ext cx="2286000" cy="457200"/>
          </a:xfrm>
          <a:prstGeom prst="rect">
            <a:avLst/>
          </a:prstGeom>
          <a:noFill/>
          <a:ln/>
        </p:spPr>
        <p:txBody>
          <a:bodyPr wrap="square" lIns="0" tIns="0" rIns="0" bIns="0" rtlCol="0" anchor="ctr"/>
          <a:lstStyle/>
          <a:p>
            <a:pPr indent="0" marL="0">
              <a:buNone/>
            </a:pPr>
            <a:r>
              <a:rPr lang="en-US" sz="2600" b="1" dirty="0">
                <a:solidFill>
                  <a:srgbClr val="1F9970"/>
                </a:solidFill>
                <a:latin typeface="Noto Sans JP" pitchFamily="34" charset="0"/>
                <a:ea typeface="Noto Sans JP" pitchFamily="34" charset="-122"/>
                <a:cs typeface="Noto Sans JP" pitchFamily="34" charset="-120"/>
              </a:rPr>
              <a:t>25%</a:t>
            </a:r>
            <a:endParaRPr lang="en-US" sz="2600" dirty="0"/>
          </a:p>
        </p:txBody>
      </p:sp>
      <p:sp>
        <p:nvSpPr>
          <p:cNvPr id="26" name="Text 20"/>
          <p:cNvSpPr txBox="1"/>
          <p:nvPr/>
        </p:nvSpPr>
        <p:spPr>
          <a:xfrm>
            <a:off x="6197600" y="2413000"/>
            <a:ext cx="2349500" cy="279400"/>
          </a:xfrm>
          <a:prstGeom prst="rect">
            <a:avLst/>
          </a:prstGeom>
          <a:noFill/>
          <a:ln/>
        </p:spPr>
        <p:txBody>
          <a:bodyPr wrap="square" lIns="0" tIns="0" rIns="0" bIns="0" rtlCol="0" anchor="t"/>
          <a:lstStyle/>
          <a:p>
            <a:pPr indent="0" marL="0">
              <a:buNone/>
            </a:pPr>
            <a:r>
              <a:rPr lang="en-US" sz="950" dirty="0">
                <a:solidFill>
                  <a:srgbClr val="444444"/>
                </a:solidFill>
                <a:latin typeface="Noto Sans JP" pitchFamily="34" charset="0"/>
                <a:ea typeface="Noto Sans JP" pitchFamily="34" charset="-122"/>
                <a:cs typeface="Noto Sans JP" pitchFamily="34" charset="-120"/>
              </a:rPr>
              <a:t>認定率（多摩平均36%）</a:t>
            </a:r>
            <a:endParaRPr lang="en-US" sz="950" dirty="0"/>
          </a:p>
        </p:txBody>
      </p:sp>
      <p:sp>
        <p:nvSpPr>
          <p:cNvPr id="27" name="Shape 21"/>
          <p:cNvSpPr/>
          <p:nvPr/>
        </p:nvSpPr>
        <p:spPr>
          <a:xfrm>
            <a:off x="457200" y="2997200"/>
            <a:ext cx="2590800" cy="1574800"/>
          </a:xfrm>
          <a:prstGeom prst="rect">
            <a:avLst/>
          </a:prstGeom>
          <a:solidFill>
            <a:srgbClr val="FFFFFF"/>
          </a:solidFill>
          <a:ln w="12700">
            <a:solidFill>
              <a:srgbClr val="D6E9E0"/>
            </a:solidFill>
            <a:prstDash val="solid"/>
          </a:ln>
          <a:effectLst>
            <a:outerShdw sx="100000" sy="100000" kx="0" ky="0" algn="bl" rotWithShape="0" blurRad="50800" dist="12700" dir="5400000">
              <a:srgbClr val="000000">
                <a:alpha val="8000"/>
              </a:srgbClr>
            </a:outerShdw>
          </a:effectLst>
        </p:spPr>
      </p:sp>
      <p:sp>
        <p:nvSpPr>
          <p:cNvPr id="28" name="Shape 22"/>
          <p:cNvSpPr/>
          <p:nvPr/>
        </p:nvSpPr>
        <p:spPr>
          <a:xfrm>
            <a:off x="609600" y="3149600"/>
            <a:ext cx="381000" cy="381000"/>
          </a:xfrm>
          <a:prstGeom prst="ellipse">
            <a:avLst/>
          </a:prstGeom>
          <a:solidFill>
            <a:srgbClr val="1F9970"/>
          </a:solidFill>
          <a:ln/>
        </p:spPr>
      </p:sp>
      <p:pic>
        <p:nvPicPr>
          <p:cNvPr id="29" name="Image 4" descr="preencoded.png">    </p:cNvPr>
          <p:cNvPicPr>
            <a:picLocks noChangeAspect="1"/>
          </p:cNvPicPr>
          <p:nvPr/>
        </p:nvPicPr>
        <p:blipFill>
          <a:blip r:embed="rId5"/>
          <a:stretch>
            <a:fillRect/>
          </a:stretch>
        </p:blipFill>
        <p:spPr>
          <a:xfrm>
            <a:off x="704850" y="3244850"/>
            <a:ext cx="190500" cy="190500"/>
          </a:xfrm>
          <a:prstGeom prst="rect">
            <a:avLst/>
          </a:prstGeom>
        </p:spPr>
      </p:pic>
      <p:sp>
        <p:nvSpPr>
          <p:cNvPr id="30" name="Text 23"/>
          <p:cNvSpPr txBox="1"/>
          <p:nvPr/>
        </p:nvSpPr>
        <p:spPr>
          <a:xfrm>
            <a:off x="1092200" y="3149600"/>
            <a:ext cx="1879600" cy="381000"/>
          </a:xfrm>
          <a:prstGeom prst="rect">
            <a:avLst/>
          </a:prstGeom>
          <a:noFill/>
          <a:ln/>
        </p:spPr>
        <p:txBody>
          <a:bodyPr wrap="square" lIns="0" tIns="0" rIns="0" bIns="0" rtlCol="0" anchor="ctr"/>
          <a:lstStyle/>
          <a:p>
            <a:pPr indent="0" marL="0">
              <a:buNone/>
            </a:pPr>
            <a:r>
              <a:rPr lang="en-US" sz="1100" b="1" dirty="0">
                <a:solidFill>
                  <a:srgbClr val="222222"/>
                </a:solidFill>
                <a:latin typeface="Noto Sans JP" pitchFamily="34" charset="0"/>
                <a:ea typeface="Noto Sans JP" pitchFamily="34" charset="-122"/>
                <a:cs typeface="Noto Sans JP" pitchFamily="34" charset="-120"/>
              </a:rPr>
              <a:t>④ 経営管理制度の停滞</a:t>
            </a:r>
            <a:endParaRPr lang="en-US" sz="1100" dirty="0"/>
          </a:p>
        </p:txBody>
      </p:sp>
      <p:sp>
        <p:nvSpPr>
          <p:cNvPr id="31" name="Text 24"/>
          <p:cNvSpPr txBox="1"/>
          <p:nvPr/>
        </p:nvSpPr>
        <p:spPr>
          <a:xfrm>
            <a:off x="609600" y="3657600"/>
            <a:ext cx="2286000" cy="457200"/>
          </a:xfrm>
          <a:prstGeom prst="rect">
            <a:avLst/>
          </a:prstGeom>
          <a:noFill/>
          <a:ln/>
        </p:spPr>
        <p:txBody>
          <a:bodyPr wrap="square" lIns="0" tIns="0" rIns="0" bIns="0" rtlCol="0" anchor="ctr"/>
          <a:lstStyle/>
          <a:p>
            <a:pPr indent="0" marL="0">
              <a:buNone/>
            </a:pPr>
            <a:r>
              <a:rPr lang="en-US" sz="2600" b="1" dirty="0">
                <a:solidFill>
                  <a:srgbClr val="1F9970"/>
                </a:solidFill>
                <a:latin typeface="Noto Sans JP" pitchFamily="34" charset="0"/>
                <a:ea typeface="Noto Sans JP" pitchFamily="34" charset="-122"/>
                <a:cs typeface="Noto Sans JP" pitchFamily="34" charset="-120"/>
              </a:rPr>
              <a:t>意向調査</a:t>
            </a:r>
            <a:endParaRPr lang="en-US" sz="2600" dirty="0"/>
          </a:p>
        </p:txBody>
      </p:sp>
      <p:sp>
        <p:nvSpPr>
          <p:cNvPr id="32" name="Text 25"/>
          <p:cNvSpPr txBox="1"/>
          <p:nvPr/>
        </p:nvSpPr>
        <p:spPr>
          <a:xfrm>
            <a:off x="609600" y="4165600"/>
            <a:ext cx="2349500" cy="279400"/>
          </a:xfrm>
          <a:prstGeom prst="rect">
            <a:avLst/>
          </a:prstGeom>
          <a:noFill/>
          <a:ln/>
        </p:spPr>
        <p:txBody>
          <a:bodyPr wrap="square" lIns="0" tIns="0" rIns="0" bIns="0" rtlCol="0" anchor="t"/>
          <a:lstStyle/>
          <a:p>
            <a:pPr indent="0" marL="0">
              <a:buNone/>
            </a:pPr>
            <a:r>
              <a:rPr lang="en-US" sz="950" dirty="0">
                <a:solidFill>
                  <a:srgbClr val="444444"/>
                </a:solidFill>
                <a:latin typeface="Noto Sans JP" pitchFamily="34" charset="0"/>
                <a:ea typeface="Noto Sans JP" pitchFamily="34" charset="-122"/>
                <a:cs typeface="Noto Sans JP" pitchFamily="34" charset="-120"/>
              </a:rPr>
              <a:t>で止まり、集積計画は未着手</a:t>
            </a:r>
            <a:endParaRPr lang="en-US" sz="950" dirty="0"/>
          </a:p>
        </p:txBody>
      </p:sp>
      <p:sp>
        <p:nvSpPr>
          <p:cNvPr id="33" name="Shape 26"/>
          <p:cNvSpPr/>
          <p:nvPr/>
        </p:nvSpPr>
        <p:spPr>
          <a:xfrm>
            <a:off x="3251200" y="2997200"/>
            <a:ext cx="2590800" cy="1574800"/>
          </a:xfrm>
          <a:prstGeom prst="rect">
            <a:avLst/>
          </a:prstGeom>
          <a:solidFill>
            <a:srgbClr val="FFFFFF"/>
          </a:solidFill>
          <a:ln w="12700">
            <a:solidFill>
              <a:srgbClr val="D6E9E0"/>
            </a:solidFill>
            <a:prstDash val="solid"/>
          </a:ln>
          <a:effectLst>
            <a:outerShdw sx="100000" sy="100000" kx="0" ky="0" algn="bl" rotWithShape="0" blurRad="50800" dist="12700" dir="5400000">
              <a:srgbClr val="000000">
                <a:alpha val="8000"/>
              </a:srgbClr>
            </a:outerShdw>
          </a:effectLst>
        </p:spPr>
      </p:sp>
      <p:sp>
        <p:nvSpPr>
          <p:cNvPr id="34" name="Shape 27"/>
          <p:cNvSpPr/>
          <p:nvPr/>
        </p:nvSpPr>
        <p:spPr>
          <a:xfrm>
            <a:off x="3403600" y="3149600"/>
            <a:ext cx="381000" cy="381000"/>
          </a:xfrm>
          <a:prstGeom prst="ellipse">
            <a:avLst/>
          </a:prstGeom>
          <a:solidFill>
            <a:srgbClr val="1F9970"/>
          </a:solidFill>
          <a:ln/>
        </p:spPr>
      </p:sp>
      <p:pic>
        <p:nvPicPr>
          <p:cNvPr id="35" name="Image 5" descr="preencoded.png">    </p:cNvPr>
          <p:cNvPicPr>
            <a:picLocks noChangeAspect="1"/>
          </p:cNvPicPr>
          <p:nvPr/>
        </p:nvPicPr>
        <p:blipFill>
          <a:blip r:embed="rId6"/>
          <a:stretch>
            <a:fillRect/>
          </a:stretch>
        </p:blipFill>
        <p:spPr>
          <a:xfrm>
            <a:off x="3498850" y="3244850"/>
            <a:ext cx="190500" cy="190500"/>
          </a:xfrm>
          <a:prstGeom prst="rect">
            <a:avLst/>
          </a:prstGeom>
        </p:spPr>
      </p:pic>
      <p:sp>
        <p:nvSpPr>
          <p:cNvPr id="36" name="Text 28"/>
          <p:cNvSpPr txBox="1"/>
          <p:nvPr/>
        </p:nvSpPr>
        <p:spPr>
          <a:xfrm>
            <a:off x="3886200" y="3149600"/>
            <a:ext cx="1879600" cy="381000"/>
          </a:xfrm>
          <a:prstGeom prst="rect">
            <a:avLst/>
          </a:prstGeom>
          <a:noFill/>
          <a:ln/>
        </p:spPr>
        <p:txBody>
          <a:bodyPr wrap="square" lIns="0" tIns="0" rIns="0" bIns="0" rtlCol="0" anchor="ctr"/>
          <a:lstStyle/>
          <a:p>
            <a:pPr indent="0" marL="0">
              <a:buNone/>
            </a:pPr>
            <a:r>
              <a:rPr lang="en-US" sz="1100" b="1" dirty="0">
                <a:solidFill>
                  <a:srgbClr val="222222"/>
                </a:solidFill>
                <a:latin typeface="Noto Sans JP" pitchFamily="34" charset="0"/>
                <a:ea typeface="Noto Sans JP" pitchFamily="34" charset="-122"/>
                <a:cs typeface="Noto Sans JP" pitchFamily="34" charset="-120"/>
              </a:rPr>
              <a:t>⑤ 林道整備の遅れ</a:t>
            </a:r>
            <a:endParaRPr lang="en-US" sz="1100" dirty="0"/>
          </a:p>
        </p:txBody>
      </p:sp>
      <p:sp>
        <p:nvSpPr>
          <p:cNvPr id="37" name="Text 29"/>
          <p:cNvSpPr txBox="1"/>
          <p:nvPr/>
        </p:nvSpPr>
        <p:spPr>
          <a:xfrm>
            <a:off x="3403600" y="3657600"/>
            <a:ext cx="2286000" cy="457200"/>
          </a:xfrm>
          <a:prstGeom prst="rect">
            <a:avLst/>
          </a:prstGeom>
          <a:noFill/>
          <a:ln/>
        </p:spPr>
        <p:txBody>
          <a:bodyPr wrap="square" lIns="0" tIns="0" rIns="0" bIns="0" rtlCol="0" anchor="ctr"/>
          <a:lstStyle/>
          <a:p>
            <a:pPr indent="0" marL="0">
              <a:buNone/>
            </a:pPr>
            <a:r>
              <a:rPr lang="en-US" sz="2000" b="1" dirty="0">
                <a:solidFill>
                  <a:srgbClr val="1F9970"/>
                </a:solidFill>
                <a:latin typeface="Noto Sans JP" pitchFamily="34" charset="0"/>
                <a:ea typeface="Noto Sans JP" pitchFamily="34" charset="-122"/>
                <a:cs typeface="Noto Sans JP" pitchFamily="34" charset="-120"/>
              </a:rPr>
              <a:t>5.5m/ha</a:t>
            </a:r>
            <a:endParaRPr lang="en-US" sz="2000" dirty="0"/>
          </a:p>
        </p:txBody>
      </p:sp>
      <p:sp>
        <p:nvSpPr>
          <p:cNvPr id="38" name="Text 30"/>
          <p:cNvSpPr txBox="1"/>
          <p:nvPr/>
        </p:nvSpPr>
        <p:spPr>
          <a:xfrm>
            <a:off x="3403600" y="4165600"/>
            <a:ext cx="2349500" cy="279400"/>
          </a:xfrm>
          <a:prstGeom prst="rect">
            <a:avLst/>
          </a:prstGeom>
          <a:noFill/>
          <a:ln/>
        </p:spPr>
        <p:txBody>
          <a:bodyPr wrap="square" lIns="0" tIns="0" rIns="0" bIns="0" rtlCol="0" anchor="t"/>
          <a:lstStyle/>
          <a:p>
            <a:pPr indent="0" marL="0">
              <a:buNone/>
            </a:pPr>
            <a:r>
              <a:rPr lang="en-US" sz="950" dirty="0">
                <a:solidFill>
                  <a:srgbClr val="444444"/>
                </a:solidFill>
                <a:latin typeface="Noto Sans JP" pitchFamily="34" charset="0"/>
                <a:ea typeface="Noto Sans JP" pitchFamily="34" charset="-122"/>
                <a:cs typeface="Noto Sans JP" pitchFamily="34" charset="-120"/>
              </a:rPr>
              <a:t>民有林の林道密度（多摩で最低水準）</a:t>
            </a:r>
            <a:endParaRPr lang="en-US" sz="950" dirty="0"/>
          </a:p>
        </p:txBody>
      </p:sp>
      <p:sp>
        <p:nvSpPr>
          <p:cNvPr id="39" name="Shape 31"/>
          <p:cNvSpPr/>
          <p:nvPr/>
        </p:nvSpPr>
        <p:spPr>
          <a:xfrm>
            <a:off x="6045200" y="2997200"/>
            <a:ext cx="2590800" cy="1574800"/>
          </a:xfrm>
          <a:prstGeom prst="rect">
            <a:avLst/>
          </a:prstGeom>
          <a:solidFill>
            <a:srgbClr val="FFFFFF"/>
          </a:solidFill>
          <a:ln w="12700">
            <a:solidFill>
              <a:srgbClr val="D6E9E0"/>
            </a:solidFill>
            <a:prstDash val="solid"/>
          </a:ln>
          <a:effectLst>
            <a:outerShdw sx="100000" sy="100000" kx="0" ky="0" algn="bl" rotWithShape="0" blurRad="50800" dist="12700" dir="5400000">
              <a:srgbClr val="000000">
                <a:alpha val="8000"/>
              </a:srgbClr>
            </a:outerShdw>
          </a:effectLst>
        </p:spPr>
      </p:sp>
      <p:sp>
        <p:nvSpPr>
          <p:cNvPr id="40" name="Shape 32"/>
          <p:cNvSpPr/>
          <p:nvPr/>
        </p:nvSpPr>
        <p:spPr>
          <a:xfrm>
            <a:off x="6197600" y="3149600"/>
            <a:ext cx="381000" cy="381000"/>
          </a:xfrm>
          <a:prstGeom prst="ellipse">
            <a:avLst/>
          </a:prstGeom>
          <a:solidFill>
            <a:srgbClr val="1F9970"/>
          </a:solidFill>
          <a:ln/>
        </p:spPr>
      </p:sp>
      <p:pic>
        <p:nvPicPr>
          <p:cNvPr id="41" name="Image 6" descr="preencoded.png">    </p:cNvPr>
          <p:cNvPicPr>
            <a:picLocks noChangeAspect="1"/>
          </p:cNvPicPr>
          <p:nvPr/>
        </p:nvPicPr>
        <p:blipFill>
          <a:blip r:embed="rId7"/>
          <a:stretch>
            <a:fillRect/>
          </a:stretch>
        </p:blipFill>
        <p:spPr>
          <a:xfrm>
            <a:off x="6292850" y="3244850"/>
            <a:ext cx="190500" cy="190500"/>
          </a:xfrm>
          <a:prstGeom prst="rect">
            <a:avLst/>
          </a:prstGeom>
        </p:spPr>
      </p:pic>
      <p:sp>
        <p:nvSpPr>
          <p:cNvPr id="42" name="Text 33"/>
          <p:cNvSpPr txBox="1"/>
          <p:nvPr/>
        </p:nvSpPr>
        <p:spPr>
          <a:xfrm>
            <a:off x="6680200" y="3149600"/>
            <a:ext cx="1879600" cy="381000"/>
          </a:xfrm>
          <a:prstGeom prst="rect">
            <a:avLst/>
          </a:prstGeom>
          <a:noFill/>
          <a:ln/>
        </p:spPr>
        <p:txBody>
          <a:bodyPr wrap="square" lIns="0" tIns="0" rIns="0" bIns="0" rtlCol="0" anchor="ctr"/>
          <a:lstStyle/>
          <a:p>
            <a:pPr indent="0" marL="0">
              <a:buNone/>
            </a:pPr>
            <a:r>
              <a:rPr lang="en-US" sz="1100" b="1" dirty="0">
                <a:solidFill>
                  <a:srgbClr val="222222"/>
                </a:solidFill>
                <a:latin typeface="Noto Sans JP" pitchFamily="34" charset="0"/>
                <a:ea typeface="Noto Sans JP" pitchFamily="34" charset="-122"/>
                <a:cs typeface="Noto Sans JP" pitchFamily="34" charset="-120"/>
              </a:rPr>
              <a:t>⑥ 譲与税の整備充当</a:t>
            </a:r>
            <a:endParaRPr lang="en-US" sz="1100" dirty="0"/>
          </a:p>
        </p:txBody>
      </p:sp>
      <p:sp>
        <p:nvSpPr>
          <p:cNvPr id="43" name="Text 34"/>
          <p:cNvSpPr txBox="1"/>
          <p:nvPr/>
        </p:nvSpPr>
        <p:spPr>
          <a:xfrm>
            <a:off x="6197600" y="3657600"/>
            <a:ext cx="2286000" cy="457200"/>
          </a:xfrm>
          <a:prstGeom prst="rect">
            <a:avLst/>
          </a:prstGeom>
          <a:noFill/>
          <a:ln/>
        </p:spPr>
        <p:txBody>
          <a:bodyPr wrap="square" lIns="0" tIns="0" rIns="0" bIns="0" rtlCol="0" anchor="ctr"/>
          <a:lstStyle/>
          <a:p>
            <a:pPr indent="0" marL="0">
              <a:buNone/>
            </a:pPr>
            <a:r>
              <a:rPr lang="en-US" sz="2000" b="1" dirty="0">
                <a:solidFill>
                  <a:srgbClr val="1F9970"/>
                </a:solidFill>
                <a:latin typeface="Noto Sans JP" pitchFamily="34" charset="0"/>
                <a:ea typeface="Noto Sans JP" pitchFamily="34" charset="-122"/>
                <a:cs typeface="Noto Sans JP" pitchFamily="34" charset="-120"/>
              </a:rPr>
              <a:t>約1,495万円</a:t>
            </a:r>
            <a:endParaRPr lang="en-US" sz="2000" dirty="0"/>
          </a:p>
        </p:txBody>
      </p:sp>
      <p:sp>
        <p:nvSpPr>
          <p:cNvPr id="44" name="Text 35"/>
          <p:cNvSpPr txBox="1"/>
          <p:nvPr/>
        </p:nvSpPr>
        <p:spPr>
          <a:xfrm>
            <a:off x="6197600" y="4165600"/>
            <a:ext cx="2349500" cy="279400"/>
          </a:xfrm>
          <a:prstGeom prst="rect">
            <a:avLst/>
          </a:prstGeom>
          <a:noFill/>
          <a:ln/>
        </p:spPr>
        <p:txBody>
          <a:bodyPr wrap="square" lIns="0" tIns="0" rIns="0" bIns="0" rtlCol="0" anchor="t"/>
          <a:lstStyle/>
          <a:p>
            <a:pPr indent="0" marL="0">
              <a:buNone/>
            </a:pPr>
            <a:r>
              <a:rPr lang="en-US" sz="950" dirty="0">
                <a:solidFill>
                  <a:srgbClr val="444444"/>
                </a:solidFill>
                <a:latin typeface="Noto Sans JP" pitchFamily="34" charset="0"/>
                <a:ea typeface="Noto Sans JP" pitchFamily="34" charset="-122"/>
                <a:cs typeface="Noto Sans JP" pitchFamily="34" charset="-120"/>
              </a:rPr>
              <a:t>民有林振興への譲与税充当額</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tmp/claude-0/-home-user--/135b95b8-9a7c-5e2e-abb3-3369b8f4d943/scratchpad/assets/logo_dark.png">    </p:cNvPr>
          <p:cNvPicPr>
            <a:picLocks noChangeAspect="1"/>
          </p:cNvPicPr>
          <p:nvPr/>
        </p:nvPicPr>
        <p:blipFill>
          <a:blip r:embed="rId1"/>
          <a:stretch>
            <a:fillRect/>
          </a:stretch>
        </p:blipFill>
        <p:spPr>
          <a:xfrm>
            <a:off x="355600" y="160020"/>
            <a:ext cx="558800" cy="254000"/>
          </a:xfrm>
          <a:prstGeom prst="rect">
            <a:avLst/>
          </a:prstGeom>
        </p:spPr>
      </p:pic>
      <p:sp>
        <p:nvSpPr>
          <p:cNvPr id="3" name="Text 0"/>
          <p:cNvSpPr txBox="1"/>
          <p:nvPr/>
        </p:nvSpPr>
        <p:spPr>
          <a:xfrm>
            <a:off x="1397000" y="127000"/>
            <a:ext cx="6350000" cy="304800"/>
          </a:xfrm>
          <a:prstGeom prst="rect">
            <a:avLst/>
          </a:prstGeom>
          <a:noFill/>
          <a:ln/>
        </p:spPr>
        <p:txBody>
          <a:bodyPr wrap="square" lIns="0" tIns="0" rIns="0" bIns="0" rtlCol="0" anchor="ctr"/>
          <a:lstStyle/>
          <a:p>
            <a:pPr algn="ctr" indent="0" marL="0">
              <a:buNone/>
            </a:pPr>
            <a:r>
              <a:rPr lang="en-US" sz="1500" b="1" dirty="0">
                <a:solidFill>
                  <a:srgbClr val="222222"/>
                </a:solidFill>
                <a:latin typeface="Noto Sans JP" pitchFamily="34" charset="0"/>
                <a:ea typeface="Noto Sans JP" pitchFamily="34" charset="-122"/>
                <a:cs typeface="Noto Sans JP" pitchFamily="34" charset="-120"/>
              </a:rPr>
              <a:t>課題① 所有構造の零細・分散</a:t>
            </a:r>
            <a:endParaRPr lang="en-US" sz="1500" dirty="0"/>
          </a:p>
        </p:txBody>
      </p:sp>
      <p:sp>
        <p:nvSpPr>
          <p:cNvPr id="4" name="Shape 1"/>
          <p:cNvSpPr/>
          <p:nvPr/>
        </p:nvSpPr>
        <p:spPr>
          <a:xfrm>
            <a:off x="0" y="539750"/>
            <a:ext cx="9144000" cy="0"/>
          </a:xfrm>
          <a:prstGeom prst="line">
            <a:avLst/>
          </a:prstGeom>
          <a:noFill/>
          <a:ln w="9525">
            <a:solidFill>
              <a:srgbClr val="999999"/>
            </a:solidFill>
            <a:prstDash val="solid"/>
          </a:ln>
        </p:spPr>
      </p:sp>
      <p:sp>
        <p:nvSpPr>
          <p:cNvPr id="5" name="Shape 2"/>
          <p:cNvSpPr/>
          <p:nvPr/>
        </p:nvSpPr>
        <p:spPr>
          <a:xfrm>
            <a:off x="88900" y="4876800"/>
            <a:ext cx="723900" cy="165100"/>
          </a:xfrm>
          <a:prstGeom prst="rect">
            <a:avLst/>
          </a:prstGeom>
          <a:solidFill>
            <a:srgbClr val="FFFFFF"/>
          </a:solidFill>
          <a:ln w="6350">
            <a:solidFill>
              <a:srgbClr val="B2B2B2"/>
            </a:solidFill>
            <a:prstDash val="solid"/>
          </a:ln>
        </p:spPr>
      </p:sp>
      <p:sp>
        <p:nvSpPr>
          <p:cNvPr id="6" name="Text 3"/>
          <p:cNvSpPr txBox="1"/>
          <p:nvPr/>
        </p:nvSpPr>
        <p:spPr>
          <a:xfrm>
            <a:off x="88900" y="4876800"/>
            <a:ext cx="723900" cy="165100"/>
          </a:xfrm>
          <a:prstGeom prst="rect">
            <a:avLst/>
          </a:prstGeom>
          <a:noFill/>
          <a:ln/>
        </p:spPr>
        <p:txBody>
          <a:bodyPr wrap="square" lIns="0" tIns="0" rIns="0" bIns="0" rtlCol="0" anchor="ctr"/>
          <a:lstStyle/>
          <a:p>
            <a:pPr algn="ctr" indent="0" marL="0">
              <a:buNone/>
            </a:pPr>
            <a:r>
              <a:rPr lang="en-US" sz="700" dirty="0">
                <a:solidFill>
                  <a:srgbClr val="757575"/>
                </a:solidFill>
                <a:latin typeface="Arial" pitchFamily="34" charset="0"/>
                <a:ea typeface="Arial" pitchFamily="34" charset="-122"/>
                <a:cs typeface="Arial" pitchFamily="34" charset="-120"/>
              </a:rPr>
              <a:t>confidential</a:t>
            </a:r>
            <a:endParaRPr lang="en-US" sz="700" dirty="0"/>
          </a:p>
        </p:txBody>
      </p:sp>
      <p:sp>
        <p:nvSpPr>
          <p:cNvPr id="7" name="Text 4"/>
          <p:cNvSpPr txBox="1"/>
          <p:nvPr/>
        </p:nvSpPr>
        <p:spPr>
          <a:xfrm>
            <a:off x="8509000" y="4826000"/>
            <a:ext cx="533400" cy="203200"/>
          </a:xfrm>
          <a:prstGeom prst="rect">
            <a:avLst/>
          </a:prstGeom>
          <a:noFill/>
          <a:ln/>
        </p:spPr>
        <p:txBody>
          <a:bodyPr wrap="square" lIns="0" tIns="0" rIns="0" bIns="0" rtlCol="0" anchor="t"/>
          <a:lstStyle/>
          <a:p>
            <a:pPr algn="r" indent="0" marL="0">
              <a:buNone/>
            </a:pPr>
            <a:r>
              <a:rPr lang="en-US" sz="1100" dirty="0">
                <a:solidFill>
                  <a:srgbClr val="757575"/>
                </a:solidFill>
                <a:latin typeface="Noto Sans JP" pitchFamily="34" charset="0"/>
                <a:ea typeface="Noto Sans JP" pitchFamily="34" charset="-122"/>
                <a:cs typeface="Noto Sans JP" pitchFamily="34" charset="-120"/>
              </a:rPr>
              <a:t>7</a:t>
            </a:r>
            <a:endParaRPr lang="en-US" sz="1100" dirty="0"/>
          </a:p>
        </p:txBody>
      </p:sp>
      <p:sp>
        <p:nvSpPr>
          <p:cNvPr id="8" name="Text 5"/>
          <p:cNvSpPr txBox="1"/>
          <p:nvPr/>
        </p:nvSpPr>
        <p:spPr>
          <a:xfrm>
            <a:off x="457200" y="685800"/>
            <a:ext cx="8229600" cy="508000"/>
          </a:xfrm>
          <a:prstGeom prst="rect">
            <a:avLst/>
          </a:prstGeom>
          <a:noFill/>
          <a:ln/>
        </p:spPr>
        <p:txBody>
          <a:bodyPr wrap="square" lIns="0" tIns="0" rIns="0" bIns="0" rtlCol="0" anchor="ctr"/>
          <a:lstStyle/>
          <a:p>
            <a:pPr indent="0" marL="0">
              <a:buNone/>
            </a:pPr>
            <a:r>
              <a:rPr lang="en-US" sz="1300" b="1" dirty="0">
                <a:solidFill>
                  <a:srgbClr val="16816D"/>
                </a:solidFill>
                <a:latin typeface="Noto Sans JP" pitchFamily="34" charset="0"/>
                <a:ea typeface="Noto Sans JP" pitchFamily="34" charset="-122"/>
                <a:cs typeface="Noto Sans JP" pitchFamily="34" charset="-120"/>
              </a:rPr>
              <a:t>所有が細分化され、1件ごとの面積が小さいため、単独では施業が経済的に成り立ちません。</a:t>
            </a:r>
            <a:endParaRPr lang="en-US" sz="1300" dirty="0"/>
          </a:p>
        </p:txBody>
      </p:sp>
      <p:sp>
        <p:nvSpPr>
          <p:cNvPr id="9" name="Text 6"/>
          <p:cNvSpPr txBox="1"/>
          <p:nvPr/>
        </p:nvSpPr>
        <p:spPr>
          <a:xfrm>
            <a:off x="457200" y="1397000"/>
            <a:ext cx="4318000" cy="2540000"/>
          </a:xfrm>
          <a:prstGeom prst="rect">
            <a:avLst/>
          </a:prstGeom>
          <a:noFill/>
          <a:ln/>
        </p:spPr>
        <p:txBody>
          <a:bodyPr wrap="square" lIns="0" tIns="0" rIns="0" bIns="0" rtlCol="0" anchor="t"/>
          <a:lstStyle/>
          <a:p>
            <a:pPr indent="0" marL="0">
              <a:lnSpc>
                <a:spcPct val="135000"/>
              </a:lnSpc>
              <a:buNone/>
            </a:pPr>
            <a:r>
              <a:rPr lang="en-US" sz="1200" dirty="0">
                <a:solidFill>
                  <a:srgbClr val="222222"/>
                </a:solidFill>
                <a:latin typeface="Noto Sans JP" pitchFamily="34" charset="0"/>
                <a:ea typeface="Noto Sans JP" pitchFamily="34" charset="-122"/>
                <a:cs typeface="Noto Sans JP" pitchFamily="34" charset="-120"/>
              </a:rPr>
              <a:t>八王子市様の森林面積は7,833ha（市域の約42%）、うち民有林が85%（6,651ha）を占めます。</a:t>
            </a:r>
            <a:endParaRPr lang="en-US" sz="1200" dirty="0"/>
          </a:p>
          <a:p>
            <a:pPr indent="0" marL="0">
              <a:lnSpc>
                <a:spcPct val="135000"/>
              </a:lnSpc>
              <a:buNone/>
            </a:pPr>
            <a:r>
              <a:rPr lang="en-US" sz="600" dirty="0">
                <a:solidFill>
                  <a:srgbClr val="222222"/>
                </a:solidFill>
                <a:latin typeface="Noto Sans JP" pitchFamily="34" charset="0"/>
                <a:ea typeface="Noto Sans JP" pitchFamily="34" charset="-122"/>
                <a:cs typeface="Noto Sans JP" pitchFamily="34" charset="-120"/>
              </a:rPr>
              <a:t> </a:t>
            </a:r>
            <a:endParaRPr lang="en-US" sz="1200" dirty="0"/>
          </a:p>
          <a:p>
            <a:pPr indent="0" marL="0">
              <a:lnSpc>
                <a:spcPct val="135000"/>
              </a:lnSpc>
              <a:buNone/>
            </a:pPr>
            <a:r>
              <a:rPr lang="en-US" sz="1200" b="1" dirty="0">
                <a:solidFill>
                  <a:srgbClr val="222222"/>
                </a:solidFill>
                <a:latin typeface="Noto Sans JP" pitchFamily="34" charset="0"/>
                <a:ea typeface="Noto Sans JP" pitchFamily="34" charset="-122"/>
                <a:cs typeface="Noto Sans JP" pitchFamily="34" charset="-120"/>
              </a:rPr>
              <a:t>森林所有者 約2,150戸のうち、5ha未満が約1,930戸（89%）。</a:t>
            </a:r>
            <a:endParaRPr lang="en-US" sz="1200" dirty="0"/>
          </a:p>
          <a:p>
            <a:pPr indent="0" marL="0">
              <a:lnSpc>
                <a:spcPct val="135000"/>
              </a:lnSpc>
              <a:buNone/>
            </a:pPr>
            <a:r>
              <a:rPr lang="en-US" sz="600" dirty="0">
                <a:solidFill>
                  <a:srgbClr val="222222"/>
                </a:solidFill>
                <a:latin typeface="Noto Sans JP" pitchFamily="34" charset="0"/>
                <a:ea typeface="Noto Sans JP" pitchFamily="34" charset="-122"/>
                <a:cs typeface="Noto Sans JP" pitchFamily="34" charset="-120"/>
              </a:rPr>
              <a:t> </a:t>
            </a:r>
            <a:endParaRPr lang="en-US" sz="1200" dirty="0"/>
          </a:p>
          <a:p>
            <a:pPr indent="0" marL="0">
              <a:lnSpc>
                <a:spcPct val="135000"/>
              </a:lnSpc>
              <a:buNone/>
            </a:pPr>
            <a:r>
              <a:rPr lang="en-US" sz="1200" dirty="0">
                <a:solidFill>
                  <a:srgbClr val="222222"/>
                </a:solidFill>
                <a:latin typeface="Noto Sans JP" pitchFamily="34" charset="0"/>
                <a:ea typeface="Noto Sans JP" pitchFamily="34" charset="-122"/>
                <a:cs typeface="Noto Sans JP" pitchFamily="34" charset="-120"/>
              </a:rPr>
              <a:t>1ha以上を保有する林家は434戸（2020年農林業センサス）にとどまります。</a:t>
            </a:r>
            <a:endParaRPr lang="en-US" sz="1200" dirty="0"/>
          </a:p>
          <a:p>
            <a:pPr indent="0" marL="0">
              <a:lnSpc>
                <a:spcPct val="135000"/>
              </a:lnSpc>
              <a:buNone/>
            </a:pPr>
            <a:r>
              <a:rPr lang="en-US" sz="600" dirty="0">
                <a:solidFill>
                  <a:srgbClr val="222222"/>
                </a:solidFill>
                <a:latin typeface="Noto Sans JP" pitchFamily="34" charset="0"/>
                <a:ea typeface="Noto Sans JP" pitchFamily="34" charset="-122"/>
                <a:cs typeface="Noto Sans JP" pitchFamily="34" charset="-120"/>
              </a:rPr>
              <a:t> </a:t>
            </a:r>
            <a:endParaRPr lang="en-US" sz="1200" dirty="0"/>
          </a:p>
          <a:p>
            <a:pPr indent="0" marL="0">
              <a:lnSpc>
                <a:spcPct val="135000"/>
              </a:lnSpc>
              <a:buNone/>
            </a:pPr>
            <a:r>
              <a:rPr lang="en-US" sz="1200" b="1" dirty="0">
                <a:solidFill>
                  <a:srgbClr val="16816D"/>
                </a:solidFill>
                <a:latin typeface="Noto Sans JP" pitchFamily="34" charset="0"/>
                <a:ea typeface="Noto Sans JP" pitchFamily="34" charset="-122"/>
                <a:cs typeface="Noto Sans JP" pitchFamily="34" charset="-120"/>
              </a:rPr>
              <a:t>→ 複数の所有者の森林をまとめて施業する「集約化」が、森林整備の前提条件です。</a:t>
            </a:r>
            <a:endParaRPr lang="en-US" sz="1200" dirty="0"/>
          </a:p>
        </p:txBody>
      </p:sp>
      <p:graphicFrame>
        <p:nvGraphicFramePr>
          <p:cNvPr id="10" name="Chart 0" descr=""/>
          <p:cNvGraphicFramePr/>
          <p:nvPr/>
        </p:nvGraphicFramePr>
        <p:xfrm>
          <a:off x="5080000" y="1244600"/>
          <a:ext cx="2540000" cy="2794000"/>
        </p:xfrm>
        <a:graphic xmlns:a="http://schemas.openxmlformats.org/drawingml/2006/main">
          <a:graphicData uri="http://schemas.openxmlformats.org/drawingml/2006/chart">
            <c:chart xmlns:c="http://schemas.openxmlformats.org/drawingml/2006/chart" r:id="rId2"/>
          </a:graphicData>
        </a:graphic>
      </p:graphicFrame>
      <p:sp>
        <p:nvSpPr>
          <p:cNvPr id="11" name="Text 7"/>
          <p:cNvSpPr txBox="1"/>
          <p:nvPr/>
        </p:nvSpPr>
        <p:spPr>
          <a:xfrm>
            <a:off x="5715000" y="2260600"/>
            <a:ext cx="1270000" cy="508000"/>
          </a:xfrm>
          <a:prstGeom prst="rect">
            <a:avLst/>
          </a:prstGeom>
          <a:noFill/>
          <a:ln/>
        </p:spPr>
        <p:txBody>
          <a:bodyPr wrap="square" lIns="0" tIns="0" rIns="0" bIns="0" rtlCol="0" anchor="ctr"/>
          <a:lstStyle/>
          <a:p>
            <a:pPr algn="ctr" indent="0" marL="0">
              <a:buNone/>
            </a:pPr>
            <a:r>
              <a:rPr lang="en-US" sz="2400" b="1" dirty="0">
                <a:solidFill>
                  <a:srgbClr val="1F9970"/>
                </a:solidFill>
                <a:latin typeface="Noto Sans JP" pitchFamily="34" charset="0"/>
                <a:ea typeface="Noto Sans JP" pitchFamily="34" charset="-122"/>
                <a:cs typeface="Noto Sans JP" pitchFamily="34" charset="-120"/>
              </a:rPr>
              <a:t>89%</a:t>
            </a:r>
            <a:endParaRPr lang="en-US" sz="2400" dirty="0"/>
          </a:p>
        </p:txBody>
      </p:sp>
      <p:sp>
        <p:nvSpPr>
          <p:cNvPr id="12" name="Shape 8"/>
          <p:cNvSpPr/>
          <p:nvPr/>
        </p:nvSpPr>
        <p:spPr>
          <a:xfrm>
            <a:off x="7772400" y="1397000"/>
            <a:ext cx="1066800" cy="736600"/>
          </a:xfrm>
          <a:prstGeom prst="rect">
            <a:avLst/>
          </a:prstGeom>
          <a:solidFill>
            <a:srgbClr val="E8F5EF"/>
          </a:solidFill>
          <a:ln/>
        </p:spPr>
      </p:sp>
      <p:sp>
        <p:nvSpPr>
          <p:cNvPr id="13" name="Text 9"/>
          <p:cNvSpPr txBox="1"/>
          <p:nvPr/>
        </p:nvSpPr>
        <p:spPr>
          <a:xfrm>
            <a:off x="7772400" y="1498600"/>
            <a:ext cx="1066800" cy="304800"/>
          </a:xfrm>
          <a:prstGeom prst="rect">
            <a:avLst/>
          </a:prstGeom>
          <a:noFill/>
          <a:ln/>
        </p:spPr>
        <p:txBody>
          <a:bodyPr wrap="square" lIns="0" tIns="0" rIns="0" bIns="0" rtlCol="0" anchor="ctr"/>
          <a:lstStyle/>
          <a:p>
            <a:pPr algn="ctr" indent="0" marL="0">
              <a:buNone/>
            </a:pPr>
            <a:r>
              <a:rPr lang="en-US" sz="1300" b="1" dirty="0">
                <a:solidFill>
                  <a:srgbClr val="16816D"/>
                </a:solidFill>
                <a:latin typeface="Noto Sans JP" pitchFamily="34" charset="0"/>
                <a:ea typeface="Noto Sans JP" pitchFamily="34" charset="-122"/>
                <a:cs typeface="Noto Sans JP" pitchFamily="34" charset="-120"/>
              </a:rPr>
              <a:t>約2,150戸</a:t>
            </a:r>
            <a:endParaRPr lang="en-US" sz="1300" dirty="0"/>
          </a:p>
        </p:txBody>
      </p:sp>
      <p:sp>
        <p:nvSpPr>
          <p:cNvPr id="14" name="Text 10"/>
          <p:cNvSpPr txBox="1"/>
          <p:nvPr/>
        </p:nvSpPr>
        <p:spPr>
          <a:xfrm>
            <a:off x="7772400" y="1828800"/>
            <a:ext cx="1066800" cy="203200"/>
          </a:xfrm>
          <a:prstGeom prst="rect">
            <a:avLst/>
          </a:prstGeom>
          <a:noFill/>
          <a:ln/>
        </p:spPr>
        <p:txBody>
          <a:bodyPr wrap="square" lIns="0" tIns="0" rIns="0" bIns="0" rtlCol="0" anchor="t"/>
          <a:lstStyle/>
          <a:p>
            <a:pPr algn="ctr" indent="0" marL="0">
              <a:buNone/>
            </a:pPr>
            <a:r>
              <a:rPr lang="en-US" sz="850" dirty="0">
                <a:solidFill>
                  <a:srgbClr val="444444"/>
                </a:solidFill>
                <a:latin typeface="Noto Sans JP" pitchFamily="34" charset="0"/>
                <a:ea typeface="Noto Sans JP" pitchFamily="34" charset="-122"/>
                <a:cs typeface="Noto Sans JP" pitchFamily="34" charset="-120"/>
              </a:rPr>
              <a:t>森林所有者</a:t>
            </a:r>
            <a:endParaRPr lang="en-US" sz="850" dirty="0"/>
          </a:p>
        </p:txBody>
      </p:sp>
      <p:sp>
        <p:nvSpPr>
          <p:cNvPr id="15" name="Shape 11"/>
          <p:cNvSpPr/>
          <p:nvPr/>
        </p:nvSpPr>
        <p:spPr>
          <a:xfrm>
            <a:off x="7772400" y="2286000"/>
            <a:ext cx="1066800" cy="736600"/>
          </a:xfrm>
          <a:prstGeom prst="rect">
            <a:avLst/>
          </a:prstGeom>
          <a:solidFill>
            <a:srgbClr val="E8F5EF"/>
          </a:solidFill>
          <a:ln/>
        </p:spPr>
      </p:sp>
      <p:sp>
        <p:nvSpPr>
          <p:cNvPr id="16" name="Text 12"/>
          <p:cNvSpPr txBox="1"/>
          <p:nvPr/>
        </p:nvSpPr>
        <p:spPr>
          <a:xfrm>
            <a:off x="7772400" y="2387600"/>
            <a:ext cx="1066800" cy="304800"/>
          </a:xfrm>
          <a:prstGeom prst="rect">
            <a:avLst/>
          </a:prstGeom>
          <a:noFill/>
          <a:ln/>
        </p:spPr>
        <p:txBody>
          <a:bodyPr wrap="square" lIns="0" tIns="0" rIns="0" bIns="0" rtlCol="0" anchor="ctr"/>
          <a:lstStyle/>
          <a:p>
            <a:pPr algn="ctr" indent="0" marL="0">
              <a:buNone/>
            </a:pPr>
            <a:r>
              <a:rPr lang="en-US" sz="1300" b="1" dirty="0">
                <a:solidFill>
                  <a:srgbClr val="16816D"/>
                </a:solidFill>
                <a:latin typeface="Noto Sans JP" pitchFamily="34" charset="0"/>
                <a:ea typeface="Noto Sans JP" pitchFamily="34" charset="-122"/>
                <a:cs typeface="Noto Sans JP" pitchFamily="34" charset="-120"/>
              </a:rPr>
              <a:t>約1,930戸</a:t>
            </a:r>
            <a:endParaRPr lang="en-US" sz="1300" dirty="0"/>
          </a:p>
        </p:txBody>
      </p:sp>
      <p:sp>
        <p:nvSpPr>
          <p:cNvPr id="17" name="Text 13"/>
          <p:cNvSpPr txBox="1"/>
          <p:nvPr/>
        </p:nvSpPr>
        <p:spPr>
          <a:xfrm>
            <a:off x="7772400" y="2717800"/>
            <a:ext cx="1066800" cy="203200"/>
          </a:xfrm>
          <a:prstGeom prst="rect">
            <a:avLst/>
          </a:prstGeom>
          <a:noFill/>
          <a:ln/>
        </p:spPr>
        <p:txBody>
          <a:bodyPr wrap="square" lIns="0" tIns="0" rIns="0" bIns="0" rtlCol="0" anchor="t"/>
          <a:lstStyle/>
          <a:p>
            <a:pPr algn="ctr" indent="0" marL="0">
              <a:buNone/>
            </a:pPr>
            <a:r>
              <a:rPr lang="en-US" sz="850" dirty="0">
                <a:solidFill>
                  <a:srgbClr val="444444"/>
                </a:solidFill>
                <a:latin typeface="Noto Sans JP" pitchFamily="34" charset="0"/>
                <a:ea typeface="Noto Sans JP" pitchFamily="34" charset="-122"/>
                <a:cs typeface="Noto Sans JP" pitchFamily="34" charset="-120"/>
              </a:rPr>
              <a:t>5ha未満</a:t>
            </a:r>
            <a:endParaRPr lang="en-US" sz="850" dirty="0"/>
          </a:p>
        </p:txBody>
      </p:sp>
      <p:sp>
        <p:nvSpPr>
          <p:cNvPr id="18" name="Shape 14"/>
          <p:cNvSpPr/>
          <p:nvPr/>
        </p:nvSpPr>
        <p:spPr>
          <a:xfrm>
            <a:off x="7772400" y="3175000"/>
            <a:ext cx="1066800" cy="736600"/>
          </a:xfrm>
          <a:prstGeom prst="rect">
            <a:avLst/>
          </a:prstGeom>
          <a:solidFill>
            <a:srgbClr val="E8F5EF"/>
          </a:solidFill>
          <a:ln/>
        </p:spPr>
      </p:sp>
      <p:sp>
        <p:nvSpPr>
          <p:cNvPr id="19" name="Text 15"/>
          <p:cNvSpPr txBox="1"/>
          <p:nvPr/>
        </p:nvSpPr>
        <p:spPr>
          <a:xfrm>
            <a:off x="7772400" y="3276600"/>
            <a:ext cx="1066800" cy="304800"/>
          </a:xfrm>
          <a:prstGeom prst="rect">
            <a:avLst/>
          </a:prstGeom>
          <a:noFill/>
          <a:ln/>
        </p:spPr>
        <p:txBody>
          <a:bodyPr wrap="square" lIns="0" tIns="0" rIns="0" bIns="0" rtlCol="0" anchor="ctr"/>
          <a:lstStyle/>
          <a:p>
            <a:pPr algn="ctr" indent="0" marL="0">
              <a:buNone/>
            </a:pPr>
            <a:r>
              <a:rPr lang="en-US" sz="1300" b="1" dirty="0">
                <a:solidFill>
                  <a:srgbClr val="16816D"/>
                </a:solidFill>
                <a:latin typeface="Noto Sans JP" pitchFamily="34" charset="0"/>
                <a:ea typeface="Noto Sans JP" pitchFamily="34" charset="-122"/>
                <a:cs typeface="Noto Sans JP" pitchFamily="34" charset="-120"/>
              </a:rPr>
              <a:t>434戸</a:t>
            </a:r>
            <a:endParaRPr lang="en-US" sz="1300" dirty="0"/>
          </a:p>
        </p:txBody>
      </p:sp>
      <p:sp>
        <p:nvSpPr>
          <p:cNvPr id="20" name="Text 16"/>
          <p:cNvSpPr txBox="1"/>
          <p:nvPr/>
        </p:nvSpPr>
        <p:spPr>
          <a:xfrm>
            <a:off x="7772400" y="3606800"/>
            <a:ext cx="1066800" cy="203200"/>
          </a:xfrm>
          <a:prstGeom prst="rect">
            <a:avLst/>
          </a:prstGeom>
          <a:noFill/>
          <a:ln/>
        </p:spPr>
        <p:txBody>
          <a:bodyPr wrap="square" lIns="0" tIns="0" rIns="0" bIns="0" rtlCol="0" anchor="t"/>
          <a:lstStyle/>
          <a:p>
            <a:pPr algn="ctr" indent="0" marL="0">
              <a:buNone/>
            </a:pPr>
            <a:r>
              <a:rPr lang="en-US" sz="850" dirty="0">
                <a:solidFill>
                  <a:srgbClr val="444444"/>
                </a:solidFill>
                <a:latin typeface="Noto Sans JP" pitchFamily="34" charset="0"/>
                <a:ea typeface="Noto Sans JP" pitchFamily="34" charset="-122"/>
                <a:cs typeface="Noto Sans JP" pitchFamily="34" charset="-120"/>
              </a:rPr>
              <a:t>林家（1ha以上）</a:t>
            </a:r>
            <a:endParaRPr lang="en-US" sz="850" dirty="0"/>
          </a:p>
        </p:txBody>
      </p:sp>
      <p:sp>
        <p:nvSpPr>
          <p:cNvPr id="21" name="Text 17"/>
          <p:cNvSpPr txBox="1"/>
          <p:nvPr/>
        </p:nvSpPr>
        <p:spPr>
          <a:xfrm>
            <a:off x="1016000" y="4673600"/>
            <a:ext cx="7366000" cy="152400"/>
          </a:xfrm>
          <a:prstGeom prst="rect">
            <a:avLst/>
          </a:prstGeom>
          <a:noFill/>
          <a:ln/>
        </p:spPr>
        <p:txBody>
          <a:bodyPr wrap="square" lIns="0" tIns="0" rIns="0" bIns="0" rtlCol="0" anchor="t"/>
          <a:lstStyle/>
          <a:p>
            <a:pPr algn="r" indent="0" marL="0">
              <a:buNone/>
            </a:pPr>
            <a:r>
              <a:rPr lang="en-US" sz="700" dirty="0">
                <a:solidFill>
                  <a:srgbClr val="757575"/>
                </a:solidFill>
                <a:latin typeface="Noto Sans JP" pitchFamily="34" charset="0"/>
                <a:ea typeface="Noto Sans JP" pitchFamily="34" charset="-122"/>
                <a:cs typeface="Noto Sans JP" pitchFamily="34" charset="-120"/>
              </a:rPr>
              <a:t>出典：令和7年3月 八王子市の農林業と農業委員会の概要／2020年農林業センサス</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tmp/claude-0/-home-user--/135b95b8-9a7c-5e2e-abb3-3369b8f4d943/scratchpad/assets/logo_dark.png">    </p:cNvPr>
          <p:cNvPicPr>
            <a:picLocks noChangeAspect="1"/>
          </p:cNvPicPr>
          <p:nvPr/>
        </p:nvPicPr>
        <p:blipFill>
          <a:blip r:embed="rId1"/>
          <a:stretch>
            <a:fillRect/>
          </a:stretch>
        </p:blipFill>
        <p:spPr>
          <a:xfrm>
            <a:off x="355600" y="160020"/>
            <a:ext cx="558800" cy="254000"/>
          </a:xfrm>
          <a:prstGeom prst="rect">
            <a:avLst/>
          </a:prstGeom>
        </p:spPr>
      </p:pic>
      <p:sp>
        <p:nvSpPr>
          <p:cNvPr id="3" name="Text 0"/>
          <p:cNvSpPr txBox="1"/>
          <p:nvPr/>
        </p:nvSpPr>
        <p:spPr>
          <a:xfrm>
            <a:off x="1397000" y="127000"/>
            <a:ext cx="6350000" cy="304800"/>
          </a:xfrm>
          <a:prstGeom prst="rect">
            <a:avLst/>
          </a:prstGeom>
          <a:noFill/>
          <a:ln/>
        </p:spPr>
        <p:txBody>
          <a:bodyPr wrap="square" lIns="0" tIns="0" rIns="0" bIns="0" rtlCol="0" anchor="ctr"/>
          <a:lstStyle/>
          <a:p>
            <a:pPr algn="ctr" indent="0" marL="0">
              <a:buNone/>
            </a:pPr>
            <a:r>
              <a:rPr lang="en-US" sz="1500" b="1" dirty="0">
                <a:solidFill>
                  <a:srgbClr val="222222"/>
                </a:solidFill>
                <a:latin typeface="Noto Sans JP" pitchFamily="34" charset="0"/>
                <a:ea typeface="Noto Sans JP" pitchFamily="34" charset="-122"/>
                <a:cs typeface="Noto Sans JP" pitchFamily="34" charset="-120"/>
              </a:rPr>
              <a:t>課題② 森林境界が不明確</a:t>
            </a:r>
            <a:endParaRPr lang="en-US" sz="1500" dirty="0"/>
          </a:p>
        </p:txBody>
      </p:sp>
      <p:sp>
        <p:nvSpPr>
          <p:cNvPr id="4" name="Shape 1"/>
          <p:cNvSpPr/>
          <p:nvPr/>
        </p:nvSpPr>
        <p:spPr>
          <a:xfrm>
            <a:off x="0" y="539750"/>
            <a:ext cx="9144000" cy="0"/>
          </a:xfrm>
          <a:prstGeom prst="line">
            <a:avLst/>
          </a:prstGeom>
          <a:noFill/>
          <a:ln w="9525">
            <a:solidFill>
              <a:srgbClr val="999999"/>
            </a:solidFill>
            <a:prstDash val="solid"/>
          </a:ln>
        </p:spPr>
      </p:sp>
      <p:sp>
        <p:nvSpPr>
          <p:cNvPr id="5" name="Shape 2"/>
          <p:cNvSpPr/>
          <p:nvPr/>
        </p:nvSpPr>
        <p:spPr>
          <a:xfrm>
            <a:off x="88900" y="4876800"/>
            <a:ext cx="723900" cy="165100"/>
          </a:xfrm>
          <a:prstGeom prst="rect">
            <a:avLst/>
          </a:prstGeom>
          <a:solidFill>
            <a:srgbClr val="FFFFFF"/>
          </a:solidFill>
          <a:ln w="6350">
            <a:solidFill>
              <a:srgbClr val="B2B2B2"/>
            </a:solidFill>
            <a:prstDash val="solid"/>
          </a:ln>
        </p:spPr>
      </p:sp>
      <p:sp>
        <p:nvSpPr>
          <p:cNvPr id="6" name="Text 3"/>
          <p:cNvSpPr txBox="1"/>
          <p:nvPr/>
        </p:nvSpPr>
        <p:spPr>
          <a:xfrm>
            <a:off x="88900" y="4876800"/>
            <a:ext cx="723900" cy="165100"/>
          </a:xfrm>
          <a:prstGeom prst="rect">
            <a:avLst/>
          </a:prstGeom>
          <a:noFill/>
          <a:ln/>
        </p:spPr>
        <p:txBody>
          <a:bodyPr wrap="square" lIns="0" tIns="0" rIns="0" bIns="0" rtlCol="0" anchor="ctr"/>
          <a:lstStyle/>
          <a:p>
            <a:pPr algn="ctr" indent="0" marL="0">
              <a:buNone/>
            </a:pPr>
            <a:r>
              <a:rPr lang="en-US" sz="700" dirty="0">
                <a:solidFill>
                  <a:srgbClr val="757575"/>
                </a:solidFill>
                <a:latin typeface="Arial" pitchFamily="34" charset="0"/>
                <a:ea typeface="Arial" pitchFamily="34" charset="-122"/>
                <a:cs typeface="Arial" pitchFamily="34" charset="-120"/>
              </a:rPr>
              <a:t>confidential</a:t>
            </a:r>
            <a:endParaRPr lang="en-US" sz="700" dirty="0"/>
          </a:p>
        </p:txBody>
      </p:sp>
      <p:sp>
        <p:nvSpPr>
          <p:cNvPr id="7" name="Text 4"/>
          <p:cNvSpPr txBox="1"/>
          <p:nvPr/>
        </p:nvSpPr>
        <p:spPr>
          <a:xfrm>
            <a:off x="8509000" y="4826000"/>
            <a:ext cx="533400" cy="203200"/>
          </a:xfrm>
          <a:prstGeom prst="rect">
            <a:avLst/>
          </a:prstGeom>
          <a:noFill/>
          <a:ln/>
        </p:spPr>
        <p:txBody>
          <a:bodyPr wrap="square" lIns="0" tIns="0" rIns="0" bIns="0" rtlCol="0" anchor="t"/>
          <a:lstStyle/>
          <a:p>
            <a:pPr algn="r" indent="0" marL="0">
              <a:buNone/>
            </a:pPr>
            <a:r>
              <a:rPr lang="en-US" sz="1100" dirty="0">
                <a:solidFill>
                  <a:srgbClr val="757575"/>
                </a:solidFill>
                <a:latin typeface="Noto Sans JP" pitchFamily="34" charset="0"/>
                <a:ea typeface="Noto Sans JP" pitchFamily="34" charset="-122"/>
                <a:cs typeface="Noto Sans JP" pitchFamily="34" charset="-120"/>
              </a:rPr>
              <a:t>8</a:t>
            </a:r>
            <a:endParaRPr lang="en-US" sz="1100" dirty="0"/>
          </a:p>
        </p:txBody>
      </p:sp>
      <p:sp>
        <p:nvSpPr>
          <p:cNvPr id="8" name="Text 5"/>
          <p:cNvSpPr txBox="1"/>
          <p:nvPr/>
        </p:nvSpPr>
        <p:spPr>
          <a:xfrm>
            <a:off x="457200" y="685800"/>
            <a:ext cx="8229600" cy="508000"/>
          </a:xfrm>
          <a:prstGeom prst="rect">
            <a:avLst/>
          </a:prstGeom>
          <a:noFill/>
          <a:ln/>
        </p:spPr>
        <p:txBody>
          <a:bodyPr wrap="square" lIns="0" tIns="0" rIns="0" bIns="0" rtlCol="0" anchor="ctr"/>
          <a:lstStyle/>
          <a:p>
            <a:pPr indent="0" marL="0">
              <a:buNone/>
            </a:pPr>
            <a:r>
              <a:rPr lang="en-US" sz="1300" b="1" dirty="0">
                <a:solidFill>
                  <a:srgbClr val="16816D"/>
                </a:solidFill>
                <a:latin typeface="Noto Sans JP" pitchFamily="34" charset="0"/>
                <a:ea typeface="Noto Sans JP" pitchFamily="34" charset="-122"/>
                <a:cs typeface="Noto Sans JP" pitchFamily="34" charset="-120"/>
              </a:rPr>
              <a:t>地籍調査の進捗率は市全体で4%。森林部はさらに低いとみられ、境界の明確化が施業の入口になります。</a:t>
            </a:r>
            <a:endParaRPr lang="en-US" sz="1300" dirty="0"/>
          </a:p>
        </p:txBody>
      </p:sp>
      <p:pic>
        <p:nvPicPr>
          <p:cNvPr id="9" name="Image 1" descr="/tmp/claude-0/-home-user--/135b95b8-9a7c-5e2e-abb3-3369b8f4d943/scratchpad/assets/chiseki_map.png">    </p:cNvPr>
          <p:cNvPicPr>
            <a:picLocks noChangeAspect="1"/>
          </p:cNvPicPr>
          <p:nvPr/>
        </p:nvPicPr>
        <p:blipFill>
          <a:blip r:embed="rId2"/>
          <a:stretch>
            <a:fillRect/>
          </a:stretch>
        </p:blipFill>
        <p:spPr>
          <a:xfrm>
            <a:off x="457200" y="1270000"/>
            <a:ext cx="4724400" cy="2438400"/>
          </a:xfrm>
          <a:prstGeom prst="rect">
            <a:avLst/>
          </a:prstGeom>
        </p:spPr>
      </p:pic>
      <p:sp>
        <p:nvSpPr>
          <p:cNvPr id="10" name="Shape 6"/>
          <p:cNvSpPr/>
          <p:nvPr/>
        </p:nvSpPr>
        <p:spPr>
          <a:xfrm>
            <a:off x="457200" y="1270000"/>
            <a:ext cx="4724400" cy="2438400"/>
          </a:xfrm>
          <a:prstGeom prst="rect">
            <a:avLst/>
          </a:prstGeom>
          <a:ln w="6350">
            <a:solidFill>
              <a:srgbClr val="CCCCCC"/>
            </a:solidFill>
            <a:prstDash val="solid"/>
          </a:ln>
        </p:spPr>
      </p:sp>
      <p:sp>
        <p:nvSpPr>
          <p:cNvPr id="11" name="Text 7"/>
          <p:cNvSpPr txBox="1"/>
          <p:nvPr/>
        </p:nvSpPr>
        <p:spPr>
          <a:xfrm>
            <a:off x="457200" y="3759200"/>
            <a:ext cx="4724400" cy="177800"/>
          </a:xfrm>
          <a:prstGeom prst="rect">
            <a:avLst/>
          </a:prstGeom>
          <a:noFill/>
          <a:ln/>
        </p:spPr>
        <p:txBody>
          <a:bodyPr wrap="square" lIns="0" tIns="0" rIns="0" bIns="0" rtlCol="0" anchor="t"/>
          <a:lstStyle/>
          <a:p>
            <a:pPr indent="0" marL="0">
              <a:buNone/>
            </a:pPr>
            <a:r>
              <a:rPr lang="en-US" sz="850" dirty="0">
                <a:solidFill>
                  <a:srgbClr val="757575"/>
                </a:solidFill>
                <a:latin typeface="Noto Sans JP" pitchFamily="34" charset="0"/>
                <a:ea typeface="Noto Sans JP" pitchFamily="34" charset="-122"/>
                <a:cs typeface="Noto Sans JP" pitchFamily="34" charset="-120"/>
              </a:rPr>
              <a:t>八王子市 地籍調査状況マップ（進捗率4%）</a:t>
            </a:r>
            <a:endParaRPr lang="en-US" sz="850" dirty="0"/>
          </a:p>
        </p:txBody>
      </p:sp>
      <p:sp>
        <p:nvSpPr>
          <p:cNvPr id="12" name="Text 8"/>
          <p:cNvSpPr txBox="1"/>
          <p:nvPr/>
        </p:nvSpPr>
        <p:spPr>
          <a:xfrm>
            <a:off x="5461000" y="1219200"/>
            <a:ext cx="1143000" cy="762000"/>
          </a:xfrm>
          <a:prstGeom prst="rect">
            <a:avLst/>
          </a:prstGeom>
          <a:noFill/>
          <a:ln/>
        </p:spPr>
        <p:txBody>
          <a:bodyPr wrap="square" lIns="0" tIns="0" rIns="0" bIns="0" rtlCol="0" anchor="ctr"/>
          <a:lstStyle/>
          <a:p>
            <a:pPr indent="0" marL="0">
              <a:buNone/>
            </a:pPr>
            <a:r>
              <a:rPr lang="en-US" sz="4800" b="1" dirty="0">
                <a:solidFill>
                  <a:srgbClr val="D9534F"/>
                </a:solidFill>
                <a:latin typeface="Noto Sans JP" pitchFamily="34" charset="0"/>
                <a:ea typeface="Noto Sans JP" pitchFamily="34" charset="-122"/>
                <a:cs typeface="Noto Sans JP" pitchFamily="34" charset="-120"/>
              </a:rPr>
              <a:t>4</a:t>
            </a:r>
            <a:pPr indent="0" marL="0">
              <a:buNone/>
            </a:pPr>
            <a:r>
              <a:rPr lang="en-US" sz="2200" b="1" dirty="0">
                <a:solidFill>
                  <a:srgbClr val="D9534F"/>
                </a:solidFill>
                <a:latin typeface="Noto Sans JP" pitchFamily="34" charset="0"/>
                <a:ea typeface="Noto Sans JP" pitchFamily="34" charset="-122"/>
                <a:cs typeface="Noto Sans JP" pitchFamily="34" charset="-120"/>
              </a:rPr>
              <a:t>%</a:t>
            </a:r>
            <a:endParaRPr lang="en-US" sz="4800" dirty="0"/>
          </a:p>
        </p:txBody>
      </p:sp>
      <p:sp>
        <p:nvSpPr>
          <p:cNvPr id="13" name="Text 9"/>
          <p:cNvSpPr txBox="1"/>
          <p:nvPr/>
        </p:nvSpPr>
        <p:spPr>
          <a:xfrm>
            <a:off x="6604000" y="1346200"/>
            <a:ext cx="2159000" cy="508000"/>
          </a:xfrm>
          <a:prstGeom prst="rect">
            <a:avLst/>
          </a:prstGeom>
          <a:noFill/>
          <a:ln/>
        </p:spPr>
        <p:txBody>
          <a:bodyPr wrap="square" lIns="0" tIns="0" rIns="0" bIns="0" rtlCol="0" anchor="ctr"/>
          <a:lstStyle/>
          <a:p>
            <a:pPr indent="0" marL="0">
              <a:buNone/>
            </a:pPr>
            <a:r>
              <a:rPr lang="en-US" sz="1100" dirty="0">
                <a:solidFill>
                  <a:srgbClr val="444444"/>
                </a:solidFill>
                <a:latin typeface="Noto Sans JP" pitchFamily="34" charset="0"/>
                <a:ea typeface="Noto Sans JP" pitchFamily="34" charset="-122"/>
                <a:cs typeface="Noto Sans JP" pitchFamily="34" charset="-120"/>
              </a:rPr>
              <a:t>地籍調査進捗率</a:t>
            </a:r>
            <a:endParaRPr lang="en-US" sz="1100" dirty="0"/>
          </a:p>
          <a:p>
            <a:pPr indent="0" marL="0">
              <a:buNone/>
            </a:pPr>
            <a:r>
              <a:rPr lang="en-US" sz="1100" dirty="0">
                <a:solidFill>
                  <a:srgbClr val="444444"/>
                </a:solidFill>
                <a:latin typeface="Noto Sans JP" pitchFamily="34" charset="0"/>
                <a:ea typeface="Noto Sans JP" pitchFamily="34" charset="-122"/>
                <a:cs typeface="Noto Sans JP" pitchFamily="34" charset="-120"/>
              </a:rPr>
              <a:t>（八王子市全体）</a:t>
            </a:r>
            <a:endParaRPr lang="en-US" sz="1100" dirty="0"/>
          </a:p>
        </p:txBody>
      </p:sp>
      <p:sp>
        <p:nvSpPr>
          <p:cNvPr id="14" name="Text 10"/>
          <p:cNvSpPr txBox="1"/>
          <p:nvPr/>
        </p:nvSpPr>
        <p:spPr>
          <a:xfrm>
            <a:off x="5461000" y="2133600"/>
            <a:ext cx="3302000" cy="203200"/>
          </a:xfrm>
          <a:prstGeom prst="rect">
            <a:avLst/>
          </a:prstGeom>
          <a:noFill/>
          <a:ln/>
        </p:spPr>
        <p:txBody>
          <a:bodyPr wrap="square" lIns="0" tIns="0" rIns="0" bIns="0" rtlCol="0" anchor="t"/>
          <a:lstStyle/>
          <a:p>
            <a:pPr indent="0" marL="0">
              <a:buNone/>
            </a:pPr>
            <a:r>
              <a:rPr lang="en-US" sz="1100" b="1" dirty="0">
                <a:solidFill>
                  <a:srgbClr val="222222"/>
                </a:solidFill>
                <a:latin typeface="Noto Sans JP" pitchFamily="34" charset="0"/>
                <a:ea typeface="Noto Sans JP" pitchFamily="34" charset="-122"/>
                <a:cs typeface="Noto Sans JP" pitchFamily="34" charset="-120"/>
              </a:rPr>
              <a:t>境界明確化に必要なプロセス</a:t>
            </a:r>
            <a:endParaRPr lang="en-US" sz="1100" dirty="0"/>
          </a:p>
        </p:txBody>
      </p:sp>
      <p:sp>
        <p:nvSpPr>
          <p:cNvPr id="15" name="Shape 11"/>
          <p:cNvSpPr/>
          <p:nvPr/>
        </p:nvSpPr>
        <p:spPr>
          <a:xfrm>
            <a:off x="5613400" y="2413000"/>
            <a:ext cx="431800" cy="431800"/>
          </a:xfrm>
          <a:prstGeom prst="ellipse">
            <a:avLst/>
          </a:prstGeom>
          <a:solidFill>
            <a:srgbClr val="1F9970"/>
          </a:solidFill>
          <a:ln/>
        </p:spPr>
      </p:sp>
      <p:pic>
        <p:nvPicPr>
          <p:cNvPr id="16" name="Image 2" descr="preencoded.png">    </p:cNvPr>
          <p:cNvPicPr>
            <a:picLocks noChangeAspect="1"/>
          </p:cNvPicPr>
          <p:nvPr/>
        </p:nvPicPr>
        <p:blipFill>
          <a:blip r:embed="rId3"/>
          <a:stretch>
            <a:fillRect/>
          </a:stretch>
        </p:blipFill>
        <p:spPr>
          <a:xfrm>
            <a:off x="5721350" y="2520950"/>
            <a:ext cx="215900" cy="215900"/>
          </a:xfrm>
          <a:prstGeom prst="rect">
            <a:avLst/>
          </a:prstGeom>
        </p:spPr>
      </p:pic>
      <p:sp>
        <p:nvSpPr>
          <p:cNvPr id="17" name="Text 12"/>
          <p:cNvSpPr txBox="1"/>
          <p:nvPr/>
        </p:nvSpPr>
        <p:spPr>
          <a:xfrm>
            <a:off x="5461000" y="2895600"/>
            <a:ext cx="736600" cy="177800"/>
          </a:xfrm>
          <a:prstGeom prst="rect">
            <a:avLst/>
          </a:prstGeom>
          <a:noFill/>
          <a:ln/>
        </p:spPr>
        <p:txBody>
          <a:bodyPr wrap="square" lIns="0" tIns="0" rIns="0" bIns="0" rtlCol="0" anchor="t"/>
          <a:lstStyle/>
          <a:p>
            <a:pPr algn="ctr" indent="0" marL="0">
              <a:buNone/>
            </a:pPr>
            <a:r>
              <a:rPr lang="en-US" sz="900" dirty="0">
                <a:solidFill>
                  <a:srgbClr val="222222"/>
                </a:solidFill>
                <a:latin typeface="Noto Sans JP" pitchFamily="34" charset="0"/>
                <a:ea typeface="Noto Sans JP" pitchFamily="34" charset="-122"/>
                <a:cs typeface="Noto Sans JP" pitchFamily="34" charset="-120"/>
              </a:rPr>
              <a:t>所有者探索</a:t>
            </a:r>
            <a:endParaRPr lang="en-US" sz="900" dirty="0"/>
          </a:p>
        </p:txBody>
      </p:sp>
      <p:pic>
        <p:nvPicPr>
          <p:cNvPr id="18" name="Image 3" descr="preencoded.png">    </p:cNvPr>
          <p:cNvPicPr>
            <a:picLocks noChangeAspect="1"/>
          </p:cNvPicPr>
          <p:nvPr/>
        </p:nvPicPr>
        <p:blipFill>
          <a:blip r:embed="rId4"/>
          <a:stretch>
            <a:fillRect/>
          </a:stretch>
        </p:blipFill>
        <p:spPr>
          <a:xfrm>
            <a:off x="6146800" y="2552700"/>
            <a:ext cx="139700" cy="139700"/>
          </a:xfrm>
          <a:prstGeom prst="rect">
            <a:avLst/>
          </a:prstGeom>
        </p:spPr>
      </p:pic>
      <p:sp>
        <p:nvSpPr>
          <p:cNvPr id="19" name="Shape 13"/>
          <p:cNvSpPr/>
          <p:nvPr/>
        </p:nvSpPr>
        <p:spPr>
          <a:xfrm>
            <a:off x="6451600" y="2413000"/>
            <a:ext cx="431800" cy="431800"/>
          </a:xfrm>
          <a:prstGeom prst="ellipse">
            <a:avLst/>
          </a:prstGeom>
          <a:solidFill>
            <a:srgbClr val="1F9970"/>
          </a:solidFill>
          <a:ln/>
        </p:spPr>
      </p:sp>
      <p:pic>
        <p:nvPicPr>
          <p:cNvPr id="20" name="Image 4" descr="preencoded.png">    </p:cNvPr>
          <p:cNvPicPr>
            <a:picLocks noChangeAspect="1"/>
          </p:cNvPicPr>
          <p:nvPr/>
        </p:nvPicPr>
        <p:blipFill>
          <a:blip r:embed="rId5"/>
          <a:stretch>
            <a:fillRect/>
          </a:stretch>
        </p:blipFill>
        <p:spPr>
          <a:xfrm>
            <a:off x="6559550" y="2520950"/>
            <a:ext cx="215900" cy="215900"/>
          </a:xfrm>
          <a:prstGeom prst="rect">
            <a:avLst/>
          </a:prstGeom>
        </p:spPr>
      </p:pic>
      <p:sp>
        <p:nvSpPr>
          <p:cNvPr id="21" name="Text 14"/>
          <p:cNvSpPr txBox="1"/>
          <p:nvPr/>
        </p:nvSpPr>
        <p:spPr>
          <a:xfrm>
            <a:off x="6299200" y="2895600"/>
            <a:ext cx="736600" cy="177800"/>
          </a:xfrm>
          <a:prstGeom prst="rect">
            <a:avLst/>
          </a:prstGeom>
          <a:noFill/>
          <a:ln/>
        </p:spPr>
        <p:txBody>
          <a:bodyPr wrap="square" lIns="0" tIns="0" rIns="0" bIns="0" rtlCol="0" anchor="t"/>
          <a:lstStyle/>
          <a:p>
            <a:pPr algn="ctr" indent="0" marL="0">
              <a:buNone/>
            </a:pPr>
            <a:r>
              <a:rPr lang="en-US" sz="900" dirty="0">
                <a:solidFill>
                  <a:srgbClr val="222222"/>
                </a:solidFill>
                <a:latin typeface="Noto Sans JP" pitchFamily="34" charset="0"/>
                <a:ea typeface="Noto Sans JP" pitchFamily="34" charset="-122"/>
                <a:cs typeface="Noto Sans JP" pitchFamily="34" charset="-120"/>
              </a:rPr>
              <a:t>立会い</a:t>
            </a:r>
            <a:endParaRPr lang="en-US" sz="900" dirty="0"/>
          </a:p>
        </p:txBody>
      </p:sp>
      <p:pic>
        <p:nvPicPr>
          <p:cNvPr id="22" name="Image 5" descr="preencoded.png">    </p:cNvPr>
          <p:cNvPicPr>
            <a:picLocks noChangeAspect="1"/>
          </p:cNvPicPr>
          <p:nvPr/>
        </p:nvPicPr>
        <p:blipFill>
          <a:blip r:embed="rId6"/>
          <a:stretch>
            <a:fillRect/>
          </a:stretch>
        </p:blipFill>
        <p:spPr>
          <a:xfrm>
            <a:off x="6985000" y="2552700"/>
            <a:ext cx="139700" cy="139700"/>
          </a:xfrm>
          <a:prstGeom prst="rect">
            <a:avLst/>
          </a:prstGeom>
        </p:spPr>
      </p:pic>
      <p:sp>
        <p:nvSpPr>
          <p:cNvPr id="23" name="Shape 15"/>
          <p:cNvSpPr/>
          <p:nvPr/>
        </p:nvSpPr>
        <p:spPr>
          <a:xfrm>
            <a:off x="7289800" y="2413000"/>
            <a:ext cx="431800" cy="431800"/>
          </a:xfrm>
          <a:prstGeom prst="ellipse">
            <a:avLst/>
          </a:prstGeom>
          <a:solidFill>
            <a:srgbClr val="1F9970"/>
          </a:solidFill>
          <a:ln/>
        </p:spPr>
      </p:sp>
      <p:pic>
        <p:nvPicPr>
          <p:cNvPr id="24" name="Image 6" descr="preencoded.png">    </p:cNvPr>
          <p:cNvPicPr>
            <a:picLocks noChangeAspect="1"/>
          </p:cNvPicPr>
          <p:nvPr/>
        </p:nvPicPr>
        <p:blipFill>
          <a:blip r:embed="rId7"/>
          <a:stretch>
            <a:fillRect/>
          </a:stretch>
        </p:blipFill>
        <p:spPr>
          <a:xfrm>
            <a:off x="7397750" y="2520950"/>
            <a:ext cx="215900" cy="215900"/>
          </a:xfrm>
          <a:prstGeom prst="rect">
            <a:avLst/>
          </a:prstGeom>
        </p:spPr>
      </p:pic>
      <p:sp>
        <p:nvSpPr>
          <p:cNvPr id="25" name="Text 16"/>
          <p:cNvSpPr txBox="1"/>
          <p:nvPr/>
        </p:nvSpPr>
        <p:spPr>
          <a:xfrm>
            <a:off x="7137400" y="2895600"/>
            <a:ext cx="736600" cy="177800"/>
          </a:xfrm>
          <a:prstGeom prst="rect">
            <a:avLst/>
          </a:prstGeom>
          <a:noFill/>
          <a:ln/>
        </p:spPr>
        <p:txBody>
          <a:bodyPr wrap="square" lIns="0" tIns="0" rIns="0" bIns="0" rtlCol="0" anchor="t"/>
          <a:lstStyle/>
          <a:p>
            <a:pPr algn="ctr" indent="0" marL="0">
              <a:buNone/>
            </a:pPr>
            <a:r>
              <a:rPr lang="en-US" sz="900" dirty="0">
                <a:solidFill>
                  <a:srgbClr val="222222"/>
                </a:solidFill>
                <a:latin typeface="Noto Sans JP" pitchFamily="34" charset="0"/>
                <a:ea typeface="Noto Sans JP" pitchFamily="34" charset="-122"/>
                <a:cs typeface="Noto Sans JP" pitchFamily="34" charset="-120"/>
              </a:rPr>
              <a:t>合意形成</a:t>
            </a:r>
            <a:endParaRPr lang="en-US" sz="900" dirty="0"/>
          </a:p>
        </p:txBody>
      </p:sp>
      <p:pic>
        <p:nvPicPr>
          <p:cNvPr id="26" name="Image 7" descr="preencoded.png">    </p:cNvPr>
          <p:cNvPicPr>
            <a:picLocks noChangeAspect="1"/>
          </p:cNvPicPr>
          <p:nvPr/>
        </p:nvPicPr>
        <p:blipFill>
          <a:blip r:embed="rId8"/>
          <a:stretch>
            <a:fillRect/>
          </a:stretch>
        </p:blipFill>
        <p:spPr>
          <a:xfrm>
            <a:off x="7823200" y="2552700"/>
            <a:ext cx="139700" cy="139700"/>
          </a:xfrm>
          <a:prstGeom prst="rect">
            <a:avLst/>
          </a:prstGeom>
        </p:spPr>
      </p:pic>
      <p:sp>
        <p:nvSpPr>
          <p:cNvPr id="27" name="Shape 17"/>
          <p:cNvSpPr/>
          <p:nvPr/>
        </p:nvSpPr>
        <p:spPr>
          <a:xfrm>
            <a:off x="8128000" y="2413000"/>
            <a:ext cx="431800" cy="431800"/>
          </a:xfrm>
          <a:prstGeom prst="ellipse">
            <a:avLst/>
          </a:prstGeom>
          <a:solidFill>
            <a:srgbClr val="1F9970"/>
          </a:solidFill>
          <a:ln/>
        </p:spPr>
      </p:sp>
      <p:pic>
        <p:nvPicPr>
          <p:cNvPr id="28" name="Image 8" descr="preencoded.png">    </p:cNvPr>
          <p:cNvPicPr>
            <a:picLocks noChangeAspect="1"/>
          </p:cNvPicPr>
          <p:nvPr/>
        </p:nvPicPr>
        <p:blipFill>
          <a:blip r:embed="rId9"/>
          <a:stretch>
            <a:fillRect/>
          </a:stretch>
        </p:blipFill>
        <p:spPr>
          <a:xfrm>
            <a:off x="8235950" y="2520950"/>
            <a:ext cx="215900" cy="215900"/>
          </a:xfrm>
          <a:prstGeom prst="rect">
            <a:avLst/>
          </a:prstGeom>
        </p:spPr>
      </p:pic>
      <p:sp>
        <p:nvSpPr>
          <p:cNvPr id="29" name="Text 18"/>
          <p:cNvSpPr txBox="1"/>
          <p:nvPr/>
        </p:nvSpPr>
        <p:spPr>
          <a:xfrm>
            <a:off x="7975600" y="2895600"/>
            <a:ext cx="736600" cy="177800"/>
          </a:xfrm>
          <a:prstGeom prst="rect">
            <a:avLst/>
          </a:prstGeom>
          <a:noFill/>
          <a:ln/>
        </p:spPr>
        <p:txBody>
          <a:bodyPr wrap="square" lIns="0" tIns="0" rIns="0" bIns="0" rtlCol="0" anchor="t"/>
          <a:lstStyle/>
          <a:p>
            <a:pPr algn="ctr" indent="0" marL="0">
              <a:buNone/>
            </a:pPr>
            <a:r>
              <a:rPr lang="en-US" sz="900" dirty="0">
                <a:solidFill>
                  <a:srgbClr val="222222"/>
                </a:solidFill>
                <a:latin typeface="Noto Sans JP" pitchFamily="34" charset="0"/>
                <a:ea typeface="Noto Sans JP" pitchFamily="34" charset="-122"/>
                <a:cs typeface="Noto Sans JP" pitchFamily="34" charset="-120"/>
              </a:rPr>
              <a:t>測量</a:t>
            </a:r>
            <a:endParaRPr lang="en-US" sz="900" dirty="0"/>
          </a:p>
        </p:txBody>
      </p:sp>
      <p:sp>
        <p:nvSpPr>
          <p:cNvPr id="30" name="Shape 19"/>
          <p:cNvSpPr/>
          <p:nvPr/>
        </p:nvSpPr>
        <p:spPr>
          <a:xfrm>
            <a:off x="5461000" y="3225800"/>
            <a:ext cx="3327400" cy="787400"/>
          </a:xfrm>
          <a:prstGeom prst="rect">
            <a:avLst/>
          </a:prstGeom>
          <a:solidFill>
            <a:srgbClr val="FBEAEA"/>
          </a:solidFill>
          <a:ln/>
        </p:spPr>
      </p:sp>
      <p:sp>
        <p:nvSpPr>
          <p:cNvPr id="31" name="Text 20"/>
          <p:cNvSpPr txBox="1"/>
          <p:nvPr/>
        </p:nvSpPr>
        <p:spPr>
          <a:xfrm>
            <a:off x="5588000" y="3302000"/>
            <a:ext cx="3098800" cy="660400"/>
          </a:xfrm>
          <a:prstGeom prst="rect">
            <a:avLst/>
          </a:prstGeom>
          <a:noFill/>
          <a:ln/>
        </p:spPr>
        <p:txBody>
          <a:bodyPr wrap="square" lIns="0" tIns="0" rIns="0" bIns="0" rtlCol="0" anchor="ctr"/>
          <a:lstStyle/>
          <a:p>
            <a:pPr indent="0" marL="0">
              <a:lnSpc>
                <a:spcPct val="125000"/>
              </a:lnSpc>
              <a:buNone/>
            </a:pPr>
            <a:r>
              <a:rPr lang="en-US" sz="950" dirty="0">
                <a:solidFill>
                  <a:srgbClr val="444444"/>
                </a:solidFill>
                <a:latin typeface="Noto Sans JP" pitchFamily="34" charset="0"/>
                <a:ea typeface="Noto Sans JP" pitchFamily="34" charset="-122"/>
                <a:cs typeface="Noto Sans JP" pitchFamily="34" charset="-120"/>
              </a:rPr>
              <a:t>境界が不明確な森林が多数残り、施業時の現地確認や計画時の所有者確認に支障をきたしている（東京都森林組合 要望書）</a:t>
            </a:r>
            <a:endParaRPr lang="en-US" sz="950" dirty="0"/>
          </a:p>
        </p:txBody>
      </p:sp>
      <p:sp>
        <p:nvSpPr>
          <p:cNvPr id="32" name="Text 21"/>
          <p:cNvSpPr txBox="1"/>
          <p:nvPr/>
        </p:nvSpPr>
        <p:spPr>
          <a:xfrm>
            <a:off x="1016000" y="4673600"/>
            <a:ext cx="7366000" cy="152400"/>
          </a:xfrm>
          <a:prstGeom prst="rect">
            <a:avLst/>
          </a:prstGeom>
          <a:noFill/>
          <a:ln/>
        </p:spPr>
        <p:txBody>
          <a:bodyPr wrap="square" lIns="0" tIns="0" rIns="0" bIns="0" rtlCol="0" anchor="t"/>
          <a:lstStyle/>
          <a:p>
            <a:pPr algn="r" indent="0" marL="0">
              <a:buNone/>
            </a:pPr>
            <a:r>
              <a:rPr lang="en-US" sz="700" dirty="0">
                <a:solidFill>
                  <a:srgbClr val="757575"/>
                </a:solidFill>
                <a:latin typeface="Noto Sans JP" pitchFamily="34" charset="0"/>
                <a:ea typeface="Noto Sans JP" pitchFamily="34" charset="-122"/>
                <a:cs typeface="Noto Sans JP" pitchFamily="34" charset="-120"/>
              </a:rPr>
              <a:t>出典：国土交通省 地籍調査状況マップ／東京都森林組合「東京都への要望書」（令和3年）</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tmp/claude-0/-home-user--/135b95b8-9a7c-5e2e-abb3-3369b8f4d943/scratchpad/assets/logo_dark.png">    </p:cNvPr>
          <p:cNvPicPr>
            <a:picLocks noChangeAspect="1"/>
          </p:cNvPicPr>
          <p:nvPr/>
        </p:nvPicPr>
        <p:blipFill>
          <a:blip r:embed="rId1"/>
          <a:stretch>
            <a:fillRect/>
          </a:stretch>
        </p:blipFill>
        <p:spPr>
          <a:xfrm>
            <a:off x="355600" y="160020"/>
            <a:ext cx="558800" cy="254000"/>
          </a:xfrm>
          <a:prstGeom prst="rect">
            <a:avLst/>
          </a:prstGeom>
        </p:spPr>
      </p:pic>
      <p:sp>
        <p:nvSpPr>
          <p:cNvPr id="3" name="Text 0"/>
          <p:cNvSpPr txBox="1"/>
          <p:nvPr/>
        </p:nvSpPr>
        <p:spPr>
          <a:xfrm>
            <a:off x="1397000" y="127000"/>
            <a:ext cx="6350000" cy="304800"/>
          </a:xfrm>
          <a:prstGeom prst="rect">
            <a:avLst/>
          </a:prstGeom>
          <a:noFill/>
          <a:ln/>
        </p:spPr>
        <p:txBody>
          <a:bodyPr wrap="square" lIns="0" tIns="0" rIns="0" bIns="0" rtlCol="0" anchor="ctr"/>
          <a:lstStyle/>
          <a:p>
            <a:pPr algn="ctr" indent="0" marL="0">
              <a:buNone/>
            </a:pPr>
            <a:r>
              <a:rPr lang="en-US" sz="1500" b="1" dirty="0">
                <a:solidFill>
                  <a:srgbClr val="222222"/>
                </a:solidFill>
                <a:latin typeface="Noto Sans JP" pitchFamily="34" charset="0"/>
                <a:ea typeface="Noto Sans JP" pitchFamily="34" charset="-122"/>
                <a:cs typeface="Noto Sans JP" pitchFamily="34" charset="-120"/>
              </a:rPr>
              <a:t>課題③ 森林経営計画の低調</a:t>
            </a:r>
            <a:endParaRPr lang="en-US" sz="1500" dirty="0"/>
          </a:p>
        </p:txBody>
      </p:sp>
      <p:sp>
        <p:nvSpPr>
          <p:cNvPr id="4" name="Shape 1"/>
          <p:cNvSpPr/>
          <p:nvPr/>
        </p:nvSpPr>
        <p:spPr>
          <a:xfrm>
            <a:off x="0" y="539750"/>
            <a:ext cx="9144000" cy="0"/>
          </a:xfrm>
          <a:prstGeom prst="line">
            <a:avLst/>
          </a:prstGeom>
          <a:noFill/>
          <a:ln w="9525">
            <a:solidFill>
              <a:srgbClr val="999999"/>
            </a:solidFill>
            <a:prstDash val="solid"/>
          </a:ln>
        </p:spPr>
      </p:sp>
      <p:sp>
        <p:nvSpPr>
          <p:cNvPr id="5" name="Shape 2"/>
          <p:cNvSpPr/>
          <p:nvPr/>
        </p:nvSpPr>
        <p:spPr>
          <a:xfrm>
            <a:off x="88900" y="4876800"/>
            <a:ext cx="723900" cy="165100"/>
          </a:xfrm>
          <a:prstGeom prst="rect">
            <a:avLst/>
          </a:prstGeom>
          <a:solidFill>
            <a:srgbClr val="FFFFFF"/>
          </a:solidFill>
          <a:ln w="6350">
            <a:solidFill>
              <a:srgbClr val="B2B2B2"/>
            </a:solidFill>
            <a:prstDash val="solid"/>
          </a:ln>
        </p:spPr>
      </p:sp>
      <p:sp>
        <p:nvSpPr>
          <p:cNvPr id="6" name="Text 3"/>
          <p:cNvSpPr txBox="1"/>
          <p:nvPr/>
        </p:nvSpPr>
        <p:spPr>
          <a:xfrm>
            <a:off x="88900" y="4876800"/>
            <a:ext cx="723900" cy="165100"/>
          </a:xfrm>
          <a:prstGeom prst="rect">
            <a:avLst/>
          </a:prstGeom>
          <a:noFill/>
          <a:ln/>
        </p:spPr>
        <p:txBody>
          <a:bodyPr wrap="square" lIns="0" tIns="0" rIns="0" bIns="0" rtlCol="0" anchor="ctr"/>
          <a:lstStyle/>
          <a:p>
            <a:pPr algn="ctr" indent="0" marL="0">
              <a:buNone/>
            </a:pPr>
            <a:r>
              <a:rPr lang="en-US" sz="700" dirty="0">
                <a:solidFill>
                  <a:srgbClr val="757575"/>
                </a:solidFill>
                <a:latin typeface="Arial" pitchFamily="34" charset="0"/>
                <a:ea typeface="Arial" pitchFamily="34" charset="-122"/>
                <a:cs typeface="Arial" pitchFamily="34" charset="-120"/>
              </a:rPr>
              <a:t>confidential</a:t>
            </a:r>
            <a:endParaRPr lang="en-US" sz="700" dirty="0"/>
          </a:p>
        </p:txBody>
      </p:sp>
      <p:sp>
        <p:nvSpPr>
          <p:cNvPr id="7" name="Text 4"/>
          <p:cNvSpPr txBox="1"/>
          <p:nvPr/>
        </p:nvSpPr>
        <p:spPr>
          <a:xfrm>
            <a:off x="8509000" y="4826000"/>
            <a:ext cx="533400" cy="203200"/>
          </a:xfrm>
          <a:prstGeom prst="rect">
            <a:avLst/>
          </a:prstGeom>
          <a:noFill/>
          <a:ln/>
        </p:spPr>
        <p:txBody>
          <a:bodyPr wrap="square" lIns="0" tIns="0" rIns="0" bIns="0" rtlCol="0" anchor="t"/>
          <a:lstStyle/>
          <a:p>
            <a:pPr algn="r" indent="0" marL="0">
              <a:buNone/>
            </a:pPr>
            <a:r>
              <a:rPr lang="en-US" sz="1100" dirty="0">
                <a:solidFill>
                  <a:srgbClr val="757575"/>
                </a:solidFill>
                <a:latin typeface="Noto Sans JP" pitchFamily="34" charset="0"/>
                <a:ea typeface="Noto Sans JP" pitchFamily="34" charset="-122"/>
                <a:cs typeface="Noto Sans JP" pitchFamily="34" charset="-120"/>
              </a:rPr>
              <a:t>9</a:t>
            </a:r>
            <a:endParaRPr lang="en-US" sz="1100" dirty="0"/>
          </a:p>
        </p:txBody>
      </p:sp>
      <p:sp>
        <p:nvSpPr>
          <p:cNvPr id="8" name="Text 5"/>
          <p:cNvSpPr txBox="1"/>
          <p:nvPr/>
        </p:nvSpPr>
        <p:spPr>
          <a:xfrm>
            <a:off x="457200" y="685800"/>
            <a:ext cx="8229600" cy="508000"/>
          </a:xfrm>
          <a:prstGeom prst="rect">
            <a:avLst/>
          </a:prstGeom>
          <a:noFill/>
          <a:ln/>
        </p:spPr>
        <p:txBody>
          <a:bodyPr wrap="square" lIns="0" tIns="0" rIns="0" bIns="0" rtlCol="0" anchor="ctr"/>
          <a:lstStyle/>
          <a:p>
            <a:pPr indent="0" marL="0">
              <a:buNone/>
            </a:pPr>
            <a:r>
              <a:rPr lang="en-US" sz="1300" b="1" dirty="0">
                <a:solidFill>
                  <a:srgbClr val="16816D"/>
                </a:solidFill>
                <a:latin typeface="Noto Sans JP" pitchFamily="34" charset="0"/>
                <a:ea typeface="Noto Sans JP" pitchFamily="34" charset="-122"/>
                <a:cs typeface="Noto Sans JP" pitchFamily="34" charset="-120"/>
              </a:rPr>
              <a:t>森林経営計画の認定率は25%。多摩地域平均（36%）を11ポイント下回っています。</a:t>
            </a:r>
            <a:endParaRPr lang="en-US" sz="1300" dirty="0"/>
          </a:p>
        </p:txBody>
      </p:sp>
      <p:graphicFrame>
        <p:nvGraphicFramePr>
          <p:cNvPr id="9" name="Chart 0" descr=""/>
          <p:cNvGraphicFramePr/>
          <p:nvPr/>
        </p:nvGraphicFramePr>
        <p:xfrm>
          <a:off x="457200" y="1270000"/>
          <a:ext cx="4191000" cy="2921000"/>
        </p:xfrm>
        <a:graphic xmlns:a="http://schemas.openxmlformats.org/drawingml/2006/main">
          <a:graphicData uri="http://schemas.openxmlformats.org/drawingml/2006/chart">
            <c:chart xmlns:c="http://schemas.openxmlformats.org/drawingml/2006/chart" r:id="rId2"/>
          </a:graphicData>
        </a:graphic>
      </p:graphicFrame>
      <p:sp>
        <p:nvSpPr>
          <p:cNvPr id="10" name="Text 6"/>
          <p:cNvSpPr txBox="1"/>
          <p:nvPr/>
        </p:nvSpPr>
        <p:spPr>
          <a:xfrm>
            <a:off x="1016000" y="1778000"/>
            <a:ext cx="762000" cy="254000"/>
          </a:xfrm>
          <a:prstGeom prst="rect">
            <a:avLst/>
          </a:prstGeom>
          <a:noFill/>
          <a:ln/>
        </p:spPr>
        <p:txBody>
          <a:bodyPr wrap="square" lIns="0" tIns="0" rIns="0" bIns="0" rtlCol="0" anchor="t"/>
          <a:lstStyle/>
          <a:p>
            <a:pPr algn="ctr" indent="0" marL="0">
              <a:buNone/>
            </a:pPr>
            <a:r>
              <a:rPr lang="en-US" sz="1200" b="1" dirty="0">
                <a:solidFill>
                  <a:srgbClr val="D9534F"/>
                </a:solidFill>
                <a:latin typeface="Noto Sans JP" pitchFamily="34" charset="0"/>
                <a:ea typeface="Noto Sans JP" pitchFamily="34" charset="-122"/>
                <a:cs typeface="Noto Sans JP" pitchFamily="34" charset="-120"/>
              </a:rPr>
              <a:t>▼11pt</a:t>
            </a:r>
            <a:endParaRPr lang="en-US" sz="1200" dirty="0"/>
          </a:p>
        </p:txBody>
      </p:sp>
      <p:sp>
        <p:nvSpPr>
          <p:cNvPr id="11" name="Shape 7"/>
          <p:cNvSpPr/>
          <p:nvPr/>
        </p:nvSpPr>
        <p:spPr>
          <a:xfrm>
            <a:off x="4953000" y="1320800"/>
            <a:ext cx="3810000" cy="889000"/>
          </a:xfrm>
          <a:prstGeom prst="rect">
            <a:avLst/>
          </a:prstGeom>
          <a:solidFill>
            <a:srgbClr val="F4F4F4"/>
          </a:solidFill>
          <a:ln/>
        </p:spPr>
      </p:sp>
      <p:sp>
        <p:nvSpPr>
          <p:cNvPr id="12" name="Text 8"/>
          <p:cNvSpPr txBox="1"/>
          <p:nvPr/>
        </p:nvSpPr>
        <p:spPr>
          <a:xfrm>
            <a:off x="5105400" y="1422400"/>
            <a:ext cx="3556000" cy="203200"/>
          </a:xfrm>
          <a:prstGeom prst="rect">
            <a:avLst/>
          </a:prstGeom>
          <a:noFill/>
          <a:ln/>
        </p:spPr>
        <p:txBody>
          <a:bodyPr wrap="square" lIns="0" tIns="0" rIns="0" bIns="0" rtlCol="0" anchor="t"/>
          <a:lstStyle/>
          <a:p>
            <a:pPr indent="0" marL="0">
              <a:buNone/>
            </a:pPr>
            <a:r>
              <a:rPr lang="en-US" sz="1100" b="1" dirty="0">
                <a:solidFill>
                  <a:srgbClr val="222222"/>
                </a:solidFill>
                <a:latin typeface="Noto Sans JP" pitchFamily="34" charset="0"/>
                <a:ea typeface="Noto Sans JP" pitchFamily="34" charset="-122"/>
                <a:cs typeface="Noto Sans JP" pitchFamily="34" charset="-120"/>
              </a:rPr>
              <a:t>森林経営計画とは</a:t>
            </a:r>
            <a:endParaRPr lang="en-US" sz="1100" dirty="0"/>
          </a:p>
        </p:txBody>
      </p:sp>
      <p:sp>
        <p:nvSpPr>
          <p:cNvPr id="13" name="Text 9"/>
          <p:cNvSpPr txBox="1"/>
          <p:nvPr/>
        </p:nvSpPr>
        <p:spPr>
          <a:xfrm>
            <a:off x="5105400" y="1651000"/>
            <a:ext cx="3556000" cy="508000"/>
          </a:xfrm>
          <a:prstGeom prst="rect">
            <a:avLst/>
          </a:prstGeom>
          <a:noFill/>
          <a:ln/>
        </p:spPr>
        <p:txBody>
          <a:bodyPr wrap="square" lIns="0" tIns="0" rIns="0" bIns="0" rtlCol="0" anchor="t"/>
          <a:lstStyle/>
          <a:p>
            <a:pPr indent="0" marL="0">
              <a:lnSpc>
                <a:spcPct val="120000"/>
              </a:lnSpc>
              <a:buNone/>
            </a:pPr>
            <a:r>
              <a:rPr lang="en-US" sz="950" dirty="0">
                <a:solidFill>
                  <a:srgbClr val="444444"/>
                </a:solidFill>
                <a:latin typeface="Noto Sans JP" pitchFamily="34" charset="0"/>
                <a:ea typeface="Noto Sans JP" pitchFamily="34" charset="-122"/>
                <a:cs typeface="Noto Sans JP" pitchFamily="34" charset="-120"/>
              </a:rPr>
              <a:t>森林所有者等が作成し市町村の認定を受ける5か年計画。認定を受けることで、間伐等の補助金や税制優遇を受けられます。</a:t>
            </a:r>
            <a:endParaRPr lang="en-US" sz="950" dirty="0"/>
          </a:p>
        </p:txBody>
      </p:sp>
      <p:sp>
        <p:nvSpPr>
          <p:cNvPr id="14" name="Shape 10"/>
          <p:cNvSpPr/>
          <p:nvPr/>
        </p:nvSpPr>
        <p:spPr>
          <a:xfrm>
            <a:off x="4953000" y="2336800"/>
            <a:ext cx="3810000" cy="889000"/>
          </a:xfrm>
          <a:prstGeom prst="rect">
            <a:avLst/>
          </a:prstGeom>
          <a:solidFill>
            <a:srgbClr val="F4F4F4"/>
          </a:solidFill>
          <a:ln/>
        </p:spPr>
      </p:sp>
      <p:sp>
        <p:nvSpPr>
          <p:cNvPr id="15" name="Text 11"/>
          <p:cNvSpPr txBox="1"/>
          <p:nvPr/>
        </p:nvSpPr>
        <p:spPr>
          <a:xfrm>
            <a:off x="5105400" y="2438400"/>
            <a:ext cx="3556000" cy="203200"/>
          </a:xfrm>
          <a:prstGeom prst="rect">
            <a:avLst/>
          </a:prstGeom>
          <a:noFill/>
          <a:ln/>
        </p:spPr>
        <p:txBody>
          <a:bodyPr wrap="square" lIns="0" tIns="0" rIns="0" bIns="0" rtlCol="0" anchor="t"/>
          <a:lstStyle/>
          <a:p>
            <a:pPr indent="0" marL="0">
              <a:buNone/>
            </a:pPr>
            <a:r>
              <a:rPr lang="en-US" sz="1100" b="1" dirty="0">
                <a:solidFill>
                  <a:srgbClr val="222222"/>
                </a:solidFill>
                <a:latin typeface="Noto Sans JP" pitchFamily="34" charset="0"/>
                <a:ea typeface="Noto Sans JP" pitchFamily="34" charset="-122"/>
                <a:cs typeface="Noto Sans JP" pitchFamily="34" charset="-120"/>
              </a:rPr>
              <a:t>現状</a:t>
            </a:r>
            <a:endParaRPr lang="en-US" sz="1100" dirty="0"/>
          </a:p>
        </p:txBody>
      </p:sp>
      <p:sp>
        <p:nvSpPr>
          <p:cNvPr id="16" name="Text 12"/>
          <p:cNvSpPr txBox="1"/>
          <p:nvPr/>
        </p:nvSpPr>
        <p:spPr>
          <a:xfrm>
            <a:off x="5105400" y="2667000"/>
            <a:ext cx="3556000" cy="508000"/>
          </a:xfrm>
          <a:prstGeom prst="rect">
            <a:avLst/>
          </a:prstGeom>
          <a:noFill/>
          <a:ln/>
        </p:spPr>
        <p:txBody>
          <a:bodyPr wrap="square" lIns="0" tIns="0" rIns="0" bIns="0" rtlCol="0" anchor="t"/>
          <a:lstStyle/>
          <a:p>
            <a:pPr indent="0" marL="0">
              <a:lnSpc>
                <a:spcPct val="120000"/>
              </a:lnSpc>
              <a:buNone/>
            </a:pPr>
            <a:r>
              <a:rPr lang="en-US" sz="950" dirty="0">
                <a:solidFill>
                  <a:srgbClr val="444444"/>
                </a:solidFill>
                <a:latin typeface="Noto Sans JP" pitchFamily="34" charset="0"/>
                <a:ea typeface="Noto Sans JP" pitchFamily="34" charset="-122"/>
                <a:cs typeface="Noto Sans JP" pitchFamily="34" charset="-120"/>
              </a:rPr>
              <a:t>平成30年度末時点で10計画、計画面積1,559ha。民有林6,651haに対して計画対象外の森林が多く残っています。</a:t>
            </a:r>
            <a:endParaRPr lang="en-US" sz="950" dirty="0"/>
          </a:p>
        </p:txBody>
      </p:sp>
      <p:sp>
        <p:nvSpPr>
          <p:cNvPr id="17" name="Shape 13"/>
          <p:cNvSpPr/>
          <p:nvPr/>
        </p:nvSpPr>
        <p:spPr>
          <a:xfrm>
            <a:off x="4953000" y="3352800"/>
            <a:ext cx="3810000" cy="889000"/>
          </a:xfrm>
          <a:prstGeom prst="rect">
            <a:avLst/>
          </a:prstGeom>
          <a:solidFill>
            <a:srgbClr val="E8F5EF"/>
          </a:solidFill>
          <a:ln/>
        </p:spPr>
      </p:sp>
      <p:sp>
        <p:nvSpPr>
          <p:cNvPr id="18" name="Text 14"/>
          <p:cNvSpPr txBox="1"/>
          <p:nvPr/>
        </p:nvSpPr>
        <p:spPr>
          <a:xfrm>
            <a:off x="5105400" y="3454400"/>
            <a:ext cx="3556000" cy="203200"/>
          </a:xfrm>
          <a:prstGeom prst="rect">
            <a:avLst/>
          </a:prstGeom>
          <a:noFill/>
          <a:ln/>
        </p:spPr>
        <p:txBody>
          <a:bodyPr wrap="square" lIns="0" tIns="0" rIns="0" bIns="0" rtlCol="0" anchor="t"/>
          <a:lstStyle/>
          <a:p>
            <a:pPr indent="0" marL="0">
              <a:buNone/>
            </a:pPr>
            <a:r>
              <a:rPr lang="en-US" sz="1100" b="1" dirty="0">
                <a:solidFill>
                  <a:srgbClr val="16816D"/>
                </a:solidFill>
                <a:latin typeface="Noto Sans JP" pitchFamily="34" charset="0"/>
                <a:ea typeface="Noto Sans JP" pitchFamily="34" charset="-122"/>
                <a:cs typeface="Noto Sans JP" pitchFamily="34" charset="-120"/>
              </a:rPr>
              <a:t>意味すること</a:t>
            </a:r>
            <a:endParaRPr lang="en-US" sz="1100" dirty="0"/>
          </a:p>
        </p:txBody>
      </p:sp>
      <p:sp>
        <p:nvSpPr>
          <p:cNvPr id="19" name="Text 15"/>
          <p:cNvSpPr txBox="1"/>
          <p:nvPr/>
        </p:nvSpPr>
        <p:spPr>
          <a:xfrm>
            <a:off x="5105400" y="3683000"/>
            <a:ext cx="3556000" cy="508000"/>
          </a:xfrm>
          <a:prstGeom prst="rect">
            <a:avLst/>
          </a:prstGeom>
          <a:noFill/>
          <a:ln/>
        </p:spPr>
        <p:txBody>
          <a:bodyPr wrap="square" lIns="0" tIns="0" rIns="0" bIns="0" rtlCol="0" anchor="t"/>
          <a:lstStyle/>
          <a:p>
            <a:pPr indent="0" marL="0">
              <a:lnSpc>
                <a:spcPct val="120000"/>
              </a:lnSpc>
              <a:buNone/>
            </a:pPr>
            <a:r>
              <a:rPr lang="en-US" sz="950" dirty="0">
                <a:solidFill>
                  <a:srgbClr val="444444"/>
                </a:solidFill>
                <a:latin typeface="Noto Sans JP" pitchFamily="34" charset="0"/>
                <a:ea typeface="Noto Sans JP" pitchFamily="34" charset="-122"/>
                <a:cs typeface="Noto Sans JP" pitchFamily="34" charset="-120"/>
              </a:rPr>
              <a:t>計画がない森林は補助金を活用した施業に乗りにくく、「集約化 → 計画認定 → 施業」の流れをつくる主体が必要です。</a:t>
            </a:r>
            <a:endParaRPr lang="en-US" sz="950" dirty="0"/>
          </a:p>
        </p:txBody>
      </p:sp>
      <p:sp>
        <p:nvSpPr>
          <p:cNvPr id="20" name="Text 16"/>
          <p:cNvSpPr txBox="1"/>
          <p:nvPr/>
        </p:nvSpPr>
        <p:spPr>
          <a:xfrm>
            <a:off x="1016000" y="4673600"/>
            <a:ext cx="7366000" cy="152400"/>
          </a:xfrm>
          <a:prstGeom prst="rect">
            <a:avLst/>
          </a:prstGeom>
          <a:noFill/>
          <a:ln/>
        </p:spPr>
        <p:txBody>
          <a:bodyPr wrap="square" lIns="0" tIns="0" rIns="0" bIns="0" rtlCol="0" anchor="t"/>
          <a:lstStyle/>
          <a:p>
            <a:pPr algn="r" indent="0" marL="0">
              <a:buNone/>
            </a:pPr>
            <a:r>
              <a:rPr lang="en-US" sz="700" dirty="0">
                <a:solidFill>
                  <a:srgbClr val="757575"/>
                </a:solidFill>
                <a:latin typeface="Noto Sans JP" pitchFamily="34" charset="0"/>
                <a:ea typeface="Noto Sans JP" pitchFamily="34" charset="-122"/>
                <a:cs typeface="Noto Sans JP" pitchFamily="34" charset="-120"/>
              </a:rPr>
              <a:t>出典：八王子市 森林整備計画 第3章</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tmp/claude-0/-home-user--/135b95b8-9a7c-5e2e-abb3-3369b8f4d943/scratchpad/assets/logo_dark.png">    </p:cNvPr>
          <p:cNvPicPr>
            <a:picLocks noChangeAspect="1"/>
          </p:cNvPicPr>
          <p:nvPr/>
        </p:nvPicPr>
        <p:blipFill>
          <a:blip r:embed="rId1"/>
          <a:stretch>
            <a:fillRect/>
          </a:stretch>
        </p:blipFill>
        <p:spPr>
          <a:xfrm>
            <a:off x="355600" y="160020"/>
            <a:ext cx="558800" cy="254000"/>
          </a:xfrm>
          <a:prstGeom prst="rect">
            <a:avLst/>
          </a:prstGeom>
        </p:spPr>
      </p:pic>
      <p:sp>
        <p:nvSpPr>
          <p:cNvPr id="3" name="Text 0"/>
          <p:cNvSpPr txBox="1"/>
          <p:nvPr/>
        </p:nvSpPr>
        <p:spPr>
          <a:xfrm>
            <a:off x="1397000" y="127000"/>
            <a:ext cx="6350000" cy="304800"/>
          </a:xfrm>
          <a:prstGeom prst="rect">
            <a:avLst/>
          </a:prstGeom>
          <a:noFill/>
          <a:ln/>
        </p:spPr>
        <p:txBody>
          <a:bodyPr wrap="square" lIns="0" tIns="0" rIns="0" bIns="0" rtlCol="0" anchor="ctr"/>
          <a:lstStyle/>
          <a:p>
            <a:pPr algn="ctr" indent="0" marL="0">
              <a:buNone/>
            </a:pPr>
            <a:r>
              <a:rPr lang="en-US" sz="1500" b="1" dirty="0">
                <a:solidFill>
                  <a:srgbClr val="222222"/>
                </a:solidFill>
                <a:latin typeface="Noto Sans JP" pitchFamily="34" charset="0"/>
                <a:ea typeface="Noto Sans JP" pitchFamily="34" charset="-122"/>
                <a:cs typeface="Noto Sans JP" pitchFamily="34" charset="-120"/>
              </a:rPr>
              <a:t>課題④ 森林経営管理制度が「意向調査止まり」</a:t>
            </a:r>
            <a:endParaRPr lang="en-US" sz="1500" dirty="0"/>
          </a:p>
        </p:txBody>
      </p:sp>
      <p:sp>
        <p:nvSpPr>
          <p:cNvPr id="4" name="Shape 1"/>
          <p:cNvSpPr/>
          <p:nvPr/>
        </p:nvSpPr>
        <p:spPr>
          <a:xfrm>
            <a:off x="0" y="539750"/>
            <a:ext cx="9144000" cy="0"/>
          </a:xfrm>
          <a:prstGeom prst="line">
            <a:avLst/>
          </a:prstGeom>
          <a:noFill/>
          <a:ln w="9525">
            <a:solidFill>
              <a:srgbClr val="999999"/>
            </a:solidFill>
            <a:prstDash val="solid"/>
          </a:ln>
        </p:spPr>
      </p:sp>
      <p:sp>
        <p:nvSpPr>
          <p:cNvPr id="5" name="Shape 2"/>
          <p:cNvSpPr/>
          <p:nvPr/>
        </p:nvSpPr>
        <p:spPr>
          <a:xfrm>
            <a:off x="88900" y="4876800"/>
            <a:ext cx="723900" cy="165100"/>
          </a:xfrm>
          <a:prstGeom prst="rect">
            <a:avLst/>
          </a:prstGeom>
          <a:solidFill>
            <a:srgbClr val="FFFFFF"/>
          </a:solidFill>
          <a:ln w="6350">
            <a:solidFill>
              <a:srgbClr val="B2B2B2"/>
            </a:solidFill>
            <a:prstDash val="solid"/>
          </a:ln>
        </p:spPr>
      </p:sp>
      <p:sp>
        <p:nvSpPr>
          <p:cNvPr id="6" name="Text 3"/>
          <p:cNvSpPr txBox="1"/>
          <p:nvPr/>
        </p:nvSpPr>
        <p:spPr>
          <a:xfrm>
            <a:off x="88900" y="4876800"/>
            <a:ext cx="723900" cy="165100"/>
          </a:xfrm>
          <a:prstGeom prst="rect">
            <a:avLst/>
          </a:prstGeom>
          <a:noFill/>
          <a:ln/>
        </p:spPr>
        <p:txBody>
          <a:bodyPr wrap="square" lIns="0" tIns="0" rIns="0" bIns="0" rtlCol="0" anchor="ctr"/>
          <a:lstStyle/>
          <a:p>
            <a:pPr algn="ctr" indent="0" marL="0">
              <a:buNone/>
            </a:pPr>
            <a:r>
              <a:rPr lang="en-US" sz="700" dirty="0">
                <a:solidFill>
                  <a:srgbClr val="757575"/>
                </a:solidFill>
                <a:latin typeface="Arial" pitchFamily="34" charset="0"/>
                <a:ea typeface="Arial" pitchFamily="34" charset="-122"/>
                <a:cs typeface="Arial" pitchFamily="34" charset="-120"/>
              </a:rPr>
              <a:t>confidential</a:t>
            </a:r>
            <a:endParaRPr lang="en-US" sz="700" dirty="0"/>
          </a:p>
        </p:txBody>
      </p:sp>
      <p:sp>
        <p:nvSpPr>
          <p:cNvPr id="7" name="Text 4"/>
          <p:cNvSpPr txBox="1"/>
          <p:nvPr/>
        </p:nvSpPr>
        <p:spPr>
          <a:xfrm>
            <a:off x="8509000" y="4826000"/>
            <a:ext cx="533400" cy="203200"/>
          </a:xfrm>
          <a:prstGeom prst="rect">
            <a:avLst/>
          </a:prstGeom>
          <a:noFill/>
          <a:ln/>
        </p:spPr>
        <p:txBody>
          <a:bodyPr wrap="square" lIns="0" tIns="0" rIns="0" bIns="0" rtlCol="0" anchor="t"/>
          <a:lstStyle/>
          <a:p>
            <a:pPr algn="r" indent="0" marL="0">
              <a:buNone/>
            </a:pPr>
            <a:r>
              <a:rPr lang="en-US" sz="1100" dirty="0">
                <a:solidFill>
                  <a:srgbClr val="757575"/>
                </a:solidFill>
                <a:latin typeface="Noto Sans JP" pitchFamily="34" charset="0"/>
                <a:ea typeface="Noto Sans JP" pitchFamily="34" charset="-122"/>
                <a:cs typeface="Noto Sans JP" pitchFamily="34" charset="-120"/>
              </a:rPr>
              <a:t>10</a:t>
            </a:r>
            <a:endParaRPr lang="en-US" sz="1100" dirty="0"/>
          </a:p>
        </p:txBody>
      </p:sp>
      <p:sp>
        <p:nvSpPr>
          <p:cNvPr id="8" name="Text 5"/>
          <p:cNvSpPr txBox="1"/>
          <p:nvPr/>
        </p:nvSpPr>
        <p:spPr>
          <a:xfrm>
            <a:off x="457200" y="685800"/>
            <a:ext cx="8229600" cy="508000"/>
          </a:xfrm>
          <a:prstGeom prst="rect">
            <a:avLst/>
          </a:prstGeom>
          <a:noFill/>
          <a:ln/>
        </p:spPr>
        <p:txBody>
          <a:bodyPr wrap="square" lIns="0" tIns="0" rIns="0" bIns="0" rtlCol="0" anchor="ctr"/>
          <a:lstStyle/>
          <a:p>
            <a:pPr indent="0" marL="0">
              <a:buNone/>
            </a:pPr>
            <a:r>
              <a:rPr lang="en-US" sz="1300" b="1" dirty="0">
                <a:solidFill>
                  <a:srgbClr val="16816D"/>
                </a:solidFill>
                <a:latin typeface="Noto Sans JP" pitchFamily="34" charset="0"/>
                <a:ea typeface="Noto Sans JP" pitchFamily="34" charset="-122"/>
                <a:cs typeface="Noto Sans JP" pitchFamily="34" charset="-120"/>
              </a:rPr>
              <a:t>意向調査は実施済みですが、その先の集積計画・再委託・市による整備はいずれも未着手です。</a:t>
            </a:r>
            <a:endParaRPr lang="en-US" sz="1300" dirty="0"/>
          </a:p>
        </p:txBody>
      </p:sp>
      <p:sp>
        <p:nvSpPr>
          <p:cNvPr id="9" name="Shape 6"/>
          <p:cNvSpPr/>
          <p:nvPr/>
        </p:nvSpPr>
        <p:spPr>
          <a:xfrm>
            <a:off x="457200" y="1524000"/>
            <a:ext cx="1778000" cy="1143000"/>
          </a:xfrm>
          <a:prstGeom prst="roundRect">
            <a:avLst>
              <a:gd name="adj" fmla="val 6400"/>
            </a:avLst>
          </a:prstGeom>
          <a:solidFill>
            <a:srgbClr val="1F9970"/>
          </a:solidFill>
          <a:ln w="19050">
            <a:solidFill>
              <a:srgbClr val="1F9970"/>
            </a:solidFill>
            <a:prstDash val="solid"/>
          </a:ln>
        </p:spPr>
      </p:sp>
      <p:sp>
        <p:nvSpPr>
          <p:cNvPr id="10" name="Text 7"/>
          <p:cNvSpPr txBox="1"/>
          <p:nvPr/>
        </p:nvSpPr>
        <p:spPr>
          <a:xfrm>
            <a:off x="558800" y="1676400"/>
            <a:ext cx="1574800"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Noto Sans JP" pitchFamily="34" charset="0"/>
                <a:ea typeface="Noto Sans JP" pitchFamily="34" charset="-122"/>
                <a:cs typeface="Noto Sans JP" pitchFamily="34" charset="-120"/>
              </a:rPr>
              <a:t>意向調査</a:t>
            </a:r>
            <a:endParaRPr lang="en-US" sz="1150" dirty="0"/>
          </a:p>
        </p:txBody>
      </p:sp>
      <p:sp>
        <p:nvSpPr>
          <p:cNvPr id="11" name="Text 8"/>
          <p:cNvSpPr txBox="1"/>
          <p:nvPr/>
        </p:nvSpPr>
        <p:spPr>
          <a:xfrm>
            <a:off x="558800" y="2159000"/>
            <a:ext cx="1574800" cy="381000"/>
          </a:xfrm>
          <a:prstGeom prst="rect">
            <a:avLst/>
          </a:prstGeom>
          <a:noFill/>
          <a:ln/>
        </p:spPr>
        <p:txBody>
          <a:bodyPr wrap="square" lIns="0" tIns="0" rIns="0" bIns="0" rtlCol="0" anchor="t"/>
          <a:lstStyle/>
          <a:p>
            <a:pPr algn="ctr" indent="0" marL="0">
              <a:buNone/>
            </a:pPr>
            <a:r>
              <a:rPr lang="en-US" sz="850" dirty="0">
                <a:solidFill>
                  <a:srgbClr val="FFFFFF"/>
                </a:solidFill>
                <a:latin typeface="Noto Sans JP" pitchFamily="34" charset="0"/>
                <a:ea typeface="Noto Sans JP" pitchFamily="34" charset="-122"/>
                <a:cs typeface="Noto Sans JP" pitchFamily="34" charset="-120"/>
              </a:rPr>
              <a:t>所有者に管理の意向を確認</a:t>
            </a:r>
            <a:endParaRPr lang="en-US" sz="850" dirty="0"/>
          </a:p>
        </p:txBody>
      </p:sp>
      <p:sp>
        <p:nvSpPr>
          <p:cNvPr id="12" name="Shape 9"/>
          <p:cNvSpPr/>
          <p:nvPr/>
        </p:nvSpPr>
        <p:spPr>
          <a:xfrm>
            <a:off x="1168400" y="1346200"/>
            <a:ext cx="355600" cy="355600"/>
          </a:xfrm>
          <a:prstGeom prst="ellipse">
            <a:avLst/>
          </a:prstGeom>
          <a:solidFill>
            <a:srgbClr val="FFFFFF"/>
          </a:solidFill>
          <a:ln w="19050">
            <a:solidFill>
              <a:srgbClr val="1F9970"/>
            </a:solidFill>
            <a:prstDash val="solid"/>
          </a:ln>
        </p:spPr>
      </p:sp>
      <p:pic>
        <p:nvPicPr>
          <p:cNvPr id="13" name="Image 1" descr="preencoded.png">    </p:cNvPr>
          <p:cNvPicPr>
            <a:picLocks noChangeAspect="1"/>
          </p:cNvPicPr>
          <p:nvPr/>
        </p:nvPicPr>
        <p:blipFill>
          <a:blip r:embed="rId2"/>
          <a:stretch>
            <a:fillRect/>
          </a:stretch>
        </p:blipFill>
        <p:spPr>
          <a:xfrm>
            <a:off x="1257300" y="1435100"/>
            <a:ext cx="177800" cy="177800"/>
          </a:xfrm>
          <a:prstGeom prst="rect">
            <a:avLst/>
          </a:prstGeom>
        </p:spPr>
      </p:pic>
      <p:pic>
        <p:nvPicPr>
          <p:cNvPr id="14" name="Image 2" descr="preencoded.png">    </p:cNvPr>
          <p:cNvPicPr>
            <a:picLocks noChangeAspect="1"/>
          </p:cNvPicPr>
          <p:nvPr/>
        </p:nvPicPr>
        <p:blipFill>
          <a:blip r:embed="rId3"/>
          <a:stretch>
            <a:fillRect/>
          </a:stretch>
        </p:blipFill>
        <p:spPr>
          <a:xfrm>
            <a:off x="2311400" y="1981200"/>
            <a:ext cx="228600" cy="228600"/>
          </a:xfrm>
          <a:prstGeom prst="rect">
            <a:avLst/>
          </a:prstGeom>
        </p:spPr>
      </p:pic>
      <p:sp>
        <p:nvSpPr>
          <p:cNvPr id="15" name="Shape 10"/>
          <p:cNvSpPr/>
          <p:nvPr/>
        </p:nvSpPr>
        <p:spPr>
          <a:xfrm>
            <a:off x="2616200" y="1524000"/>
            <a:ext cx="1778000" cy="1143000"/>
          </a:xfrm>
          <a:prstGeom prst="roundRect">
            <a:avLst>
              <a:gd name="adj" fmla="val 6400"/>
            </a:avLst>
          </a:prstGeom>
          <a:solidFill>
            <a:srgbClr val="FFFFFF"/>
          </a:solidFill>
          <a:ln w="19050">
            <a:solidFill>
              <a:srgbClr val="D9534F"/>
            </a:solidFill>
            <a:prstDash val="dash"/>
          </a:ln>
        </p:spPr>
      </p:sp>
      <p:sp>
        <p:nvSpPr>
          <p:cNvPr id="16" name="Text 11"/>
          <p:cNvSpPr txBox="1"/>
          <p:nvPr/>
        </p:nvSpPr>
        <p:spPr>
          <a:xfrm>
            <a:off x="2717800" y="1676400"/>
            <a:ext cx="1574800" cy="457200"/>
          </a:xfrm>
          <a:prstGeom prst="rect">
            <a:avLst/>
          </a:prstGeom>
          <a:noFill/>
          <a:ln/>
        </p:spPr>
        <p:txBody>
          <a:bodyPr wrap="square" lIns="0" tIns="0" rIns="0" bIns="0" rtlCol="0" anchor="ctr"/>
          <a:lstStyle/>
          <a:p>
            <a:pPr algn="ctr" indent="0" marL="0">
              <a:buNone/>
            </a:pPr>
            <a:r>
              <a:rPr lang="en-US" sz="1150" b="1" dirty="0">
                <a:solidFill>
                  <a:srgbClr val="222222"/>
                </a:solidFill>
                <a:latin typeface="Noto Sans JP" pitchFamily="34" charset="0"/>
                <a:ea typeface="Noto Sans JP" pitchFamily="34" charset="-122"/>
                <a:cs typeface="Noto Sans JP" pitchFamily="34" charset="-120"/>
              </a:rPr>
              <a:t>経営管理権</a:t>
            </a:r>
            <a:endParaRPr lang="en-US" sz="1150" dirty="0"/>
          </a:p>
          <a:p>
            <a:pPr algn="ctr" indent="0" marL="0">
              <a:buNone/>
            </a:pPr>
            <a:r>
              <a:rPr lang="en-US" sz="1150" b="1" dirty="0">
                <a:solidFill>
                  <a:srgbClr val="222222"/>
                </a:solidFill>
                <a:latin typeface="Noto Sans JP" pitchFamily="34" charset="0"/>
                <a:ea typeface="Noto Sans JP" pitchFamily="34" charset="-122"/>
                <a:cs typeface="Noto Sans JP" pitchFamily="34" charset="-120"/>
              </a:rPr>
              <a:t>集積計画の策定</a:t>
            </a:r>
            <a:endParaRPr lang="en-US" sz="1150" dirty="0"/>
          </a:p>
        </p:txBody>
      </p:sp>
      <p:sp>
        <p:nvSpPr>
          <p:cNvPr id="17" name="Text 12"/>
          <p:cNvSpPr txBox="1"/>
          <p:nvPr/>
        </p:nvSpPr>
        <p:spPr>
          <a:xfrm>
            <a:off x="2717800" y="2159000"/>
            <a:ext cx="1574800" cy="381000"/>
          </a:xfrm>
          <a:prstGeom prst="rect">
            <a:avLst/>
          </a:prstGeom>
          <a:noFill/>
          <a:ln/>
        </p:spPr>
        <p:txBody>
          <a:bodyPr wrap="square" lIns="0" tIns="0" rIns="0" bIns="0" rtlCol="0" anchor="t"/>
          <a:lstStyle/>
          <a:p>
            <a:pPr algn="ctr" indent="0" marL="0">
              <a:buNone/>
            </a:pPr>
            <a:r>
              <a:rPr lang="en-US" sz="850" dirty="0">
                <a:solidFill>
                  <a:srgbClr val="444444"/>
                </a:solidFill>
                <a:latin typeface="Noto Sans JP" pitchFamily="34" charset="0"/>
                <a:ea typeface="Noto Sans JP" pitchFamily="34" charset="-122"/>
                <a:cs typeface="Noto Sans JP" pitchFamily="34" charset="-120"/>
              </a:rPr>
              <a:t>市が所有者から管理を受託</a:t>
            </a:r>
            <a:endParaRPr lang="en-US" sz="850" dirty="0"/>
          </a:p>
        </p:txBody>
      </p:sp>
      <p:sp>
        <p:nvSpPr>
          <p:cNvPr id="18" name="Shape 13"/>
          <p:cNvSpPr/>
          <p:nvPr/>
        </p:nvSpPr>
        <p:spPr>
          <a:xfrm>
            <a:off x="3327400" y="1346200"/>
            <a:ext cx="355600" cy="355600"/>
          </a:xfrm>
          <a:prstGeom prst="ellipse">
            <a:avLst/>
          </a:prstGeom>
          <a:solidFill>
            <a:srgbClr val="D9534F"/>
          </a:solidFill>
          <a:ln w="19050">
            <a:solidFill>
              <a:srgbClr val="D9534F"/>
            </a:solidFill>
            <a:prstDash val="solid"/>
          </a:ln>
        </p:spPr>
      </p:sp>
      <p:pic>
        <p:nvPicPr>
          <p:cNvPr id="19" name="Image 3" descr="preencoded.png">    </p:cNvPr>
          <p:cNvPicPr>
            <a:picLocks noChangeAspect="1"/>
          </p:cNvPicPr>
          <p:nvPr/>
        </p:nvPicPr>
        <p:blipFill>
          <a:blip r:embed="rId4"/>
          <a:stretch>
            <a:fillRect/>
          </a:stretch>
        </p:blipFill>
        <p:spPr>
          <a:xfrm>
            <a:off x="3416300" y="1435100"/>
            <a:ext cx="177800" cy="177800"/>
          </a:xfrm>
          <a:prstGeom prst="rect">
            <a:avLst/>
          </a:prstGeom>
        </p:spPr>
      </p:pic>
      <p:pic>
        <p:nvPicPr>
          <p:cNvPr id="20" name="Image 4" descr="preencoded.png">    </p:cNvPr>
          <p:cNvPicPr>
            <a:picLocks noChangeAspect="1"/>
          </p:cNvPicPr>
          <p:nvPr/>
        </p:nvPicPr>
        <p:blipFill>
          <a:blip r:embed="rId5"/>
          <a:stretch>
            <a:fillRect/>
          </a:stretch>
        </p:blipFill>
        <p:spPr>
          <a:xfrm>
            <a:off x="4470400" y="1981200"/>
            <a:ext cx="228600" cy="228600"/>
          </a:xfrm>
          <a:prstGeom prst="rect">
            <a:avLst/>
          </a:prstGeom>
        </p:spPr>
      </p:pic>
      <p:sp>
        <p:nvSpPr>
          <p:cNvPr id="21" name="Shape 14"/>
          <p:cNvSpPr/>
          <p:nvPr/>
        </p:nvSpPr>
        <p:spPr>
          <a:xfrm>
            <a:off x="4775200" y="1524000"/>
            <a:ext cx="1828800" cy="1143000"/>
          </a:xfrm>
          <a:prstGeom prst="roundRect">
            <a:avLst>
              <a:gd name="adj" fmla="val 6400"/>
            </a:avLst>
          </a:prstGeom>
          <a:solidFill>
            <a:srgbClr val="FFFFFF"/>
          </a:solidFill>
          <a:ln w="19050">
            <a:solidFill>
              <a:srgbClr val="D9534F"/>
            </a:solidFill>
            <a:prstDash val="dash"/>
          </a:ln>
        </p:spPr>
      </p:sp>
      <p:sp>
        <p:nvSpPr>
          <p:cNvPr id="22" name="Text 15"/>
          <p:cNvSpPr txBox="1"/>
          <p:nvPr/>
        </p:nvSpPr>
        <p:spPr>
          <a:xfrm>
            <a:off x="4876800" y="1676400"/>
            <a:ext cx="1625600" cy="457200"/>
          </a:xfrm>
          <a:prstGeom prst="rect">
            <a:avLst/>
          </a:prstGeom>
          <a:noFill/>
          <a:ln/>
        </p:spPr>
        <p:txBody>
          <a:bodyPr wrap="square" lIns="0" tIns="0" rIns="0" bIns="0" rtlCol="0" anchor="ctr"/>
          <a:lstStyle/>
          <a:p>
            <a:pPr algn="ctr" indent="0" marL="0">
              <a:buNone/>
            </a:pPr>
            <a:r>
              <a:rPr lang="en-US" sz="1150" b="1" dirty="0">
                <a:solidFill>
                  <a:srgbClr val="222222"/>
                </a:solidFill>
                <a:latin typeface="Noto Sans JP" pitchFamily="34" charset="0"/>
                <a:ea typeface="Noto Sans JP" pitchFamily="34" charset="-122"/>
                <a:cs typeface="Noto Sans JP" pitchFamily="34" charset="-120"/>
              </a:rPr>
              <a:t>林業経営者への</a:t>
            </a:r>
            <a:endParaRPr lang="en-US" sz="1150" dirty="0"/>
          </a:p>
          <a:p>
            <a:pPr algn="ctr" indent="0" marL="0">
              <a:buNone/>
            </a:pPr>
            <a:r>
              <a:rPr lang="en-US" sz="1150" b="1" dirty="0">
                <a:solidFill>
                  <a:srgbClr val="222222"/>
                </a:solidFill>
                <a:latin typeface="Noto Sans JP" pitchFamily="34" charset="0"/>
                <a:ea typeface="Noto Sans JP" pitchFamily="34" charset="-122"/>
                <a:cs typeface="Noto Sans JP" pitchFamily="34" charset="-120"/>
              </a:rPr>
              <a:t>再委託</a:t>
            </a:r>
            <a:endParaRPr lang="en-US" sz="1150" dirty="0"/>
          </a:p>
        </p:txBody>
      </p:sp>
      <p:sp>
        <p:nvSpPr>
          <p:cNvPr id="23" name="Text 16"/>
          <p:cNvSpPr txBox="1"/>
          <p:nvPr/>
        </p:nvSpPr>
        <p:spPr>
          <a:xfrm>
            <a:off x="4876800" y="2159000"/>
            <a:ext cx="1625600" cy="381000"/>
          </a:xfrm>
          <a:prstGeom prst="rect">
            <a:avLst/>
          </a:prstGeom>
          <a:noFill/>
          <a:ln/>
        </p:spPr>
        <p:txBody>
          <a:bodyPr wrap="square" lIns="0" tIns="0" rIns="0" bIns="0" rtlCol="0" anchor="t"/>
          <a:lstStyle/>
          <a:p>
            <a:pPr algn="ctr" indent="0" marL="0">
              <a:buNone/>
            </a:pPr>
            <a:r>
              <a:rPr lang="en-US" sz="850" dirty="0">
                <a:solidFill>
                  <a:srgbClr val="444444"/>
                </a:solidFill>
                <a:latin typeface="Noto Sans JP" pitchFamily="34" charset="0"/>
                <a:ea typeface="Noto Sans JP" pitchFamily="34" charset="-122"/>
                <a:cs typeface="Noto Sans JP" pitchFamily="34" charset="-120"/>
              </a:rPr>
              <a:t>経営に適した森林</a:t>
            </a:r>
            <a:endParaRPr lang="en-US" sz="850" dirty="0"/>
          </a:p>
        </p:txBody>
      </p:sp>
      <p:sp>
        <p:nvSpPr>
          <p:cNvPr id="24" name="Shape 17"/>
          <p:cNvSpPr/>
          <p:nvPr/>
        </p:nvSpPr>
        <p:spPr>
          <a:xfrm>
            <a:off x="5511800" y="1346200"/>
            <a:ext cx="355600" cy="355600"/>
          </a:xfrm>
          <a:prstGeom prst="ellipse">
            <a:avLst/>
          </a:prstGeom>
          <a:solidFill>
            <a:srgbClr val="D9534F"/>
          </a:solidFill>
          <a:ln w="19050">
            <a:solidFill>
              <a:srgbClr val="D9534F"/>
            </a:solidFill>
            <a:prstDash val="solid"/>
          </a:ln>
        </p:spPr>
      </p:sp>
      <p:pic>
        <p:nvPicPr>
          <p:cNvPr id="25" name="Image 5" descr="preencoded.png">    </p:cNvPr>
          <p:cNvPicPr>
            <a:picLocks noChangeAspect="1"/>
          </p:cNvPicPr>
          <p:nvPr/>
        </p:nvPicPr>
        <p:blipFill>
          <a:blip r:embed="rId6"/>
          <a:stretch>
            <a:fillRect/>
          </a:stretch>
        </p:blipFill>
        <p:spPr>
          <a:xfrm>
            <a:off x="5600700" y="1435100"/>
            <a:ext cx="177800" cy="177800"/>
          </a:xfrm>
          <a:prstGeom prst="rect">
            <a:avLst/>
          </a:prstGeom>
        </p:spPr>
      </p:pic>
      <p:sp>
        <p:nvSpPr>
          <p:cNvPr id="26" name="Shape 18"/>
          <p:cNvSpPr/>
          <p:nvPr/>
        </p:nvSpPr>
        <p:spPr>
          <a:xfrm>
            <a:off x="6934200" y="1524000"/>
            <a:ext cx="1828800" cy="1143000"/>
          </a:xfrm>
          <a:prstGeom prst="roundRect">
            <a:avLst>
              <a:gd name="adj" fmla="val 6400"/>
            </a:avLst>
          </a:prstGeom>
          <a:solidFill>
            <a:srgbClr val="FFFFFF"/>
          </a:solidFill>
          <a:ln w="19050">
            <a:solidFill>
              <a:srgbClr val="D9534F"/>
            </a:solidFill>
            <a:prstDash val="dash"/>
          </a:ln>
        </p:spPr>
      </p:sp>
      <p:sp>
        <p:nvSpPr>
          <p:cNvPr id="27" name="Text 19"/>
          <p:cNvSpPr txBox="1"/>
          <p:nvPr/>
        </p:nvSpPr>
        <p:spPr>
          <a:xfrm>
            <a:off x="7035800" y="1676400"/>
            <a:ext cx="1625600" cy="457200"/>
          </a:xfrm>
          <a:prstGeom prst="rect">
            <a:avLst/>
          </a:prstGeom>
          <a:noFill/>
          <a:ln/>
        </p:spPr>
        <p:txBody>
          <a:bodyPr wrap="square" lIns="0" tIns="0" rIns="0" bIns="0" rtlCol="0" anchor="ctr"/>
          <a:lstStyle/>
          <a:p>
            <a:pPr algn="ctr" indent="0" marL="0">
              <a:buNone/>
            </a:pPr>
            <a:r>
              <a:rPr lang="en-US" sz="1150" b="1" dirty="0">
                <a:solidFill>
                  <a:srgbClr val="222222"/>
                </a:solidFill>
                <a:latin typeface="Noto Sans JP" pitchFamily="34" charset="0"/>
                <a:ea typeface="Noto Sans JP" pitchFamily="34" charset="-122"/>
                <a:cs typeface="Noto Sans JP" pitchFamily="34" charset="-120"/>
              </a:rPr>
              <a:t>市町村による</a:t>
            </a:r>
            <a:endParaRPr lang="en-US" sz="1150" dirty="0"/>
          </a:p>
          <a:p>
            <a:pPr algn="ctr" indent="0" marL="0">
              <a:buNone/>
            </a:pPr>
            <a:r>
              <a:rPr lang="en-US" sz="1150" b="1" dirty="0">
                <a:solidFill>
                  <a:srgbClr val="222222"/>
                </a:solidFill>
                <a:latin typeface="Noto Sans JP" pitchFamily="34" charset="0"/>
                <a:ea typeface="Noto Sans JP" pitchFamily="34" charset="-122"/>
                <a:cs typeface="Noto Sans JP" pitchFamily="34" charset="-120"/>
              </a:rPr>
              <a:t>森林整備</a:t>
            </a:r>
            <a:endParaRPr lang="en-US" sz="1150" dirty="0"/>
          </a:p>
        </p:txBody>
      </p:sp>
      <p:sp>
        <p:nvSpPr>
          <p:cNvPr id="28" name="Text 20"/>
          <p:cNvSpPr txBox="1"/>
          <p:nvPr/>
        </p:nvSpPr>
        <p:spPr>
          <a:xfrm>
            <a:off x="7035800" y="2159000"/>
            <a:ext cx="1625600" cy="381000"/>
          </a:xfrm>
          <a:prstGeom prst="rect">
            <a:avLst/>
          </a:prstGeom>
          <a:noFill/>
          <a:ln/>
        </p:spPr>
        <p:txBody>
          <a:bodyPr wrap="square" lIns="0" tIns="0" rIns="0" bIns="0" rtlCol="0" anchor="t"/>
          <a:lstStyle/>
          <a:p>
            <a:pPr algn="ctr" indent="0" marL="0">
              <a:buNone/>
            </a:pPr>
            <a:r>
              <a:rPr lang="en-US" sz="850" dirty="0">
                <a:solidFill>
                  <a:srgbClr val="444444"/>
                </a:solidFill>
                <a:latin typeface="Noto Sans JP" pitchFamily="34" charset="0"/>
                <a:ea typeface="Noto Sans JP" pitchFamily="34" charset="-122"/>
                <a:cs typeface="Noto Sans JP" pitchFamily="34" charset="-120"/>
              </a:rPr>
              <a:t>経営に適さない森林</a:t>
            </a:r>
            <a:endParaRPr lang="en-US" sz="850" dirty="0"/>
          </a:p>
        </p:txBody>
      </p:sp>
      <p:sp>
        <p:nvSpPr>
          <p:cNvPr id="29" name="Shape 21"/>
          <p:cNvSpPr/>
          <p:nvPr/>
        </p:nvSpPr>
        <p:spPr>
          <a:xfrm>
            <a:off x="7670800" y="1346200"/>
            <a:ext cx="355600" cy="355600"/>
          </a:xfrm>
          <a:prstGeom prst="ellipse">
            <a:avLst/>
          </a:prstGeom>
          <a:solidFill>
            <a:srgbClr val="D9534F"/>
          </a:solidFill>
          <a:ln w="19050">
            <a:solidFill>
              <a:srgbClr val="D9534F"/>
            </a:solidFill>
            <a:prstDash val="solid"/>
          </a:ln>
        </p:spPr>
      </p:sp>
      <p:pic>
        <p:nvPicPr>
          <p:cNvPr id="30" name="Image 6" descr="preencoded.png">    </p:cNvPr>
          <p:cNvPicPr>
            <a:picLocks noChangeAspect="1"/>
          </p:cNvPicPr>
          <p:nvPr/>
        </p:nvPicPr>
        <p:blipFill>
          <a:blip r:embed="rId7"/>
          <a:stretch>
            <a:fillRect/>
          </a:stretch>
        </p:blipFill>
        <p:spPr>
          <a:xfrm>
            <a:off x="7759700" y="1435100"/>
            <a:ext cx="177800" cy="177800"/>
          </a:xfrm>
          <a:prstGeom prst="rect">
            <a:avLst/>
          </a:prstGeom>
        </p:spPr>
      </p:pic>
      <p:sp>
        <p:nvSpPr>
          <p:cNvPr id="31" name="Text 22"/>
          <p:cNvSpPr txBox="1"/>
          <p:nvPr/>
        </p:nvSpPr>
        <p:spPr>
          <a:xfrm>
            <a:off x="6604000" y="1981200"/>
            <a:ext cx="330200" cy="228600"/>
          </a:xfrm>
          <a:prstGeom prst="rect">
            <a:avLst/>
          </a:prstGeom>
          <a:noFill/>
          <a:ln/>
        </p:spPr>
        <p:txBody>
          <a:bodyPr wrap="square" lIns="0" tIns="0" rIns="0" bIns="0" rtlCol="0" anchor="t"/>
          <a:lstStyle/>
          <a:p>
            <a:pPr algn="ctr" indent="0" marL="0">
              <a:buNone/>
            </a:pPr>
            <a:r>
              <a:rPr lang="en-US" sz="1400" dirty="0">
                <a:solidFill>
                  <a:srgbClr val="757575"/>
                </a:solidFill>
                <a:latin typeface="Noto Sans JP" pitchFamily="34" charset="0"/>
                <a:ea typeface="Noto Sans JP" pitchFamily="34" charset="-122"/>
                <a:cs typeface="Noto Sans JP" pitchFamily="34" charset="-120"/>
              </a:rPr>
              <a:t>／</a:t>
            </a:r>
            <a:endParaRPr lang="en-US" sz="1400" dirty="0"/>
          </a:p>
        </p:txBody>
      </p:sp>
      <p:sp>
        <p:nvSpPr>
          <p:cNvPr id="32" name="Shape 23"/>
          <p:cNvSpPr/>
          <p:nvPr/>
        </p:nvSpPr>
        <p:spPr>
          <a:xfrm>
            <a:off x="457200" y="2997200"/>
            <a:ext cx="8305800" cy="1168400"/>
          </a:xfrm>
          <a:prstGeom prst="rect">
            <a:avLst/>
          </a:prstGeom>
          <a:solidFill>
            <a:srgbClr val="E8F5EF"/>
          </a:solidFill>
          <a:ln/>
        </p:spPr>
      </p:sp>
      <p:sp>
        <p:nvSpPr>
          <p:cNvPr id="33" name="Text 24"/>
          <p:cNvSpPr txBox="1"/>
          <p:nvPr/>
        </p:nvSpPr>
        <p:spPr>
          <a:xfrm>
            <a:off x="660400" y="3124200"/>
            <a:ext cx="2540000" cy="203200"/>
          </a:xfrm>
          <a:prstGeom prst="rect">
            <a:avLst/>
          </a:prstGeom>
          <a:noFill/>
          <a:ln/>
        </p:spPr>
        <p:txBody>
          <a:bodyPr wrap="square" lIns="0" tIns="0" rIns="0" bIns="0" rtlCol="0" anchor="t"/>
          <a:lstStyle/>
          <a:p>
            <a:pPr indent="0" marL="0">
              <a:buNone/>
            </a:pPr>
            <a:r>
              <a:rPr lang="en-US" sz="1100" b="1" dirty="0">
                <a:solidFill>
                  <a:srgbClr val="16816D"/>
                </a:solidFill>
                <a:latin typeface="Noto Sans JP" pitchFamily="34" charset="0"/>
                <a:ea typeface="Noto Sans JP" pitchFamily="34" charset="-122"/>
                <a:cs typeface="Noto Sans JP" pitchFamily="34" charset="-120"/>
              </a:rPr>
              <a:t>ボトルネック</a:t>
            </a:r>
            <a:endParaRPr lang="en-US" sz="1100" dirty="0"/>
          </a:p>
        </p:txBody>
      </p:sp>
      <p:sp>
        <p:nvSpPr>
          <p:cNvPr id="34" name="Text 25"/>
          <p:cNvSpPr txBox="1"/>
          <p:nvPr/>
        </p:nvSpPr>
        <p:spPr>
          <a:xfrm>
            <a:off x="660400" y="3378200"/>
            <a:ext cx="7924800" cy="736600"/>
          </a:xfrm>
          <a:prstGeom prst="rect">
            <a:avLst/>
          </a:prstGeom>
          <a:noFill/>
          <a:ln/>
        </p:spPr>
        <p:txBody>
          <a:bodyPr wrap="square" lIns="0" tIns="0" rIns="0" bIns="0" rtlCol="0" anchor="t"/>
          <a:lstStyle/>
          <a:p>
            <a:pPr marL="139700" indent="-139700">
              <a:spcAft>
                <a:spcPts val="300"/>
              </a:spcAft>
              <a:buSzPct val="100000"/>
              <a:buChar char="•"/>
            </a:pPr>
            <a:r>
              <a:rPr lang="en-US" sz="1000" dirty="0">
                <a:solidFill>
                  <a:srgbClr val="444444"/>
                </a:solidFill>
                <a:latin typeface="Noto Sans JP" pitchFamily="34" charset="0"/>
                <a:ea typeface="Noto Sans JP" pitchFamily="34" charset="-122"/>
                <a:cs typeface="Noto Sans JP" pitchFamily="34" charset="-120"/>
              </a:rPr>
              <a:t>集積計画の策定には、所有者探索・境界確認・合意形成など、現場に張り付く実務が必要</a:t>
            </a:r>
            <a:endParaRPr lang="en-US" sz="1000" dirty="0"/>
          </a:p>
          <a:p>
            <a:pPr marL="139700" indent="-139700">
              <a:spcAft>
                <a:spcPts val="300"/>
              </a:spcAft>
              <a:buSzPct val="100000"/>
              <a:buChar char="•"/>
            </a:pPr>
            <a:r>
              <a:rPr lang="en-US" sz="1000" dirty="0">
                <a:solidFill>
                  <a:srgbClr val="444444"/>
                </a:solidFill>
                <a:latin typeface="Noto Sans JP" pitchFamily="34" charset="0"/>
                <a:ea typeface="Noto Sans JP" pitchFamily="34" charset="-122"/>
                <a:cs typeface="Noto Sans JP" pitchFamily="34" charset="-120"/>
              </a:rPr>
              <a:t>市の担当体制だけでは手が回らず、受け手となる林業経営体とのマッチングも進んでいない</a:t>
            </a:r>
            <a:endParaRPr lang="en-US" sz="1000" dirty="0"/>
          </a:p>
          <a:p>
            <a:pPr marL="139700" indent="-139700">
              <a:spcAft>
                <a:spcPts val="300"/>
              </a:spcAft>
              <a:buSzPct val="100000"/>
              <a:buChar char="•"/>
            </a:pPr>
            <a:r>
              <a:rPr lang="en-US" sz="1000" b="1" dirty="0">
                <a:solidFill>
                  <a:srgbClr val="16816D"/>
                </a:solidFill>
                <a:latin typeface="Noto Sans JP" pitchFamily="34" charset="0"/>
                <a:ea typeface="Noto Sans JP" pitchFamily="34" charset="-122"/>
                <a:cs typeface="Noto Sans JP" pitchFamily="34" charset="-120"/>
              </a:rPr>
              <a:t>→ 集約化と施業をつなぐ「コーディネート役」がいれば、制度を次の段階へ進められる</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tmp/claude-0/-home-user--/135b95b8-9a7c-5e2e-abb3-3369b8f4d943/scratchpad/assets/logo_dark.png">    </p:cNvPr>
          <p:cNvPicPr>
            <a:picLocks noChangeAspect="1"/>
          </p:cNvPicPr>
          <p:nvPr/>
        </p:nvPicPr>
        <p:blipFill>
          <a:blip r:embed="rId1"/>
          <a:stretch>
            <a:fillRect/>
          </a:stretch>
        </p:blipFill>
        <p:spPr>
          <a:xfrm>
            <a:off x="355600" y="160020"/>
            <a:ext cx="558800" cy="254000"/>
          </a:xfrm>
          <a:prstGeom prst="rect">
            <a:avLst/>
          </a:prstGeom>
        </p:spPr>
      </p:pic>
      <p:sp>
        <p:nvSpPr>
          <p:cNvPr id="3" name="Text 0"/>
          <p:cNvSpPr txBox="1"/>
          <p:nvPr/>
        </p:nvSpPr>
        <p:spPr>
          <a:xfrm>
            <a:off x="1397000" y="127000"/>
            <a:ext cx="6350000" cy="304800"/>
          </a:xfrm>
          <a:prstGeom prst="rect">
            <a:avLst/>
          </a:prstGeom>
          <a:noFill/>
          <a:ln/>
        </p:spPr>
        <p:txBody>
          <a:bodyPr wrap="square" lIns="0" tIns="0" rIns="0" bIns="0" rtlCol="0" anchor="ctr"/>
          <a:lstStyle/>
          <a:p>
            <a:pPr algn="ctr" indent="0" marL="0">
              <a:buNone/>
            </a:pPr>
            <a:r>
              <a:rPr lang="en-US" sz="1500" b="1" dirty="0">
                <a:solidFill>
                  <a:srgbClr val="222222"/>
                </a:solidFill>
                <a:latin typeface="Noto Sans JP" pitchFamily="34" charset="0"/>
                <a:ea typeface="Noto Sans JP" pitchFamily="34" charset="-122"/>
                <a:cs typeface="Noto Sans JP" pitchFamily="34" charset="-120"/>
              </a:rPr>
              <a:t>課題⑤ 林道整備の遅れ</a:t>
            </a:r>
            <a:endParaRPr lang="en-US" sz="1500" dirty="0"/>
          </a:p>
        </p:txBody>
      </p:sp>
      <p:sp>
        <p:nvSpPr>
          <p:cNvPr id="4" name="Shape 1"/>
          <p:cNvSpPr/>
          <p:nvPr/>
        </p:nvSpPr>
        <p:spPr>
          <a:xfrm>
            <a:off x="0" y="539750"/>
            <a:ext cx="9144000" cy="0"/>
          </a:xfrm>
          <a:prstGeom prst="line">
            <a:avLst/>
          </a:prstGeom>
          <a:noFill/>
          <a:ln w="9525">
            <a:solidFill>
              <a:srgbClr val="999999"/>
            </a:solidFill>
            <a:prstDash val="solid"/>
          </a:ln>
        </p:spPr>
      </p:sp>
      <p:sp>
        <p:nvSpPr>
          <p:cNvPr id="5" name="Shape 2"/>
          <p:cNvSpPr/>
          <p:nvPr/>
        </p:nvSpPr>
        <p:spPr>
          <a:xfrm>
            <a:off x="88900" y="4876800"/>
            <a:ext cx="723900" cy="165100"/>
          </a:xfrm>
          <a:prstGeom prst="rect">
            <a:avLst/>
          </a:prstGeom>
          <a:solidFill>
            <a:srgbClr val="FFFFFF"/>
          </a:solidFill>
          <a:ln w="6350">
            <a:solidFill>
              <a:srgbClr val="B2B2B2"/>
            </a:solidFill>
            <a:prstDash val="solid"/>
          </a:ln>
        </p:spPr>
      </p:sp>
      <p:sp>
        <p:nvSpPr>
          <p:cNvPr id="6" name="Text 3"/>
          <p:cNvSpPr txBox="1"/>
          <p:nvPr/>
        </p:nvSpPr>
        <p:spPr>
          <a:xfrm>
            <a:off x="88900" y="4876800"/>
            <a:ext cx="723900" cy="165100"/>
          </a:xfrm>
          <a:prstGeom prst="rect">
            <a:avLst/>
          </a:prstGeom>
          <a:noFill/>
          <a:ln/>
        </p:spPr>
        <p:txBody>
          <a:bodyPr wrap="square" lIns="0" tIns="0" rIns="0" bIns="0" rtlCol="0" anchor="ctr"/>
          <a:lstStyle/>
          <a:p>
            <a:pPr algn="ctr" indent="0" marL="0">
              <a:buNone/>
            </a:pPr>
            <a:r>
              <a:rPr lang="en-US" sz="700" dirty="0">
                <a:solidFill>
                  <a:srgbClr val="757575"/>
                </a:solidFill>
                <a:latin typeface="Arial" pitchFamily="34" charset="0"/>
                <a:ea typeface="Arial" pitchFamily="34" charset="-122"/>
                <a:cs typeface="Arial" pitchFamily="34" charset="-120"/>
              </a:rPr>
              <a:t>confidential</a:t>
            </a:r>
            <a:endParaRPr lang="en-US" sz="700" dirty="0"/>
          </a:p>
        </p:txBody>
      </p:sp>
      <p:sp>
        <p:nvSpPr>
          <p:cNvPr id="7" name="Text 4"/>
          <p:cNvSpPr txBox="1"/>
          <p:nvPr/>
        </p:nvSpPr>
        <p:spPr>
          <a:xfrm>
            <a:off x="8509000" y="4826000"/>
            <a:ext cx="533400" cy="203200"/>
          </a:xfrm>
          <a:prstGeom prst="rect">
            <a:avLst/>
          </a:prstGeom>
          <a:noFill/>
          <a:ln/>
        </p:spPr>
        <p:txBody>
          <a:bodyPr wrap="square" lIns="0" tIns="0" rIns="0" bIns="0" rtlCol="0" anchor="t"/>
          <a:lstStyle/>
          <a:p>
            <a:pPr algn="r" indent="0" marL="0">
              <a:buNone/>
            </a:pPr>
            <a:r>
              <a:rPr lang="en-US" sz="1100" dirty="0">
                <a:solidFill>
                  <a:srgbClr val="757575"/>
                </a:solidFill>
                <a:latin typeface="Noto Sans JP" pitchFamily="34" charset="0"/>
                <a:ea typeface="Noto Sans JP" pitchFamily="34" charset="-122"/>
                <a:cs typeface="Noto Sans JP" pitchFamily="34" charset="-120"/>
              </a:rPr>
              <a:t>11</a:t>
            </a:r>
            <a:endParaRPr lang="en-US" sz="1100" dirty="0"/>
          </a:p>
        </p:txBody>
      </p:sp>
      <p:sp>
        <p:nvSpPr>
          <p:cNvPr id="8" name="Text 5"/>
          <p:cNvSpPr txBox="1"/>
          <p:nvPr/>
        </p:nvSpPr>
        <p:spPr>
          <a:xfrm>
            <a:off x="457200" y="685800"/>
            <a:ext cx="8229600" cy="508000"/>
          </a:xfrm>
          <a:prstGeom prst="rect">
            <a:avLst/>
          </a:prstGeom>
          <a:noFill/>
          <a:ln/>
        </p:spPr>
        <p:txBody>
          <a:bodyPr wrap="square" lIns="0" tIns="0" rIns="0" bIns="0" rtlCol="0" anchor="ctr"/>
          <a:lstStyle/>
          <a:p>
            <a:pPr indent="0" marL="0">
              <a:buNone/>
            </a:pPr>
            <a:r>
              <a:rPr lang="en-US" sz="1300" b="1" dirty="0">
                <a:solidFill>
                  <a:srgbClr val="16816D"/>
                </a:solidFill>
                <a:latin typeface="Noto Sans JP" pitchFamily="34" charset="0"/>
                <a:ea typeface="Noto Sans JP" pitchFamily="34" charset="-122"/>
                <a:cs typeface="Noto Sans JP" pitchFamily="34" charset="-120"/>
              </a:rPr>
              <a:t>民有林6,651haに対する八王子市の林道密度は5.5m/haで、多摩地域の最低水準。今後の計画延長も400mしか残っていません。</a:t>
            </a:r>
            <a:endParaRPr lang="en-US" sz="1300" dirty="0"/>
          </a:p>
        </p:txBody>
      </p:sp>
      <p:graphicFrame>
        <p:nvGraphicFramePr>
          <p:cNvPr id="9" name="Chart 0" descr=""/>
          <p:cNvGraphicFramePr/>
          <p:nvPr/>
        </p:nvGraphicFramePr>
        <p:xfrm>
          <a:off x="381000" y="1219200"/>
          <a:ext cx="4826000" cy="3175000"/>
        </p:xfrm>
        <a:graphic xmlns:a="http://schemas.openxmlformats.org/drawingml/2006/main">
          <a:graphicData uri="http://schemas.openxmlformats.org/drawingml/2006/chart">
            <c:chart xmlns:c="http://schemas.openxmlformats.org/drawingml/2006/chart" r:id="rId2"/>
          </a:graphicData>
        </a:graphic>
      </p:graphicFrame>
      <p:sp>
        <p:nvSpPr>
          <p:cNvPr id="10" name="Text 6"/>
          <p:cNvSpPr txBox="1"/>
          <p:nvPr/>
        </p:nvSpPr>
        <p:spPr>
          <a:xfrm>
            <a:off x="5461000" y="1270000"/>
            <a:ext cx="3327400" cy="177800"/>
          </a:xfrm>
          <a:prstGeom prst="rect">
            <a:avLst/>
          </a:prstGeom>
          <a:noFill/>
          <a:ln/>
        </p:spPr>
        <p:txBody>
          <a:bodyPr wrap="square" lIns="0" tIns="0" rIns="0" bIns="0" rtlCol="0" anchor="t"/>
          <a:lstStyle/>
          <a:p>
            <a:pPr indent="0" marL="0">
              <a:buNone/>
            </a:pPr>
            <a:r>
              <a:rPr lang="en-US" sz="950" b="1" dirty="0">
                <a:solidFill>
                  <a:srgbClr val="222222"/>
                </a:solidFill>
                <a:latin typeface="Noto Sans JP" pitchFamily="34" charset="0"/>
                <a:ea typeface="Noto Sans JP" pitchFamily="34" charset="-122"/>
                <a:cs typeface="Noto Sans JP" pitchFamily="34" charset="-120"/>
              </a:rPr>
              <a:t>対象となる森林：八王子市の森林 7,833ha のうち民有林</a:t>
            </a:r>
            <a:endParaRPr lang="en-US" sz="950" dirty="0"/>
          </a:p>
        </p:txBody>
      </p:sp>
      <p:sp>
        <p:nvSpPr>
          <p:cNvPr id="11" name="Shape 7"/>
          <p:cNvSpPr/>
          <p:nvPr/>
        </p:nvSpPr>
        <p:spPr>
          <a:xfrm>
            <a:off x="5461000" y="1498600"/>
            <a:ext cx="2825295" cy="304800"/>
          </a:xfrm>
          <a:prstGeom prst="rect">
            <a:avLst/>
          </a:prstGeom>
          <a:solidFill>
            <a:srgbClr val="1F9970"/>
          </a:solidFill>
          <a:ln/>
        </p:spPr>
      </p:sp>
      <p:sp>
        <p:nvSpPr>
          <p:cNvPr id="12" name="Shape 8"/>
          <p:cNvSpPr/>
          <p:nvPr/>
        </p:nvSpPr>
        <p:spPr>
          <a:xfrm>
            <a:off x="8286295" y="1498600"/>
            <a:ext cx="502105" cy="304800"/>
          </a:xfrm>
          <a:prstGeom prst="rect">
            <a:avLst/>
          </a:prstGeom>
          <a:solidFill>
            <a:srgbClr val="D0D0D0"/>
          </a:solidFill>
          <a:ln/>
        </p:spPr>
      </p:sp>
      <p:sp>
        <p:nvSpPr>
          <p:cNvPr id="13" name="Text 9"/>
          <p:cNvSpPr txBox="1"/>
          <p:nvPr/>
        </p:nvSpPr>
        <p:spPr>
          <a:xfrm>
            <a:off x="5537200" y="1498600"/>
            <a:ext cx="2723695" cy="304800"/>
          </a:xfrm>
          <a:prstGeom prst="rect">
            <a:avLst/>
          </a:prstGeom>
          <a:noFill/>
          <a:ln/>
        </p:spPr>
        <p:txBody>
          <a:bodyPr wrap="square" lIns="0" tIns="0" rIns="0" bIns="0" rtlCol="0" anchor="ctr"/>
          <a:lstStyle/>
          <a:p>
            <a:pPr indent="0" marL="0">
              <a:buNone/>
            </a:pPr>
            <a:r>
              <a:rPr lang="en-US" sz="900" b="1" dirty="0">
                <a:solidFill>
                  <a:srgbClr val="FFFFFF"/>
                </a:solidFill>
                <a:latin typeface="Noto Sans JP" pitchFamily="34" charset="0"/>
                <a:ea typeface="Noto Sans JP" pitchFamily="34" charset="-122"/>
                <a:cs typeface="Noto Sans JP" pitchFamily="34" charset="-120"/>
              </a:rPr>
              <a:t>民有林 6,651ha（対象）</a:t>
            </a:r>
            <a:endParaRPr lang="en-US" sz="900" dirty="0"/>
          </a:p>
        </p:txBody>
      </p:sp>
      <p:sp>
        <p:nvSpPr>
          <p:cNvPr id="14" name="Text 10"/>
          <p:cNvSpPr txBox="1"/>
          <p:nvPr/>
        </p:nvSpPr>
        <p:spPr>
          <a:xfrm>
            <a:off x="8286295" y="1498600"/>
            <a:ext cx="502105" cy="304800"/>
          </a:xfrm>
          <a:prstGeom prst="rect">
            <a:avLst/>
          </a:prstGeom>
          <a:noFill/>
          <a:ln/>
        </p:spPr>
        <p:txBody>
          <a:bodyPr wrap="square" lIns="0" tIns="0" rIns="0" bIns="0" rtlCol="0" anchor="ctr"/>
          <a:lstStyle/>
          <a:p>
            <a:pPr algn="ctr" indent="0" marL="0">
              <a:buNone/>
            </a:pPr>
            <a:r>
              <a:rPr lang="en-US" sz="650" dirty="0">
                <a:solidFill>
                  <a:srgbClr val="444444"/>
                </a:solidFill>
                <a:latin typeface="Noto Sans JP" pitchFamily="34" charset="0"/>
                <a:ea typeface="Noto Sans JP" pitchFamily="34" charset="-122"/>
                <a:cs typeface="Noto Sans JP" pitchFamily="34" charset="-120"/>
              </a:rPr>
              <a:t>国有林等</a:t>
            </a:r>
            <a:endParaRPr lang="en-US" sz="650" dirty="0"/>
          </a:p>
          <a:p>
            <a:pPr algn="ctr" indent="0" marL="0">
              <a:buNone/>
            </a:pPr>
            <a:r>
              <a:rPr lang="en-US" sz="650" dirty="0">
                <a:solidFill>
                  <a:srgbClr val="444444"/>
                </a:solidFill>
                <a:latin typeface="Noto Sans JP" pitchFamily="34" charset="0"/>
                <a:ea typeface="Noto Sans JP" pitchFamily="34" charset="-122"/>
                <a:cs typeface="Noto Sans JP" pitchFamily="34" charset="-120"/>
              </a:rPr>
              <a:t>1,182ha</a:t>
            </a:r>
            <a:endParaRPr lang="en-US" sz="650" dirty="0"/>
          </a:p>
        </p:txBody>
      </p:sp>
      <p:sp>
        <p:nvSpPr>
          <p:cNvPr id="15" name="Text 11"/>
          <p:cNvSpPr txBox="1"/>
          <p:nvPr/>
        </p:nvSpPr>
        <p:spPr>
          <a:xfrm>
            <a:off x="5461000" y="1841500"/>
            <a:ext cx="3327400" cy="304800"/>
          </a:xfrm>
          <a:prstGeom prst="rect">
            <a:avLst/>
          </a:prstGeom>
          <a:noFill/>
          <a:ln/>
        </p:spPr>
        <p:txBody>
          <a:bodyPr wrap="square" lIns="0" tIns="0" rIns="0" bIns="0" rtlCol="0" anchor="t"/>
          <a:lstStyle/>
          <a:p>
            <a:pPr indent="0" marL="0">
              <a:buNone/>
            </a:pPr>
            <a:r>
              <a:rPr lang="en-US" sz="800" dirty="0">
                <a:solidFill>
                  <a:srgbClr val="444444"/>
                </a:solidFill>
                <a:latin typeface="Noto Sans JP" pitchFamily="34" charset="0"/>
                <a:ea typeface="Noto Sans JP" pitchFamily="34" charset="-122"/>
                <a:cs typeface="Noto Sans JP" pitchFamily="34" charset="-120"/>
              </a:rPr>
              <a:t>民有林＝私有林＋都有林・市有林等の公有林。国有林（高尾山周辺等）は含みません。</a:t>
            </a:r>
            <a:endParaRPr lang="en-US" sz="800" dirty="0"/>
          </a:p>
        </p:txBody>
      </p:sp>
      <p:sp>
        <p:nvSpPr>
          <p:cNvPr id="16" name="Shape 12"/>
          <p:cNvSpPr/>
          <p:nvPr/>
        </p:nvSpPr>
        <p:spPr>
          <a:xfrm>
            <a:off x="5461000" y="2235200"/>
            <a:ext cx="1016000" cy="584200"/>
          </a:xfrm>
          <a:prstGeom prst="rect">
            <a:avLst/>
          </a:prstGeom>
          <a:solidFill>
            <a:srgbClr val="F4F4F4"/>
          </a:solidFill>
          <a:ln/>
        </p:spPr>
      </p:sp>
      <p:sp>
        <p:nvSpPr>
          <p:cNvPr id="17" name="Text 13"/>
          <p:cNvSpPr txBox="1"/>
          <p:nvPr/>
        </p:nvSpPr>
        <p:spPr>
          <a:xfrm>
            <a:off x="5461000" y="2286000"/>
            <a:ext cx="1016000" cy="254000"/>
          </a:xfrm>
          <a:prstGeom prst="rect">
            <a:avLst/>
          </a:prstGeom>
          <a:noFill/>
          <a:ln/>
        </p:spPr>
        <p:txBody>
          <a:bodyPr wrap="square" lIns="0" tIns="0" rIns="0" bIns="0" rtlCol="0" anchor="ctr"/>
          <a:lstStyle/>
          <a:p>
            <a:pPr algn="ctr" indent="0" marL="0">
              <a:buNone/>
            </a:pPr>
            <a:r>
              <a:rPr lang="en-US" sz="1200" b="1" dirty="0">
                <a:solidFill>
                  <a:srgbClr val="222222"/>
                </a:solidFill>
                <a:latin typeface="Noto Sans JP" pitchFamily="34" charset="0"/>
                <a:ea typeface="Noto Sans JP" pitchFamily="34" charset="-122"/>
                <a:cs typeface="Noto Sans JP" pitchFamily="34" charset="-120"/>
              </a:rPr>
              <a:t>36,932m</a:t>
            </a:r>
            <a:endParaRPr lang="en-US" sz="1200" dirty="0"/>
          </a:p>
        </p:txBody>
      </p:sp>
      <p:sp>
        <p:nvSpPr>
          <p:cNvPr id="18" name="Text 14"/>
          <p:cNvSpPr txBox="1"/>
          <p:nvPr/>
        </p:nvSpPr>
        <p:spPr>
          <a:xfrm>
            <a:off x="5461000" y="2565400"/>
            <a:ext cx="1016000" cy="177800"/>
          </a:xfrm>
          <a:prstGeom prst="rect">
            <a:avLst/>
          </a:prstGeom>
          <a:noFill/>
          <a:ln/>
        </p:spPr>
        <p:txBody>
          <a:bodyPr wrap="square" lIns="0" tIns="0" rIns="0" bIns="0" rtlCol="0" anchor="t"/>
          <a:lstStyle/>
          <a:p>
            <a:pPr algn="ctr" indent="0" marL="0">
              <a:buNone/>
            </a:pPr>
            <a:r>
              <a:rPr lang="en-US" sz="800" dirty="0">
                <a:solidFill>
                  <a:srgbClr val="444444"/>
                </a:solidFill>
                <a:latin typeface="Noto Sans JP" pitchFamily="34" charset="0"/>
                <a:ea typeface="Noto Sans JP" pitchFamily="34" charset="-122"/>
                <a:cs typeface="Noto Sans JP" pitchFamily="34" charset="-120"/>
              </a:rPr>
              <a:t>全体計画延長</a:t>
            </a:r>
            <a:endParaRPr lang="en-US" sz="800" dirty="0"/>
          </a:p>
        </p:txBody>
      </p:sp>
      <p:sp>
        <p:nvSpPr>
          <p:cNvPr id="19" name="Shape 15"/>
          <p:cNvSpPr/>
          <p:nvPr/>
        </p:nvSpPr>
        <p:spPr>
          <a:xfrm>
            <a:off x="6616700" y="2235200"/>
            <a:ext cx="1016000" cy="584200"/>
          </a:xfrm>
          <a:prstGeom prst="rect">
            <a:avLst/>
          </a:prstGeom>
          <a:solidFill>
            <a:srgbClr val="F4F4F4"/>
          </a:solidFill>
          <a:ln/>
        </p:spPr>
      </p:sp>
      <p:sp>
        <p:nvSpPr>
          <p:cNvPr id="20" name="Text 16"/>
          <p:cNvSpPr txBox="1"/>
          <p:nvPr/>
        </p:nvSpPr>
        <p:spPr>
          <a:xfrm>
            <a:off x="6616700" y="2286000"/>
            <a:ext cx="1016000" cy="254000"/>
          </a:xfrm>
          <a:prstGeom prst="rect">
            <a:avLst/>
          </a:prstGeom>
          <a:noFill/>
          <a:ln/>
        </p:spPr>
        <p:txBody>
          <a:bodyPr wrap="square" lIns="0" tIns="0" rIns="0" bIns="0" rtlCol="0" anchor="ctr"/>
          <a:lstStyle/>
          <a:p>
            <a:pPr algn="ctr" indent="0" marL="0">
              <a:buNone/>
            </a:pPr>
            <a:r>
              <a:rPr lang="en-US" sz="1200" b="1" dirty="0">
                <a:solidFill>
                  <a:srgbClr val="222222"/>
                </a:solidFill>
                <a:latin typeface="Noto Sans JP" pitchFamily="34" charset="0"/>
                <a:ea typeface="Noto Sans JP" pitchFamily="34" charset="-122"/>
                <a:cs typeface="Noto Sans JP" pitchFamily="34" charset="-120"/>
              </a:rPr>
              <a:t>36,532m</a:t>
            </a:r>
            <a:endParaRPr lang="en-US" sz="1200" dirty="0"/>
          </a:p>
        </p:txBody>
      </p:sp>
      <p:sp>
        <p:nvSpPr>
          <p:cNvPr id="21" name="Text 17"/>
          <p:cNvSpPr txBox="1"/>
          <p:nvPr/>
        </p:nvSpPr>
        <p:spPr>
          <a:xfrm>
            <a:off x="6616700" y="2565400"/>
            <a:ext cx="1016000" cy="177800"/>
          </a:xfrm>
          <a:prstGeom prst="rect">
            <a:avLst/>
          </a:prstGeom>
          <a:noFill/>
          <a:ln/>
        </p:spPr>
        <p:txBody>
          <a:bodyPr wrap="square" lIns="0" tIns="0" rIns="0" bIns="0" rtlCol="0" anchor="t"/>
          <a:lstStyle/>
          <a:p>
            <a:pPr algn="ctr" indent="0" marL="0">
              <a:buNone/>
            </a:pPr>
            <a:r>
              <a:rPr lang="en-US" sz="800" dirty="0">
                <a:solidFill>
                  <a:srgbClr val="444444"/>
                </a:solidFill>
                <a:latin typeface="Noto Sans JP" pitchFamily="34" charset="0"/>
                <a:ea typeface="Noto Sans JP" pitchFamily="34" charset="-122"/>
                <a:cs typeface="Noto Sans JP" pitchFamily="34" charset="-120"/>
              </a:rPr>
              <a:t>既設延長</a:t>
            </a:r>
            <a:endParaRPr lang="en-US" sz="800" dirty="0"/>
          </a:p>
        </p:txBody>
      </p:sp>
      <p:sp>
        <p:nvSpPr>
          <p:cNvPr id="22" name="Shape 18"/>
          <p:cNvSpPr/>
          <p:nvPr/>
        </p:nvSpPr>
        <p:spPr>
          <a:xfrm>
            <a:off x="7772400" y="2235200"/>
            <a:ext cx="1016000" cy="584200"/>
          </a:xfrm>
          <a:prstGeom prst="rect">
            <a:avLst/>
          </a:prstGeom>
          <a:solidFill>
            <a:srgbClr val="FBEAEA"/>
          </a:solidFill>
          <a:ln/>
        </p:spPr>
      </p:sp>
      <p:sp>
        <p:nvSpPr>
          <p:cNvPr id="23" name="Text 19"/>
          <p:cNvSpPr txBox="1"/>
          <p:nvPr/>
        </p:nvSpPr>
        <p:spPr>
          <a:xfrm>
            <a:off x="7772400" y="2286000"/>
            <a:ext cx="1016000" cy="254000"/>
          </a:xfrm>
          <a:prstGeom prst="rect">
            <a:avLst/>
          </a:prstGeom>
          <a:noFill/>
          <a:ln/>
        </p:spPr>
        <p:txBody>
          <a:bodyPr wrap="square" lIns="0" tIns="0" rIns="0" bIns="0" rtlCol="0" anchor="ctr"/>
          <a:lstStyle/>
          <a:p>
            <a:pPr algn="ctr" indent="0" marL="0">
              <a:buNone/>
            </a:pPr>
            <a:r>
              <a:rPr lang="en-US" sz="1200" b="1" dirty="0">
                <a:solidFill>
                  <a:srgbClr val="D9534F"/>
                </a:solidFill>
                <a:latin typeface="Noto Sans JP" pitchFamily="34" charset="0"/>
                <a:ea typeface="Noto Sans JP" pitchFamily="34" charset="-122"/>
                <a:cs typeface="Noto Sans JP" pitchFamily="34" charset="-120"/>
              </a:rPr>
              <a:t>400m</a:t>
            </a:r>
            <a:endParaRPr lang="en-US" sz="1200" dirty="0"/>
          </a:p>
        </p:txBody>
      </p:sp>
      <p:sp>
        <p:nvSpPr>
          <p:cNvPr id="24" name="Text 20"/>
          <p:cNvSpPr txBox="1"/>
          <p:nvPr/>
        </p:nvSpPr>
        <p:spPr>
          <a:xfrm>
            <a:off x="7772400" y="2565400"/>
            <a:ext cx="1016000" cy="177800"/>
          </a:xfrm>
          <a:prstGeom prst="rect">
            <a:avLst/>
          </a:prstGeom>
          <a:noFill/>
          <a:ln/>
        </p:spPr>
        <p:txBody>
          <a:bodyPr wrap="square" lIns="0" tIns="0" rIns="0" bIns="0" rtlCol="0" anchor="t"/>
          <a:lstStyle/>
          <a:p>
            <a:pPr algn="ctr" indent="0" marL="0">
              <a:buNone/>
            </a:pPr>
            <a:r>
              <a:rPr lang="en-US" sz="800" dirty="0">
                <a:solidFill>
                  <a:srgbClr val="444444"/>
                </a:solidFill>
                <a:latin typeface="Noto Sans JP" pitchFamily="34" charset="0"/>
                <a:ea typeface="Noto Sans JP" pitchFamily="34" charset="-122"/>
                <a:cs typeface="Noto Sans JP" pitchFamily="34" charset="-120"/>
              </a:rPr>
              <a:t>今後の計画延長</a:t>
            </a:r>
            <a:endParaRPr lang="en-US" sz="800" dirty="0"/>
          </a:p>
        </p:txBody>
      </p:sp>
      <p:sp>
        <p:nvSpPr>
          <p:cNvPr id="25" name="Text 21"/>
          <p:cNvSpPr txBox="1"/>
          <p:nvPr/>
        </p:nvSpPr>
        <p:spPr>
          <a:xfrm>
            <a:off x="5461000" y="2946400"/>
            <a:ext cx="3327400" cy="1524000"/>
          </a:xfrm>
          <a:prstGeom prst="rect">
            <a:avLst/>
          </a:prstGeom>
          <a:noFill/>
          <a:ln/>
        </p:spPr>
        <p:txBody>
          <a:bodyPr wrap="square" lIns="0" tIns="0" rIns="0" bIns="0" rtlCol="0" anchor="t"/>
          <a:lstStyle/>
          <a:p>
            <a:pPr marL="139700" indent="-139700">
              <a:lnSpc>
                <a:spcPct val="120000"/>
              </a:lnSpc>
              <a:spcAft>
                <a:spcPts val="500"/>
              </a:spcAft>
              <a:buSzPct val="100000"/>
              <a:buChar char="•"/>
            </a:pPr>
            <a:r>
              <a:rPr lang="en-US" sz="950" dirty="0">
                <a:solidFill>
                  <a:srgbClr val="444444"/>
                </a:solidFill>
                <a:latin typeface="Noto Sans JP" pitchFamily="34" charset="0"/>
                <a:ea typeface="Noto Sans JP" pitchFamily="34" charset="-122"/>
                <a:cs typeface="Noto Sans JP" pitchFamily="34" charset="-120"/>
              </a:rPr>
              <a:t>林道密度＝既設延長36,532m ÷ 民有林面積6,651ha ≒ 5.5m/ha</a:t>
            </a:r>
            <a:endParaRPr lang="en-US" sz="950" dirty="0"/>
          </a:p>
          <a:p>
            <a:pPr marL="139700" indent="-139700">
              <a:lnSpc>
                <a:spcPct val="120000"/>
              </a:lnSpc>
              <a:spcAft>
                <a:spcPts val="500"/>
              </a:spcAft>
              <a:buSzPct val="100000"/>
              <a:buChar char="•"/>
            </a:pPr>
            <a:r>
              <a:rPr lang="en-US" sz="950" dirty="0">
                <a:solidFill>
                  <a:srgbClr val="444444"/>
                </a:solidFill>
                <a:latin typeface="Noto Sans JP" pitchFamily="34" charset="0"/>
                <a:ea typeface="Noto Sans JP" pitchFamily="34" charset="-122"/>
                <a:cs typeface="Noto Sans JP" pitchFamily="34" charset="-120"/>
              </a:rPr>
              <a:t>急峻な地形・岩盤・軟弱地盤への対応で開設単価が割高。計画も残り400mで、新規開設は見込みにくい</a:t>
            </a:r>
            <a:endParaRPr lang="en-US" sz="950" dirty="0"/>
          </a:p>
          <a:p>
            <a:pPr marL="139700" indent="-139700">
              <a:lnSpc>
                <a:spcPct val="120000"/>
              </a:lnSpc>
              <a:spcAft>
                <a:spcPts val="500"/>
              </a:spcAft>
              <a:buSzPct val="100000"/>
              <a:buChar char="•"/>
            </a:pPr>
            <a:r>
              <a:rPr lang="en-US" sz="950" b="1" dirty="0">
                <a:solidFill>
                  <a:srgbClr val="16816D"/>
                </a:solidFill>
                <a:latin typeface="Noto Sans JP" pitchFamily="34" charset="0"/>
                <a:ea typeface="Noto Sans JP" pitchFamily="34" charset="-122"/>
                <a:cs typeface="Noto Sans JP" pitchFamily="34" charset="-120"/>
              </a:rPr>
              <a:t>→ 集約化した団地ごとに、低コストな森林作業道を組み合わせて搬出条件を整えることが現実的</a:t>
            </a:r>
            <a:endParaRPr lang="en-US" sz="950" dirty="0"/>
          </a:p>
        </p:txBody>
      </p:sp>
      <p:sp>
        <p:nvSpPr>
          <p:cNvPr id="26" name="Text 22"/>
          <p:cNvSpPr txBox="1"/>
          <p:nvPr/>
        </p:nvSpPr>
        <p:spPr>
          <a:xfrm>
            <a:off x="1016000" y="4673600"/>
            <a:ext cx="7366000" cy="152400"/>
          </a:xfrm>
          <a:prstGeom prst="rect">
            <a:avLst/>
          </a:prstGeom>
          <a:noFill/>
          <a:ln/>
        </p:spPr>
        <p:txBody>
          <a:bodyPr wrap="square" lIns="0" tIns="0" rIns="0" bIns="0" rtlCol="0" anchor="t"/>
          <a:lstStyle/>
          <a:p>
            <a:pPr algn="r" indent="0" marL="0">
              <a:buNone/>
            </a:pPr>
            <a:r>
              <a:rPr lang="en-US" sz="700" dirty="0">
                <a:solidFill>
                  <a:srgbClr val="757575"/>
                </a:solidFill>
                <a:latin typeface="Noto Sans JP" pitchFamily="34" charset="0"/>
                <a:ea typeface="Noto Sans JP" pitchFamily="34" charset="-122"/>
                <a:cs typeface="Noto Sans JP" pitchFamily="34" charset="-120"/>
              </a:rPr>
              <a:t>出典：東京都 林道網整備計画（市町村別内訳、令和7年3月31日現在。民有林が対象）／東京都森林組合 要望書</a:t>
            </a:r>
            <a:endParaRPr lang="en-US" sz="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tmp/claude-0/-home-user--/135b95b8-9a7c-5e2e-abb3-3369b8f4d943/scratchpad/assets/logo_dark.png">    </p:cNvPr>
          <p:cNvPicPr>
            <a:picLocks noChangeAspect="1"/>
          </p:cNvPicPr>
          <p:nvPr/>
        </p:nvPicPr>
        <p:blipFill>
          <a:blip r:embed="rId1"/>
          <a:stretch>
            <a:fillRect/>
          </a:stretch>
        </p:blipFill>
        <p:spPr>
          <a:xfrm>
            <a:off x="355600" y="160020"/>
            <a:ext cx="558800" cy="254000"/>
          </a:xfrm>
          <a:prstGeom prst="rect">
            <a:avLst/>
          </a:prstGeom>
        </p:spPr>
      </p:pic>
      <p:sp>
        <p:nvSpPr>
          <p:cNvPr id="3" name="Text 0"/>
          <p:cNvSpPr txBox="1"/>
          <p:nvPr/>
        </p:nvSpPr>
        <p:spPr>
          <a:xfrm>
            <a:off x="1397000" y="127000"/>
            <a:ext cx="6350000" cy="304800"/>
          </a:xfrm>
          <a:prstGeom prst="rect">
            <a:avLst/>
          </a:prstGeom>
          <a:noFill/>
          <a:ln/>
        </p:spPr>
        <p:txBody>
          <a:bodyPr wrap="square" lIns="0" tIns="0" rIns="0" bIns="0" rtlCol="0" anchor="ctr"/>
          <a:lstStyle/>
          <a:p>
            <a:pPr algn="ctr" indent="0" marL="0">
              <a:buNone/>
            </a:pPr>
            <a:r>
              <a:rPr lang="en-US" sz="1500" b="1" dirty="0">
                <a:solidFill>
                  <a:srgbClr val="222222"/>
                </a:solidFill>
                <a:latin typeface="Noto Sans JP" pitchFamily="34" charset="0"/>
                <a:ea typeface="Noto Sans JP" pitchFamily="34" charset="-122"/>
                <a:cs typeface="Noto Sans JP" pitchFamily="34" charset="-120"/>
              </a:rPr>
              <a:t>課題⑥ 森林環境譲与税の配分</a:t>
            </a:r>
            <a:endParaRPr lang="en-US" sz="1500" dirty="0"/>
          </a:p>
        </p:txBody>
      </p:sp>
      <p:sp>
        <p:nvSpPr>
          <p:cNvPr id="4" name="Shape 1"/>
          <p:cNvSpPr/>
          <p:nvPr/>
        </p:nvSpPr>
        <p:spPr>
          <a:xfrm>
            <a:off x="0" y="539750"/>
            <a:ext cx="9144000" cy="0"/>
          </a:xfrm>
          <a:prstGeom prst="line">
            <a:avLst/>
          </a:prstGeom>
          <a:noFill/>
          <a:ln w="9525">
            <a:solidFill>
              <a:srgbClr val="999999"/>
            </a:solidFill>
            <a:prstDash val="solid"/>
          </a:ln>
        </p:spPr>
      </p:sp>
      <p:sp>
        <p:nvSpPr>
          <p:cNvPr id="5" name="Shape 2"/>
          <p:cNvSpPr/>
          <p:nvPr/>
        </p:nvSpPr>
        <p:spPr>
          <a:xfrm>
            <a:off x="88900" y="4876800"/>
            <a:ext cx="723900" cy="165100"/>
          </a:xfrm>
          <a:prstGeom prst="rect">
            <a:avLst/>
          </a:prstGeom>
          <a:solidFill>
            <a:srgbClr val="FFFFFF"/>
          </a:solidFill>
          <a:ln w="6350">
            <a:solidFill>
              <a:srgbClr val="B2B2B2"/>
            </a:solidFill>
            <a:prstDash val="solid"/>
          </a:ln>
        </p:spPr>
      </p:sp>
      <p:sp>
        <p:nvSpPr>
          <p:cNvPr id="6" name="Text 3"/>
          <p:cNvSpPr txBox="1"/>
          <p:nvPr/>
        </p:nvSpPr>
        <p:spPr>
          <a:xfrm>
            <a:off x="88900" y="4876800"/>
            <a:ext cx="723900" cy="165100"/>
          </a:xfrm>
          <a:prstGeom prst="rect">
            <a:avLst/>
          </a:prstGeom>
          <a:noFill/>
          <a:ln/>
        </p:spPr>
        <p:txBody>
          <a:bodyPr wrap="square" lIns="0" tIns="0" rIns="0" bIns="0" rtlCol="0" anchor="ctr"/>
          <a:lstStyle/>
          <a:p>
            <a:pPr algn="ctr" indent="0" marL="0">
              <a:buNone/>
            </a:pPr>
            <a:r>
              <a:rPr lang="en-US" sz="700" dirty="0">
                <a:solidFill>
                  <a:srgbClr val="757575"/>
                </a:solidFill>
                <a:latin typeface="Arial" pitchFamily="34" charset="0"/>
                <a:ea typeface="Arial" pitchFamily="34" charset="-122"/>
                <a:cs typeface="Arial" pitchFamily="34" charset="-120"/>
              </a:rPr>
              <a:t>confidential</a:t>
            </a:r>
            <a:endParaRPr lang="en-US" sz="700" dirty="0"/>
          </a:p>
        </p:txBody>
      </p:sp>
      <p:sp>
        <p:nvSpPr>
          <p:cNvPr id="7" name="Text 4"/>
          <p:cNvSpPr txBox="1"/>
          <p:nvPr/>
        </p:nvSpPr>
        <p:spPr>
          <a:xfrm>
            <a:off x="8509000" y="4826000"/>
            <a:ext cx="533400" cy="203200"/>
          </a:xfrm>
          <a:prstGeom prst="rect">
            <a:avLst/>
          </a:prstGeom>
          <a:noFill/>
          <a:ln/>
        </p:spPr>
        <p:txBody>
          <a:bodyPr wrap="square" lIns="0" tIns="0" rIns="0" bIns="0" rtlCol="0" anchor="t"/>
          <a:lstStyle/>
          <a:p>
            <a:pPr algn="r" indent="0" marL="0">
              <a:buNone/>
            </a:pPr>
            <a:r>
              <a:rPr lang="en-US" sz="1100" dirty="0">
                <a:solidFill>
                  <a:srgbClr val="757575"/>
                </a:solidFill>
                <a:latin typeface="Noto Sans JP" pitchFamily="34" charset="0"/>
                <a:ea typeface="Noto Sans JP" pitchFamily="34" charset="-122"/>
                <a:cs typeface="Noto Sans JP" pitchFamily="34" charset="-120"/>
              </a:rPr>
              <a:t>12</a:t>
            </a:r>
            <a:endParaRPr lang="en-US" sz="1100" dirty="0"/>
          </a:p>
        </p:txBody>
      </p:sp>
      <p:sp>
        <p:nvSpPr>
          <p:cNvPr id="8" name="Text 5"/>
          <p:cNvSpPr txBox="1"/>
          <p:nvPr/>
        </p:nvSpPr>
        <p:spPr>
          <a:xfrm>
            <a:off x="457200" y="685800"/>
            <a:ext cx="8229600" cy="508000"/>
          </a:xfrm>
          <a:prstGeom prst="rect">
            <a:avLst/>
          </a:prstGeom>
          <a:noFill/>
          <a:ln/>
        </p:spPr>
        <p:txBody>
          <a:bodyPr wrap="square" lIns="0" tIns="0" rIns="0" bIns="0" rtlCol="0" anchor="ctr"/>
          <a:lstStyle/>
          <a:p>
            <a:pPr indent="0" marL="0">
              <a:buNone/>
            </a:pPr>
            <a:r>
              <a:rPr lang="en-US" sz="1300" b="1" dirty="0">
                <a:solidFill>
                  <a:srgbClr val="16816D"/>
                </a:solidFill>
                <a:latin typeface="Noto Sans JP" pitchFamily="34" charset="0"/>
                <a:ea typeface="Noto Sans JP" pitchFamily="34" charset="-122"/>
                <a:cs typeface="Noto Sans JP" pitchFamily="34" charset="-120"/>
              </a:rPr>
              <a:t>譲与税の充当先は公園・緑地や木材利用が中心。民有林の整備に向かう額は限られています。</a:t>
            </a:r>
            <a:endParaRPr lang="en-US" sz="1300" dirty="0"/>
          </a:p>
        </p:txBody>
      </p:sp>
      <p:graphicFrame>
        <p:nvGraphicFramePr>
          <p:cNvPr id="9" name="Chart 0" descr=""/>
          <p:cNvGraphicFramePr/>
          <p:nvPr/>
        </p:nvGraphicFramePr>
        <p:xfrm>
          <a:off x="381000" y="1168400"/>
          <a:ext cx="4191000" cy="3302000"/>
        </p:xfrm>
        <a:graphic xmlns:a="http://schemas.openxmlformats.org/drawingml/2006/main">
          <a:graphicData uri="http://schemas.openxmlformats.org/drawingml/2006/chart">
            <c:chart xmlns:c="http://schemas.openxmlformats.org/drawingml/2006/chart" r:id="rId2"/>
          </a:graphicData>
        </a:graphic>
      </p:graphicFrame>
      <p:sp>
        <p:nvSpPr>
          <p:cNvPr id="10" name="Shape 6"/>
          <p:cNvSpPr/>
          <p:nvPr/>
        </p:nvSpPr>
        <p:spPr>
          <a:xfrm>
            <a:off x="4953000" y="1244600"/>
            <a:ext cx="3810000" cy="609600"/>
          </a:xfrm>
          <a:prstGeom prst="rect">
            <a:avLst/>
          </a:prstGeom>
          <a:solidFill>
            <a:srgbClr val="F4F4F4"/>
          </a:solidFill>
          <a:ln/>
        </p:spPr>
      </p:sp>
      <p:sp>
        <p:nvSpPr>
          <p:cNvPr id="11" name="Text 7"/>
          <p:cNvSpPr txBox="1"/>
          <p:nvPr/>
        </p:nvSpPr>
        <p:spPr>
          <a:xfrm>
            <a:off x="5105400" y="1244600"/>
            <a:ext cx="1524000" cy="609600"/>
          </a:xfrm>
          <a:prstGeom prst="rect">
            <a:avLst/>
          </a:prstGeom>
          <a:noFill/>
          <a:ln/>
        </p:spPr>
        <p:txBody>
          <a:bodyPr wrap="square" lIns="0" tIns="0" rIns="0" bIns="0" rtlCol="0" anchor="ctr"/>
          <a:lstStyle/>
          <a:p>
            <a:pPr indent="0" marL="0">
              <a:buNone/>
            </a:pPr>
            <a:r>
              <a:rPr lang="en-US" sz="1500" b="1" dirty="0">
                <a:solidFill>
                  <a:srgbClr val="222222"/>
                </a:solidFill>
                <a:latin typeface="Noto Sans JP" pitchFamily="34" charset="0"/>
                <a:ea typeface="Noto Sans JP" pitchFamily="34" charset="-122"/>
                <a:cs typeface="Noto Sans JP" pitchFamily="34" charset="-120"/>
              </a:rPr>
              <a:t>8,430万円</a:t>
            </a:r>
            <a:endParaRPr lang="en-US" sz="1500" dirty="0"/>
          </a:p>
        </p:txBody>
      </p:sp>
      <p:sp>
        <p:nvSpPr>
          <p:cNvPr id="12" name="Text 8"/>
          <p:cNvSpPr txBox="1"/>
          <p:nvPr/>
        </p:nvSpPr>
        <p:spPr>
          <a:xfrm>
            <a:off x="6680200" y="1244600"/>
            <a:ext cx="2032000" cy="609600"/>
          </a:xfrm>
          <a:prstGeom prst="rect">
            <a:avLst/>
          </a:prstGeom>
          <a:noFill/>
          <a:ln/>
        </p:spPr>
        <p:txBody>
          <a:bodyPr wrap="square" lIns="0" tIns="0" rIns="0" bIns="0" rtlCol="0" anchor="ctr"/>
          <a:lstStyle/>
          <a:p>
            <a:pPr indent="0" marL="0">
              <a:buNone/>
            </a:pPr>
            <a:r>
              <a:rPr lang="en-US" sz="950" dirty="0">
                <a:solidFill>
                  <a:srgbClr val="444444"/>
                </a:solidFill>
                <a:latin typeface="Noto Sans JP" pitchFamily="34" charset="0"/>
                <a:ea typeface="Noto Sans JP" pitchFamily="34" charset="-122"/>
                <a:cs typeface="Noto Sans JP" pitchFamily="34" charset="-120"/>
              </a:rPr>
              <a:t>森林環境譲与税 歳入</a:t>
            </a:r>
            <a:endParaRPr lang="en-US" sz="950" dirty="0"/>
          </a:p>
        </p:txBody>
      </p:sp>
      <p:sp>
        <p:nvSpPr>
          <p:cNvPr id="13" name="Shape 9"/>
          <p:cNvSpPr/>
          <p:nvPr/>
        </p:nvSpPr>
        <p:spPr>
          <a:xfrm>
            <a:off x="4953000" y="1955800"/>
            <a:ext cx="3810000" cy="609600"/>
          </a:xfrm>
          <a:prstGeom prst="rect">
            <a:avLst/>
          </a:prstGeom>
          <a:solidFill>
            <a:srgbClr val="F4F4F4"/>
          </a:solidFill>
          <a:ln/>
        </p:spPr>
      </p:sp>
      <p:sp>
        <p:nvSpPr>
          <p:cNvPr id="14" name="Text 10"/>
          <p:cNvSpPr txBox="1"/>
          <p:nvPr/>
        </p:nvSpPr>
        <p:spPr>
          <a:xfrm>
            <a:off x="5105400" y="1955800"/>
            <a:ext cx="1524000" cy="609600"/>
          </a:xfrm>
          <a:prstGeom prst="rect">
            <a:avLst/>
          </a:prstGeom>
          <a:noFill/>
          <a:ln/>
        </p:spPr>
        <p:txBody>
          <a:bodyPr wrap="square" lIns="0" tIns="0" rIns="0" bIns="0" rtlCol="0" anchor="ctr"/>
          <a:lstStyle/>
          <a:p>
            <a:pPr indent="0" marL="0">
              <a:buNone/>
            </a:pPr>
            <a:r>
              <a:rPr lang="en-US" sz="1500" b="1" dirty="0">
                <a:solidFill>
                  <a:srgbClr val="222222"/>
                </a:solidFill>
                <a:latin typeface="Noto Sans JP" pitchFamily="34" charset="0"/>
                <a:ea typeface="Noto Sans JP" pitchFamily="34" charset="-122"/>
                <a:cs typeface="Noto Sans JP" pitchFamily="34" charset="-120"/>
              </a:rPr>
              <a:t>1億4,012万円</a:t>
            </a:r>
            <a:endParaRPr lang="en-US" sz="1500" dirty="0"/>
          </a:p>
        </p:txBody>
      </p:sp>
      <p:sp>
        <p:nvSpPr>
          <p:cNvPr id="15" name="Text 11"/>
          <p:cNvSpPr txBox="1"/>
          <p:nvPr/>
        </p:nvSpPr>
        <p:spPr>
          <a:xfrm>
            <a:off x="6680200" y="1955800"/>
            <a:ext cx="2032000" cy="609600"/>
          </a:xfrm>
          <a:prstGeom prst="rect">
            <a:avLst/>
          </a:prstGeom>
          <a:noFill/>
          <a:ln/>
        </p:spPr>
        <p:txBody>
          <a:bodyPr wrap="square" lIns="0" tIns="0" rIns="0" bIns="0" rtlCol="0" anchor="ctr"/>
          <a:lstStyle/>
          <a:p>
            <a:pPr indent="0" marL="0">
              <a:buNone/>
            </a:pPr>
            <a:r>
              <a:rPr lang="en-US" sz="950" dirty="0">
                <a:solidFill>
                  <a:srgbClr val="444444"/>
                </a:solidFill>
                <a:latin typeface="Noto Sans JP" pitchFamily="34" charset="0"/>
                <a:ea typeface="Noto Sans JP" pitchFamily="34" charset="-122"/>
                <a:cs typeface="Noto Sans JP" pitchFamily="34" charset="-120"/>
              </a:rPr>
              <a:t>森林環境施策への充当可能額</a:t>
            </a:r>
            <a:endParaRPr lang="en-US" sz="950" dirty="0"/>
          </a:p>
        </p:txBody>
      </p:sp>
      <p:sp>
        <p:nvSpPr>
          <p:cNvPr id="16" name="Shape 12"/>
          <p:cNvSpPr/>
          <p:nvPr/>
        </p:nvSpPr>
        <p:spPr>
          <a:xfrm>
            <a:off x="4953000" y="2667000"/>
            <a:ext cx="3810000" cy="609600"/>
          </a:xfrm>
          <a:prstGeom prst="rect">
            <a:avLst/>
          </a:prstGeom>
          <a:solidFill>
            <a:srgbClr val="FBEAEA"/>
          </a:solidFill>
          <a:ln/>
        </p:spPr>
      </p:sp>
      <p:sp>
        <p:nvSpPr>
          <p:cNvPr id="17" name="Text 13"/>
          <p:cNvSpPr txBox="1"/>
          <p:nvPr/>
        </p:nvSpPr>
        <p:spPr>
          <a:xfrm>
            <a:off x="5105400" y="2667000"/>
            <a:ext cx="1524000" cy="609600"/>
          </a:xfrm>
          <a:prstGeom prst="rect">
            <a:avLst/>
          </a:prstGeom>
          <a:noFill/>
          <a:ln/>
        </p:spPr>
        <p:txBody>
          <a:bodyPr wrap="square" lIns="0" tIns="0" rIns="0" bIns="0" rtlCol="0" anchor="ctr"/>
          <a:lstStyle/>
          <a:p>
            <a:pPr indent="0" marL="0">
              <a:buNone/>
            </a:pPr>
            <a:r>
              <a:rPr lang="en-US" sz="1500" b="1" dirty="0">
                <a:solidFill>
                  <a:srgbClr val="D9534F"/>
                </a:solidFill>
                <a:latin typeface="Noto Sans JP" pitchFamily="34" charset="0"/>
                <a:ea typeface="Noto Sans JP" pitchFamily="34" charset="-122"/>
                <a:cs typeface="Noto Sans JP" pitchFamily="34" charset="-120"/>
              </a:rPr>
              <a:t>1,495万円</a:t>
            </a:r>
            <a:endParaRPr lang="en-US" sz="1500" dirty="0"/>
          </a:p>
        </p:txBody>
      </p:sp>
      <p:sp>
        <p:nvSpPr>
          <p:cNvPr id="18" name="Text 14"/>
          <p:cNvSpPr txBox="1"/>
          <p:nvPr/>
        </p:nvSpPr>
        <p:spPr>
          <a:xfrm>
            <a:off x="6680200" y="2667000"/>
            <a:ext cx="2032000" cy="609600"/>
          </a:xfrm>
          <a:prstGeom prst="rect">
            <a:avLst/>
          </a:prstGeom>
          <a:noFill/>
          <a:ln/>
        </p:spPr>
        <p:txBody>
          <a:bodyPr wrap="square" lIns="0" tIns="0" rIns="0" bIns="0" rtlCol="0" anchor="ctr"/>
          <a:lstStyle/>
          <a:p>
            <a:pPr indent="0" marL="0">
              <a:buNone/>
            </a:pPr>
            <a:r>
              <a:rPr lang="en-US" sz="950" dirty="0">
                <a:solidFill>
                  <a:srgbClr val="444444"/>
                </a:solidFill>
                <a:latin typeface="Noto Sans JP" pitchFamily="34" charset="0"/>
                <a:ea typeface="Noto Sans JP" pitchFamily="34" charset="-122"/>
                <a:cs typeface="Noto Sans JP" pitchFamily="34" charset="-120"/>
              </a:rPr>
              <a:t>うち民有林振興への充当（約11%）</a:t>
            </a:r>
            <a:endParaRPr lang="en-US" sz="950" dirty="0"/>
          </a:p>
        </p:txBody>
      </p:sp>
      <p:sp>
        <p:nvSpPr>
          <p:cNvPr id="19" name="Text 15"/>
          <p:cNvSpPr txBox="1"/>
          <p:nvPr/>
        </p:nvSpPr>
        <p:spPr>
          <a:xfrm>
            <a:off x="4953000" y="3454400"/>
            <a:ext cx="3810000" cy="889000"/>
          </a:xfrm>
          <a:prstGeom prst="rect">
            <a:avLst/>
          </a:prstGeom>
          <a:noFill/>
          <a:ln/>
        </p:spPr>
        <p:txBody>
          <a:bodyPr wrap="square" lIns="0" tIns="0" rIns="0" bIns="0" rtlCol="0" anchor="t"/>
          <a:lstStyle/>
          <a:p>
            <a:pPr marL="139700" indent="-139700">
              <a:lnSpc>
                <a:spcPct val="120000"/>
              </a:lnSpc>
              <a:spcAft>
                <a:spcPts val="400"/>
              </a:spcAft>
              <a:buSzPct val="100000"/>
              <a:buChar char="•"/>
            </a:pPr>
            <a:r>
              <a:rPr lang="en-US" sz="950" dirty="0">
                <a:solidFill>
                  <a:srgbClr val="444444"/>
                </a:solidFill>
                <a:latin typeface="Noto Sans JP" pitchFamily="34" charset="0"/>
                <a:ea typeface="Noto Sans JP" pitchFamily="34" charset="-122"/>
                <a:cs typeface="Noto Sans JP" pitchFamily="34" charset="-120"/>
              </a:rPr>
              <a:t>民有林振興の事業費4,968万円のうち、譲与税の充当は約3割（1,495万円）。具体的な使途の内訳は公表されていません</a:t>
            </a:r>
            <a:endParaRPr lang="en-US" sz="950" dirty="0"/>
          </a:p>
          <a:p>
            <a:pPr marL="139700" indent="-139700">
              <a:lnSpc>
                <a:spcPct val="120000"/>
              </a:lnSpc>
              <a:spcAft>
                <a:spcPts val="400"/>
              </a:spcAft>
              <a:buSzPct val="100000"/>
              <a:buChar char="•"/>
            </a:pPr>
            <a:r>
              <a:rPr lang="en-US" sz="950" b="1" dirty="0">
                <a:solidFill>
                  <a:srgbClr val="16816D"/>
                </a:solidFill>
                <a:latin typeface="Noto Sans JP" pitchFamily="34" charset="0"/>
                <a:ea typeface="Noto Sans JP" pitchFamily="34" charset="-122"/>
                <a:cs typeface="Noto Sans JP" pitchFamily="34" charset="-120"/>
              </a:rPr>
              <a:t>→ 民有林の整備には、譲与税以外の資金を呼び込む仕組みが有効</a:t>
            </a:r>
            <a:endParaRPr lang="en-US" sz="950" dirty="0"/>
          </a:p>
        </p:txBody>
      </p:sp>
      <p:sp>
        <p:nvSpPr>
          <p:cNvPr id="20" name="Text 16"/>
          <p:cNvSpPr txBox="1"/>
          <p:nvPr/>
        </p:nvSpPr>
        <p:spPr>
          <a:xfrm>
            <a:off x="1016000" y="4673600"/>
            <a:ext cx="7366000" cy="152400"/>
          </a:xfrm>
          <a:prstGeom prst="rect">
            <a:avLst/>
          </a:prstGeom>
          <a:noFill/>
          <a:ln/>
        </p:spPr>
        <p:txBody>
          <a:bodyPr wrap="square" lIns="0" tIns="0" rIns="0" bIns="0" rtlCol="0" anchor="t"/>
          <a:lstStyle/>
          <a:p>
            <a:pPr algn="r" indent="0" marL="0">
              <a:buNone/>
            </a:pPr>
            <a:r>
              <a:rPr lang="en-US" sz="700" dirty="0">
                <a:solidFill>
                  <a:srgbClr val="757575"/>
                </a:solidFill>
                <a:latin typeface="Noto Sans JP" pitchFamily="34" charset="0"/>
                <a:ea typeface="Noto Sans JP" pitchFamily="34" charset="-122"/>
                <a:cs typeface="Noto Sans JP" pitchFamily="34" charset="-120"/>
              </a:rPr>
              <a:t>出典：八王子市「森林環境譲与税が充てられる森林環境施策に要する経費」（令和8年度予算）</a:t>
            </a:r>
            <a:endParaRPr lang="en-US" sz="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F9970"/>
        </a:solidFill>
      </p:bgPr>
    </p:bg>
    <p:spTree>
      <p:nvGrpSpPr>
        <p:cNvPr id="1" name=""/>
        <p:cNvGrpSpPr/>
        <p:nvPr/>
      </p:nvGrpSpPr>
      <p:grpSpPr>
        <a:xfrm>
          <a:off x="0" y="0"/>
          <a:ext cx="0" cy="0"/>
          <a:chOff x="0" y="0"/>
          <a:chExt cx="0" cy="0"/>
        </a:xfrm>
      </p:grpSpPr>
      <p:sp>
        <p:nvSpPr>
          <p:cNvPr id="2" name="Shape 0"/>
          <p:cNvSpPr/>
          <p:nvPr/>
        </p:nvSpPr>
        <p:spPr>
          <a:xfrm>
            <a:off x="342900" y="342900"/>
            <a:ext cx="8458200" cy="4457700"/>
          </a:xfrm>
          <a:prstGeom prst="rect">
            <a:avLst/>
          </a:prstGeom>
          <a:ln w="12700">
            <a:solidFill>
              <a:srgbClr val="FFFFFF"/>
            </a:solidFill>
            <a:prstDash val="solid"/>
          </a:ln>
        </p:spPr>
      </p:sp>
      <p:sp>
        <p:nvSpPr>
          <p:cNvPr id="3" name="Text 1"/>
          <p:cNvSpPr txBox="1"/>
          <p:nvPr/>
        </p:nvSpPr>
        <p:spPr>
          <a:xfrm>
            <a:off x="762000" y="1778000"/>
            <a:ext cx="7620000" cy="1524000"/>
          </a:xfrm>
          <a:prstGeom prst="rect">
            <a:avLst/>
          </a:prstGeom>
          <a:noFill/>
          <a:ln/>
        </p:spPr>
        <p:txBody>
          <a:bodyPr wrap="square" lIns="0" tIns="0" rIns="0" bIns="0" rtlCol="0" anchor="ctr"/>
          <a:lstStyle/>
          <a:p>
            <a:pPr algn="ctr" indent="0" marL="0">
              <a:buNone/>
            </a:pPr>
            <a:r>
              <a:rPr lang="en-US" sz="2600" b="1" dirty="0">
                <a:solidFill>
                  <a:srgbClr val="FFFFFF"/>
                </a:solidFill>
                <a:latin typeface="Noto Sans JP" pitchFamily="34" charset="0"/>
                <a:ea typeface="Noto Sans JP" pitchFamily="34" charset="-122"/>
                <a:cs typeface="Noto Sans JP" pitchFamily="34" charset="-120"/>
              </a:rPr>
              <a:t>ご提案</a:t>
            </a:r>
            <a:endParaRPr lang="en-US" sz="2600" dirty="0"/>
          </a:p>
          <a:p>
            <a:pPr algn="ctr" indent="0" marL="0">
              <a:buNone/>
            </a:pPr>
            <a:r>
              <a:rPr lang="en-US" sz="2600" b="1" dirty="0">
                <a:solidFill>
                  <a:srgbClr val="FFFFFF"/>
                </a:solidFill>
                <a:latin typeface="Noto Sans JP" pitchFamily="34" charset="0"/>
                <a:ea typeface="Noto Sans JP" pitchFamily="34" charset="-122"/>
                <a:cs typeface="Noto Sans JP" pitchFamily="34" charset="-120"/>
              </a:rPr>
              <a:t>集約化から整備へモデル</a:t>
            </a:r>
            <a:endParaRPr lang="en-US" sz="2600" dirty="0"/>
          </a:p>
        </p:txBody>
      </p:sp>
      <p:sp>
        <p:nvSpPr>
          <p:cNvPr id="4" name="Shape 2"/>
          <p:cNvSpPr/>
          <p:nvPr/>
        </p:nvSpPr>
        <p:spPr>
          <a:xfrm>
            <a:off x="88900" y="4876800"/>
            <a:ext cx="723900" cy="165100"/>
          </a:xfrm>
          <a:prstGeom prst="rect">
            <a:avLst/>
          </a:prstGeom>
          <a:solidFill>
            <a:srgbClr val="FFFFFF"/>
          </a:solidFill>
          <a:ln w="6350">
            <a:solidFill>
              <a:srgbClr val="B2B2B2"/>
            </a:solidFill>
            <a:prstDash val="solid"/>
          </a:ln>
        </p:spPr>
      </p:sp>
      <p:sp>
        <p:nvSpPr>
          <p:cNvPr id="5" name="Text 3"/>
          <p:cNvSpPr txBox="1"/>
          <p:nvPr/>
        </p:nvSpPr>
        <p:spPr>
          <a:xfrm>
            <a:off x="88900" y="4876800"/>
            <a:ext cx="723900" cy="165100"/>
          </a:xfrm>
          <a:prstGeom prst="rect">
            <a:avLst/>
          </a:prstGeom>
          <a:noFill/>
          <a:ln/>
        </p:spPr>
        <p:txBody>
          <a:bodyPr wrap="square" lIns="0" tIns="0" rIns="0" bIns="0" rtlCol="0" anchor="ctr"/>
          <a:lstStyle/>
          <a:p>
            <a:pPr algn="ctr" indent="0" marL="0">
              <a:buNone/>
            </a:pPr>
            <a:r>
              <a:rPr lang="en-US" sz="700" dirty="0">
                <a:solidFill>
                  <a:srgbClr val="757575"/>
                </a:solidFill>
                <a:latin typeface="Arial" pitchFamily="34" charset="0"/>
                <a:ea typeface="Arial" pitchFamily="34" charset="-122"/>
                <a:cs typeface="Arial" pitchFamily="34" charset="-120"/>
              </a:rPr>
              <a:t>confidential</a:t>
            </a:r>
            <a:endParaRPr lang="en-US" sz="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tmp/claude-0/-home-user--/135b95b8-9a7c-5e2e-abb3-3369b8f4d943/scratchpad/assets/logo_dark.png">    </p:cNvPr>
          <p:cNvPicPr>
            <a:picLocks noChangeAspect="1"/>
          </p:cNvPicPr>
          <p:nvPr/>
        </p:nvPicPr>
        <p:blipFill>
          <a:blip r:embed="rId1"/>
          <a:stretch>
            <a:fillRect/>
          </a:stretch>
        </p:blipFill>
        <p:spPr>
          <a:xfrm>
            <a:off x="355600" y="160020"/>
            <a:ext cx="558800" cy="254000"/>
          </a:xfrm>
          <a:prstGeom prst="rect">
            <a:avLst/>
          </a:prstGeom>
        </p:spPr>
      </p:pic>
      <p:sp>
        <p:nvSpPr>
          <p:cNvPr id="3" name="Text 0"/>
          <p:cNvSpPr txBox="1"/>
          <p:nvPr/>
        </p:nvSpPr>
        <p:spPr>
          <a:xfrm>
            <a:off x="1397000" y="127000"/>
            <a:ext cx="6350000" cy="304800"/>
          </a:xfrm>
          <a:prstGeom prst="rect">
            <a:avLst/>
          </a:prstGeom>
          <a:noFill/>
          <a:ln/>
        </p:spPr>
        <p:txBody>
          <a:bodyPr wrap="square" lIns="0" tIns="0" rIns="0" bIns="0" rtlCol="0" anchor="ctr"/>
          <a:lstStyle/>
          <a:p>
            <a:pPr algn="ctr" indent="0" marL="0">
              <a:buNone/>
            </a:pPr>
            <a:r>
              <a:rPr lang="en-US" sz="1500" b="1" dirty="0">
                <a:solidFill>
                  <a:srgbClr val="222222"/>
                </a:solidFill>
                <a:latin typeface="Noto Sans JP" pitchFamily="34" charset="0"/>
                <a:ea typeface="Noto Sans JP" pitchFamily="34" charset="-122"/>
                <a:cs typeface="Noto Sans JP" pitchFamily="34" charset="-120"/>
              </a:rPr>
              <a:t>ご提案：集約化から整備へモデル</a:t>
            </a:r>
            <a:endParaRPr lang="en-US" sz="1500" dirty="0"/>
          </a:p>
        </p:txBody>
      </p:sp>
      <p:sp>
        <p:nvSpPr>
          <p:cNvPr id="4" name="Shape 1"/>
          <p:cNvSpPr/>
          <p:nvPr/>
        </p:nvSpPr>
        <p:spPr>
          <a:xfrm>
            <a:off x="0" y="539750"/>
            <a:ext cx="9144000" cy="0"/>
          </a:xfrm>
          <a:prstGeom prst="line">
            <a:avLst/>
          </a:prstGeom>
          <a:noFill/>
          <a:ln w="9525">
            <a:solidFill>
              <a:srgbClr val="999999"/>
            </a:solidFill>
            <a:prstDash val="solid"/>
          </a:ln>
        </p:spPr>
      </p:sp>
      <p:sp>
        <p:nvSpPr>
          <p:cNvPr id="5" name="Shape 2"/>
          <p:cNvSpPr/>
          <p:nvPr/>
        </p:nvSpPr>
        <p:spPr>
          <a:xfrm>
            <a:off x="88900" y="4876800"/>
            <a:ext cx="723900" cy="165100"/>
          </a:xfrm>
          <a:prstGeom prst="rect">
            <a:avLst/>
          </a:prstGeom>
          <a:solidFill>
            <a:srgbClr val="FFFFFF"/>
          </a:solidFill>
          <a:ln w="6350">
            <a:solidFill>
              <a:srgbClr val="B2B2B2"/>
            </a:solidFill>
            <a:prstDash val="solid"/>
          </a:ln>
        </p:spPr>
      </p:sp>
      <p:sp>
        <p:nvSpPr>
          <p:cNvPr id="6" name="Text 3"/>
          <p:cNvSpPr txBox="1"/>
          <p:nvPr/>
        </p:nvSpPr>
        <p:spPr>
          <a:xfrm>
            <a:off x="88900" y="4876800"/>
            <a:ext cx="723900" cy="165100"/>
          </a:xfrm>
          <a:prstGeom prst="rect">
            <a:avLst/>
          </a:prstGeom>
          <a:noFill/>
          <a:ln/>
        </p:spPr>
        <p:txBody>
          <a:bodyPr wrap="square" lIns="0" tIns="0" rIns="0" bIns="0" rtlCol="0" anchor="ctr"/>
          <a:lstStyle/>
          <a:p>
            <a:pPr algn="ctr" indent="0" marL="0">
              <a:buNone/>
            </a:pPr>
            <a:r>
              <a:rPr lang="en-US" sz="700" dirty="0">
                <a:solidFill>
                  <a:srgbClr val="757575"/>
                </a:solidFill>
                <a:latin typeface="Arial" pitchFamily="34" charset="0"/>
                <a:ea typeface="Arial" pitchFamily="34" charset="-122"/>
                <a:cs typeface="Arial" pitchFamily="34" charset="-120"/>
              </a:rPr>
              <a:t>confidential</a:t>
            </a:r>
            <a:endParaRPr lang="en-US" sz="700" dirty="0"/>
          </a:p>
        </p:txBody>
      </p:sp>
      <p:sp>
        <p:nvSpPr>
          <p:cNvPr id="7" name="Text 4"/>
          <p:cNvSpPr txBox="1"/>
          <p:nvPr/>
        </p:nvSpPr>
        <p:spPr>
          <a:xfrm>
            <a:off x="8509000" y="4826000"/>
            <a:ext cx="533400" cy="203200"/>
          </a:xfrm>
          <a:prstGeom prst="rect">
            <a:avLst/>
          </a:prstGeom>
          <a:noFill/>
          <a:ln/>
        </p:spPr>
        <p:txBody>
          <a:bodyPr wrap="square" lIns="0" tIns="0" rIns="0" bIns="0" rtlCol="0" anchor="t"/>
          <a:lstStyle/>
          <a:p>
            <a:pPr algn="r" indent="0" marL="0">
              <a:buNone/>
            </a:pPr>
            <a:r>
              <a:rPr lang="en-US" sz="1100" dirty="0">
                <a:solidFill>
                  <a:srgbClr val="757575"/>
                </a:solidFill>
                <a:latin typeface="Noto Sans JP" pitchFamily="34" charset="0"/>
                <a:ea typeface="Noto Sans JP" pitchFamily="34" charset="-122"/>
                <a:cs typeface="Noto Sans JP" pitchFamily="34" charset="-120"/>
              </a:rPr>
              <a:t>14</a:t>
            </a:r>
            <a:endParaRPr lang="en-US" sz="1100" dirty="0"/>
          </a:p>
        </p:txBody>
      </p:sp>
      <p:sp>
        <p:nvSpPr>
          <p:cNvPr id="8" name="Text 5"/>
          <p:cNvSpPr txBox="1"/>
          <p:nvPr/>
        </p:nvSpPr>
        <p:spPr>
          <a:xfrm>
            <a:off x="457200" y="609600"/>
            <a:ext cx="8229600" cy="508000"/>
          </a:xfrm>
          <a:prstGeom prst="rect">
            <a:avLst/>
          </a:prstGeom>
          <a:noFill/>
          <a:ln/>
        </p:spPr>
        <p:txBody>
          <a:bodyPr wrap="square" lIns="0" tIns="0" rIns="0" bIns="0" rtlCol="0" anchor="ctr"/>
          <a:lstStyle/>
          <a:p>
            <a:pPr indent="0" marL="0">
              <a:buNone/>
            </a:pPr>
            <a:r>
              <a:rPr lang="en-US" sz="1300" b="1" dirty="0">
                <a:solidFill>
                  <a:srgbClr val="16816D"/>
                </a:solidFill>
                <a:latin typeface="Noto Sans JP" pitchFamily="34" charset="0"/>
                <a:ea typeface="Noto Sans JP" pitchFamily="34" charset="-122"/>
                <a:cs typeface="Noto Sans JP" pitchFamily="34" charset="-120"/>
              </a:rPr>
              <a:t>貴社の寄付を原資に、森未来が「集約化 → 施業 → 造林 → 木材利用」を一気通貫でコーディネートします。</a:t>
            </a:r>
            <a:endParaRPr lang="en-US" sz="1300" dirty="0"/>
          </a:p>
        </p:txBody>
      </p:sp>
      <p:sp>
        <p:nvSpPr>
          <p:cNvPr id="9" name="Shape 6"/>
          <p:cNvSpPr/>
          <p:nvPr/>
        </p:nvSpPr>
        <p:spPr>
          <a:xfrm>
            <a:off x="355600" y="1905000"/>
            <a:ext cx="787400" cy="1905000"/>
          </a:xfrm>
          <a:prstGeom prst="rect">
            <a:avLst/>
          </a:prstGeom>
          <a:solidFill>
            <a:srgbClr val="EEEEEE"/>
          </a:solidFill>
          <a:ln/>
        </p:spPr>
      </p:sp>
      <p:sp>
        <p:nvSpPr>
          <p:cNvPr id="10" name="Shape 7"/>
          <p:cNvSpPr/>
          <p:nvPr/>
        </p:nvSpPr>
        <p:spPr>
          <a:xfrm>
            <a:off x="520700" y="2082800"/>
            <a:ext cx="457200" cy="457200"/>
          </a:xfrm>
          <a:prstGeom prst="ellipse">
            <a:avLst/>
          </a:prstGeom>
          <a:solidFill>
            <a:srgbClr val="757575"/>
          </a:solidFill>
          <a:ln/>
        </p:spPr>
      </p:sp>
      <p:pic>
        <p:nvPicPr>
          <p:cNvPr id="11" name="Image 1" descr="preencoded.png">    </p:cNvPr>
          <p:cNvPicPr>
            <a:picLocks noChangeAspect="1"/>
          </p:cNvPicPr>
          <p:nvPr/>
        </p:nvPicPr>
        <p:blipFill>
          <a:blip r:embed="rId2"/>
          <a:stretch>
            <a:fillRect/>
          </a:stretch>
        </p:blipFill>
        <p:spPr>
          <a:xfrm>
            <a:off x="635000" y="2197100"/>
            <a:ext cx="228600" cy="228600"/>
          </a:xfrm>
          <a:prstGeom prst="rect">
            <a:avLst/>
          </a:prstGeom>
        </p:spPr>
      </p:pic>
      <p:sp>
        <p:nvSpPr>
          <p:cNvPr id="12" name="Text 8"/>
          <p:cNvSpPr txBox="1"/>
          <p:nvPr/>
        </p:nvSpPr>
        <p:spPr>
          <a:xfrm>
            <a:off x="355600" y="2667000"/>
            <a:ext cx="787400" cy="254000"/>
          </a:xfrm>
          <a:prstGeom prst="rect">
            <a:avLst/>
          </a:prstGeom>
          <a:noFill/>
          <a:ln/>
        </p:spPr>
        <p:txBody>
          <a:bodyPr wrap="square" lIns="0" tIns="0" rIns="0" bIns="0" rtlCol="0" anchor="t"/>
          <a:lstStyle/>
          <a:p>
            <a:pPr algn="ctr" indent="0" marL="0">
              <a:buNone/>
            </a:pPr>
            <a:r>
              <a:rPr lang="en-US" sz="1300" b="1" dirty="0">
                <a:solidFill>
                  <a:srgbClr val="222222"/>
                </a:solidFill>
                <a:latin typeface="Noto Sans JP" pitchFamily="34" charset="0"/>
                <a:ea typeface="Noto Sans JP" pitchFamily="34" charset="-122"/>
                <a:cs typeface="Noto Sans JP" pitchFamily="34" charset="-120"/>
              </a:rPr>
              <a:t>貴社</a:t>
            </a:r>
            <a:endParaRPr lang="en-US" sz="1300" dirty="0"/>
          </a:p>
        </p:txBody>
      </p:sp>
      <p:sp>
        <p:nvSpPr>
          <p:cNvPr id="13" name="Text 9"/>
          <p:cNvSpPr txBox="1"/>
          <p:nvPr/>
        </p:nvSpPr>
        <p:spPr>
          <a:xfrm>
            <a:off x="355600" y="2997200"/>
            <a:ext cx="787400" cy="660400"/>
          </a:xfrm>
          <a:prstGeom prst="rect">
            <a:avLst/>
          </a:prstGeom>
          <a:noFill/>
          <a:ln/>
        </p:spPr>
        <p:txBody>
          <a:bodyPr wrap="square" lIns="0" tIns="0" rIns="0" bIns="0" rtlCol="0" anchor="t"/>
          <a:lstStyle/>
          <a:p>
            <a:pPr algn="ctr" indent="0" marL="0">
              <a:buNone/>
            </a:pPr>
            <a:r>
              <a:rPr lang="en-US" sz="700" dirty="0">
                <a:solidFill>
                  <a:srgbClr val="444444"/>
                </a:solidFill>
                <a:latin typeface="Noto Sans JP" pitchFamily="34" charset="0"/>
                <a:ea typeface="Noto Sans JP" pitchFamily="34" charset="-122"/>
                <a:cs typeface="Noto Sans JP" pitchFamily="34" charset="-120"/>
              </a:rPr>
              <a:t>寄付</a:t>
            </a:r>
            <a:endParaRPr lang="en-US" sz="700" dirty="0"/>
          </a:p>
          <a:p>
            <a:pPr algn="ctr" indent="0" marL="0">
              <a:buNone/>
            </a:pPr>
            <a:r>
              <a:rPr lang="en-US" sz="700" dirty="0">
                <a:solidFill>
                  <a:srgbClr val="444444"/>
                </a:solidFill>
                <a:latin typeface="Noto Sans JP" pitchFamily="34" charset="0"/>
                <a:ea typeface="Noto Sans JP" pitchFamily="34" charset="-122"/>
                <a:cs typeface="Noto Sans JP" pitchFamily="34" charset="-120"/>
              </a:rPr>
              <a:t>(企業版ふるさと</a:t>
            </a:r>
            <a:endParaRPr lang="en-US" sz="700" dirty="0"/>
          </a:p>
          <a:p>
            <a:pPr algn="ctr" indent="0" marL="0">
              <a:buNone/>
            </a:pPr>
            <a:r>
              <a:rPr lang="en-US" sz="700" dirty="0">
                <a:solidFill>
                  <a:srgbClr val="444444"/>
                </a:solidFill>
                <a:latin typeface="Noto Sans JP" pitchFamily="34" charset="0"/>
                <a:ea typeface="Noto Sans JP" pitchFamily="34" charset="-122"/>
                <a:cs typeface="Noto Sans JP" pitchFamily="34" charset="-120"/>
              </a:rPr>
              <a:t>納税等を検討)</a:t>
            </a:r>
            <a:endParaRPr lang="en-US" sz="700" dirty="0"/>
          </a:p>
        </p:txBody>
      </p:sp>
      <p:pic>
        <p:nvPicPr>
          <p:cNvPr id="14" name="Image 2" descr="preencoded.png">    </p:cNvPr>
          <p:cNvPicPr>
            <a:picLocks noChangeAspect="1"/>
          </p:cNvPicPr>
          <p:nvPr/>
        </p:nvPicPr>
        <p:blipFill>
          <a:blip r:embed="rId3"/>
          <a:stretch>
            <a:fillRect/>
          </a:stretch>
        </p:blipFill>
        <p:spPr>
          <a:xfrm>
            <a:off x="1181100" y="2768600"/>
            <a:ext cx="177800" cy="177800"/>
          </a:xfrm>
          <a:prstGeom prst="rect">
            <a:avLst/>
          </a:prstGeom>
        </p:spPr>
      </p:pic>
      <p:sp>
        <p:nvSpPr>
          <p:cNvPr id="15" name="Shape 10"/>
          <p:cNvSpPr/>
          <p:nvPr/>
        </p:nvSpPr>
        <p:spPr>
          <a:xfrm>
            <a:off x="1397000" y="1905000"/>
            <a:ext cx="787400" cy="1905000"/>
          </a:xfrm>
          <a:prstGeom prst="rect">
            <a:avLst/>
          </a:prstGeom>
          <a:solidFill>
            <a:srgbClr val="1F9970"/>
          </a:solidFill>
          <a:ln/>
        </p:spPr>
      </p:sp>
      <p:sp>
        <p:nvSpPr>
          <p:cNvPr id="16" name="Shape 11"/>
          <p:cNvSpPr/>
          <p:nvPr/>
        </p:nvSpPr>
        <p:spPr>
          <a:xfrm>
            <a:off x="1562100" y="2082800"/>
            <a:ext cx="457200" cy="457200"/>
          </a:xfrm>
          <a:prstGeom prst="ellipse">
            <a:avLst/>
          </a:prstGeom>
          <a:solidFill>
            <a:srgbClr val="16816D"/>
          </a:solidFill>
          <a:ln/>
        </p:spPr>
      </p:sp>
      <p:pic>
        <p:nvPicPr>
          <p:cNvPr id="17" name="Image 3" descr="preencoded.png">    </p:cNvPr>
          <p:cNvPicPr>
            <a:picLocks noChangeAspect="1"/>
          </p:cNvPicPr>
          <p:nvPr/>
        </p:nvPicPr>
        <p:blipFill>
          <a:blip r:embed="rId4"/>
          <a:stretch>
            <a:fillRect/>
          </a:stretch>
        </p:blipFill>
        <p:spPr>
          <a:xfrm>
            <a:off x="1676400" y="2197100"/>
            <a:ext cx="228600" cy="228600"/>
          </a:xfrm>
          <a:prstGeom prst="rect">
            <a:avLst/>
          </a:prstGeom>
        </p:spPr>
      </p:pic>
      <p:sp>
        <p:nvSpPr>
          <p:cNvPr id="18" name="Text 12"/>
          <p:cNvSpPr txBox="1"/>
          <p:nvPr/>
        </p:nvSpPr>
        <p:spPr>
          <a:xfrm>
            <a:off x="1397000" y="2641600"/>
            <a:ext cx="787400" cy="457200"/>
          </a:xfrm>
          <a:prstGeom prst="rect">
            <a:avLst/>
          </a:prstGeom>
          <a:noFill/>
          <a:ln/>
        </p:spPr>
        <p:txBody>
          <a:bodyPr wrap="square" lIns="0" tIns="0" rIns="0" bIns="0" rtlCol="0" anchor="t"/>
          <a:lstStyle/>
          <a:p>
            <a:pPr algn="ctr" indent="0" marL="0">
              <a:buNone/>
            </a:pPr>
            <a:r>
              <a:rPr lang="en-US" sz="1200" b="1" dirty="0">
                <a:solidFill>
                  <a:srgbClr val="FFFFFF"/>
                </a:solidFill>
                <a:latin typeface="Noto Sans JP" pitchFamily="34" charset="0"/>
                <a:ea typeface="Noto Sans JP" pitchFamily="34" charset="-122"/>
                <a:cs typeface="Noto Sans JP" pitchFamily="34" charset="-120"/>
              </a:rPr>
              <a:t>八王子</a:t>
            </a:r>
            <a:endParaRPr lang="en-US" sz="1200" dirty="0"/>
          </a:p>
          <a:p>
            <a:pPr algn="ctr" indent="0" marL="0">
              <a:buNone/>
            </a:pPr>
            <a:r>
              <a:rPr lang="en-US" sz="1200" b="1" dirty="0">
                <a:solidFill>
                  <a:srgbClr val="FFFFFF"/>
                </a:solidFill>
                <a:latin typeface="Noto Sans JP" pitchFamily="34" charset="0"/>
                <a:ea typeface="Noto Sans JP" pitchFamily="34" charset="-122"/>
                <a:cs typeface="Noto Sans JP" pitchFamily="34" charset="-120"/>
              </a:rPr>
              <a:t>市様</a:t>
            </a:r>
            <a:endParaRPr lang="en-US" sz="1200" dirty="0"/>
          </a:p>
        </p:txBody>
      </p:sp>
      <p:sp>
        <p:nvSpPr>
          <p:cNvPr id="19" name="Text 13"/>
          <p:cNvSpPr txBox="1"/>
          <p:nvPr/>
        </p:nvSpPr>
        <p:spPr>
          <a:xfrm>
            <a:off x="1397000" y="3149600"/>
            <a:ext cx="787400" cy="558800"/>
          </a:xfrm>
          <a:prstGeom prst="rect">
            <a:avLst/>
          </a:prstGeom>
          <a:noFill/>
          <a:ln/>
        </p:spPr>
        <p:txBody>
          <a:bodyPr wrap="square" lIns="0" tIns="0" rIns="0" bIns="0" rtlCol="0" anchor="t"/>
          <a:lstStyle/>
          <a:p>
            <a:pPr algn="ctr" indent="0" marL="0">
              <a:buNone/>
            </a:pPr>
            <a:r>
              <a:rPr lang="en-US" sz="750" dirty="0">
                <a:solidFill>
                  <a:srgbClr val="FFFFFF"/>
                </a:solidFill>
                <a:latin typeface="Noto Sans JP" pitchFamily="34" charset="0"/>
                <a:ea typeface="Noto Sans JP" pitchFamily="34" charset="-122"/>
                <a:cs typeface="Noto Sans JP" pitchFamily="34" charset="-120"/>
              </a:rPr>
              <a:t>経営管理権</a:t>
            </a:r>
            <a:endParaRPr lang="en-US" sz="750" dirty="0"/>
          </a:p>
          <a:p>
            <a:pPr algn="ctr" indent="0" marL="0">
              <a:buNone/>
            </a:pPr>
            <a:r>
              <a:rPr lang="en-US" sz="750" dirty="0">
                <a:solidFill>
                  <a:srgbClr val="FFFFFF"/>
                </a:solidFill>
                <a:latin typeface="Noto Sans JP" pitchFamily="34" charset="0"/>
                <a:ea typeface="Noto Sans JP" pitchFamily="34" charset="-122"/>
                <a:cs typeface="Noto Sans JP" pitchFamily="34" charset="-120"/>
              </a:rPr>
              <a:t>集積計画の</a:t>
            </a:r>
            <a:endParaRPr lang="en-US" sz="750" dirty="0"/>
          </a:p>
          <a:p>
            <a:pPr algn="ctr" indent="0" marL="0">
              <a:buNone/>
            </a:pPr>
            <a:r>
              <a:rPr lang="en-US" sz="750" dirty="0">
                <a:solidFill>
                  <a:srgbClr val="FFFFFF"/>
                </a:solidFill>
                <a:latin typeface="Noto Sans JP" pitchFamily="34" charset="0"/>
                <a:ea typeface="Noto Sans JP" pitchFamily="34" charset="-122"/>
                <a:cs typeface="Noto Sans JP" pitchFamily="34" charset="-120"/>
              </a:rPr>
              <a:t>主体</a:t>
            </a:r>
            <a:endParaRPr lang="en-US" sz="750" dirty="0"/>
          </a:p>
        </p:txBody>
      </p:sp>
      <p:pic>
        <p:nvPicPr>
          <p:cNvPr id="20" name="Image 4" descr="preencoded.png">    </p:cNvPr>
          <p:cNvPicPr>
            <a:picLocks noChangeAspect="1"/>
          </p:cNvPicPr>
          <p:nvPr/>
        </p:nvPicPr>
        <p:blipFill>
          <a:blip r:embed="rId5"/>
          <a:stretch>
            <a:fillRect/>
          </a:stretch>
        </p:blipFill>
        <p:spPr>
          <a:xfrm>
            <a:off x="2222500" y="2768600"/>
            <a:ext cx="177800" cy="177800"/>
          </a:xfrm>
          <a:prstGeom prst="rect">
            <a:avLst/>
          </a:prstGeom>
        </p:spPr>
      </p:pic>
      <p:sp>
        <p:nvSpPr>
          <p:cNvPr id="21" name="Text 14"/>
          <p:cNvSpPr txBox="1"/>
          <p:nvPr/>
        </p:nvSpPr>
        <p:spPr>
          <a:xfrm>
            <a:off x="2159000" y="2959100"/>
            <a:ext cx="304800" cy="152400"/>
          </a:xfrm>
          <a:prstGeom prst="rect">
            <a:avLst/>
          </a:prstGeom>
          <a:noFill/>
          <a:ln/>
        </p:spPr>
        <p:txBody>
          <a:bodyPr wrap="square" lIns="0" tIns="0" rIns="0" bIns="0" rtlCol="0" anchor="t"/>
          <a:lstStyle/>
          <a:p>
            <a:pPr algn="ctr" indent="0" marL="0">
              <a:buNone/>
            </a:pPr>
            <a:r>
              <a:rPr lang="en-US" sz="700" dirty="0">
                <a:solidFill>
                  <a:srgbClr val="757575"/>
                </a:solidFill>
                <a:latin typeface="Noto Sans JP" pitchFamily="34" charset="0"/>
                <a:ea typeface="Noto Sans JP" pitchFamily="34" charset="-122"/>
                <a:cs typeface="Noto Sans JP" pitchFamily="34" charset="-120"/>
              </a:rPr>
              <a:t>委託</a:t>
            </a:r>
            <a:endParaRPr lang="en-US" sz="700" dirty="0"/>
          </a:p>
        </p:txBody>
      </p:sp>
      <p:sp>
        <p:nvSpPr>
          <p:cNvPr id="22" name="Shape 15"/>
          <p:cNvSpPr/>
          <p:nvPr/>
        </p:nvSpPr>
        <p:spPr>
          <a:xfrm>
            <a:off x="2438400" y="1219200"/>
            <a:ext cx="4953000" cy="2946400"/>
          </a:xfrm>
          <a:prstGeom prst="rect">
            <a:avLst/>
          </a:prstGeom>
          <a:solidFill>
            <a:srgbClr val="FFFFFF"/>
          </a:solidFill>
          <a:ln w="19050">
            <a:solidFill>
              <a:srgbClr val="1F9970"/>
            </a:solidFill>
            <a:prstDash val="solid"/>
          </a:ln>
        </p:spPr>
      </p:sp>
      <p:sp>
        <p:nvSpPr>
          <p:cNvPr id="23" name="Shape 16"/>
          <p:cNvSpPr/>
          <p:nvPr/>
        </p:nvSpPr>
        <p:spPr>
          <a:xfrm>
            <a:off x="4089400" y="1117600"/>
            <a:ext cx="1651000" cy="254000"/>
          </a:xfrm>
          <a:prstGeom prst="rect">
            <a:avLst/>
          </a:prstGeom>
          <a:solidFill>
            <a:srgbClr val="1F9970"/>
          </a:solidFill>
          <a:ln/>
        </p:spPr>
      </p:sp>
      <p:sp>
        <p:nvSpPr>
          <p:cNvPr id="24" name="Text 17"/>
          <p:cNvSpPr txBox="1"/>
          <p:nvPr/>
        </p:nvSpPr>
        <p:spPr>
          <a:xfrm>
            <a:off x="4089400" y="1117600"/>
            <a:ext cx="1651000" cy="254000"/>
          </a:xfrm>
          <a:prstGeom prst="rect">
            <a:avLst/>
          </a:prstGeom>
          <a:noFill/>
          <a:ln/>
        </p:spPr>
        <p:txBody>
          <a:bodyPr wrap="square" lIns="0" tIns="0" rIns="0" bIns="0" rtlCol="0" anchor="ctr"/>
          <a:lstStyle/>
          <a:p>
            <a:pPr algn="ctr" indent="0" marL="0">
              <a:buNone/>
            </a:pPr>
            <a:r>
              <a:rPr lang="en-US" sz="950" b="1" dirty="0">
                <a:solidFill>
                  <a:srgbClr val="FFFFFF"/>
                </a:solidFill>
                <a:latin typeface="Noto Sans JP" pitchFamily="34" charset="0"/>
                <a:ea typeface="Noto Sans JP" pitchFamily="34" charset="-122"/>
                <a:cs typeface="Noto Sans JP" pitchFamily="34" charset="-120"/>
              </a:rPr>
              <a:t>森未来がコーディネート</a:t>
            </a:r>
            <a:endParaRPr lang="en-US" sz="950" dirty="0"/>
          </a:p>
        </p:txBody>
      </p:sp>
      <p:sp>
        <p:nvSpPr>
          <p:cNvPr id="25" name="Shape 18"/>
          <p:cNvSpPr/>
          <p:nvPr/>
        </p:nvSpPr>
        <p:spPr>
          <a:xfrm>
            <a:off x="2590800" y="1549400"/>
            <a:ext cx="1066800" cy="2159000"/>
          </a:xfrm>
          <a:prstGeom prst="rect">
            <a:avLst/>
          </a:prstGeom>
          <a:solidFill>
            <a:srgbClr val="E8F5EF"/>
          </a:solidFill>
          <a:ln/>
        </p:spPr>
      </p:sp>
      <p:sp>
        <p:nvSpPr>
          <p:cNvPr id="26" name="Shape 19"/>
          <p:cNvSpPr/>
          <p:nvPr/>
        </p:nvSpPr>
        <p:spPr>
          <a:xfrm>
            <a:off x="2895600" y="1676400"/>
            <a:ext cx="457200" cy="457200"/>
          </a:xfrm>
          <a:prstGeom prst="ellipse">
            <a:avLst/>
          </a:prstGeom>
          <a:solidFill>
            <a:srgbClr val="1F9970"/>
          </a:solidFill>
          <a:ln/>
        </p:spPr>
      </p:sp>
      <p:pic>
        <p:nvPicPr>
          <p:cNvPr id="27" name="Image 5" descr="preencoded.png">    </p:cNvPr>
          <p:cNvPicPr>
            <a:picLocks noChangeAspect="1"/>
          </p:cNvPicPr>
          <p:nvPr/>
        </p:nvPicPr>
        <p:blipFill>
          <a:blip r:embed="rId6"/>
          <a:stretch>
            <a:fillRect/>
          </a:stretch>
        </p:blipFill>
        <p:spPr>
          <a:xfrm>
            <a:off x="3009900" y="1790700"/>
            <a:ext cx="228600" cy="228600"/>
          </a:xfrm>
          <a:prstGeom prst="rect">
            <a:avLst/>
          </a:prstGeom>
        </p:spPr>
      </p:pic>
      <p:sp>
        <p:nvSpPr>
          <p:cNvPr id="28" name="Text 20"/>
          <p:cNvSpPr txBox="1"/>
          <p:nvPr/>
        </p:nvSpPr>
        <p:spPr>
          <a:xfrm>
            <a:off x="2616200" y="2209800"/>
            <a:ext cx="1016000" cy="228600"/>
          </a:xfrm>
          <a:prstGeom prst="rect">
            <a:avLst/>
          </a:prstGeom>
          <a:noFill/>
          <a:ln/>
        </p:spPr>
        <p:txBody>
          <a:bodyPr wrap="square" lIns="0" tIns="0" rIns="0" bIns="0" rtlCol="0" anchor="t"/>
          <a:lstStyle/>
          <a:p>
            <a:pPr algn="ctr" indent="0" marL="0">
              <a:buNone/>
            </a:pPr>
            <a:r>
              <a:rPr lang="en-US" sz="1050" b="1" dirty="0">
                <a:solidFill>
                  <a:srgbClr val="222222"/>
                </a:solidFill>
                <a:latin typeface="Noto Sans JP" pitchFamily="34" charset="0"/>
                <a:ea typeface="Noto Sans JP" pitchFamily="34" charset="-122"/>
                <a:cs typeface="Noto Sans JP" pitchFamily="34" charset="-120"/>
              </a:rPr>
              <a:t>① 境界明確化</a:t>
            </a:r>
            <a:endParaRPr lang="en-US" sz="1050" dirty="0"/>
          </a:p>
        </p:txBody>
      </p:sp>
      <p:sp>
        <p:nvSpPr>
          <p:cNvPr id="29" name="Text 21"/>
          <p:cNvSpPr txBox="1"/>
          <p:nvPr/>
        </p:nvSpPr>
        <p:spPr>
          <a:xfrm>
            <a:off x="2641600" y="2489200"/>
            <a:ext cx="965200" cy="635000"/>
          </a:xfrm>
          <a:prstGeom prst="rect">
            <a:avLst/>
          </a:prstGeom>
          <a:noFill/>
          <a:ln/>
        </p:spPr>
        <p:txBody>
          <a:bodyPr wrap="square" lIns="0" tIns="0" rIns="0" bIns="0" rtlCol="0" anchor="t"/>
          <a:lstStyle/>
          <a:p>
            <a:pPr algn="ctr" indent="0" marL="0">
              <a:lnSpc>
                <a:spcPct val="120000"/>
              </a:lnSpc>
              <a:buNone/>
            </a:pPr>
            <a:r>
              <a:rPr lang="en-US" sz="800" dirty="0">
                <a:solidFill>
                  <a:srgbClr val="444444"/>
                </a:solidFill>
                <a:latin typeface="Noto Sans JP" pitchFamily="34" charset="0"/>
                <a:ea typeface="Noto Sans JP" pitchFamily="34" charset="-122"/>
                <a:cs typeface="Noto Sans JP" pitchFamily="34" charset="-120"/>
              </a:rPr>
              <a:t>所有者探索・立会い</a:t>
            </a:r>
            <a:endParaRPr lang="en-US" sz="800" dirty="0"/>
          </a:p>
          <a:p>
            <a:pPr algn="ctr" indent="0" marL="0">
              <a:lnSpc>
                <a:spcPct val="120000"/>
              </a:lnSpc>
              <a:buNone/>
            </a:pPr>
            <a:r>
              <a:rPr lang="en-US" sz="800" dirty="0">
                <a:solidFill>
                  <a:srgbClr val="444444"/>
                </a:solidFill>
                <a:latin typeface="Noto Sans JP" pitchFamily="34" charset="0"/>
                <a:ea typeface="Noto Sans JP" pitchFamily="34" charset="-122"/>
                <a:cs typeface="Noto Sans JP" pitchFamily="34" charset="-120"/>
              </a:rPr>
              <a:t>合意形成・測量</a:t>
            </a:r>
            <a:endParaRPr lang="en-US" sz="800" dirty="0"/>
          </a:p>
        </p:txBody>
      </p:sp>
      <p:sp>
        <p:nvSpPr>
          <p:cNvPr id="30" name="Shape 22"/>
          <p:cNvSpPr/>
          <p:nvPr/>
        </p:nvSpPr>
        <p:spPr>
          <a:xfrm>
            <a:off x="2717800" y="3302000"/>
            <a:ext cx="812800" cy="228600"/>
          </a:xfrm>
          <a:prstGeom prst="roundRect">
            <a:avLst>
              <a:gd name="adj" fmla="val 40000"/>
            </a:avLst>
          </a:prstGeom>
          <a:solidFill>
            <a:srgbClr val="FFFFFF"/>
          </a:solidFill>
          <a:ln w="9525">
            <a:solidFill>
              <a:srgbClr val="1F9970"/>
            </a:solidFill>
            <a:prstDash val="solid"/>
          </a:ln>
        </p:spPr>
      </p:sp>
      <p:sp>
        <p:nvSpPr>
          <p:cNvPr id="31" name="Text 23"/>
          <p:cNvSpPr txBox="1"/>
          <p:nvPr/>
        </p:nvSpPr>
        <p:spPr>
          <a:xfrm>
            <a:off x="2717800" y="3302000"/>
            <a:ext cx="812800" cy="228600"/>
          </a:xfrm>
          <a:prstGeom prst="rect">
            <a:avLst/>
          </a:prstGeom>
          <a:noFill/>
          <a:ln/>
        </p:spPr>
        <p:txBody>
          <a:bodyPr wrap="square" lIns="0" tIns="0" rIns="0" bIns="0" rtlCol="0" anchor="ctr"/>
          <a:lstStyle/>
          <a:p>
            <a:pPr algn="ctr" indent="0" marL="0">
              <a:buNone/>
            </a:pPr>
            <a:r>
              <a:rPr lang="en-US" sz="750" b="1" dirty="0">
                <a:solidFill>
                  <a:srgbClr val="16816D"/>
                </a:solidFill>
                <a:latin typeface="Noto Sans JP" pitchFamily="34" charset="0"/>
                <a:ea typeface="Noto Sans JP" pitchFamily="34" charset="-122"/>
                <a:cs typeface="Noto Sans JP" pitchFamily="34" charset="-120"/>
              </a:rPr>
              <a:t>課題①②</a:t>
            </a:r>
            <a:endParaRPr lang="en-US" sz="750" dirty="0"/>
          </a:p>
        </p:txBody>
      </p:sp>
      <p:sp>
        <p:nvSpPr>
          <p:cNvPr id="32" name="Shape 24"/>
          <p:cNvSpPr/>
          <p:nvPr/>
        </p:nvSpPr>
        <p:spPr>
          <a:xfrm>
            <a:off x="3784600" y="1549400"/>
            <a:ext cx="1066800" cy="2159000"/>
          </a:xfrm>
          <a:prstGeom prst="rect">
            <a:avLst/>
          </a:prstGeom>
          <a:solidFill>
            <a:srgbClr val="E8F5EF"/>
          </a:solidFill>
          <a:ln/>
        </p:spPr>
      </p:sp>
      <p:sp>
        <p:nvSpPr>
          <p:cNvPr id="33" name="Shape 25"/>
          <p:cNvSpPr/>
          <p:nvPr/>
        </p:nvSpPr>
        <p:spPr>
          <a:xfrm>
            <a:off x="4089400" y="1676400"/>
            <a:ext cx="457200" cy="457200"/>
          </a:xfrm>
          <a:prstGeom prst="ellipse">
            <a:avLst/>
          </a:prstGeom>
          <a:solidFill>
            <a:srgbClr val="1F9970"/>
          </a:solidFill>
          <a:ln/>
        </p:spPr>
      </p:sp>
      <p:pic>
        <p:nvPicPr>
          <p:cNvPr id="34" name="Image 6" descr="preencoded.png">    </p:cNvPr>
          <p:cNvPicPr>
            <a:picLocks noChangeAspect="1"/>
          </p:cNvPicPr>
          <p:nvPr/>
        </p:nvPicPr>
        <p:blipFill>
          <a:blip r:embed="rId7"/>
          <a:stretch>
            <a:fillRect/>
          </a:stretch>
        </p:blipFill>
        <p:spPr>
          <a:xfrm>
            <a:off x="4203700" y="1790700"/>
            <a:ext cx="228600" cy="228600"/>
          </a:xfrm>
          <a:prstGeom prst="rect">
            <a:avLst/>
          </a:prstGeom>
        </p:spPr>
      </p:pic>
      <p:sp>
        <p:nvSpPr>
          <p:cNvPr id="35" name="Text 26"/>
          <p:cNvSpPr txBox="1"/>
          <p:nvPr/>
        </p:nvSpPr>
        <p:spPr>
          <a:xfrm>
            <a:off x="3810000" y="2209800"/>
            <a:ext cx="1016000" cy="228600"/>
          </a:xfrm>
          <a:prstGeom prst="rect">
            <a:avLst/>
          </a:prstGeom>
          <a:noFill/>
          <a:ln/>
        </p:spPr>
        <p:txBody>
          <a:bodyPr wrap="square" lIns="0" tIns="0" rIns="0" bIns="0" rtlCol="0" anchor="t"/>
          <a:lstStyle/>
          <a:p>
            <a:pPr algn="ctr" indent="0" marL="0">
              <a:buNone/>
            </a:pPr>
            <a:r>
              <a:rPr lang="en-US" sz="1050" b="1" dirty="0">
                <a:solidFill>
                  <a:srgbClr val="222222"/>
                </a:solidFill>
                <a:latin typeface="Noto Sans JP" pitchFamily="34" charset="0"/>
                <a:ea typeface="Noto Sans JP" pitchFamily="34" charset="-122"/>
                <a:cs typeface="Noto Sans JP" pitchFamily="34" charset="-120"/>
              </a:rPr>
              <a:t>② 集約化</a:t>
            </a:r>
            <a:endParaRPr lang="en-US" sz="1050" dirty="0"/>
          </a:p>
        </p:txBody>
      </p:sp>
      <p:sp>
        <p:nvSpPr>
          <p:cNvPr id="36" name="Text 27"/>
          <p:cNvSpPr txBox="1"/>
          <p:nvPr/>
        </p:nvSpPr>
        <p:spPr>
          <a:xfrm>
            <a:off x="3835400" y="2489200"/>
            <a:ext cx="965200" cy="635000"/>
          </a:xfrm>
          <a:prstGeom prst="rect">
            <a:avLst/>
          </a:prstGeom>
          <a:noFill/>
          <a:ln/>
        </p:spPr>
        <p:txBody>
          <a:bodyPr wrap="square" lIns="0" tIns="0" rIns="0" bIns="0" rtlCol="0" anchor="t"/>
          <a:lstStyle/>
          <a:p>
            <a:pPr algn="ctr" indent="0" marL="0">
              <a:lnSpc>
                <a:spcPct val="120000"/>
              </a:lnSpc>
              <a:buNone/>
            </a:pPr>
            <a:r>
              <a:rPr lang="en-US" sz="800" dirty="0">
                <a:solidFill>
                  <a:srgbClr val="444444"/>
                </a:solidFill>
                <a:latin typeface="Noto Sans JP" pitchFamily="34" charset="0"/>
                <a:ea typeface="Noto Sans JP" pitchFamily="34" charset="-122"/>
                <a:cs typeface="Noto Sans JP" pitchFamily="34" charset="-120"/>
              </a:rPr>
              <a:t>施業団地の設定</a:t>
            </a:r>
            <a:endParaRPr lang="en-US" sz="800" dirty="0"/>
          </a:p>
          <a:p>
            <a:pPr algn="ctr" indent="0" marL="0">
              <a:lnSpc>
                <a:spcPct val="120000"/>
              </a:lnSpc>
              <a:buNone/>
            </a:pPr>
            <a:r>
              <a:rPr lang="en-US" sz="800" dirty="0">
                <a:solidFill>
                  <a:srgbClr val="444444"/>
                </a:solidFill>
                <a:latin typeface="Noto Sans JP" pitchFamily="34" charset="0"/>
                <a:ea typeface="Noto Sans JP" pitchFamily="34" charset="-122"/>
                <a:cs typeface="Noto Sans JP" pitchFamily="34" charset="-120"/>
              </a:rPr>
              <a:t>集積計画の策定支援</a:t>
            </a:r>
            <a:endParaRPr lang="en-US" sz="800" dirty="0"/>
          </a:p>
        </p:txBody>
      </p:sp>
      <p:sp>
        <p:nvSpPr>
          <p:cNvPr id="37" name="Shape 28"/>
          <p:cNvSpPr/>
          <p:nvPr/>
        </p:nvSpPr>
        <p:spPr>
          <a:xfrm>
            <a:off x="3911600" y="3302000"/>
            <a:ext cx="812800" cy="228600"/>
          </a:xfrm>
          <a:prstGeom prst="roundRect">
            <a:avLst>
              <a:gd name="adj" fmla="val 40000"/>
            </a:avLst>
          </a:prstGeom>
          <a:solidFill>
            <a:srgbClr val="FFFFFF"/>
          </a:solidFill>
          <a:ln w="9525">
            <a:solidFill>
              <a:srgbClr val="1F9970"/>
            </a:solidFill>
            <a:prstDash val="solid"/>
          </a:ln>
        </p:spPr>
      </p:sp>
      <p:sp>
        <p:nvSpPr>
          <p:cNvPr id="38" name="Text 29"/>
          <p:cNvSpPr txBox="1"/>
          <p:nvPr/>
        </p:nvSpPr>
        <p:spPr>
          <a:xfrm>
            <a:off x="3911600" y="3302000"/>
            <a:ext cx="812800" cy="228600"/>
          </a:xfrm>
          <a:prstGeom prst="rect">
            <a:avLst/>
          </a:prstGeom>
          <a:noFill/>
          <a:ln/>
        </p:spPr>
        <p:txBody>
          <a:bodyPr wrap="square" lIns="0" tIns="0" rIns="0" bIns="0" rtlCol="0" anchor="ctr"/>
          <a:lstStyle/>
          <a:p>
            <a:pPr algn="ctr" indent="0" marL="0">
              <a:buNone/>
            </a:pPr>
            <a:r>
              <a:rPr lang="en-US" sz="750" b="1" dirty="0">
                <a:solidFill>
                  <a:srgbClr val="16816D"/>
                </a:solidFill>
                <a:latin typeface="Noto Sans JP" pitchFamily="34" charset="0"/>
                <a:ea typeface="Noto Sans JP" pitchFamily="34" charset="-122"/>
                <a:cs typeface="Noto Sans JP" pitchFamily="34" charset="-120"/>
              </a:rPr>
              <a:t>課題①③④</a:t>
            </a:r>
            <a:endParaRPr lang="en-US" sz="750" dirty="0"/>
          </a:p>
        </p:txBody>
      </p:sp>
      <p:sp>
        <p:nvSpPr>
          <p:cNvPr id="39" name="Shape 30"/>
          <p:cNvSpPr/>
          <p:nvPr/>
        </p:nvSpPr>
        <p:spPr>
          <a:xfrm>
            <a:off x="4978400" y="1549400"/>
            <a:ext cx="1066800" cy="2159000"/>
          </a:xfrm>
          <a:prstGeom prst="rect">
            <a:avLst/>
          </a:prstGeom>
          <a:solidFill>
            <a:srgbClr val="E8F5EF"/>
          </a:solidFill>
          <a:ln/>
        </p:spPr>
      </p:sp>
      <p:sp>
        <p:nvSpPr>
          <p:cNvPr id="40" name="Shape 31"/>
          <p:cNvSpPr/>
          <p:nvPr/>
        </p:nvSpPr>
        <p:spPr>
          <a:xfrm>
            <a:off x="5283200" y="1676400"/>
            <a:ext cx="457200" cy="457200"/>
          </a:xfrm>
          <a:prstGeom prst="ellipse">
            <a:avLst/>
          </a:prstGeom>
          <a:solidFill>
            <a:srgbClr val="1F9970"/>
          </a:solidFill>
          <a:ln/>
        </p:spPr>
      </p:sp>
      <p:pic>
        <p:nvPicPr>
          <p:cNvPr id="41" name="Image 7" descr="preencoded.png">    </p:cNvPr>
          <p:cNvPicPr>
            <a:picLocks noChangeAspect="1"/>
          </p:cNvPicPr>
          <p:nvPr/>
        </p:nvPicPr>
        <p:blipFill>
          <a:blip r:embed="rId8"/>
          <a:stretch>
            <a:fillRect/>
          </a:stretch>
        </p:blipFill>
        <p:spPr>
          <a:xfrm>
            <a:off x="5397500" y="1790700"/>
            <a:ext cx="228600" cy="228600"/>
          </a:xfrm>
          <a:prstGeom prst="rect">
            <a:avLst/>
          </a:prstGeom>
        </p:spPr>
      </p:pic>
      <p:sp>
        <p:nvSpPr>
          <p:cNvPr id="42" name="Text 32"/>
          <p:cNvSpPr txBox="1"/>
          <p:nvPr/>
        </p:nvSpPr>
        <p:spPr>
          <a:xfrm>
            <a:off x="5003800" y="2209800"/>
            <a:ext cx="1016000" cy="228600"/>
          </a:xfrm>
          <a:prstGeom prst="rect">
            <a:avLst/>
          </a:prstGeom>
          <a:noFill/>
          <a:ln/>
        </p:spPr>
        <p:txBody>
          <a:bodyPr wrap="square" lIns="0" tIns="0" rIns="0" bIns="0" rtlCol="0" anchor="t"/>
          <a:lstStyle/>
          <a:p>
            <a:pPr algn="ctr" indent="0" marL="0">
              <a:buNone/>
            </a:pPr>
            <a:r>
              <a:rPr lang="en-US" sz="1050" b="1" dirty="0">
                <a:solidFill>
                  <a:srgbClr val="222222"/>
                </a:solidFill>
                <a:latin typeface="Noto Sans JP" pitchFamily="34" charset="0"/>
                <a:ea typeface="Noto Sans JP" pitchFamily="34" charset="-122"/>
                <a:cs typeface="Noto Sans JP" pitchFamily="34" charset="-120"/>
              </a:rPr>
              <a:t>③ 施業</a:t>
            </a:r>
            <a:endParaRPr lang="en-US" sz="1050" dirty="0"/>
          </a:p>
        </p:txBody>
      </p:sp>
      <p:sp>
        <p:nvSpPr>
          <p:cNvPr id="43" name="Text 33"/>
          <p:cNvSpPr txBox="1"/>
          <p:nvPr/>
        </p:nvSpPr>
        <p:spPr>
          <a:xfrm>
            <a:off x="5029200" y="2489200"/>
            <a:ext cx="965200" cy="635000"/>
          </a:xfrm>
          <a:prstGeom prst="rect">
            <a:avLst/>
          </a:prstGeom>
          <a:noFill/>
          <a:ln/>
        </p:spPr>
        <p:txBody>
          <a:bodyPr wrap="square" lIns="0" tIns="0" rIns="0" bIns="0" rtlCol="0" anchor="t"/>
          <a:lstStyle/>
          <a:p>
            <a:pPr algn="ctr" indent="0" marL="0">
              <a:lnSpc>
                <a:spcPct val="120000"/>
              </a:lnSpc>
              <a:buNone/>
            </a:pPr>
            <a:r>
              <a:rPr lang="en-US" sz="800" dirty="0">
                <a:solidFill>
                  <a:srgbClr val="444444"/>
                </a:solidFill>
                <a:latin typeface="Noto Sans JP" pitchFamily="34" charset="0"/>
                <a:ea typeface="Noto Sans JP" pitchFamily="34" charset="-122"/>
                <a:cs typeface="Noto Sans JP" pitchFamily="34" charset="-120"/>
              </a:rPr>
              <a:t>搬出間伐</a:t>
            </a:r>
            <a:endParaRPr lang="en-US" sz="800" dirty="0"/>
          </a:p>
          <a:p>
            <a:pPr algn="ctr" indent="0" marL="0">
              <a:lnSpc>
                <a:spcPct val="120000"/>
              </a:lnSpc>
              <a:buNone/>
            </a:pPr>
            <a:r>
              <a:rPr lang="en-US" sz="800" dirty="0">
                <a:solidFill>
                  <a:srgbClr val="444444"/>
                </a:solidFill>
                <a:latin typeface="Noto Sans JP" pitchFamily="34" charset="0"/>
                <a:ea typeface="Noto Sans JP" pitchFamily="34" charset="-122"/>
                <a:cs typeface="Noto Sans JP" pitchFamily="34" charset="-120"/>
              </a:rPr>
              <a:t>森林作業道の開設</a:t>
            </a:r>
            <a:endParaRPr lang="en-US" sz="800" dirty="0"/>
          </a:p>
        </p:txBody>
      </p:sp>
      <p:sp>
        <p:nvSpPr>
          <p:cNvPr id="44" name="Shape 34"/>
          <p:cNvSpPr/>
          <p:nvPr/>
        </p:nvSpPr>
        <p:spPr>
          <a:xfrm>
            <a:off x="5105400" y="3302000"/>
            <a:ext cx="812800" cy="228600"/>
          </a:xfrm>
          <a:prstGeom prst="roundRect">
            <a:avLst>
              <a:gd name="adj" fmla="val 40000"/>
            </a:avLst>
          </a:prstGeom>
          <a:solidFill>
            <a:srgbClr val="FFFFFF"/>
          </a:solidFill>
          <a:ln w="9525">
            <a:solidFill>
              <a:srgbClr val="1F9970"/>
            </a:solidFill>
            <a:prstDash val="solid"/>
          </a:ln>
        </p:spPr>
      </p:sp>
      <p:sp>
        <p:nvSpPr>
          <p:cNvPr id="45" name="Text 35"/>
          <p:cNvSpPr txBox="1"/>
          <p:nvPr/>
        </p:nvSpPr>
        <p:spPr>
          <a:xfrm>
            <a:off x="5105400" y="3302000"/>
            <a:ext cx="812800" cy="228600"/>
          </a:xfrm>
          <a:prstGeom prst="rect">
            <a:avLst/>
          </a:prstGeom>
          <a:noFill/>
          <a:ln/>
        </p:spPr>
        <p:txBody>
          <a:bodyPr wrap="square" lIns="0" tIns="0" rIns="0" bIns="0" rtlCol="0" anchor="ctr"/>
          <a:lstStyle/>
          <a:p>
            <a:pPr algn="ctr" indent="0" marL="0">
              <a:buNone/>
            </a:pPr>
            <a:r>
              <a:rPr lang="en-US" sz="750" b="1" dirty="0">
                <a:solidFill>
                  <a:srgbClr val="16816D"/>
                </a:solidFill>
                <a:latin typeface="Noto Sans JP" pitchFamily="34" charset="0"/>
                <a:ea typeface="Noto Sans JP" pitchFamily="34" charset="-122"/>
                <a:cs typeface="Noto Sans JP" pitchFamily="34" charset="-120"/>
              </a:rPr>
              <a:t>課題⑤</a:t>
            </a:r>
            <a:endParaRPr lang="en-US" sz="750" dirty="0"/>
          </a:p>
        </p:txBody>
      </p:sp>
      <p:sp>
        <p:nvSpPr>
          <p:cNvPr id="46" name="Shape 36"/>
          <p:cNvSpPr/>
          <p:nvPr/>
        </p:nvSpPr>
        <p:spPr>
          <a:xfrm>
            <a:off x="6172200" y="1549400"/>
            <a:ext cx="1066800" cy="2159000"/>
          </a:xfrm>
          <a:prstGeom prst="rect">
            <a:avLst/>
          </a:prstGeom>
          <a:solidFill>
            <a:srgbClr val="E8F5EF"/>
          </a:solidFill>
          <a:ln/>
        </p:spPr>
      </p:sp>
      <p:sp>
        <p:nvSpPr>
          <p:cNvPr id="47" name="Shape 37"/>
          <p:cNvSpPr/>
          <p:nvPr/>
        </p:nvSpPr>
        <p:spPr>
          <a:xfrm>
            <a:off x="6477000" y="1676400"/>
            <a:ext cx="457200" cy="457200"/>
          </a:xfrm>
          <a:prstGeom prst="ellipse">
            <a:avLst/>
          </a:prstGeom>
          <a:solidFill>
            <a:srgbClr val="1F9970"/>
          </a:solidFill>
          <a:ln/>
        </p:spPr>
      </p:sp>
      <p:pic>
        <p:nvPicPr>
          <p:cNvPr id="48" name="Image 8" descr="preencoded.png">    </p:cNvPr>
          <p:cNvPicPr>
            <a:picLocks noChangeAspect="1"/>
          </p:cNvPicPr>
          <p:nvPr/>
        </p:nvPicPr>
        <p:blipFill>
          <a:blip r:embed="rId9"/>
          <a:stretch>
            <a:fillRect/>
          </a:stretch>
        </p:blipFill>
        <p:spPr>
          <a:xfrm>
            <a:off x="6591300" y="1790700"/>
            <a:ext cx="228600" cy="228600"/>
          </a:xfrm>
          <a:prstGeom prst="rect">
            <a:avLst/>
          </a:prstGeom>
        </p:spPr>
      </p:pic>
      <p:sp>
        <p:nvSpPr>
          <p:cNvPr id="49" name="Text 38"/>
          <p:cNvSpPr txBox="1"/>
          <p:nvPr/>
        </p:nvSpPr>
        <p:spPr>
          <a:xfrm>
            <a:off x="6197600" y="2209800"/>
            <a:ext cx="1016000" cy="228600"/>
          </a:xfrm>
          <a:prstGeom prst="rect">
            <a:avLst/>
          </a:prstGeom>
          <a:noFill/>
          <a:ln/>
        </p:spPr>
        <p:txBody>
          <a:bodyPr wrap="square" lIns="0" tIns="0" rIns="0" bIns="0" rtlCol="0" anchor="t"/>
          <a:lstStyle/>
          <a:p>
            <a:pPr algn="ctr" indent="0" marL="0">
              <a:buNone/>
            </a:pPr>
            <a:r>
              <a:rPr lang="en-US" sz="1050" b="1" dirty="0">
                <a:solidFill>
                  <a:srgbClr val="222222"/>
                </a:solidFill>
                <a:latin typeface="Noto Sans JP" pitchFamily="34" charset="0"/>
                <a:ea typeface="Noto Sans JP" pitchFamily="34" charset="-122"/>
                <a:cs typeface="Noto Sans JP" pitchFamily="34" charset="-120"/>
              </a:rPr>
              <a:t>④ 造林・保育</a:t>
            </a:r>
            <a:endParaRPr lang="en-US" sz="1050" dirty="0"/>
          </a:p>
        </p:txBody>
      </p:sp>
      <p:sp>
        <p:nvSpPr>
          <p:cNvPr id="50" name="Text 39"/>
          <p:cNvSpPr txBox="1"/>
          <p:nvPr/>
        </p:nvSpPr>
        <p:spPr>
          <a:xfrm>
            <a:off x="6223000" y="2489200"/>
            <a:ext cx="965200" cy="635000"/>
          </a:xfrm>
          <a:prstGeom prst="rect">
            <a:avLst/>
          </a:prstGeom>
          <a:noFill/>
          <a:ln/>
        </p:spPr>
        <p:txBody>
          <a:bodyPr wrap="square" lIns="0" tIns="0" rIns="0" bIns="0" rtlCol="0" anchor="t"/>
          <a:lstStyle/>
          <a:p>
            <a:pPr algn="ctr" indent="0" marL="0">
              <a:lnSpc>
                <a:spcPct val="120000"/>
              </a:lnSpc>
              <a:buNone/>
            </a:pPr>
            <a:r>
              <a:rPr lang="en-US" sz="800" dirty="0">
                <a:solidFill>
                  <a:srgbClr val="444444"/>
                </a:solidFill>
                <a:latin typeface="Noto Sans JP" pitchFamily="34" charset="0"/>
                <a:ea typeface="Noto Sans JP" pitchFamily="34" charset="-122"/>
                <a:cs typeface="Noto Sans JP" pitchFamily="34" charset="-120"/>
              </a:rPr>
              <a:t>植栽・下刈り</a:t>
            </a:r>
            <a:endParaRPr lang="en-US" sz="800" dirty="0"/>
          </a:p>
          <a:p>
            <a:pPr algn="ctr" indent="0" marL="0">
              <a:lnSpc>
                <a:spcPct val="120000"/>
              </a:lnSpc>
              <a:buNone/>
            </a:pPr>
            <a:r>
              <a:rPr lang="en-US" sz="800" dirty="0">
                <a:solidFill>
                  <a:srgbClr val="444444"/>
                </a:solidFill>
                <a:latin typeface="Noto Sans JP" pitchFamily="34" charset="0"/>
                <a:ea typeface="Noto Sans JP" pitchFamily="34" charset="-122"/>
                <a:cs typeface="Noto Sans JP" pitchFamily="34" charset="-120"/>
              </a:rPr>
              <a:t>長期の森づくり</a:t>
            </a:r>
            <a:endParaRPr lang="en-US" sz="800" dirty="0"/>
          </a:p>
        </p:txBody>
      </p:sp>
      <p:sp>
        <p:nvSpPr>
          <p:cNvPr id="51" name="Shape 40"/>
          <p:cNvSpPr/>
          <p:nvPr/>
        </p:nvSpPr>
        <p:spPr>
          <a:xfrm>
            <a:off x="6299200" y="3302000"/>
            <a:ext cx="812800" cy="228600"/>
          </a:xfrm>
          <a:prstGeom prst="roundRect">
            <a:avLst>
              <a:gd name="adj" fmla="val 40000"/>
            </a:avLst>
          </a:prstGeom>
          <a:solidFill>
            <a:srgbClr val="FFFFFF"/>
          </a:solidFill>
          <a:ln w="9525">
            <a:solidFill>
              <a:srgbClr val="1F9970"/>
            </a:solidFill>
            <a:prstDash val="solid"/>
          </a:ln>
        </p:spPr>
      </p:sp>
      <p:sp>
        <p:nvSpPr>
          <p:cNvPr id="52" name="Text 41"/>
          <p:cNvSpPr txBox="1"/>
          <p:nvPr/>
        </p:nvSpPr>
        <p:spPr>
          <a:xfrm>
            <a:off x="6299200" y="3302000"/>
            <a:ext cx="812800" cy="228600"/>
          </a:xfrm>
          <a:prstGeom prst="rect">
            <a:avLst/>
          </a:prstGeom>
          <a:noFill/>
          <a:ln/>
        </p:spPr>
        <p:txBody>
          <a:bodyPr wrap="square" lIns="0" tIns="0" rIns="0" bIns="0" rtlCol="0" anchor="ctr"/>
          <a:lstStyle/>
          <a:p>
            <a:pPr algn="ctr" indent="0" marL="0">
              <a:buNone/>
            </a:pPr>
            <a:r>
              <a:rPr lang="en-US" sz="750" b="1" dirty="0">
                <a:solidFill>
                  <a:srgbClr val="16816D"/>
                </a:solidFill>
                <a:latin typeface="Noto Sans JP" pitchFamily="34" charset="0"/>
                <a:ea typeface="Noto Sans JP" pitchFamily="34" charset="-122"/>
                <a:cs typeface="Noto Sans JP" pitchFamily="34" charset="-120"/>
              </a:rPr>
              <a:t>課題⑥</a:t>
            </a:r>
            <a:endParaRPr lang="en-US" sz="750" dirty="0"/>
          </a:p>
        </p:txBody>
      </p:sp>
      <p:sp>
        <p:nvSpPr>
          <p:cNvPr id="53" name="Text 42"/>
          <p:cNvSpPr txBox="1"/>
          <p:nvPr/>
        </p:nvSpPr>
        <p:spPr>
          <a:xfrm>
            <a:off x="2590800" y="3835400"/>
            <a:ext cx="4648200" cy="203200"/>
          </a:xfrm>
          <a:prstGeom prst="rect">
            <a:avLst/>
          </a:prstGeom>
          <a:noFill/>
          <a:ln/>
        </p:spPr>
        <p:txBody>
          <a:bodyPr wrap="square" lIns="0" tIns="0" rIns="0" bIns="0" rtlCol="0" anchor="t"/>
          <a:lstStyle/>
          <a:p>
            <a:pPr algn="ctr" indent="0" marL="0">
              <a:buNone/>
            </a:pPr>
            <a:r>
              <a:rPr lang="en-US" sz="850" dirty="0">
                <a:solidFill>
                  <a:srgbClr val="757575"/>
                </a:solidFill>
                <a:latin typeface="Noto Sans JP" pitchFamily="34" charset="0"/>
                <a:ea typeface="Noto Sans JP" pitchFamily="34" charset="-122"/>
                <a:cs typeface="Noto Sans JP" pitchFamily="34" charset="-120"/>
              </a:rPr>
              <a:t>連携：森林組合・林業事業体・測量事業者・造林事業者</a:t>
            </a:r>
            <a:endParaRPr lang="en-US" sz="850" dirty="0"/>
          </a:p>
        </p:txBody>
      </p:sp>
      <p:pic>
        <p:nvPicPr>
          <p:cNvPr id="54" name="Image 9" descr="preencoded.png">    </p:cNvPr>
          <p:cNvPicPr>
            <a:picLocks noChangeAspect="1"/>
          </p:cNvPicPr>
          <p:nvPr/>
        </p:nvPicPr>
        <p:blipFill>
          <a:blip r:embed="rId10"/>
          <a:stretch>
            <a:fillRect/>
          </a:stretch>
        </p:blipFill>
        <p:spPr>
          <a:xfrm>
            <a:off x="7429500" y="2768600"/>
            <a:ext cx="177800" cy="177800"/>
          </a:xfrm>
          <a:prstGeom prst="rect">
            <a:avLst/>
          </a:prstGeom>
        </p:spPr>
      </p:pic>
      <p:sp>
        <p:nvSpPr>
          <p:cNvPr id="55" name="Shape 43"/>
          <p:cNvSpPr/>
          <p:nvPr/>
        </p:nvSpPr>
        <p:spPr>
          <a:xfrm>
            <a:off x="7645400" y="1905000"/>
            <a:ext cx="1168400" cy="1905000"/>
          </a:xfrm>
          <a:prstGeom prst="rect">
            <a:avLst/>
          </a:prstGeom>
          <a:solidFill>
            <a:srgbClr val="EEEEEE"/>
          </a:solidFill>
          <a:ln/>
        </p:spPr>
      </p:sp>
      <p:sp>
        <p:nvSpPr>
          <p:cNvPr id="56" name="Shape 44"/>
          <p:cNvSpPr/>
          <p:nvPr/>
        </p:nvSpPr>
        <p:spPr>
          <a:xfrm>
            <a:off x="8001000" y="2082800"/>
            <a:ext cx="457200" cy="457200"/>
          </a:xfrm>
          <a:prstGeom prst="ellipse">
            <a:avLst/>
          </a:prstGeom>
          <a:solidFill>
            <a:srgbClr val="16816D"/>
          </a:solidFill>
          <a:ln/>
        </p:spPr>
      </p:sp>
      <p:pic>
        <p:nvPicPr>
          <p:cNvPr id="57" name="Image 10" descr="preencoded.png">    </p:cNvPr>
          <p:cNvPicPr>
            <a:picLocks noChangeAspect="1"/>
          </p:cNvPicPr>
          <p:nvPr/>
        </p:nvPicPr>
        <p:blipFill>
          <a:blip r:embed="rId11"/>
          <a:stretch>
            <a:fillRect/>
          </a:stretch>
        </p:blipFill>
        <p:spPr>
          <a:xfrm>
            <a:off x="8115300" y="2197100"/>
            <a:ext cx="228600" cy="228600"/>
          </a:xfrm>
          <a:prstGeom prst="rect">
            <a:avLst/>
          </a:prstGeom>
        </p:spPr>
      </p:pic>
      <p:sp>
        <p:nvSpPr>
          <p:cNvPr id="58" name="Text 45"/>
          <p:cNvSpPr txBox="1"/>
          <p:nvPr/>
        </p:nvSpPr>
        <p:spPr>
          <a:xfrm>
            <a:off x="7645400" y="2641600"/>
            <a:ext cx="1168400" cy="228600"/>
          </a:xfrm>
          <a:prstGeom prst="rect">
            <a:avLst/>
          </a:prstGeom>
          <a:noFill/>
          <a:ln/>
        </p:spPr>
        <p:txBody>
          <a:bodyPr wrap="square" lIns="0" tIns="0" rIns="0" bIns="0" rtlCol="0" anchor="t"/>
          <a:lstStyle/>
          <a:p>
            <a:pPr algn="ctr" indent="0" marL="0">
              <a:buNone/>
            </a:pPr>
            <a:r>
              <a:rPr lang="en-US" sz="1200" b="1" dirty="0">
                <a:solidFill>
                  <a:srgbClr val="222222"/>
                </a:solidFill>
                <a:latin typeface="Noto Sans JP" pitchFamily="34" charset="0"/>
                <a:ea typeface="Noto Sans JP" pitchFamily="34" charset="-122"/>
                <a:cs typeface="Noto Sans JP" pitchFamily="34" charset="-120"/>
              </a:rPr>
              <a:t>木材利用</a:t>
            </a:r>
            <a:endParaRPr lang="en-US" sz="1200" dirty="0"/>
          </a:p>
        </p:txBody>
      </p:sp>
      <p:sp>
        <p:nvSpPr>
          <p:cNvPr id="59" name="Text 46"/>
          <p:cNvSpPr txBox="1"/>
          <p:nvPr/>
        </p:nvSpPr>
        <p:spPr>
          <a:xfrm>
            <a:off x="7670800" y="2946400"/>
            <a:ext cx="1117600" cy="711200"/>
          </a:xfrm>
          <a:prstGeom prst="rect">
            <a:avLst/>
          </a:prstGeom>
          <a:noFill/>
          <a:ln/>
        </p:spPr>
        <p:txBody>
          <a:bodyPr wrap="square" lIns="0" tIns="0" rIns="0" bIns="0" rtlCol="0" anchor="t"/>
          <a:lstStyle/>
          <a:p>
            <a:pPr algn="ctr" indent="0" marL="0">
              <a:lnSpc>
                <a:spcPct val="120000"/>
              </a:lnSpc>
              <a:buNone/>
            </a:pPr>
            <a:r>
              <a:rPr lang="en-US" sz="750" dirty="0">
                <a:solidFill>
                  <a:srgbClr val="444444"/>
                </a:solidFill>
                <a:latin typeface="Noto Sans JP" pitchFamily="34" charset="0"/>
                <a:ea typeface="Noto Sans JP" pitchFamily="34" charset="-122"/>
                <a:cs typeface="Noto Sans JP" pitchFamily="34" charset="-120"/>
              </a:rPr>
              <a:t>森未来の流通網で</a:t>
            </a:r>
            <a:endParaRPr lang="en-US" sz="750" dirty="0"/>
          </a:p>
          <a:p>
            <a:pPr algn="ctr" indent="0" marL="0">
              <a:lnSpc>
                <a:spcPct val="120000"/>
              </a:lnSpc>
              <a:buNone/>
            </a:pPr>
            <a:r>
              <a:rPr lang="en-US" sz="750" dirty="0">
                <a:solidFill>
                  <a:srgbClr val="444444"/>
                </a:solidFill>
                <a:latin typeface="Noto Sans JP" pitchFamily="34" charset="0"/>
                <a:ea typeface="Noto Sans JP" pitchFamily="34" charset="-122"/>
                <a:cs typeface="Noto Sans JP" pitchFamily="34" charset="-120"/>
              </a:rPr>
              <a:t>建築・内装・家具へ</a:t>
            </a:r>
            <a:endParaRPr lang="en-US" sz="750" dirty="0"/>
          </a:p>
          <a:p>
            <a:pPr algn="ctr" indent="0" marL="0">
              <a:lnSpc>
                <a:spcPct val="120000"/>
              </a:lnSpc>
              <a:buNone/>
            </a:pPr>
            <a:r>
              <a:rPr lang="en-US" sz="750" dirty="0">
                <a:solidFill>
                  <a:srgbClr val="444444"/>
                </a:solidFill>
                <a:latin typeface="Noto Sans JP" pitchFamily="34" charset="0"/>
                <a:ea typeface="Noto Sans JP" pitchFamily="34" charset="-122"/>
                <a:cs typeface="Noto Sans JP" pitchFamily="34" charset="-120"/>
              </a:rPr>
              <a:t>森林体験・木材WS</a:t>
            </a:r>
            <a:endParaRPr lang="en-US" sz="750" dirty="0"/>
          </a:p>
        </p:txBody>
      </p:sp>
      <p:sp>
        <p:nvSpPr>
          <p:cNvPr id="60" name="Shape 47"/>
          <p:cNvSpPr/>
          <p:nvPr/>
        </p:nvSpPr>
        <p:spPr>
          <a:xfrm>
            <a:off x="355600" y="4165600"/>
            <a:ext cx="2032000" cy="304800"/>
          </a:xfrm>
          <a:prstGeom prst="rect">
            <a:avLst/>
          </a:prstGeom>
          <a:solidFill>
            <a:srgbClr val="E8F5EF"/>
          </a:solidFill>
          <a:ln/>
        </p:spPr>
      </p:sp>
      <p:pic>
        <p:nvPicPr>
          <p:cNvPr id="61" name="Image 11" descr="preencoded.png">    </p:cNvPr>
          <p:cNvPicPr>
            <a:picLocks noChangeAspect="1"/>
          </p:cNvPicPr>
          <p:nvPr/>
        </p:nvPicPr>
        <p:blipFill>
          <a:blip r:embed="rId12"/>
          <a:stretch>
            <a:fillRect/>
          </a:stretch>
        </p:blipFill>
        <p:spPr>
          <a:xfrm>
            <a:off x="431800" y="4229100"/>
            <a:ext cx="177800" cy="177800"/>
          </a:xfrm>
          <a:prstGeom prst="rect">
            <a:avLst/>
          </a:prstGeom>
        </p:spPr>
      </p:pic>
      <p:sp>
        <p:nvSpPr>
          <p:cNvPr id="62" name="Text 48"/>
          <p:cNvSpPr txBox="1"/>
          <p:nvPr/>
        </p:nvSpPr>
        <p:spPr>
          <a:xfrm>
            <a:off x="660400" y="4165600"/>
            <a:ext cx="1701800" cy="304800"/>
          </a:xfrm>
          <a:prstGeom prst="rect">
            <a:avLst/>
          </a:prstGeom>
          <a:noFill/>
          <a:ln/>
        </p:spPr>
        <p:txBody>
          <a:bodyPr wrap="square" lIns="0" tIns="0" rIns="0" bIns="0" rtlCol="0" anchor="ctr"/>
          <a:lstStyle/>
          <a:p>
            <a:pPr indent="0" marL="0">
              <a:buNone/>
            </a:pPr>
            <a:r>
              <a:rPr lang="en-US" sz="750" b="1" dirty="0">
                <a:solidFill>
                  <a:srgbClr val="16816D"/>
                </a:solidFill>
                <a:latin typeface="Noto Sans JP" pitchFamily="34" charset="0"/>
                <a:ea typeface="Noto Sans JP" pitchFamily="34" charset="-122"/>
                <a:cs typeface="Noto Sans JP" pitchFamily="34" charset="-120"/>
              </a:rPr>
              <a:t>販売益を森へ還元し循環</a:t>
            </a:r>
            <a:endParaRPr lang="en-US" sz="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tmp/claude-0/-home-user--/135b95b8-9a7c-5e2e-abb3-3369b8f4d943/scratchpad/assets/logo_dark.png">    </p:cNvPr>
          <p:cNvPicPr>
            <a:picLocks noChangeAspect="1"/>
          </p:cNvPicPr>
          <p:nvPr/>
        </p:nvPicPr>
        <p:blipFill>
          <a:blip r:embed="rId1"/>
          <a:stretch>
            <a:fillRect/>
          </a:stretch>
        </p:blipFill>
        <p:spPr>
          <a:xfrm>
            <a:off x="355600" y="160020"/>
            <a:ext cx="558800" cy="254000"/>
          </a:xfrm>
          <a:prstGeom prst="rect">
            <a:avLst/>
          </a:prstGeom>
        </p:spPr>
      </p:pic>
      <p:sp>
        <p:nvSpPr>
          <p:cNvPr id="3" name="Text 0"/>
          <p:cNvSpPr txBox="1"/>
          <p:nvPr/>
        </p:nvSpPr>
        <p:spPr>
          <a:xfrm>
            <a:off x="1397000" y="127000"/>
            <a:ext cx="6350000" cy="304800"/>
          </a:xfrm>
          <a:prstGeom prst="rect">
            <a:avLst/>
          </a:prstGeom>
          <a:noFill/>
          <a:ln/>
        </p:spPr>
        <p:txBody>
          <a:bodyPr wrap="square" lIns="0" tIns="0" rIns="0" bIns="0" rtlCol="0" anchor="ctr"/>
          <a:lstStyle/>
          <a:p>
            <a:pPr algn="ctr" indent="0" marL="0">
              <a:buNone/>
            </a:pPr>
            <a:r>
              <a:rPr lang="en-US" sz="1500" b="1" dirty="0">
                <a:solidFill>
                  <a:srgbClr val="222222"/>
                </a:solidFill>
                <a:latin typeface="Noto Sans JP" pitchFamily="34" charset="0"/>
                <a:ea typeface="Noto Sans JP" pitchFamily="34" charset="-122"/>
                <a:cs typeface="Noto Sans JP" pitchFamily="34" charset="-120"/>
              </a:rPr>
              <a:t>課題と本モデルでの打ち手</a:t>
            </a:r>
            <a:endParaRPr lang="en-US" sz="1500" dirty="0"/>
          </a:p>
        </p:txBody>
      </p:sp>
      <p:sp>
        <p:nvSpPr>
          <p:cNvPr id="4" name="Shape 1"/>
          <p:cNvSpPr/>
          <p:nvPr/>
        </p:nvSpPr>
        <p:spPr>
          <a:xfrm>
            <a:off x="0" y="539750"/>
            <a:ext cx="9144000" cy="0"/>
          </a:xfrm>
          <a:prstGeom prst="line">
            <a:avLst/>
          </a:prstGeom>
          <a:noFill/>
          <a:ln w="9525">
            <a:solidFill>
              <a:srgbClr val="999999"/>
            </a:solidFill>
            <a:prstDash val="solid"/>
          </a:ln>
        </p:spPr>
      </p:sp>
      <p:sp>
        <p:nvSpPr>
          <p:cNvPr id="5" name="Shape 2"/>
          <p:cNvSpPr/>
          <p:nvPr/>
        </p:nvSpPr>
        <p:spPr>
          <a:xfrm>
            <a:off x="88900" y="4876800"/>
            <a:ext cx="723900" cy="165100"/>
          </a:xfrm>
          <a:prstGeom prst="rect">
            <a:avLst/>
          </a:prstGeom>
          <a:solidFill>
            <a:srgbClr val="FFFFFF"/>
          </a:solidFill>
          <a:ln w="6350">
            <a:solidFill>
              <a:srgbClr val="B2B2B2"/>
            </a:solidFill>
            <a:prstDash val="solid"/>
          </a:ln>
        </p:spPr>
      </p:sp>
      <p:sp>
        <p:nvSpPr>
          <p:cNvPr id="6" name="Text 3"/>
          <p:cNvSpPr txBox="1"/>
          <p:nvPr/>
        </p:nvSpPr>
        <p:spPr>
          <a:xfrm>
            <a:off x="88900" y="4876800"/>
            <a:ext cx="723900" cy="165100"/>
          </a:xfrm>
          <a:prstGeom prst="rect">
            <a:avLst/>
          </a:prstGeom>
          <a:noFill/>
          <a:ln/>
        </p:spPr>
        <p:txBody>
          <a:bodyPr wrap="square" lIns="0" tIns="0" rIns="0" bIns="0" rtlCol="0" anchor="ctr"/>
          <a:lstStyle/>
          <a:p>
            <a:pPr algn="ctr" indent="0" marL="0">
              <a:buNone/>
            </a:pPr>
            <a:r>
              <a:rPr lang="en-US" sz="700" dirty="0">
                <a:solidFill>
                  <a:srgbClr val="757575"/>
                </a:solidFill>
                <a:latin typeface="Arial" pitchFamily="34" charset="0"/>
                <a:ea typeface="Arial" pitchFamily="34" charset="-122"/>
                <a:cs typeface="Arial" pitchFamily="34" charset="-120"/>
              </a:rPr>
              <a:t>confidential</a:t>
            </a:r>
            <a:endParaRPr lang="en-US" sz="700" dirty="0"/>
          </a:p>
        </p:txBody>
      </p:sp>
      <p:sp>
        <p:nvSpPr>
          <p:cNvPr id="7" name="Text 4"/>
          <p:cNvSpPr txBox="1"/>
          <p:nvPr/>
        </p:nvSpPr>
        <p:spPr>
          <a:xfrm>
            <a:off x="8509000" y="4826000"/>
            <a:ext cx="533400" cy="203200"/>
          </a:xfrm>
          <a:prstGeom prst="rect">
            <a:avLst/>
          </a:prstGeom>
          <a:noFill/>
          <a:ln/>
        </p:spPr>
        <p:txBody>
          <a:bodyPr wrap="square" lIns="0" tIns="0" rIns="0" bIns="0" rtlCol="0" anchor="t"/>
          <a:lstStyle/>
          <a:p>
            <a:pPr algn="r" indent="0" marL="0">
              <a:buNone/>
            </a:pPr>
            <a:r>
              <a:rPr lang="en-US" sz="1100" dirty="0">
                <a:solidFill>
                  <a:srgbClr val="757575"/>
                </a:solidFill>
                <a:latin typeface="Noto Sans JP" pitchFamily="34" charset="0"/>
                <a:ea typeface="Noto Sans JP" pitchFamily="34" charset="-122"/>
                <a:cs typeface="Noto Sans JP" pitchFamily="34" charset="-120"/>
              </a:rPr>
              <a:t>15</a:t>
            </a:r>
            <a:endParaRPr lang="en-US" sz="11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787400"/>
          <a:ext cx="8229600" cy="914400"/>
        </p:xfrm>
        <a:graphic>
          <a:graphicData uri="http://schemas.openxmlformats.org/drawingml/2006/table">
            <a:tbl>
              <a:tblPr/>
              <a:tblGrid>
                <a:gridCol w="2159000"/>
                <a:gridCol w="1778000"/>
                <a:gridCol w="4292600"/>
              </a:tblGrid>
              <a:tr h="330200">
                <a:tc>
                  <a:txBody>
                    <a:bodyPr/>
                    <a:lstStyle/>
                    <a:p>
                      <a:pPr algn="ctr" indent="0" marL="0">
                        <a:buNone/>
                      </a:pPr>
                      <a:r>
                        <a:rPr lang="en-US" sz="1050" b="1" dirty="0">
                          <a:solidFill>
                            <a:srgbClr val="FFFFFF"/>
                          </a:solidFill>
                          <a:latin typeface="Noto Sans JP" pitchFamily="34" charset="0"/>
                          <a:ea typeface="Noto Sans JP" pitchFamily="34" charset="-122"/>
                          <a:cs typeface="Noto Sans JP" pitchFamily="34" charset="-120"/>
                        </a:rPr>
                        <a:t>課題</a:t>
                      </a:r>
                      <a:endParaRPr lang="en-US" sz="1050" dirty="0">
                        <a:latin typeface="Noto Sans JP" charset="0"/>
                        <a:ea typeface="Noto Sans JP" charset="0"/>
                        <a:cs typeface="Noto Sans JP" charset="0"/>
                      </a:endParaRPr>
                    </a:p>
                  </a:txBody>
                  <a:tcPr marL="73152" marR="73152" marT="18288" marB="18288" anchor="ct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solidFill>
                      <a:srgbClr val="1F9970"/>
                    </a:solidFill>
                  </a:tcPr>
                </a:tc>
                <a:tc>
                  <a:txBody>
                    <a:bodyPr/>
                    <a:lstStyle/>
                    <a:p>
                      <a:pPr algn="ctr" indent="0" marL="0">
                        <a:buNone/>
                      </a:pPr>
                      <a:r>
                        <a:rPr lang="en-US" sz="1050" b="1" dirty="0">
                          <a:solidFill>
                            <a:srgbClr val="FFFFFF"/>
                          </a:solidFill>
                          <a:latin typeface="Noto Sans JP" pitchFamily="34" charset="0"/>
                          <a:ea typeface="Noto Sans JP" pitchFamily="34" charset="-122"/>
                          <a:cs typeface="Noto Sans JP" pitchFamily="34" charset="-120"/>
                        </a:rPr>
                        <a:t>現状</a:t>
                      </a:r>
                      <a:endParaRPr lang="en-US" sz="1050" dirty="0">
                        <a:latin typeface="Noto Sans JP" charset="0"/>
                        <a:ea typeface="Noto Sans JP" charset="0"/>
                        <a:cs typeface="Noto Sans JP" charset="0"/>
                      </a:endParaRPr>
                    </a:p>
                  </a:txBody>
                  <a:tcPr marL="73152" marR="73152" marT="18288" marB="18288" anchor="ct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solidFill>
                      <a:srgbClr val="1F9970"/>
                    </a:solidFill>
                  </a:tcPr>
                </a:tc>
                <a:tc>
                  <a:txBody>
                    <a:bodyPr/>
                    <a:lstStyle/>
                    <a:p>
                      <a:pPr algn="ctr" indent="0" marL="0">
                        <a:buNone/>
                      </a:pPr>
                      <a:r>
                        <a:rPr lang="en-US" sz="1050" b="1" dirty="0">
                          <a:solidFill>
                            <a:srgbClr val="FFFFFF"/>
                          </a:solidFill>
                          <a:latin typeface="Noto Sans JP" pitchFamily="34" charset="0"/>
                          <a:ea typeface="Noto Sans JP" pitchFamily="34" charset="-122"/>
                          <a:cs typeface="Noto Sans JP" pitchFamily="34" charset="-120"/>
                        </a:rPr>
                        <a:t>本モデルでの打ち手</a:t>
                      </a:r>
                      <a:endParaRPr lang="en-US" sz="1050" dirty="0">
                        <a:latin typeface="Noto Sans JP" charset="0"/>
                        <a:ea typeface="Noto Sans JP" charset="0"/>
                        <a:cs typeface="Noto Sans JP" charset="0"/>
                      </a:endParaRPr>
                    </a:p>
                  </a:txBody>
                  <a:tcPr marL="73152" marR="73152" marT="18288" marB="18288" anchor="ct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solidFill>
                      <a:srgbClr val="1F9970"/>
                    </a:solidFill>
                  </a:tcPr>
                </a:tc>
              </a:tr>
              <a:tr h="558800">
                <a:tc>
                  <a:txBody>
                    <a:bodyPr/>
                    <a:lstStyle/>
                    <a:p>
                      <a:pPr indent="0" marL="0">
                        <a:buNone/>
                      </a:pPr>
                      <a:r>
                        <a:rPr lang="en-US" sz="1000" b="1" dirty="0">
                          <a:solidFill>
                            <a:srgbClr val="222222"/>
                          </a:solidFill>
                          <a:latin typeface="Noto Sans JP" pitchFamily="34" charset="0"/>
                          <a:ea typeface="Noto Sans JP" pitchFamily="34" charset="-122"/>
                          <a:cs typeface="Noto Sans JP" pitchFamily="34" charset="-120"/>
                        </a:rPr>
                        <a:t>① 所有構造の零細・分散</a:t>
                      </a:r>
                      <a:endParaRPr lang="en-US" sz="1000" dirty="0">
                        <a:latin typeface="Noto Sans JP" charset="0"/>
                        <a:ea typeface="Noto Sans JP" charset="0"/>
                        <a:cs typeface="Noto Sans JP" charset="0"/>
                      </a:endParaRPr>
                    </a:p>
                  </a:txBody>
                  <a:tcPr marL="73152" marR="73152" marT="18288" marB="18288" anchor="ct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solidFill>
                      <a:srgbClr val="F4F4F4"/>
                    </a:solidFill>
                  </a:tcPr>
                </a:tc>
                <a:tc>
                  <a:txBody>
                    <a:bodyPr/>
                    <a:lstStyle/>
                    <a:p>
                      <a:pPr indent="0" marL="0">
                        <a:buNone/>
                      </a:pPr>
                      <a:r>
                        <a:rPr lang="en-US" sz="950" dirty="0">
                          <a:solidFill>
                            <a:srgbClr val="444444"/>
                          </a:solidFill>
                          <a:latin typeface="Noto Sans JP" pitchFamily="34" charset="0"/>
                          <a:ea typeface="Noto Sans JP" pitchFamily="34" charset="-122"/>
                          <a:cs typeface="Noto Sans JP" pitchFamily="34" charset="-120"/>
                        </a:rPr>
                        <a:t>5ha未満の所有者が89%</a:t>
                      </a:r>
                      <a:endParaRPr lang="en-US" sz="950" dirty="0">
                        <a:latin typeface="Noto Sans JP" charset="0"/>
                        <a:ea typeface="Noto Sans JP" charset="0"/>
                        <a:cs typeface="Noto Sans JP" charset="0"/>
                      </a:endParaRPr>
                    </a:p>
                  </a:txBody>
                  <a:tcPr marL="73152" marR="73152" marT="18288" marB="18288" anchor="ct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tcPr>
                </a:tc>
                <a:tc>
                  <a:txBody>
                    <a:bodyPr/>
                    <a:lstStyle/>
                    <a:p>
                      <a:pPr indent="0" marL="0">
                        <a:buNone/>
                      </a:pPr>
                      <a:r>
                        <a:rPr lang="en-US" sz="950" b="1" dirty="0">
                          <a:solidFill>
                            <a:srgbClr val="16816D"/>
                          </a:solidFill>
                          <a:latin typeface="Noto Sans JP" pitchFamily="34" charset="0"/>
                          <a:ea typeface="Noto Sans JP" pitchFamily="34" charset="-122"/>
                          <a:cs typeface="Noto Sans JP" pitchFamily="34" charset="-120"/>
                        </a:rPr>
                        <a:t>隣接する小規模森林をまとめた「施業団地」を設定し、面でまとめて施業</a:t>
                      </a:r>
                      <a:endParaRPr lang="en-US" sz="950" dirty="0">
                        <a:latin typeface="Noto Sans JP" charset="0"/>
                        <a:ea typeface="Noto Sans JP" charset="0"/>
                        <a:cs typeface="Noto Sans JP" charset="0"/>
                      </a:endParaRPr>
                    </a:p>
                  </a:txBody>
                  <a:tcPr marL="73152" marR="73152" marT="18288" marB="18288" anchor="ct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tcPr>
                </a:tc>
              </a:tr>
              <a:tr h="558800">
                <a:tc>
                  <a:txBody>
                    <a:bodyPr/>
                    <a:lstStyle/>
                    <a:p>
                      <a:pPr indent="0" marL="0">
                        <a:buNone/>
                      </a:pPr>
                      <a:r>
                        <a:rPr lang="en-US" sz="1000" b="1" dirty="0">
                          <a:solidFill>
                            <a:srgbClr val="222222"/>
                          </a:solidFill>
                          <a:latin typeface="Noto Sans JP" pitchFamily="34" charset="0"/>
                          <a:ea typeface="Noto Sans JP" pitchFamily="34" charset="-122"/>
                          <a:cs typeface="Noto Sans JP" pitchFamily="34" charset="-120"/>
                        </a:rPr>
                        <a:t>② 森林境界が不明確</a:t>
                      </a:r>
                      <a:endParaRPr lang="en-US" sz="1000" dirty="0">
                        <a:latin typeface="Noto Sans JP" charset="0"/>
                        <a:ea typeface="Noto Sans JP" charset="0"/>
                        <a:cs typeface="Noto Sans JP" charset="0"/>
                      </a:endParaRPr>
                    </a:p>
                  </a:txBody>
                  <a:tcPr marL="73152" marR="73152" marT="18288" marB="18288" anchor="ct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solidFill>
                      <a:srgbClr val="F4F4F4"/>
                    </a:solidFill>
                  </a:tcPr>
                </a:tc>
                <a:tc>
                  <a:txBody>
                    <a:bodyPr/>
                    <a:lstStyle/>
                    <a:p>
                      <a:pPr indent="0" marL="0">
                        <a:buNone/>
                      </a:pPr>
                      <a:r>
                        <a:rPr lang="en-US" sz="950" dirty="0">
                          <a:solidFill>
                            <a:srgbClr val="444444"/>
                          </a:solidFill>
                          <a:latin typeface="Noto Sans JP" pitchFamily="34" charset="0"/>
                          <a:ea typeface="Noto Sans JP" pitchFamily="34" charset="-122"/>
                          <a:cs typeface="Noto Sans JP" pitchFamily="34" charset="-120"/>
                        </a:rPr>
                        <a:t>地籍調査進捗率4%</a:t>
                      </a:r>
                      <a:endParaRPr lang="en-US" sz="950" dirty="0">
                        <a:latin typeface="Noto Sans JP" charset="0"/>
                        <a:ea typeface="Noto Sans JP" charset="0"/>
                        <a:cs typeface="Noto Sans JP" charset="0"/>
                      </a:endParaRPr>
                    </a:p>
                  </a:txBody>
                  <a:tcPr marL="73152" marR="73152" marT="18288" marB="18288" anchor="ct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tcPr>
                </a:tc>
                <a:tc>
                  <a:txBody>
                    <a:bodyPr/>
                    <a:lstStyle/>
                    <a:p>
                      <a:pPr indent="0" marL="0">
                        <a:buNone/>
                      </a:pPr>
                      <a:r>
                        <a:rPr lang="en-US" sz="950" b="1" dirty="0">
                          <a:solidFill>
                            <a:srgbClr val="16816D"/>
                          </a:solidFill>
                          <a:latin typeface="Noto Sans JP" pitchFamily="34" charset="0"/>
                          <a:ea typeface="Noto Sans JP" pitchFamily="34" charset="-122"/>
                          <a:cs typeface="Noto Sans JP" pitchFamily="34" charset="-120"/>
                        </a:rPr>
                        <a:t>団地単位で所有者探索・立会い・測量を実施（GIS・航空レーザ等も活用）</a:t>
                      </a:r>
                      <a:endParaRPr lang="en-US" sz="950" dirty="0">
                        <a:latin typeface="Noto Sans JP" charset="0"/>
                        <a:ea typeface="Noto Sans JP" charset="0"/>
                        <a:cs typeface="Noto Sans JP" charset="0"/>
                      </a:endParaRPr>
                    </a:p>
                  </a:txBody>
                  <a:tcPr marL="73152" marR="73152" marT="18288" marB="18288" anchor="ct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tcPr>
                </a:tc>
              </a:tr>
              <a:tr h="558800">
                <a:tc>
                  <a:txBody>
                    <a:bodyPr/>
                    <a:lstStyle/>
                    <a:p>
                      <a:pPr indent="0" marL="0">
                        <a:buNone/>
                      </a:pPr>
                      <a:r>
                        <a:rPr lang="en-US" sz="1000" b="1" dirty="0">
                          <a:solidFill>
                            <a:srgbClr val="222222"/>
                          </a:solidFill>
                          <a:latin typeface="Noto Sans JP" pitchFamily="34" charset="0"/>
                          <a:ea typeface="Noto Sans JP" pitchFamily="34" charset="-122"/>
                          <a:cs typeface="Noto Sans JP" pitchFamily="34" charset="-120"/>
                        </a:rPr>
                        <a:t>③ 森林経営計画の低調</a:t>
                      </a:r>
                      <a:endParaRPr lang="en-US" sz="1000" dirty="0">
                        <a:latin typeface="Noto Sans JP" charset="0"/>
                        <a:ea typeface="Noto Sans JP" charset="0"/>
                        <a:cs typeface="Noto Sans JP" charset="0"/>
                      </a:endParaRPr>
                    </a:p>
                  </a:txBody>
                  <a:tcPr marL="73152" marR="73152" marT="18288" marB="18288" anchor="ct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solidFill>
                      <a:srgbClr val="F4F4F4"/>
                    </a:solidFill>
                  </a:tcPr>
                </a:tc>
                <a:tc>
                  <a:txBody>
                    <a:bodyPr/>
                    <a:lstStyle/>
                    <a:p>
                      <a:pPr indent="0" marL="0">
                        <a:buNone/>
                      </a:pPr>
                      <a:r>
                        <a:rPr lang="en-US" sz="950" dirty="0">
                          <a:solidFill>
                            <a:srgbClr val="444444"/>
                          </a:solidFill>
                          <a:latin typeface="Noto Sans JP" pitchFamily="34" charset="0"/>
                          <a:ea typeface="Noto Sans JP" pitchFamily="34" charset="-122"/>
                          <a:cs typeface="Noto Sans JP" pitchFamily="34" charset="-120"/>
                        </a:rPr>
                        <a:t>認定率25%</a:t>
                      </a:r>
                      <a:endParaRPr lang="en-US" sz="950" dirty="0">
                        <a:latin typeface="Noto Sans JP" charset="0"/>
                        <a:ea typeface="Noto Sans JP" charset="0"/>
                        <a:cs typeface="Noto Sans JP" charset="0"/>
                      </a:endParaRPr>
                    </a:p>
                  </a:txBody>
                  <a:tcPr marL="73152" marR="73152" marT="18288" marB="18288" anchor="ct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tcPr>
                </a:tc>
                <a:tc>
                  <a:txBody>
                    <a:bodyPr/>
                    <a:lstStyle/>
                    <a:p>
                      <a:pPr indent="0" marL="0">
                        <a:buNone/>
                      </a:pPr>
                      <a:r>
                        <a:rPr lang="en-US" sz="950" b="1" dirty="0">
                          <a:solidFill>
                            <a:srgbClr val="16816D"/>
                          </a:solidFill>
                          <a:latin typeface="Noto Sans JP" pitchFamily="34" charset="0"/>
                          <a:ea typeface="Noto Sans JP" pitchFamily="34" charset="-122"/>
                          <a:cs typeface="Noto Sans JP" pitchFamily="34" charset="-120"/>
                        </a:rPr>
                        <a:t>集約した団地で森林経営計画を作成し、補助金を活用できる状態へ</a:t>
                      </a:r>
                      <a:endParaRPr lang="en-US" sz="950" dirty="0">
                        <a:latin typeface="Noto Sans JP" charset="0"/>
                        <a:ea typeface="Noto Sans JP" charset="0"/>
                        <a:cs typeface="Noto Sans JP" charset="0"/>
                      </a:endParaRPr>
                    </a:p>
                  </a:txBody>
                  <a:tcPr marL="73152" marR="73152" marT="18288" marB="18288" anchor="ct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tcPr>
                </a:tc>
              </a:tr>
              <a:tr h="558800">
                <a:tc>
                  <a:txBody>
                    <a:bodyPr/>
                    <a:lstStyle/>
                    <a:p>
                      <a:pPr indent="0" marL="0">
                        <a:buNone/>
                      </a:pPr>
                      <a:r>
                        <a:rPr lang="en-US" sz="1000" b="1" dirty="0">
                          <a:solidFill>
                            <a:srgbClr val="222222"/>
                          </a:solidFill>
                          <a:latin typeface="Noto Sans JP" pitchFamily="34" charset="0"/>
                          <a:ea typeface="Noto Sans JP" pitchFamily="34" charset="-122"/>
                          <a:cs typeface="Noto Sans JP" pitchFamily="34" charset="-120"/>
                        </a:rPr>
                        <a:t>④ 経営管理制度の停滞</a:t>
                      </a:r>
                      <a:endParaRPr lang="en-US" sz="1000" dirty="0">
                        <a:latin typeface="Noto Sans JP" charset="0"/>
                        <a:ea typeface="Noto Sans JP" charset="0"/>
                        <a:cs typeface="Noto Sans JP" charset="0"/>
                      </a:endParaRPr>
                    </a:p>
                  </a:txBody>
                  <a:tcPr marL="73152" marR="73152" marT="18288" marB="18288" anchor="ct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solidFill>
                      <a:srgbClr val="F4F4F4"/>
                    </a:solidFill>
                  </a:tcPr>
                </a:tc>
                <a:tc>
                  <a:txBody>
                    <a:bodyPr/>
                    <a:lstStyle/>
                    <a:p>
                      <a:pPr indent="0" marL="0">
                        <a:buNone/>
                      </a:pPr>
                      <a:r>
                        <a:rPr lang="en-US" sz="950" dirty="0">
                          <a:solidFill>
                            <a:srgbClr val="444444"/>
                          </a:solidFill>
                          <a:latin typeface="Noto Sans JP" pitchFamily="34" charset="0"/>
                          <a:ea typeface="Noto Sans JP" pitchFamily="34" charset="-122"/>
                          <a:cs typeface="Noto Sans JP" pitchFamily="34" charset="-120"/>
                        </a:rPr>
                        <a:t>意向調査止まり</a:t>
                      </a:r>
                      <a:endParaRPr lang="en-US" sz="950" dirty="0">
                        <a:latin typeface="Noto Sans JP" charset="0"/>
                        <a:ea typeface="Noto Sans JP" charset="0"/>
                        <a:cs typeface="Noto Sans JP" charset="0"/>
                      </a:endParaRPr>
                    </a:p>
                  </a:txBody>
                  <a:tcPr marL="73152" marR="73152" marT="18288" marB="18288" anchor="ct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tcPr>
                </a:tc>
                <a:tc>
                  <a:txBody>
                    <a:bodyPr/>
                    <a:lstStyle/>
                    <a:p>
                      <a:pPr indent="0" marL="0">
                        <a:buNone/>
                      </a:pPr>
                      <a:r>
                        <a:rPr lang="en-US" sz="950" b="1" dirty="0">
                          <a:solidFill>
                            <a:srgbClr val="16816D"/>
                          </a:solidFill>
                          <a:latin typeface="Noto Sans JP" pitchFamily="34" charset="0"/>
                          <a:ea typeface="Noto Sans JP" pitchFamily="34" charset="-122"/>
                          <a:cs typeface="Noto Sans JP" pitchFamily="34" charset="-120"/>
                        </a:rPr>
                        <a:t>意向調査結果をもとに集積計画の策定を支援し、林業経営体へつなぐ</a:t>
                      </a:r>
                      <a:endParaRPr lang="en-US" sz="950" dirty="0">
                        <a:latin typeface="Noto Sans JP" charset="0"/>
                        <a:ea typeface="Noto Sans JP" charset="0"/>
                        <a:cs typeface="Noto Sans JP" charset="0"/>
                      </a:endParaRPr>
                    </a:p>
                  </a:txBody>
                  <a:tcPr marL="73152" marR="73152" marT="18288" marB="18288" anchor="ct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tcPr>
                </a:tc>
              </a:tr>
              <a:tr h="558800">
                <a:tc>
                  <a:txBody>
                    <a:bodyPr/>
                    <a:lstStyle/>
                    <a:p>
                      <a:pPr indent="0" marL="0">
                        <a:buNone/>
                      </a:pPr>
                      <a:r>
                        <a:rPr lang="en-US" sz="1000" b="1" dirty="0">
                          <a:solidFill>
                            <a:srgbClr val="222222"/>
                          </a:solidFill>
                          <a:latin typeface="Noto Sans JP" pitchFamily="34" charset="0"/>
                          <a:ea typeface="Noto Sans JP" pitchFamily="34" charset="-122"/>
                          <a:cs typeface="Noto Sans JP" pitchFamily="34" charset="-120"/>
                        </a:rPr>
                        <a:t>⑤ 林道整備の遅れ</a:t>
                      </a:r>
                      <a:endParaRPr lang="en-US" sz="1000" dirty="0">
                        <a:latin typeface="Noto Sans JP" charset="0"/>
                        <a:ea typeface="Noto Sans JP" charset="0"/>
                        <a:cs typeface="Noto Sans JP" charset="0"/>
                      </a:endParaRPr>
                    </a:p>
                  </a:txBody>
                  <a:tcPr marL="73152" marR="73152" marT="18288" marB="18288" anchor="ct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solidFill>
                      <a:srgbClr val="F4F4F4"/>
                    </a:solidFill>
                  </a:tcPr>
                </a:tc>
                <a:tc>
                  <a:txBody>
                    <a:bodyPr/>
                    <a:lstStyle/>
                    <a:p>
                      <a:pPr indent="0" marL="0">
                        <a:buNone/>
                      </a:pPr>
                      <a:r>
                        <a:rPr lang="en-US" sz="950" dirty="0">
                          <a:solidFill>
                            <a:srgbClr val="444444"/>
                          </a:solidFill>
                          <a:latin typeface="Noto Sans JP" pitchFamily="34" charset="0"/>
                          <a:ea typeface="Noto Sans JP" pitchFamily="34" charset="-122"/>
                          <a:cs typeface="Noto Sans JP" pitchFamily="34" charset="-120"/>
                        </a:rPr>
                        <a:t>民有林の林道密度5.5m/ha</a:t>
                      </a:r>
                      <a:endParaRPr lang="en-US" sz="950" dirty="0">
                        <a:latin typeface="Noto Sans JP" charset="0"/>
                        <a:ea typeface="Noto Sans JP" charset="0"/>
                        <a:cs typeface="Noto Sans JP" charset="0"/>
                      </a:endParaRPr>
                    </a:p>
                  </a:txBody>
                  <a:tcPr marL="73152" marR="73152" marT="18288" marB="18288" anchor="ct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tcPr>
                </a:tc>
                <a:tc>
                  <a:txBody>
                    <a:bodyPr/>
                    <a:lstStyle/>
                    <a:p>
                      <a:pPr indent="0" marL="0">
                        <a:buNone/>
                      </a:pPr>
                      <a:r>
                        <a:rPr lang="en-US" sz="950" b="1" dirty="0">
                          <a:solidFill>
                            <a:srgbClr val="16816D"/>
                          </a:solidFill>
                          <a:latin typeface="Noto Sans JP" pitchFamily="34" charset="0"/>
                          <a:ea typeface="Noto Sans JP" pitchFamily="34" charset="-122"/>
                          <a:cs typeface="Noto Sans JP" pitchFamily="34" charset="-120"/>
                        </a:rPr>
                        <a:t>団地ごとに低コストな森林作業道を配置し、搬出コストを低減</a:t>
                      </a:r>
                      <a:endParaRPr lang="en-US" sz="950" dirty="0">
                        <a:latin typeface="Noto Sans JP" charset="0"/>
                        <a:ea typeface="Noto Sans JP" charset="0"/>
                        <a:cs typeface="Noto Sans JP" charset="0"/>
                      </a:endParaRPr>
                    </a:p>
                  </a:txBody>
                  <a:tcPr marL="73152" marR="73152" marT="18288" marB="18288" anchor="ct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tcPr>
                </a:tc>
              </a:tr>
              <a:tr h="558800">
                <a:tc>
                  <a:txBody>
                    <a:bodyPr/>
                    <a:lstStyle/>
                    <a:p>
                      <a:pPr indent="0" marL="0">
                        <a:buNone/>
                      </a:pPr>
                      <a:r>
                        <a:rPr lang="en-US" sz="1000" b="1" dirty="0">
                          <a:solidFill>
                            <a:srgbClr val="222222"/>
                          </a:solidFill>
                          <a:latin typeface="Noto Sans JP" pitchFamily="34" charset="0"/>
                          <a:ea typeface="Noto Sans JP" pitchFamily="34" charset="-122"/>
                          <a:cs typeface="Noto Sans JP" pitchFamily="34" charset="-120"/>
                        </a:rPr>
                        <a:t>⑥ 譲与税の整備充当</a:t>
                      </a:r>
                      <a:endParaRPr lang="en-US" sz="1000" dirty="0">
                        <a:latin typeface="Noto Sans JP" charset="0"/>
                        <a:ea typeface="Noto Sans JP" charset="0"/>
                        <a:cs typeface="Noto Sans JP" charset="0"/>
                      </a:endParaRPr>
                    </a:p>
                  </a:txBody>
                  <a:tcPr marL="73152" marR="73152" marT="18288" marB="18288" anchor="ct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solidFill>
                      <a:srgbClr val="F4F4F4"/>
                    </a:solidFill>
                  </a:tcPr>
                </a:tc>
                <a:tc>
                  <a:txBody>
                    <a:bodyPr/>
                    <a:lstStyle/>
                    <a:p>
                      <a:pPr indent="0" marL="0">
                        <a:buNone/>
                      </a:pPr>
                      <a:r>
                        <a:rPr lang="en-US" sz="950" dirty="0">
                          <a:solidFill>
                            <a:srgbClr val="444444"/>
                          </a:solidFill>
                          <a:latin typeface="Noto Sans JP" pitchFamily="34" charset="0"/>
                          <a:ea typeface="Noto Sans JP" pitchFamily="34" charset="-122"/>
                          <a:cs typeface="Noto Sans JP" pitchFamily="34" charset="-120"/>
                        </a:rPr>
                        <a:t>民有林振興へ約1,495万円</a:t>
                      </a:r>
                      <a:endParaRPr lang="en-US" sz="950" dirty="0">
                        <a:latin typeface="Noto Sans JP" charset="0"/>
                        <a:ea typeface="Noto Sans JP" charset="0"/>
                        <a:cs typeface="Noto Sans JP" charset="0"/>
                      </a:endParaRPr>
                    </a:p>
                  </a:txBody>
                  <a:tcPr marL="73152" marR="73152" marT="18288" marB="18288" anchor="ct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tcPr>
                </a:tc>
                <a:tc>
                  <a:txBody>
                    <a:bodyPr/>
                    <a:lstStyle/>
                    <a:p>
                      <a:pPr indent="0" marL="0">
                        <a:buNone/>
                      </a:pPr>
                      <a:r>
                        <a:rPr lang="en-US" sz="950" b="1" dirty="0">
                          <a:solidFill>
                            <a:srgbClr val="16816D"/>
                          </a:solidFill>
                          <a:latin typeface="Noto Sans JP" pitchFamily="34" charset="0"/>
                          <a:ea typeface="Noto Sans JP" pitchFamily="34" charset="-122"/>
                          <a:cs typeface="Noto Sans JP" pitchFamily="34" charset="-120"/>
                        </a:rPr>
                        <a:t>企業の寄付という新たな資金で民有林整備を上乗せ。譲与税・補助金と組合せ</a:t>
                      </a:r>
                      <a:endParaRPr lang="en-US" sz="950" dirty="0">
                        <a:latin typeface="Noto Sans JP" charset="0"/>
                        <a:ea typeface="Noto Sans JP" charset="0"/>
                        <a:cs typeface="Noto Sans JP" charset="0"/>
                      </a:endParaRPr>
                    </a:p>
                  </a:txBody>
                  <a:tcPr marL="73152" marR="73152" marT="18288" marB="18288" anchor="ct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tmp/claude-0/-home-user--/135b95b8-9a7c-5e2e-abb3-3369b8f4d943/scratchpad/assets/logo_dark.png">    </p:cNvPr>
          <p:cNvPicPr>
            <a:picLocks noChangeAspect="1"/>
          </p:cNvPicPr>
          <p:nvPr/>
        </p:nvPicPr>
        <p:blipFill>
          <a:blip r:embed="rId1"/>
          <a:stretch>
            <a:fillRect/>
          </a:stretch>
        </p:blipFill>
        <p:spPr>
          <a:xfrm>
            <a:off x="355600" y="160020"/>
            <a:ext cx="558800" cy="254000"/>
          </a:xfrm>
          <a:prstGeom prst="rect">
            <a:avLst/>
          </a:prstGeom>
        </p:spPr>
      </p:pic>
      <p:sp>
        <p:nvSpPr>
          <p:cNvPr id="3" name="Text 0"/>
          <p:cNvSpPr txBox="1"/>
          <p:nvPr/>
        </p:nvSpPr>
        <p:spPr>
          <a:xfrm>
            <a:off x="1397000" y="127000"/>
            <a:ext cx="6350000" cy="304800"/>
          </a:xfrm>
          <a:prstGeom prst="rect">
            <a:avLst/>
          </a:prstGeom>
          <a:noFill/>
          <a:ln/>
        </p:spPr>
        <p:txBody>
          <a:bodyPr wrap="square" lIns="0" tIns="0" rIns="0" bIns="0" rtlCol="0" anchor="ctr"/>
          <a:lstStyle/>
          <a:p>
            <a:pPr algn="ctr" indent="0" marL="0">
              <a:buNone/>
            </a:pPr>
            <a:r>
              <a:rPr lang="en-US" sz="1500" b="1" dirty="0">
                <a:solidFill>
                  <a:srgbClr val="222222"/>
                </a:solidFill>
                <a:latin typeface="Noto Sans JP" pitchFamily="34" charset="0"/>
                <a:ea typeface="Noto Sans JP" pitchFamily="34" charset="-122"/>
                <a:cs typeface="Noto Sans JP" pitchFamily="34" charset="-120"/>
              </a:rPr>
              <a:t>モデルの進め方（3か年のイメージ）</a:t>
            </a:r>
            <a:endParaRPr lang="en-US" sz="1500" dirty="0"/>
          </a:p>
        </p:txBody>
      </p:sp>
      <p:sp>
        <p:nvSpPr>
          <p:cNvPr id="4" name="Shape 1"/>
          <p:cNvSpPr/>
          <p:nvPr/>
        </p:nvSpPr>
        <p:spPr>
          <a:xfrm>
            <a:off x="0" y="539750"/>
            <a:ext cx="9144000" cy="0"/>
          </a:xfrm>
          <a:prstGeom prst="line">
            <a:avLst/>
          </a:prstGeom>
          <a:noFill/>
          <a:ln w="9525">
            <a:solidFill>
              <a:srgbClr val="999999"/>
            </a:solidFill>
            <a:prstDash val="solid"/>
          </a:ln>
        </p:spPr>
      </p:sp>
      <p:sp>
        <p:nvSpPr>
          <p:cNvPr id="5" name="Shape 2"/>
          <p:cNvSpPr/>
          <p:nvPr/>
        </p:nvSpPr>
        <p:spPr>
          <a:xfrm>
            <a:off x="88900" y="4876800"/>
            <a:ext cx="723900" cy="165100"/>
          </a:xfrm>
          <a:prstGeom prst="rect">
            <a:avLst/>
          </a:prstGeom>
          <a:solidFill>
            <a:srgbClr val="FFFFFF"/>
          </a:solidFill>
          <a:ln w="6350">
            <a:solidFill>
              <a:srgbClr val="B2B2B2"/>
            </a:solidFill>
            <a:prstDash val="solid"/>
          </a:ln>
        </p:spPr>
      </p:sp>
      <p:sp>
        <p:nvSpPr>
          <p:cNvPr id="6" name="Text 3"/>
          <p:cNvSpPr txBox="1"/>
          <p:nvPr/>
        </p:nvSpPr>
        <p:spPr>
          <a:xfrm>
            <a:off x="88900" y="4876800"/>
            <a:ext cx="723900" cy="165100"/>
          </a:xfrm>
          <a:prstGeom prst="rect">
            <a:avLst/>
          </a:prstGeom>
          <a:noFill/>
          <a:ln/>
        </p:spPr>
        <p:txBody>
          <a:bodyPr wrap="square" lIns="0" tIns="0" rIns="0" bIns="0" rtlCol="0" anchor="ctr"/>
          <a:lstStyle/>
          <a:p>
            <a:pPr algn="ctr" indent="0" marL="0">
              <a:buNone/>
            </a:pPr>
            <a:r>
              <a:rPr lang="en-US" sz="700" dirty="0">
                <a:solidFill>
                  <a:srgbClr val="757575"/>
                </a:solidFill>
                <a:latin typeface="Arial" pitchFamily="34" charset="0"/>
                <a:ea typeface="Arial" pitchFamily="34" charset="-122"/>
                <a:cs typeface="Arial" pitchFamily="34" charset="-120"/>
              </a:rPr>
              <a:t>confidential</a:t>
            </a:r>
            <a:endParaRPr lang="en-US" sz="700" dirty="0"/>
          </a:p>
        </p:txBody>
      </p:sp>
      <p:sp>
        <p:nvSpPr>
          <p:cNvPr id="7" name="Text 4"/>
          <p:cNvSpPr txBox="1"/>
          <p:nvPr/>
        </p:nvSpPr>
        <p:spPr>
          <a:xfrm>
            <a:off x="8509000" y="4826000"/>
            <a:ext cx="533400" cy="203200"/>
          </a:xfrm>
          <a:prstGeom prst="rect">
            <a:avLst/>
          </a:prstGeom>
          <a:noFill/>
          <a:ln/>
        </p:spPr>
        <p:txBody>
          <a:bodyPr wrap="square" lIns="0" tIns="0" rIns="0" bIns="0" rtlCol="0" anchor="t"/>
          <a:lstStyle/>
          <a:p>
            <a:pPr algn="r" indent="0" marL="0">
              <a:buNone/>
            </a:pPr>
            <a:r>
              <a:rPr lang="en-US" sz="1100" dirty="0">
                <a:solidFill>
                  <a:srgbClr val="757575"/>
                </a:solidFill>
                <a:latin typeface="Noto Sans JP" pitchFamily="34" charset="0"/>
                <a:ea typeface="Noto Sans JP" pitchFamily="34" charset="-122"/>
                <a:cs typeface="Noto Sans JP" pitchFamily="34" charset="-120"/>
              </a:rPr>
              <a:t>16</a:t>
            </a:r>
            <a:endParaRPr lang="en-US" sz="1100" dirty="0"/>
          </a:p>
        </p:txBody>
      </p:sp>
      <p:sp>
        <p:nvSpPr>
          <p:cNvPr id="8" name="Shape 5"/>
          <p:cNvSpPr/>
          <p:nvPr/>
        </p:nvSpPr>
        <p:spPr>
          <a:xfrm>
            <a:off x="457200" y="812800"/>
            <a:ext cx="1955800" cy="584200"/>
          </a:xfrm>
          <a:prstGeom prst="chevron">
            <a:avLst/>
          </a:prstGeom>
          <a:solidFill>
            <a:srgbClr val="16816D"/>
          </a:solidFill>
          <a:ln/>
        </p:spPr>
      </p:sp>
      <p:sp>
        <p:nvSpPr>
          <p:cNvPr id="9" name="Text 6"/>
          <p:cNvSpPr txBox="1"/>
          <p:nvPr/>
        </p:nvSpPr>
        <p:spPr>
          <a:xfrm>
            <a:off x="685800" y="812800"/>
            <a:ext cx="1574800" cy="584200"/>
          </a:xfrm>
          <a:prstGeom prst="rect">
            <a:avLst/>
          </a:prstGeom>
          <a:noFill/>
          <a:ln/>
        </p:spPr>
        <p:txBody>
          <a:bodyPr wrap="square" lIns="0" tIns="0" rIns="0" bIns="0" rtlCol="0" anchor="ctr"/>
          <a:lstStyle/>
          <a:p>
            <a:pPr algn="ctr" indent="0" marL="0">
              <a:buNone/>
            </a:pPr>
            <a:r>
              <a:rPr lang="en-US" sz="1300" b="1" dirty="0">
                <a:solidFill>
                  <a:srgbClr val="FFFFFF"/>
                </a:solidFill>
                <a:latin typeface="Noto Sans JP" pitchFamily="34" charset="0"/>
                <a:ea typeface="Noto Sans JP" pitchFamily="34" charset="-122"/>
                <a:cs typeface="Noto Sans JP" pitchFamily="34" charset="-120"/>
              </a:rPr>
              <a:t>準備</a:t>
            </a:r>
            <a:endParaRPr lang="en-US" sz="1300" dirty="0"/>
          </a:p>
          <a:p>
            <a:pPr algn="ctr" indent="0" marL="0">
              <a:buNone/>
            </a:pPr>
            <a:r>
              <a:rPr lang="en-US" sz="900" dirty="0">
                <a:solidFill>
                  <a:srgbClr val="FFFFFF"/>
                </a:solidFill>
                <a:latin typeface="Noto Sans JP" pitchFamily="34" charset="0"/>
                <a:ea typeface="Noto Sans JP" pitchFamily="34" charset="-122"/>
                <a:cs typeface="Noto Sans JP" pitchFamily="34" charset="-120"/>
              </a:rPr>
              <a:t>〜3か月</a:t>
            </a:r>
            <a:endParaRPr lang="en-US" sz="1300" dirty="0"/>
          </a:p>
        </p:txBody>
      </p:sp>
      <p:sp>
        <p:nvSpPr>
          <p:cNvPr id="10" name="Shape 7"/>
          <p:cNvSpPr/>
          <p:nvPr/>
        </p:nvSpPr>
        <p:spPr>
          <a:xfrm>
            <a:off x="457200" y="1549400"/>
            <a:ext cx="1854200" cy="1498600"/>
          </a:xfrm>
          <a:prstGeom prst="rect">
            <a:avLst/>
          </a:prstGeom>
          <a:solidFill>
            <a:srgbClr val="E8F5EF"/>
          </a:solidFill>
          <a:ln/>
        </p:spPr>
      </p:sp>
      <p:sp>
        <p:nvSpPr>
          <p:cNvPr id="11" name="Text 8"/>
          <p:cNvSpPr txBox="1"/>
          <p:nvPr/>
        </p:nvSpPr>
        <p:spPr>
          <a:xfrm>
            <a:off x="558800" y="1676400"/>
            <a:ext cx="1651000" cy="1270000"/>
          </a:xfrm>
          <a:prstGeom prst="rect">
            <a:avLst/>
          </a:prstGeom>
          <a:noFill/>
          <a:ln/>
        </p:spPr>
        <p:txBody>
          <a:bodyPr wrap="square" lIns="0" tIns="0" rIns="0" bIns="0" rtlCol="0" anchor="t"/>
          <a:lstStyle/>
          <a:p>
            <a:pPr marL="139700" indent="-139700">
              <a:spcAft>
                <a:spcPts val="600"/>
              </a:spcAft>
              <a:buSzPct val="100000"/>
              <a:buChar char="•"/>
            </a:pPr>
            <a:r>
              <a:rPr lang="en-US" sz="1000" dirty="0">
                <a:solidFill>
                  <a:srgbClr val="444444"/>
                </a:solidFill>
                <a:latin typeface="Noto Sans JP" pitchFamily="34" charset="0"/>
                <a:ea typeface="Noto Sans JP" pitchFamily="34" charset="-122"/>
                <a:cs typeface="Noto Sans JP" pitchFamily="34" charset="-120"/>
              </a:rPr>
              <a:t>対象エリアの選定</a:t>
            </a:r>
            <a:endParaRPr lang="en-US" sz="1000" dirty="0"/>
          </a:p>
          <a:p>
            <a:pPr marL="139700" indent="-139700">
              <a:spcAft>
                <a:spcPts val="600"/>
              </a:spcAft>
              <a:buSzPct val="100000"/>
              <a:buChar char="•"/>
            </a:pPr>
            <a:r>
              <a:rPr lang="en-US" sz="1000" dirty="0">
                <a:solidFill>
                  <a:srgbClr val="444444"/>
                </a:solidFill>
                <a:latin typeface="Noto Sans JP" pitchFamily="34" charset="0"/>
                <a:ea typeface="Noto Sans JP" pitchFamily="34" charset="-122"/>
                <a:cs typeface="Noto Sans JP" pitchFamily="34" charset="-120"/>
              </a:rPr>
              <a:t>意向調査結果の分析</a:t>
            </a:r>
            <a:endParaRPr lang="en-US" sz="1000" dirty="0"/>
          </a:p>
          <a:p>
            <a:pPr marL="139700" indent="-139700">
              <a:spcAft>
                <a:spcPts val="600"/>
              </a:spcAft>
              <a:buSzPct val="100000"/>
              <a:buChar char="•"/>
            </a:pPr>
            <a:r>
              <a:rPr lang="en-US" sz="1000" dirty="0">
                <a:solidFill>
                  <a:srgbClr val="444444"/>
                </a:solidFill>
                <a:latin typeface="Noto Sans JP" pitchFamily="34" charset="0"/>
                <a:ea typeface="Noto Sans JP" pitchFamily="34" charset="-122"/>
                <a:cs typeface="Noto Sans JP" pitchFamily="34" charset="-120"/>
              </a:rPr>
              <a:t>関係者との協定締結</a:t>
            </a:r>
            <a:endParaRPr lang="en-US" sz="1000" dirty="0"/>
          </a:p>
        </p:txBody>
      </p:sp>
      <p:sp>
        <p:nvSpPr>
          <p:cNvPr id="12" name="Shape 9"/>
          <p:cNvSpPr/>
          <p:nvPr/>
        </p:nvSpPr>
        <p:spPr>
          <a:xfrm>
            <a:off x="2540000" y="812800"/>
            <a:ext cx="1955800" cy="584200"/>
          </a:xfrm>
          <a:prstGeom prst="chevron">
            <a:avLst/>
          </a:prstGeom>
          <a:solidFill>
            <a:srgbClr val="1F9970"/>
          </a:solidFill>
          <a:ln/>
        </p:spPr>
      </p:sp>
      <p:sp>
        <p:nvSpPr>
          <p:cNvPr id="13" name="Text 10"/>
          <p:cNvSpPr txBox="1"/>
          <p:nvPr/>
        </p:nvSpPr>
        <p:spPr>
          <a:xfrm>
            <a:off x="2768600" y="812800"/>
            <a:ext cx="1574800" cy="584200"/>
          </a:xfrm>
          <a:prstGeom prst="rect">
            <a:avLst/>
          </a:prstGeom>
          <a:noFill/>
          <a:ln/>
        </p:spPr>
        <p:txBody>
          <a:bodyPr wrap="square" lIns="0" tIns="0" rIns="0" bIns="0" rtlCol="0" anchor="ctr"/>
          <a:lstStyle/>
          <a:p>
            <a:pPr algn="ctr" indent="0" marL="0">
              <a:buNone/>
            </a:pPr>
            <a:r>
              <a:rPr lang="en-US" sz="1300" b="1" dirty="0">
                <a:solidFill>
                  <a:srgbClr val="FFFFFF"/>
                </a:solidFill>
                <a:latin typeface="Noto Sans JP" pitchFamily="34" charset="0"/>
                <a:ea typeface="Noto Sans JP" pitchFamily="34" charset="-122"/>
                <a:cs typeface="Noto Sans JP" pitchFamily="34" charset="-120"/>
              </a:rPr>
              <a:t>1年目</a:t>
            </a:r>
            <a:endParaRPr lang="en-US" sz="1300" dirty="0"/>
          </a:p>
          <a:p>
            <a:pPr algn="ctr" indent="0" marL="0">
              <a:buNone/>
            </a:pPr>
            <a:r>
              <a:rPr lang="en-US" sz="900" dirty="0">
                <a:solidFill>
                  <a:srgbClr val="FFFFFF"/>
                </a:solidFill>
                <a:latin typeface="Noto Sans JP" pitchFamily="34" charset="0"/>
                <a:ea typeface="Noto Sans JP" pitchFamily="34" charset="-122"/>
                <a:cs typeface="Noto Sans JP" pitchFamily="34" charset="-120"/>
              </a:rPr>
              <a:t>集約化</a:t>
            </a:r>
            <a:endParaRPr lang="en-US" sz="1300" dirty="0"/>
          </a:p>
        </p:txBody>
      </p:sp>
      <p:sp>
        <p:nvSpPr>
          <p:cNvPr id="14" name="Shape 11"/>
          <p:cNvSpPr/>
          <p:nvPr/>
        </p:nvSpPr>
        <p:spPr>
          <a:xfrm>
            <a:off x="2540000" y="1549400"/>
            <a:ext cx="1854200" cy="1498600"/>
          </a:xfrm>
          <a:prstGeom prst="rect">
            <a:avLst/>
          </a:prstGeom>
          <a:solidFill>
            <a:srgbClr val="E8F5EF"/>
          </a:solidFill>
          <a:ln/>
        </p:spPr>
      </p:sp>
      <p:sp>
        <p:nvSpPr>
          <p:cNvPr id="15" name="Text 12"/>
          <p:cNvSpPr txBox="1"/>
          <p:nvPr/>
        </p:nvSpPr>
        <p:spPr>
          <a:xfrm>
            <a:off x="2641600" y="1676400"/>
            <a:ext cx="1651000" cy="1270000"/>
          </a:xfrm>
          <a:prstGeom prst="rect">
            <a:avLst/>
          </a:prstGeom>
          <a:noFill/>
          <a:ln/>
        </p:spPr>
        <p:txBody>
          <a:bodyPr wrap="square" lIns="0" tIns="0" rIns="0" bIns="0" rtlCol="0" anchor="t"/>
          <a:lstStyle/>
          <a:p>
            <a:pPr marL="139700" indent="-139700">
              <a:spcAft>
                <a:spcPts val="600"/>
              </a:spcAft>
              <a:buSzPct val="100000"/>
              <a:buChar char="•"/>
            </a:pPr>
            <a:r>
              <a:rPr lang="en-US" sz="1000" dirty="0">
                <a:solidFill>
                  <a:srgbClr val="444444"/>
                </a:solidFill>
                <a:latin typeface="Noto Sans JP" pitchFamily="34" charset="0"/>
                <a:ea typeface="Noto Sans JP" pitchFamily="34" charset="-122"/>
                <a:cs typeface="Noto Sans JP" pitchFamily="34" charset="-120"/>
              </a:rPr>
              <a:t>所有者探索・境界明確化</a:t>
            </a:r>
            <a:endParaRPr lang="en-US" sz="1000" dirty="0"/>
          </a:p>
          <a:p>
            <a:pPr marL="139700" indent="-139700">
              <a:spcAft>
                <a:spcPts val="600"/>
              </a:spcAft>
              <a:buSzPct val="100000"/>
              <a:buChar char="•"/>
            </a:pPr>
            <a:r>
              <a:rPr lang="en-US" sz="1000" dirty="0">
                <a:solidFill>
                  <a:srgbClr val="444444"/>
                </a:solidFill>
                <a:latin typeface="Noto Sans JP" pitchFamily="34" charset="0"/>
                <a:ea typeface="Noto Sans JP" pitchFamily="34" charset="-122"/>
                <a:cs typeface="Noto Sans JP" pitchFamily="34" charset="-120"/>
              </a:rPr>
              <a:t>施業団地の設定</a:t>
            </a:r>
            <a:endParaRPr lang="en-US" sz="1000" dirty="0"/>
          </a:p>
          <a:p>
            <a:pPr marL="139700" indent="-139700">
              <a:spcAft>
                <a:spcPts val="600"/>
              </a:spcAft>
              <a:buSzPct val="100000"/>
              <a:buChar char="•"/>
            </a:pPr>
            <a:r>
              <a:rPr lang="en-US" sz="1000" dirty="0">
                <a:solidFill>
                  <a:srgbClr val="444444"/>
                </a:solidFill>
                <a:latin typeface="Noto Sans JP" pitchFamily="34" charset="0"/>
                <a:ea typeface="Noto Sans JP" pitchFamily="34" charset="-122"/>
                <a:cs typeface="Noto Sans JP" pitchFamily="34" charset="-120"/>
              </a:rPr>
              <a:t>集積計画・経営計画の策定</a:t>
            </a:r>
            <a:endParaRPr lang="en-US" sz="1000" dirty="0"/>
          </a:p>
        </p:txBody>
      </p:sp>
      <p:sp>
        <p:nvSpPr>
          <p:cNvPr id="16" name="Shape 13"/>
          <p:cNvSpPr/>
          <p:nvPr/>
        </p:nvSpPr>
        <p:spPr>
          <a:xfrm>
            <a:off x="4622800" y="812800"/>
            <a:ext cx="1955800" cy="584200"/>
          </a:xfrm>
          <a:prstGeom prst="chevron">
            <a:avLst/>
          </a:prstGeom>
          <a:solidFill>
            <a:srgbClr val="1F9970"/>
          </a:solidFill>
          <a:ln/>
        </p:spPr>
      </p:sp>
      <p:sp>
        <p:nvSpPr>
          <p:cNvPr id="17" name="Text 14"/>
          <p:cNvSpPr txBox="1"/>
          <p:nvPr/>
        </p:nvSpPr>
        <p:spPr>
          <a:xfrm>
            <a:off x="4851400" y="812800"/>
            <a:ext cx="1574800" cy="584200"/>
          </a:xfrm>
          <a:prstGeom prst="rect">
            <a:avLst/>
          </a:prstGeom>
          <a:noFill/>
          <a:ln/>
        </p:spPr>
        <p:txBody>
          <a:bodyPr wrap="square" lIns="0" tIns="0" rIns="0" bIns="0" rtlCol="0" anchor="ctr"/>
          <a:lstStyle/>
          <a:p>
            <a:pPr algn="ctr" indent="0" marL="0">
              <a:buNone/>
            </a:pPr>
            <a:r>
              <a:rPr lang="en-US" sz="1300" b="1" dirty="0">
                <a:solidFill>
                  <a:srgbClr val="FFFFFF"/>
                </a:solidFill>
                <a:latin typeface="Noto Sans JP" pitchFamily="34" charset="0"/>
                <a:ea typeface="Noto Sans JP" pitchFamily="34" charset="-122"/>
                <a:cs typeface="Noto Sans JP" pitchFamily="34" charset="-120"/>
              </a:rPr>
              <a:t>2年目</a:t>
            </a:r>
            <a:endParaRPr lang="en-US" sz="1300" dirty="0"/>
          </a:p>
          <a:p>
            <a:pPr algn="ctr" indent="0" marL="0">
              <a:buNone/>
            </a:pPr>
            <a:r>
              <a:rPr lang="en-US" sz="900" dirty="0">
                <a:solidFill>
                  <a:srgbClr val="FFFFFF"/>
                </a:solidFill>
                <a:latin typeface="Noto Sans JP" pitchFamily="34" charset="0"/>
                <a:ea typeface="Noto Sans JP" pitchFamily="34" charset="-122"/>
                <a:cs typeface="Noto Sans JP" pitchFamily="34" charset="-120"/>
              </a:rPr>
              <a:t>施業</a:t>
            </a:r>
            <a:endParaRPr lang="en-US" sz="1300" dirty="0"/>
          </a:p>
        </p:txBody>
      </p:sp>
      <p:sp>
        <p:nvSpPr>
          <p:cNvPr id="18" name="Shape 15"/>
          <p:cNvSpPr/>
          <p:nvPr/>
        </p:nvSpPr>
        <p:spPr>
          <a:xfrm>
            <a:off x="4622800" y="1549400"/>
            <a:ext cx="1854200" cy="1498600"/>
          </a:xfrm>
          <a:prstGeom prst="rect">
            <a:avLst/>
          </a:prstGeom>
          <a:solidFill>
            <a:srgbClr val="E8F5EF"/>
          </a:solidFill>
          <a:ln/>
        </p:spPr>
      </p:sp>
      <p:sp>
        <p:nvSpPr>
          <p:cNvPr id="19" name="Text 16"/>
          <p:cNvSpPr txBox="1"/>
          <p:nvPr/>
        </p:nvSpPr>
        <p:spPr>
          <a:xfrm>
            <a:off x="4724400" y="1676400"/>
            <a:ext cx="1651000" cy="1270000"/>
          </a:xfrm>
          <a:prstGeom prst="rect">
            <a:avLst/>
          </a:prstGeom>
          <a:noFill/>
          <a:ln/>
        </p:spPr>
        <p:txBody>
          <a:bodyPr wrap="square" lIns="0" tIns="0" rIns="0" bIns="0" rtlCol="0" anchor="t"/>
          <a:lstStyle/>
          <a:p>
            <a:pPr marL="139700" indent="-139700">
              <a:spcAft>
                <a:spcPts val="600"/>
              </a:spcAft>
              <a:buSzPct val="100000"/>
              <a:buChar char="•"/>
            </a:pPr>
            <a:r>
              <a:rPr lang="en-US" sz="1000" dirty="0">
                <a:solidFill>
                  <a:srgbClr val="444444"/>
                </a:solidFill>
                <a:latin typeface="Noto Sans JP" pitchFamily="34" charset="0"/>
                <a:ea typeface="Noto Sans JP" pitchFamily="34" charset="-122"/>
                <a:cs typeface="Noto Sans JP" pitchFamily="34" charset="-120"/>
              </a:rPr>
              <a:t>森林作業道の開設</a:t>
            </a:r>
            <a:endParaRPr lang="en-US" sz="1000" dirty="0"/>
          </a:p>
          <a:p>
            <a:pPr marL="139700" indent="-139700">
              <a:spcAft>
                <a:spcPts val="600"/>
              </a:spcAft>
              <a:buSzPct val="100000"/>
              <a:buChar char="•"/>
            </a:pPr>
            <a:r>
              <a:rPr lang="en-US" sz="1000" dirty="0">
                <a:solidFill>
                  <a:srgbClr val="444444"/>
                </a:solidFill>
                <a:latin typeface="Noto Sans JP" pitchFamily="34" charset="0"/>
                <a:ea typeface="Noto Sans JP" pitchFamily="34" charset="-122"/>
                <a:cs typeface="Noto Sans JP" pitchFamily="34" charset="-120"/>
              </a:rPr>
              <a:t>搬出間伐</a:t>
            </a:r>
            <a:endParaRPr lang="en-US" sz="1000" dirty="0"/>
          </a:p>
          <a:p>
            <a:pPr marL="139700" indent="-139700">
              <a:spcAft>
                <a:spcPts val="600"/>
              </a:spcAft>
              <a:buSzPct val="100000"/>
              <a:buChar char="•"/>
            </a:pPr>
            <a:r>
              <a:rPr lang="en-US" sz="1000" dirty="0">
                <a:solidFill>
                  <a:srgbClr val="444444"/>
                </a:solidFill>
                <a:latin typeface="Noto Sans JP" pitchFamily="34" charset="0"/>
                <a:ea typeface="Noto Sans JP" pitchFamily="34" charset="-122"/>
                <a:cs typeface="Noto Sans JP" pitchFamily="34" charset="-120"/>
              </a:rPr>
              <a:t>森林体験の開始</a:t>
            </a:r>
            <a:endParaRPr lang="en-US" sz="1000" dirty="0"/>
          </a:p>
        </p:txBody>
      </p:sp>
      <p:sp>
        <p:nvSpPr>
          <p:cNvPr id="20" name="Shape 17"/>
          <p:cNvSpPr/>
          <p:nvPr/>
        </p:nvSpPr>
        <p:spPr>
          <a:xfrm>
            <a:off x="6705600" y="812800"/>
            <a:ext cx="1955800" cy="584200"/>
          </a:xfrm>
          <a:prstGeom prst="chevron">
            <a:avLst/>
          </a:prstGeom>
          <a:solidFill>
            <a:srgbClr val="1F9970"/>
          </a:solidFill>
          <a:ln/>
        </p:spPr>
      </p:sp>
      <p:sp>
        <p:nvSpPr>
          <p:cNvPr id="21" name="Text 18"/>
          <p:cNvSpPr txBox="1"/>
          <p:nvPr/>
        </p:nvSpPr>
        <p:spPr>
          <a:xfrm>
            <a:off x="6934200" y="812800"/>
            <a:ext cx="1574800" cy="584200"/>
          </a:xfrm>
          <a:prstGeom prst="rect">
            <a:avLst/>
          </a:prstGeom>
          <a:noFill/>
          <a:ln/>
        </p:spPr>
        <p:txBody>
          <a:bodyPr wrap="square" lIns="0" tIns="0" rIns="0" bIns="0" rtlCol="0" anchor="ctr"/>
          <a:lstStyle/>
          <a:p>
            <a:pPr algn="ctr" indent="0" marL="0">
              <a:buNone/>
            </a:pPr>
            <a:r>
              <a:rPr lang="en-US" sz="1300" b="1" dirty="0">
                <a:solidFill>
                  <a:srgbClr val="FFFFFF"/>
                </a:solidFill>
                <a:latin typeface="Noto Sans JP" pitchFamily="34" charset="0"/>
                <a:ea typeface="Noto Sans JP" pitchFamily="34" charset="-122"/>
                <a:cs typeface="Noto Sans JP" pitchFamily="34" charset="-120"/>
              </a:rPr>
              <a:t>3年目</a:t>
            </a:r>
            <a:endParaRPr lang="en-US" sz="1300" dirty="0"/>
          </a:p>
          <a:p>
            <a:pPr algn="ctr" indent="0" marL="0">
              <a:buNone/>
            </a:pPr>
            <a:r>
              <a:rPr lang="en-US" sz="900" dirty="0">
                <a:solidFill>
                  <a:srgbClr val="FFFFFF"/>
                </a:solidFill>
                <a:latin typeface="Noto Sans JP" pitchFamily="34" charset="0"/>
                <a:ea typeface="Noto Sans JP" pitchFamily="34" charset="-122"/>
                <a:cs typeface="Noto Sans JP" pitchFamily="34" charset="-120"/>
              </a:rPr>
              <a:t>利用・報告</a:t>
            </a:r>
            <a:endParaRPr lang="en-US" sz="1300" dirty="0"/>
          </a:p>
        </p:txBody>
      </p:sp>
      <p:sp>
        <p:nvSpPr>
          <p:cNvPr id="22" name="Shape 19"/>
          <p:cNvSpPr/>
          <p:nvPr/>
        </p:nvSpPr>
        <p:spPr>
          <a:xfrm>
            <a:off x="6705600" y="1549400"/>
            <a:ext cx="1854200" cy="1498600"/>
          </a:xfrm>
          <a:prstGeom prst="rect">
            <a:avLst/>
          </a:prstGeom>
          <a:solidFill>
            <a:srgbClr val="E8F5EF"/>
          </a:solidFill>
          <a:ln/>
        </p:spPr>
      </p:sp>
      <p:sp>
        <p:nvSpPr>
          <p:cNvPr id="23" name="Text 20"/>
          <p:cNvSpPr txBox="1"/>
          <p:nvPr/>
        </p:nvSpPr>
        <p:spPr>
          <a:xfrm>
            <a:off x="6807200" y="1676400"/>
            <a:ext cx="1651000" cy="1270000"/>
          </a:xfrm>
          <a:prstGeom prst="rect">
            <a:avLst/>
          </a:prstGeom>
          <a:noFill/>
          <a:ln/>
        </p:spPr>
        <p:txBody>
          <a:bodyPr wrap="square" lIns="0" tIns="0" rIns="0" bIns="0" rtlCol="0" anchor="t"/>
          <a:lstStyle/>
          <a:p>
            <a:pPr marL="139700" indent="-139700">
              <a:spcAft>
                <a:spcPts val="600"/>
              </a:spcAft>
              <a:buSzPct val="100000"/>
              <a:buChar char="•"/>
            </a:pPr>
            <a:r>
              <a:rPr lang="en-US" sz="1000" dirty="0">
                <a:solidFill>
                  <a:srgbClr val="444444"/>
                </a:solidFill>
                <a:latin typeface="Noto Sans JP" pitchFamily="34" charset="0"/>
                <a:ea typeface="Noto Sans JP" pitchFamily="34" charset="-122"/>
                <a:cs typeface="Noto Sans JP" pitchFamily="34" charset="-120"/>
              </a:rPr>
              <a:t>木材の製品化・流通</a:t>
            </a:r>
            <a:endParaRPr lang="en-US" sz="1000" dirty="0"/>
          </a:p>
          <a:p>
            <a:pPr marL="139700" indent="-139700">
              <a:spcAft>
                <a:spcPts val="600"/>
              </a:spcAft>
              <a:buSzPct val="100000"/>
              <a:buChar char="•"/>
            </a:pPr>
            <a:r>
              <a:rPr lang="en-US" sz="1000" dirty="0">
                <a:solidFill>
                  <a:srgbClr val="444444"/>
                </a:solidFill>
                <a:latin typeface="Noto Sans JP" pitchFamily="34" charset="0"/>
                <a:ea typeface="Noto Sans JP" pitchFamily="34" charset="-122"/>
                <a:cs typeface="Noto Sans JP" pitchFamily="34" charset="-120"/>
              </a:rPr>
              <a:t>木材ワークショップ</a:t>
            </a:r>
            <a:endParaRPr lang="en-US" sz="1000" dirty="0"/>
          </a:p>
          <a:p>
            <a:pPr marL="139700" indent="-139700">
              <a:spcAft>
                <a:spcPts val="600"/>
              </a:spcAft>
              <a:buSzPct val="100000"/>
              <a:buChar char="•"/>
            </a:pPr>
            <a:r>
              <a:rPr lang="en-US" sz="1000" dirty="0">
                <a:solidFill>
                  <a:srgbClr val="444444"/>
                </a:solidFill>
                <a:latin typeface="Noto Sans JP" pitchFamily="34" charset="0"/>
                <a:ea typeface="Noto Sans JP" pitchFamily="34" charset="-122"/>
                <a:cs typeface="Noto Sans JP" pitchFamily="34" charset="-120"/>
              </a:rPr>
              <a:t>成果レポート（TNFD開示用）</a:t>
            </a:r>
            <a:endParaRPr lang="en-US" sz="1000" dirty="0"/>
          </a:p>
        </p:txBody>
      </p:sp>
      <p:sp>
        <p:nvSpPr>
          <p:cNvPr id="24" name="Text 21"/>
          <p:cNvSpPr txBox="1"/>
          <p:nvPr/>
        </p:nvSpPr>
        <p:spPr>
          <a:xfrm>
            <a:off x="457200" y="3251200"/>
            <a:ext cx="8229600" cy="228600"/>
          </a:xfrm>
          <a:prstGeom prst="rect">
            <a:avLst/>
          </a:prstGeom>
          <a:noFill/>
          <a:ln/>
        </p:spPr>
        <p:txBody>
          <a:bodyPr wrap="square" lIns="0" tIns="0" rIns="0" bIns="0" rtlCol="0" anchor="t"/>
          <a:lstStyle/>
          <a:p>
            <a:pPr indent="0" marL="0">
              <a:buNone/>
            </a:pPr>
            <a:r>
              <a:rPr lang="en-US" sz="1100" b="1" dirty="0">
                <a:solidFill>
                  <a:srgbClr val="16816D"/>
                </a:solidFill>
                <a:latin typeface="Noto Sans JP" pitchFamily="34" charset="0"/>
                <a:ea typeface="Noto Sans JP" pitchFamily="34" charset="-122"/>
                <a:cs typeface="Noto Sans JP" pitchFamily="34" charset="-120"/>
              </a:rPr>
              <a:t>成果指標（KPI）の例 ― 貴社のTNFD・脱炭素の開示にそのまま使える形で毎年報告します</a:t>
            </a:r>
            <a:endParaRPr lang="en-US" sz="1100" dirty="0"/>
          </a:p>
        </p:txBody>
      </p:sp>
      <p:sp>
        <p:nvSpPr>
          <p:cNvPr id="25" name="Shape 22"/>
          <p:cNvSpPr/>
          <p:nvPr/>
        </p:nvSpPr>
        <p:spPr>
          <a:xfrm>
            <a:off x="457200" y="3581400"/>
            <a:ext cx="1536700" cy="685800"/>
          </a:xfrm>
          <a:prstGeom prst="rect">
            <a:avLst/>
          </a:prstGeom>
          <a:solidFill>
            <a:srgbClr val="FFFFFF"/>
          </a:solidFill>
          <a:ln w="12700">
            <a:solidFill>
              <a:srgbClr val="BFE3D3"/>
            </a:solidFill>
            <a:prstDash val="solid"/>
          </a:ln>
        </p:spPr>
      </p:sp>
      <p:sp>
        <p:nvSpPr>
          <p:cNvPr id="26" name="Shape 23"/>
          <p:cNvSpPr/>
          <p:nvPr/>
        </p:nvSpPr>
        <p:spPr>
          <a:xfrm>
            <a:off x="584200" y="3721100"/>
            <a:ext cx="406400" cy="406400"/>
          </a:xfrm>
          <a:prstGeom prst="ellipse">
            <a:avLst/>
          </a:prstGeom>
          <a:solidFill>
            <a:srgbClr val="1F9970"/>
          </a:solidFill>
          <a:ln/>
        </p:spPr>
      </p:sp>
      <p:pic>
        <p:nvPicPr>
          <p:cNvPr id="27" name="Image 1" descr="preencoded.png">    </p:cNvPr>
          <p:cNvPicPr>
            <a:picLocks noChangeAspect="1"/>
          </p:cNvPicPr>
          <p:nvPr/>
        </p:nvPicPr>
        <p:blipFill>
          <a:blip r:embed="rId2"/>
          <a:stretch>
            <a:fillRect/>
          </a:stretch>
        </p:blipFill>
        <p:spPr>
          <a:xfrm>
            <a:off x="685800" y="3822700"/>
            <a:ext cx="203200" cy="203200"/>
          </a:xfrm>
          <a:prstGeom prst="rect">
            <a:avLst/>
          </a:prstGeom>
        </p:spPr>
      </p:pic>
      <p:sp>
        <p:nvSpPr>
          <p:cNvPr id="28" name="Text 24"/>
          <p:cNvSpPr txBox="1"/>
          <p:nvPr/>
        </p:nvSpPr>
        <p:spPr>
          <a:xfrm>
            <a:off x="1066800" y="3708400"/>
            <a:ext cx="889000" cy="203200"/>
          </a:xfrm>
          <a:prstGeom prst="rect">
            <a:avLst/>
          </a:prstGeom>
          <a:noFill/>
          <a:ln/>
        </p:spPr>
        <p:txBody>
          <a:bodyPr wrap="square" lIns="0" tIns="0" rIns="0" bIns="0" rtlCol="0" anchor="t"/>
          <a:lstStyle/>
          <a:p>
            <a:pPr indent="0" marL="0">
              <a:buNone/>
            </a:pPr>
            <a:r>
              <a:rPr lang="en-US" sz="1000" b="1" dirty="0">
                <a:solidFill>
                  <a:srgbClr val="222222"/>
                </a:solidFill>
                <a:latin typeface="Noto Sans JP" pitchFamily="34" charset="0"/>
                <a:ea typeface="Noto Sans JP" pitchFamily="34" charset="-122"/>
                <a:cs typeface="Noto Sans JP" pitchFamily="34" charset="-120"/>
              </a:rPr>
              <a:t>集約面積</a:t>
            </a:r>
            <a:endParaRPr lang="en-US" sz="1000" dirty="0"/>
          </a:p>
        </p:txBody>
      </p:sp>
      <p:sp>
        <p:nvSpPr>
          <p:cNvPr id="29" name="Text 25"/>
          <p:cNvSpPr txBox="1"/>
          <p:nvPr/>
        </p:nvSpPr>
        <p:spPr>
          <a:xfrm>
            <a:off x="1066800" y="3937000"/>
            <a:ext cx="889000" cy="177800"/>
          </a:xfrm>
          <a:prstGeom prst="rect">
            <a:avLst/>
          </a:prstGeom>
          <a:noFill/>
          <a:ln/>
        </p:spPr>
        <p:txBody>
          <a:bodyPr wrap="square" lIns="0" tIns="0" rIns="0" bIns="0" rtlCol="0" anchor="t"/>
          <a:lstStyle/>
          <a:p>
            <a:pPr indent="0" marL="0">
              <a:buNone/>
            </a:pPr>
            <a:r>
              <a:rPr lang="en-US" sz="800" dirty="0">
                <a:solidFill>
                  <a:srgbClr val="757575"/>
                </a:solidFill>
                <a:latin typeface="Noto Sans JP" pitchFamily="34" charset="0"/>
                <a:ea typeface="Noto Sans JP" pitchFamily="34" charset="-122"/>
                <a:cs typeface="Noto Sans JP" pitchFamily="34" charset="-120"/>
              </a:rPr>
              <a:t>単位：ha</a:t>
            </a:r>
            <a:endParaRPr lang="en-US" sz="800" dirty="0"/>
          </a:p>
        </p:txBody>
      </p:sp>
      <p:sp>
        <p:nvSpPr>
          <p:cNvPr id="30" name="Shape 26"/>
          <p:cNvSpPr/>
          <p:nvPr/>
        </p:nvSpPr>
        <p:spPr>
          <a:xfrm>
            <a:off x="2120900" y="3581400"/>
            <a:ext cx="1536700" cy="685800"/>
          </a:xfrm>
          <a:prstGeom prst="rect">
            <a:avLst/>
          </a:prstGeom>
          <a:solidFill>
            <a:srgbClr val="FFFFFF"/>
          </a:solidFill>
          <a:ln w="12700">
            <a:solidFill>
              <a:srgbClr val="BFE3D3"/>
            </a:solidFill>
            <a:prstDash val="solid"/>
          </a:ln>
        </p:spPr>
      </p:sp>
      <p:sp>
        <p:nvSpPr>
          <p:cNvPr id="31" name="Shape 27"/>
          <p:cNvSpPr/>
          <p:nvPr/>
        </p:nvSpPr>
        <p:spPr>
          <a:xfrm>
            <a:off x="2247900" y="3721100"/>
            <a:ext cx="406400" cy="406400"/>
          </a:xfrm>
          <a:prstGeom prst="ellipse">
            <a:avLst/>
          </a:prstGeom>
          <a:solidFill>
            <a:srgbClr val="1F9970"/>
          </a:solidFill>
          <a:ln/>
        </p:spPr>
      </p:sp>
      <p:pic>
        <p:nvPicPr>
          <p:cNvPr id="32" name="Image 2" descr="preencoded.png">    </p:cNvPr>
          <p:cNvPicPr>
            <a:picLocks noChangeAspect="1"/>
          </p:cNvPicPr>
          <p:nvPr/>
        </p:nvPicPr>
        <p:blipFill>
          <a:blip r:embed="rId3"/>
          <a:stretch>
            <a:fillRect/>
          </a:stretch>
        </p:blipFill>
        <p:spPr>
          <a:xfrm>
            <a:off x="2349500" y="3822700"/>
            <a:ext cx="203200" cy="203200"/>
          </a:xfrm>
          <a:prstGeom prst="rect">
            <a:avLst/>
          </a:prstGeom>
        </p:spPr>
      </p:pic>
      <p:sp>
        <p:nvSpPr>
          <p:cNvPr id="33" name="Text 28"/>
          <p:cNvSpPr txBox="1"/>
          <p:nvPr/>
        </p:nvSpPr>
        <p:spPr>
          <a:xfrm>
            <a:off x="2730500" y="3708400"/>
            <a:ext cx="889000" cy="203200"/>
          </a:xfrm>
          <a:prstGeom prst="rect">
            <a:avLst/>
          </a:prstGeom>
          <a:noFill/>
          <a:ln/>
        </p:spPr>
        <p:txBody>
          <a:bodyPr wrap="square" lIns="0" tIns="0" rIns="0" bIns="0" rtlCol="0" anchor="t"/>
          <a:lstStyle/>
          <a:p>
            <a:pPr indent="0" marL="0">
              <a:buNone/>
            </a:pPr>
            <a:r>
              <a:rPr lang="en-US" sz="1000" b="1" dirty="0">
                <a:solidFill>
                  <a:srgbClr val="222222"/>
                </a:solidFill>
                <a:latin typeface="Noto Sans JP" pitchFamily="34" charset="0"/>
                <a:ea typeface="Noto Sans JP" pitchFamily="34" charset="-122"/>
                <a:cs typeface="Noto Sans JP" pitchFamily="34" charset="-120"/>
              </a:rPr>
              <a:t>整備面積</a:t>
            </a:r>
            <a:endParaRPr lang="en-US" sz="1000" dirty="0"/>
          </a:p>
        </p:txBody>
      </p:sp>
      <p:sp>
        <p:nvSpPr>
          <p:cNvPr id="34" name="Text 29"/>
          <p:cNvSpPr txBox="1"/>
          <p:nvPr/>
        </p:nvSpPr>
        <p:spPr>
          <a:xfrm>
            <a:off x="2730500" y="3937000"/>
            <a:ext cx="889000" cy="177800"/>
          </a:xfrm>
          <a:prstGeom prst="rect">
            <a:avLst/>
          </a:prstGeom>
          <a:noFill/>
          <a:ln/>
        </p:spPr>
        <p:txBody>
          <a:bodyPr wrap="square" lIns="0" tIns="0" rIns="0" bIns="0" rtlCol="0" anchor="t"/>
          <a:lstStyle/>
          <a:p>
            <a:pPr indent="0" marL="0">
              <a:buNone/>
            </a:pPr>
            <a:r>
              <a:rPr lang="en-US" sz="800" dirty="0">
                <a:solidFill>
                  <a:srgbClr val="757575"/>
                </a:solidFill>
                <a:latin typeface="Noto Sans JP" pitchFamily="34" charset="0"/>
                <a:ea typeface="Noto Sans JP" pitchFamily="34" charset="-122"/>
                <a:cs typeface="Noto Sans JP" pitchFamily="34" charset="-120"/>
              </a:rPr>
              <a:t>単位：ha</a:t>
            </a:r>
            <a:endParaRPr lang="en-US" sz="800" dirty="0"/>
          </a:p>
        </p:txBody>
      </p:sp>
      <p:sp>
        <p:nvSpPr>
          <p:cNvPr id="35" name="Shape 30"/>
          <p:cNvSpPr/>
          <p:nvPr/>
        </p:nvSpPr>
        <p:spPr>
          <a:xfrm>
            <a:off x="3784600" y="3581400"/>
            <a:ext cx="1536700" cy="685800"/>
          </a:xfrm>
          <a:prstGeom prst="rect">
            <a:avLst/>
          </a:prstGeom>
          <a:solidFill>
            <a:srgbClr val="FFFFFF"/>
          </a:solidFill>
          <a:ln w="12700">
            <a:solidFill>
              <a:srgbClr val="BFE3D3"/>
            </a:solidFill>
            <a:prstDash val="solid"/>
          </a:ln>
        </p:spPr>
      </p:sp>
      <p:sp>
        <p:nvSpPr>
          <p:cNvPr id="36" name="Shape 31"/>
          <p:cNvSpPr/>
          <p:nvPr/>
        </p:nvSpPr>
        <p:spPr>
          <a:xfrm>
            <a:off x="3911600" y="3721100"/>
            <a:ext cx="406400" cy="406400"/>
          </a:xfrm>
          <a:prstGeom prst="ellipse">
            <a:avLst/>
          </a:prstGeom>
          <a:solidFill>
            <a:srgbClr val="1F9970"/>
          </a:solidFill>
          <a:ln/>
        </p:spPr>
      </p:sp>
      <p:pic>
        <p:nvPicPr>
          <p:cNvPr id="37" name="Image 3" descr="preencoded.png">    </p:cNvPr>
          <p:cNvPicPr>
            <a:picLocks noChangeAspect="1"/>
          </p:cNvPicPr>
          <p:nvPr/>
        </p:nvPicPr>
        <p:blipFill>
          <a:blip r:embed="rId4"/>
          <a:stretch>
            <a:fillRect/>
          </a:stretch>
        </p:blipFill>
        <p:spPr>
          <a:xfrm>
            <a:off x="4013200" y="3822700"/>
            <a:ext cx="203200" cy="203200"/>
          </a:xfrm>
          <a:prstGeom prst="rect">
            <a:avLst/>
          </a:prstGeom>
        </p:spPr>
      </p:pic>
      <p:sp>
        <p:nvSpPr>
          <p:cNvPr id="38" name="Text 32"/>
          <p:cNvSpPr txBox="1"/>
          <p:nvPr/>
        </p:nvSpPr>
        <p:spPr>
          <a:xfrm>
            <a:off x="4394200" y="3708400"/>
            <a:ext cx="889000" cy="203200"/>
          </a:xfrm>
          <a:prstGeom prst="rect">
            <a:avLst/>
          </a:prstGeom>
          <a:noFill/>
          <a:ln/>
        </p:spPr>
        <p:txBody>
          <a:bodyPr wrap="square" lIns="0" tIns="0" rIns="0" bIns="0" rtlCol="0" anchor="t"/>
          <a:lstStyle/>
          <a:p>
            <a:pPr indent="0" marL="0">
              <a:buNone/>
            </a:pPr>
            <a:r>
              <a:rPr lang="en-US" sz="1000" b="1" dirty="0">
                <a:solidFill>
                  <a:srgbClr val="222222"/>
                </a:solidFill>
                <a:latin typeface="Noto Sans JP" pitchFamily="34" charset="0"/>
                <a:ea typeface="Noto Sans JP" pitchFamily="34" charset="-122"/>
                <a:cs typeface="Noto Sans JP" pitchFamily="34" charset="-120"/>
              </a:rPr>
              <a:t>搬出材積</a:t>
            </a:r>
            <a:endParaRPr lang="en-US" sz="1000" dirty="0"/>
          </a:p>
        </p:txBody>
      </p:sp>
      <p:sp>
        <p:nvSpPr>
          <p:cNvPr id="39" name="Text 33"/>
          <p:cNvSpPr txBox="1"/>
          <p:nvPr/>
        </p:nvSpPr>
        <p:spPr>
          <a:xfrm>
            <a:off x="4394200" y="3937000"/>
            <a:ext cx="889000" cy="177800"/>
          </a:xfrm>
          <a:prstGeom prst="rect">
            <a:avLst/>
          </a:prstGeom>
          <a:noFill/>
          <a:ln/>
        </p:spPr>
        <p:txBody>
          <a:bodyPr wrap="square" lIns="0" tIns="0" rIns="0" bIns="0" rtlCol="0" anchor="t"/>
          <a:lstStyle/>
          <a:p>
            <a:pPr indent="0" marL="0">
              <a:buNone/>
            </a:pPr>
            <a:r>
              <a:rPr lang="en-US" sz="800" dirty="0">
                <a:solidFill>
                  <a:srgbClr val="757575"/>
                </a:solidFill>
                <a:latin typeface="Noto Sans JP" pitchFamily="34" charset="0"/>
                <a:ea typeface="Noto Sans JP" pitchFamily="34" charset="-122"/>
                <a:cs typeface="Noto Sans JP" pitchFamily="34" charset="-120"/>
              </a:rPr>
              <a:t>単位：㎥</a:t>
            </a:r>
            <a:endParaRPr lang="en-US" sz="800" dirty="0"/>
          </a:p>
        </p:txBody>
      </p:sp>
      <p:sp>
        <p:nvSpPr>
          <p:cNvPr id="40" name="Shape 34"/>
          <p:cNvSpPr/>
          <p:nvPr/>
        </p:nvSpPr>
        <p:spPr>
          <a:xfrm>
            <a:off x="5448300" y="3581400"/>
            <a:ext cx="1536700" cy="685800"/>
          </a:xfrm>
          <a:prstGeom prst="rect">
            <a:avLst/>
          </a:prstGeom>
          <a:solidFill>
            <a:srgbClr val="FFFFFF"/>
          </a:solidFill>
          <a:ln w="12700">
            <a:solidFill>
              <a:srgbClr val="BFE3D3"/>
            </a:solidFill>
            <a:prstDash val="solid"/>
          </a:ln>
        </p:spPr>
      </p:sp>
      <p:sp>
        <p:nvSpPr>
          <p:cNvPr id="41" name="Shape 35"/>
          <p:cNvSpPr/>
          <p:nvPr/>
        </p:nvSpPr>
        <p:spPr>
          <a:xfrm>
            <a:off x="5575300" y="3721100"/>
            <a:ext cx="406400" cy="406400"/>
          </a:xfrm>
          <a:prstGeom prst="ellipse">
            <a:avLst/>
          </a:prstGeom>
          <a:solidFill>
            <a:srgbClr val="1F9970"/>
          </a:solidFill>
          <a:ln/>
        </p:spPr>
      </p:sp>
      <p:pic>
        <p:nvPicPr>
          <p:cNvPr id="42" name="Image 4" descr="preencoded.png">    </p:cNvPr>
          <p:cNvPicPr>
            <a:picLocks noChangeAspect="1"/>
          </p:cNvPicPr>
          <p:nvPr/>
        </p:nvPicPr>
        <p:blipFill>
          <a:blip r:embed="rId5"/>
          <a:stretch>
            <a:fillRect/>
          </a:stretch>
        </p:blipFill>
        <p:spPr>
          <a:xfrm>
            <a:off x="5676900" y="3822700"/>
            <a:ext cx="203200" cy="203200"/>
          </a:xfrm>
          <a:prstGeom prst="rect">
            <a:avLst/>
          </a:prstGeom>
        </p:spPr>
      </p:pic>
      <p:sp>
        <p:nvSpPr>
          <p:cNvPr id="43" name="Text 36"/>
          <p:cNvSpPr txBox="1"/>
          <p:nvPr/>
        </p:nvSpPr>
        <p:spPr>
          <a:xfrm>
            <a:off x="6057900" y="3708400"/>
            <a:ext cx="889000" cy="203200"/>
          </a:xfrm>
          <a:prstGeom prst="rect">
            <a:avLst/>
          </a:prstGeom>
          <a:noFill/>
          <a:ln/>
        </p:spPr>
        <p:txBody>
          <a:bodyPr wrap="square" lIns="0" tIns="0" rIns="0" bIns="0" rtlCol="0" anchor="t"/>
          <a:lstStyle/>
          <a:p>
            <a:pPr indent="0" marL="0">
              <a:buNone/>
            </a:pPr>
            <a:r>
              <a:rPr lang="en-US" sz="1000" b="1" dirty="0">
                <a:solidFill>
                  <a:srgbClr val="222222"/>
                </a:solidFill>
                <a:latin typeface="Noto Sans JP" pitchFamily="34" charset="0"/>
                <a:ea typeface="Noto Sans JP" pitchFamily="34" charset="-122"/>
                <a:cs typeface="Noto Sans JP" pitchFamily="34" charset="-120"/>
              </a:rPr>
              <a:t>CO₂吸収量</a:t>
            </a:r>
            <a:endParaRPr lang="en-US" sz="1000" dirty="0"/>
          </a:p>
        </p:txBody>
      </p:sp>
      <p:sp>
        <p:nvSpPr>
          <p:cNvPr id="44" name="Text 37"/>
          <p:cNvSpPr txBox="1"/>
          <p:nvPr/>
        </p:nvSpPr>
        <p:spPr>
          <a:xfrm>
            <a:off x="6057900" y="3937000"/>
            <a:ext cx="889000" cy="177800"/>
          </a:xfrm>
          <a:prstGeom prst="rect">
            <a:avLst/>
          </a:prstGeom>
          <a:noFill/>
          <a:ln/>
        </p:spPr>
        <p:txBody>
          <a:bodyPr wrap="square" lIns="0" tIns="0" rIns="0" bIns="0" rtlCol="0" anchor="t"/>
          <a:lstStyle/>
          <a:p>
            <a:pPr indent="0" marL="0">
              <a:buNone/>
            </a:pPr>
            <a:r>
              <a:rPr lang="en-US" sz="800" dirty="0">
                <a:solidFill>
                  <a:srgbClr val="757575"/>
                </a:solidFill>
                <a:latin typeface="Noto Sans JP" pitchFamily="34" charset="0"/>
                <a:ea typeface="Noto Sans JP" pitchFamily="34" charset="-122"/>
                <a:cs typeface="Noto Sans JP" pitchFamily="34" charset="-120"/>
              </a:rPr>
              <a:t>単位：t-CO₂</a:t>
            </a:r>
            <a:endParaRPr lang="en-US" sz="800" dirty="0"/>
          </a:p>
        </p:txBody>
      </p:sp>
      <p:sp>
        <p:nvSpPr>
          <p:cNvPr id="45" name="Shape 38"/>
          <p:cNvSpPr/>
          <p:nvPr/>
        </p:nvSpPr>
        <p:spPr>
          <a:xfrm>
            <a:off x="7112000" y="3581400"/>
            <a:ext cx="1536700" cy="685800"/>
          </a:xfrm>
          <a:prstGeom prst="rect">
            <a:avLst/>
          </a:prstGeom>
          <a:solidFill>
            <a:srgbClr val="FFFFFF"/>
          </a:solidFill>
          <a:ln w="12700">
            <a:solidFill>
              <a:srgbClr val="BFE3D3"/>
            </a:solidFill>
            <a:prstDash val="solid"/>
          </a:ln>
        </p:spPr>
      </p:sp>
      <p:sp>
        <p:nvSpPr>
          <p:cNvPr id="46" name="Shape 39"/>
          <p:cNvSpPr/>
          <p:nvPr/>
        </p:nvSpPr>
        <p:spPr>
          <a:xfrm>
            <a:off x="7239000" y="3721100"/>
            <a:ext cx="406400" cy="406400"/>
          </a:xfrm>
          <a:prstGeom prst="ellipse">
            <a:avLst/>
          </a:prstGeom>
          <a:solidFill>
            <a:srgbClr val="1F9970"/>
          </a:solidFill>
          <a:ln/>
        </p:spPr>
      </p:sp>
      <p:pic>
        <p:nvPicPr>
          <p:cNvPr id="47" name="Image 5" descr="preencoded.png">    </p:cNvPr>
          <p:cNvPicPr>
            <a:picLocks noChangeAspect="1"/>
          </p:cNvPicPr>
          <p:nvPr/>
        </p:nvPicPr>
        <p:blipFill>
          <a:blip r:embed="rId6"/>
          <a:stretch>
            <a:fillRect/>
          </a:stretch>
        </p:blipFill>
        <p:spPr>
          <a:xfrm>
            <a:off x="7340600" y="3822700"/>
            <a:ext cx="203200" cy="203200"/>
          </a:xfrm>
          <a:prstGeom prst="rect">
            <a:avLst/>
          </a:prstGeom>
        </p:spPr>
      </p:pic>
      <p:sp>
        <p:nvSpPr>
          <p:cNvPr id="48" name="Text 40"/>
          <p:cNvSpPr txBox="1"/>
          <p:nvPr/>
        </p:nvSpPr>
        <p:spPr>
          <a:xfrm>
            <a:off x="7721600" y="3708400"/>
            <a:ext cx="889000" cy="203200"/>
          </a:xfrm>
          <a:prstGeom prst="rect">
            <a:avLst/>
          </a:prstGeom>
          <a:noFill/>
          <a:ln/>
        </p:spPr>
        <p:txBody>
          <a:bodyPr wrap="square" lIns="0" tIns="0" rIns="0" bIns="0" rtlCol="0" anchor="t"/>
          <a:lstStyle/>
          <a:p>
            <a:pPr indent="0" marL="0">
              <a:buNone/>
            </a:pPr>
            <a:r>
              <a:rPr lang="en-US" sz="1000" b="1" dirty="0">
                <a:solidFill>
                  <a:srgbClr val="222222"/>
                </a:solidFill>
                <a:latin typeface="Noto Sans JP" pitchFamily="34" charset="0"/>
                <a:ea typeface="Noto Sans JP" pitchFamily="34" charset="-122"/>
                <a:cs typeface="Noto Sans JP" pitchFamily="34" charset="-120"/>
              </a:rPr>
              <a:t>体験参加者</a:t>
            </a:r>
            <a:endParaRPr lang="en-US" sz="1000" dirty="0"/>
          </a:p>
        </p:txBody>
      </p:sp>
      <p:sp>
        <p:nvSpPr>
          <p:cNvPr id="49" name="Text 41"/>
          <p:cNvSpPr txBox="1"/>
          <p:nvPr/>
        </p:nvSpPr>
        <p:spPr>
          <a:xfrm>
            <a:off x="7721600" y="3937000"/>
            <a:ext cx="889000" cy="177800"/>
          </a:xfrm>
          <a:prstGeom prst="rect">
            <a:avLst/>
          </a:prstGeom>
          <a:noFill/>
          <a:ln/>
        </p:spPr>
        <p:txBody>
          <a:bodyPr wrap="square" lIns="0" tIns="0" rIns="0" bIns="0" rtlCol="0" anchor="t"/>
          <a:lstStyle/>
          <a:p>
            <a:pPr indent="0" marL="0">
              <a:buNone/>
            </a:pPr>
            <a:r>
              <a:rPr lang="en-US" sz="800" dirty="0">
                <a:solidFill>
                  <a:srgbClr val="757575"/>
                </a:solidFill>
                <a:latin typeface="Noto Sans JP" pitchFamily="34" charset="0"/>
                <a:ea typeface="Noto Sans JP" pitchFamily="34" charset="-122"/>
                <a:cs typeface="Noto Sans JP" pitchFamily="34" charset="-120"/>
              </a:rPr>
              <a:t>単位：人</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F9970"/>
        </a:solidFill>
      </p:bgPr>
    </p:bg>
    <p:spTree>
      <p:nvGrpSpPr>
        <p:cNvPr id="1" name=""/>
        <p:cNvGrpSpPr/>
        <p:nvPr/>
      </p:nvGrpSpPr>
      <p:grpSpPr>
        <a:xfrm>
          <a:off x="0" y="0"/>
          <a:ext cx="0" cy="0"/>
          <a:chOff x="0" y="0"/>
          <a:chExt cx="0" cy="0"/>
        </a:xfrm>
      </p:grpSpPr>
      <p:sp>
        <p:nvSpPr>
          <p:cNvPr id="2" name="Shape 0"/>
          <p:cNvSpPr/>
          <p:nvPr/>
        </p:nvSpPr>
        <p:spPr>
          <a:xfrm>
            <a:off x="342900" y="342900"/>
            <a:ext cx="8458200" cy="4457700"/>
          </a:xfrm>
          <a:prstGeom prst="rect">
            <a:avLst/>
          </a:prstGeom>
          <a:ln w="12700">
            <a:solidFill>
              <a:srgbClr val="FFFFFF"/>
            </a:solidFill>
            <a:prstDash val="solid"/>
          </a:ln>
        </p:spPr>
      </p:sp>
      <p:sp>
        <p:nvSpPr>
          <p:cNvPr id="3" name="Text 1"/>
          <p:cNvSpPr txBox="1"/>
          <p:nvPr/>
        </p:nvSpPr>
        <p:spPr>
          <a:xfrm>
            <a:off x="762000" y="1778000"/>
            <a:ext cx="7620000" cy="1524000"/>
          </a:xfrm>
          <a:prstGeom prst="rect">
            <a:avLst/>
          </a:prstGeom>
          <a:noFill/>
          <a:ln/>
        </p:spPr>
        <p:txBody>
          <a:bodyPr wrap="square" lIns="0" tIns="0" rIns="0" bIns="0" rtlCol="0" anchor="ctr"/>
          <a:lstStyle/>
          <a:p>
            <a:pPr algn="ctr" indent="0" marL="0">
              <a:buNone/>
            </a:pPr>
            <a:r>
              <a:rPr lang="en-US" sz="2600" b="1" dirty="0">
                <a:solidFill>
                  <a:srgbClr val="FFFFFF"/>
                </a:solidFill>
                <a:latin typeface="Noto Sans JP" pitchFamily="34" charset="0"/>
                <a:ea typeface="Noto Sans JP" pitchFamily="34" charset="-122"/>
                <a:cs typeface="Noto Sans JP" pitchFamily="34" charset="-120"/>
              </a:rPr>
              <a:t>木材利用・流通事例</a:t>
            </a:r>
            <a:endParaRPr lang="en-US" sz="2600" dirty="0"/>
          </a:p>
          <a:p>
            <a:pPr algn="ctr" indent="0" marL="0">
              <a:buNone/>
            </a:pPr>
            <a:r>
              <a:rPr lang="en-US" sz="2600" b="1" dirty="0">
                <a:solidFill>
                  <a:srgbClr val="FFFFFF"/>
                </a:solidFill>
                <a:latin typeface="Noto Sans JP" pitchFamily="34" charset="0"/>
                <a:ea typeface="Noto Sans JP" pitchFamily="34" charset="-122"/>
                <a:cs typeface="Noto Sans JP" pitchFamily="34" charset="-120"/>
              </a:rPr>
              <a:t>森林体験／木材ワークショップ</a:t>
            </a:r>
            <a:endParaRPr lang="en-US" sz="2600" dirty="0"/>
          </a:p>
        </p:txBody>
      </p:sp>
      <p:sp>
        <p:nvSpPr>
          <p:cNvPr id="4" name="Shape 2"/>
          <p:cNvSpPr/>
          <p:nvPr/>
        </p:nvSpPr>
        <p:spPr>
          <a:xfrm>
            <a:off x="88900" y="4876800"/>
            <a:ext cx="723900" cy="165100"/>
          </a:xfrm>
          <a:prstGeom prst="rect">
            <a:avLst/>
          </a:prstGeom>
          <a:solidFill>
            <a:srgbClr val="FFFFFF"/>
          </a:solidFill>
          <a:ln w="6350">
            <a:solidFill>
              <a:srgbClr val="B2B2B2"/>
            </a:solidFill>
            <a:prstDash val="solid"/>
          </a:ln>
        </p:spPr>
      </p:sp>
      <p:sp>
        <p:nvSpPr>
          <p:cNvPr id="5" name="Text 3"/>
          <p:cNvSpPr txBox="1"/>
          <p:nvPr/>
        </p:nvSpPr>
        <p:spPr>
          <a:xfrm>
            <a:off x="88900" y="4876800"/>
            <a:ext cx="723900" cy="165100"/>
          </a:xfrm>
          <a:prstGeom prst="rect">
            <a:avLst/>
          </a:prstGeom>
          <a:noFill/>
          <a:ln/>
        </p:spPr>
        <p:txBody>
          <a:bodyPr wrap="square" lIns="0" tIns="0" rIns="0" bIns="0" rtlCol="0" anchor="ctr"/>
          <a:lstStyle/>
          <a:p>
            <a:pPr algn="ctr" indent="0" marL="0">
              <a:buNone/>
            </a:pPr>
            <a:r>
              <a:rPr lang="en-US" sz="700" dirty="0">
                <a:solidFill>
                  <a:srgbClr val="757575"/>
                </a:solidFill>
                <a:latin typeface="Arial" pitchFamily="34" charset="0"/>
                <a:ea typeface="Arial" pitchFamily="34" charset="-122"/>
                <a:cs typeface="Arial" pitchFamily="34" charset="-120"/>
              </a:rPr>
              <a:t>confidential</a:t>
            </a:r>
            <a:endParaRPr lang="en-US" sz="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Image 0" descr="/tmp/claude-0/-home-user--/135b95b8-9a7c-5e2e-abb3-3369b8f4d943/scratchpad/assets/logo_dark.png">    </p:cNvPr>
          <p:cNvPicPr>
            <a:picLocks noChangeAspect="1"/>
          </p:cNvPicPr>
          <p:nvPr/>
        </p:nvPicPr>
        <p:blipFill>
          <a:blip r:embed="rId1"/>
          <a:stretch>
            <a:fillRect/>
          </a:stretch>
        </p:blipFill>
        <p:spPr>
          <a:xfrm>
            <a:off x="355600" y="160020"/>
            <a:ext cx="558800" cy="254000"/>
          </a:xfrm>
          <a:prstGeom prst="rect">
            <a:avLst/>
          </a:prstGeom>
        </p:spPr>
      </p:pic>
      <p:sp>
        <p:nvSpPr>
          <p:cNvPr id="3" name="Text 0"/>
          <p:cNvSpPr txBox="1"/>
          <p:nvPr/>
        </p:nvSpPr>
        <p:spPr>
          <a:xfrm>
            <a:off x="1397000" y="127000"/>
            <a:ext cx="6350000" cy="304800"/>
          </a:xfrm>
          <a:prstGeom prst="rect">
            <a:avLst/>
          </a:prstGeom>
          <a:noFill/>
          <a:ln/>
        </p:spPr>
        <p:txBody>
          <a:bodyPr wrap="square" lIns="0" tIns="0" rIns="0" bIns="0" rtlCol="0" anchor="ctr"/>
          <a:lstStyle/>
          <a:p>
            <a:pPr algn="ctr" indent="0" marL="0">
              <a:buNone/>
            </a:pPr>
            <a:r>
              <a:rPr lang="en-US" sz="1500" b="1" dirty="0">
                <a:solidFill>
                  <a:srgbClr val="222222"/>
                </a:solidFill>
                <a:latin typeface="Noto Sans JP" pitchFamily="34" charset="0"/>
                <a:ea typeface="Noto Sans JP" pitchFamily="34" charset="-122"/>
                <a:cs typeface="Noto Sans JP" pitchFamily="34" charset="-120"/>
              </a:rPr>
              <a:t>弊社木材流通事例：Bole</a:t>
            </a:r>
            <a:endParaRPr lang="en-US" sz="1500" dirty="0"/>
          </a:p>
        </p:txBody>
      </p:sp>
      <p:sp>
        <p:nvSpPr>
          <p:cNvPr id="4" name="Shape 1"/>
          <p:cNvSpPr/>
          <p:nvPr/>
        </p:nvSpPr>
        <p:spPr>
          <a:xfrm>
            <a:off x="0" y="539750"/>
            <a:ext cx="9144000" cy="0"/>
          </a:xfrm>
          <a:prstGeom prst="line">
            <a:avLst/>
          </a:prstGeom>
          <a:noFill/>
          <a:ln w="9525">
            <a:solidFill>
              <a:srgbClr val="999999"/>
            </a:solidFill>
            <a:prstDash val="solid"/>
          </a:ln>
        </p:spPr>
      </p:sp>
      <p:sp>
        <p:nvSpPr>
          <p:cNvPr id="5" name="Shape 2"/>
          <p:cNvSpPr/>
          <p:nvPr/>
        </p:nvSpPr>
        <p:spPr>
          <a:xfrm>
            <a:off x="88900" y="4876800"/>
            <a:ext cx="723900" cy="165100"/>
          </a:xfrm>
          <a:prstGeom prst="rect">
            <a:avLst/>
          </a:prstGeom>
          <a:solidFill>
            <a:srgbClr val="FFFFFF"/>
          </a:solidFill>
          <a:ln w="6350">
            <a:solidFill>
              <a:srgbClr val="B2B2B2"/>
            </a:solidFill>
            <a:prstDash val="solid"/>
          </a:ln>
        </p:spPr>
      </p:sp>
      <p:sp>
        <p:nvSpPr>
          <p:cNvPr id="6" name="Text 3"/>
          <p:cNvSpPr txBox="1"/>
          <p:nvPr/>
        </p:nvSpPr>
        <p:spPr>
          <a:xfrm>
            <a:off x="88900" y="4876800"/>
            <a:ext cx="723900" cy="165100"/>
          </a:xfrm>
          <a:prstGeom prst="rect">
            <a:avLst/>
          </a:prstGeom>
          <a:noFill/>
          <a:ln/>
        </p:spPr>
        <p:txBody>
          <a:bodyPr wrap="square" lIns="0" tIns="0" rIns="0" bIns="0" rtlCol="0" anchor="ctr"/>
          <a:lstStyle/>
          <a:p>
            <a:pPr algn="ctr" indent="0" marL="0">
              <a:buNone/>
            </a:pPr>
            <a:r>
              <a:rPr lang="en-US" sz="700" dirty="0">
                <a:solidFill>
                  <a:srgbClr val="757575"/>
                </a:solidFill>
                <a:latin typeface="Arial" pitchFamily="34" charset="0"/>
                <a:ea typeface="Arial" pitchFamily="34" charset="-122"/>
                <a:cs typeface="Arial" pitchFamily="34" charset="-120"/>
              </a:rPr>
              <a:t>confidential</a:t>
            </a:r>
            <a:endParaRPr lang="en-US" sz="700" dirty="0"/>
          </a:p>
        </p:txBody>
      </p:sp>
      <p:sp>
        <p:nvSpPr>
          <p:cNvPr id="7" name="Text 4"/>
          <p:cNvSpPr txBox="1"/>
          <p:nvPr/>
        </p:nvSpPr>
        <p:spPr>
          <a:xfrm>
            <a:off x="8509000" y="4826000"/>
            <a:ext cx="533400" cy="203200"/>
          </a:xfrm>
          <a:prstGeom prst="rect">
            <a:avLst/>
          </a:prstGeom>
          <a:noFill/>
          <a:ln/>
        </p:spPr>
        <p:txBody>
          <a:bodyPr wrap="square" lIns="0" tIns="0" rIns="0" bIns="0" rtlCol="0" anchor="t"/>
          <a:lstStyle/>
          <a:p>
            <a:pPr algn="r" indent="0" marL="0">
              <a:buNone/>
            </a:pPr>
            <a:r>
              <a:rPr lang="en-US" sz="1100" dirty="0">
                <a:solidFill>
                  <a:srgbClr val="757575"/>
                </a:solidFill>
                <a:latin typeface="Noto Sans JP" pitchFamily="34" charset="0"/>
                <a:ea typeface="Noto Sans JP" pitchFamily="34" charset="-122"/>
                <a:cs typeface="Noto Sans JP" pitchFamily="34" charset="-120"/>
              </a:rPr>
              <a:t>18</a:t>
            </a:r>
            <a:endParaRPr lang="en-US" sz="1100" dirty="0"/>
          </a:p>
        </p:txBody>
      </p:sp>
      <p:pic>
        <p:nvPicPr>
          <p:cNvPr id="8" name="Image 1" descr="/tmp/claude-0/-home-user--/135b95b8-9a7c-5e2e-abb3-3369b8f4d943/scratchpad/assets/bole_p10.jpg">    </p:cNvPr>
          <p:cNvPicPr>
            <a:picLocks noChangeAspect="1"/>
          </p:cNvPicPr>
          <p:nvPr/>
        </p:nvPicPr>
        <p:blipFill>
          <a:blip r:embed="rId2"/>
          <a:stretch>
            <a:fillRect/>
          </a:stretch>
        </p:blipFill>
        <p:spPr>
          <a:xfrm>
            <a:off x="0" y="546100"/>
            <a:ext cx="9144000" cy="4597400"/>
          </a:xfrm>
          <a:prstGeom prst="rect">
            <a:avLst/>
          </a:prstGeom>
        </p:spPr>
      </p:pic>
      <p:sp>
        <p:nvSpPr>
          <p:cNvPr id="9" name="Shape 5"/>
          <p:cNvSpPr/>
          <p:nvPr/>
        </p:nvSpPr>
        <p:spPr>
          <a:xfrm>
            <a:off x="88900" y="4876800"/>
            <a:ext cx="723900" cy="165100"/>
          </a:xfrm>
          <a:prstGeom prst="rect">
            <a:avLst/>
          </a:prstGeom>
          <a:solidFill>
            <a:srgbClr val="FFFFFF"/>
          </a:solidFill>
          <a:ln w="6350">
            <a:solidFill>
              <a:srgbClr val="B2B2B2"/>
            </a:solidFill>
            <a:prstDash val="solid"/>
          </a:ln>
        </p:spPr>
      </p:sp>
      <p:sp>
        <p:nvSpPr>
          <p:cNvPr id="10" name="Text 6"/>
          <p:cNvSpPr txBox="1"/>
          <p:nvPr/>
        </p:nvSpPr>
        <p:spPr>
          <a:xfrm>
            <a:off x="88900" y="4876800"/>
            <a:ext cx="723900" cy="165100"/>
          </a:xfrm>
          <a:prstGeom prst="rect">
            <a:avLst/>
          </a:prstGeom>
          <a:noFill/>
          <a:ln/>
        </p:spPr>
        <p:txBody>
          <a:bodyPr wrap="square" lIns="0" tIns="0" rIns="0" bIns="0" rtlCol="0" anchor="ctr"/>
          <a:lstStyle/>
          <a:p>
            <a:pPr algn="ctr" indent="0" marL="0">
              <a:buNone/>
            </a:pPr>
            <a:r>
              <a:rPr lang="en-US" sz="700" dirty="0">
                <a:solidFill>
                  <a:srgbClr val="757575"/>
                </a:solidFill>
                <a:latin typeface="Arial" pitchFamily="34" charset="0"/>
                <a:ea typeface="Arial" pitchFamily="34" charset="-122"/>
                <a:cs typeface="Arial" pitchFamily="34" charset="-120"/>
              </a:rPr>
              <a:t>confidential</a:t>
            </a:r>
            <a:endParaRPr lang="en-US" sz="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pic>
        <p:nvPicPr>
          <p:cNvPr id="2" name="Image 0" descr="/tmp/claude-0/-home-user--/135b95b8-9a7c-5e2e-abb3-3369b8f4d943/scratchpad/assets/logo_dark.png">    </p:cNvPr>
          <p:cNvPicPr>
            <a:picLocks noChangeAspect="1"/>
          </p:cNvPicPr>
          <p:nvPr/>
        </p:nvPicPr>
        <p:blipFill>
          <a:blip r:embed="rId1"/>
          <a:stretch>
            <a:fillRect/>
          </a:stretch>
        </p:blipFill>
        <p:spPr>
          <a:xfrm>
            <a:off x="355600" y="160020"/>
            <a:ext cx="558800" cy="254000"/>
          </a:xfrm>
          <a:prstGeom prst="rect">
            <a:avLst/>
          </a:prstGeom>
        </p:spPr>
      </p:pic>
      <p:sp>
        <p:nvSpPr>
          <p:cNvPr id="3" name="Text 0"/>
          <p:cNvSpPr txBox="1"/>
          <p:nvPr/>
        </p:nvSpPr>
        <p:spPr>
          <a:xfrm>
            <a:off x="1397000" y="127000"/>
            <a:ext cx="6350000" cy="304800"/>
          </a:xfrm>
          <a:prstGeom prst="rect">
            <a:avLst/>
          </a:prstGeom>
          <a:noFill/>
          <a:ln/>
        </p:spPr>
        <p:txBody>
          <a:bodyPr wrap="square" lIns="0" tIns="0" rIns="0" bIns="0" rtlCol="0" anchor="ctr"/>
          <a:lstStyle/>
          <a:p>
            <a:pPr algn="ctr" indent="0" marL="0">
              <a:buNone/>
            </a:pPr>
            <a:r>
              <a:rPr lang="en-US" sz="1500" b="1" dirty="0">
                <a:solidFill>
                  <a:srgbClr val="222222"/>
                </a:solidFill>
                <a:latin typeface="Noto Sans JP" pitchFamily="34" charset="0"/>
                <a:ea typeface="Noto Sans JP" pitchFamily="34" charset="-122"/>
                <a:cs typeface="Noto Sans JP" pitchFamily="34" charset="-120"/>
              </a:rPr>
              <a:t>弊社木材流通事例：Bole</a:t>
            </a:r>
            <a:endParaRPr lang="en-US" sz="1500" dirty="0"/>
          </a:p>
        </p:txBody>
      </p:sp>
      <p:sp>
        <p:nvSpPr>
          <p:cNvPr id="4" name="Shape 1"/>
          <p:cNvSpPr/>
          <p:nvPr/>
        </p:nvSpPr>
        <p:spPr>
          <a:xfrm>
            <a:off x="0" y="539750"/>
            <a:ext cx="9144000" cy="0"/>
          </a:xfrm>
          <a:prstGeom prst="line">
            <a:avLst/>
          </a:prstGeom>
          <a:noFill/>
          <a:ln w="9525">
            <a:solidFill>
              <a:srgbClr val="999999"/>
            </a:solidFill>
            <a:prstDash val="solid"/>
          </a:ln>
        </p:spPr>
      </p:sp>
      <p:sp>
        <p:nvSpPr>
          <p:cNvPr id="5" name="Shape 2"/>
          <p:cNvSpPr/>
          <p:nvPr/>
        </p:nvSpPr>
        <p:spPr>
          <a:xfrm>
            <a:off x="88900" y="4876800"/>
            <a:ext cx="723900" cy="165100"/>
          </a:xfrm>
          <a:prstGeom prst="rect">
            <a:avLst/>
          </a:prstGeom>
          <a:solidFill>
            <a:srgbClr val="FFFFFF"/>
          </a:solidFill>
          <a:ln w="6350">
            <a:solidFill>
              <a:srgbClr val="B2B2B2"/>
            </a:solidFill>
            <a:prstDash val="solid"/>
          </a:ln>
        </p:spPr>
      </p:sp>
      <p:sp>
        <p:nvSpPr>
          <p:cNvPr id="6" name="Text 3"/>
          <p:cNvSpPr txBox="1"/>
          <p:nvPr/>
        </p:nvSpPr>
        <p:spPr>
          <a:xfrm>
            <a:off x="88900" y="4876800"/>
            <a:ext cx="723900" cy="165100"/>
          </a:xfrm>
          <a:prstGeom prst="rect">
            <a:avLst/>
          </a:prstGeom>
          <a:noFill/>
          <a:ln/>
        </p:spPr>
        <p:txBody>
          <a:bodyPr wrap="square" lIns="0" tIns="0" rIns="0" bIns="0" rtlCol="0" anchor="ctr"/>
          <a:lstStyle/>
          <a:p>
            <a:pPr algn="ctr" indent="0" marL="0">
              <a:buNone/>
            </a:pPr>
            <a:r>
              <a:rPr lang="en-US" sz="700" dirty="0">
                <a:solidFill>
                  <a:srgbClr val="757575"/>
                </a:solidFill>
                <a:latin typeface="Arial" pitchFamily="34" charset="0"/>
                <a:ea typeface="Arial" pitchFamily="34" charset="-122"/>
                <a:cs typeface="Arial" pitchFamily="34" charset="-120"/>
              </a:rPr>
              <a:t>confidential</a:t>
            </a:r>
            <a:endParaRPr lang="en-US" sz="700" dirty="0"/>
          </a:p>
        </p:txBody>
      </p:sp>
      <p:sp>
        <p:nvSpPr>
          <p:cNvPr id="7" name="Text 4"/>
          <p:cNvSpPr txBox="1"/>
          <p:nvPr/>
        </p:nvSpPr>
        <p:spPr>
          <a:xfrm>
            <a:off x="8509000" y="4826000"/>
            <a:ext cx="533400" cy="203200"/>
          </a:xfrm>
          <a:prstGeom prst="rect">
            <a:avLst/>
          </a:prstGeom>
          <a:noFill/>
          <a:ln/>
        </p:spPr>
        <p:txBody>
          <a:bodyPr wrap="square" lIns="0" tIns="0" rIns="0" bIns="0" rtlCol="0" anchor="t"/>
          <a:lstStyle/>
          <a:p>
            <a:pPr algn="r" indent="0" marL="0">
              <a:buNone/>
            </a:pPr>
            <a:r>
              <a:rPr lang="en-US" sz="1100" dirty="0">
                <a:solidFill>
                  <a:srgbClr val="757575"/>
                </a:solidFill>
                <a:latin typeface="Noto Sans JP" pitchFamily="34" charset="0"/>
                <a:ea typeface="Noto Sans JP" pitchFamily="34" charset="-122"/>
                <a:cs typeface="Noto Sans JP" pitchFamily="34" charset="-120"/>
              </a:rPr>
              <a:t>19</a:t>
            </a:r>
            <a:endParaRPr lang="en-US" sz="1100" dirty="0"/>
          </a:p>
        </p:txBody>
      </p:sp>
      <p:pic>
        <p:nvPicPr>
          <p:cNvPr id="8" name="Image 1" descr="/tmp/claude-0/-home-user--/135b95b8-9a7c-5e2e-abb3-3369b8f4d943/scratchpad/assets/bole_p11.jpg">    </p:cNvPr>
          <p:cNvPicPr>
            <a:picLocks noChangeAspect="1"/>
          </p:cNvPicPr>
          <p:nvPr/>
        </p:nvPicPr>
        <p:blipFill>
          <a:blip r:embed="rId2"/>
          <a:stretch>
            <a:fillRect/>
          </a:stretch>
        </p:blipFill>
        <p:spPr>
          <a:xfrm>
            <a:off x="0" y="546100"/>
            <a:ext cx="9144000" cy="42164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pic>
        <p:nvPicPr>
          <p:cNvPr id="2" name="Image 0" descr="/tmp/claude-0/-home-user--/135b95b8-9a7c-5e2e-abb3-3369b8f4d943/scratchpad/assets/logo_dark.png">    </p:cNvPr>
          <p:cNvPicPr>
            <a:picLocks noChangeAspect="1"/>
          </p:cNvPicPr>
          <p:nvPr/>
        </p:nvPicPr>
        <p:blipFill>
          <a:blip r:embed="rId1"/>
          <a:stretch>
            <a:fillRect/>
          </a:stretch>
        </p:blipFill>
        <p:spPr>
          <a:xfrm>
            <a:off x="355600" y="160020"/>
            <a:ext cx="558800" cy="254000"/>
          </a:xfrm>
          <a:prstGeom prst="rect">
            <a:avLst/>
          </a:prstGeom>
        </p:spPr>
      </p:pic>
      <p:sp>
        <p:nvSpPr>
          <p:cNvPr id="3" name="Text 0"/>
          <p:cNvSpPr txBox="1"/>
          <p:nvPr/>
        </p:nvSpPr>
        <p:spPr>
          <a:xfrm>
            <a:off x="1397000" y="127000"/>
            <a:ext cx="6350000" cy="304800"/>
          </a:xfrm>
          <a:prstGeom prst="rect">
            <a:avLst/>
          </a:prstGeom>
          <a:noFill/>
          <a:ln/>
        </p:spPr>
        <p:txBody>
          <a:bodyPr wrap="square" lIns="0" tIns="0" rIns="0" bIns="0" rtlCol="0" anchor="ctr"/>
          <a:lstStyle/>
          <a:p>
            <a:pPr algn="ctr" indent="0" marL="0">
              <a:buNone/>
            </a:pPr>
            <a:r>
              <a:rPr lang="en-US" sz="1500" b="1" dirty="0">
                <a:solidFill>
                  <a:srgbClr val="222222"/>
                </a:solidFill>
                <a:latin typeface="Noto Sans JP" pitchFamily="34" charset="0"/>
                <a:ea typeface="Noto Sans JP" pitchFamily="34" charset="-122"/>
                <a:cs typeface="Noto Sans JP" pitchFamily="34" charset="-120"/>
              </a:rPr>
              <a:t>弊社木材流通事例：Bole</a:t>
            </a:r>
            <a:endParaRPr lang="en-US" sz="1500" dirty="0"/>
          </a:p>
        </p:txBody>
      </p:sp>
      <p:sp>
        <p:nvSpPr>
          <p:cNvPr id="4" name="Shape 1"/>
          <p:cNvSpPr/>
          <p:nvPr/>
        </p:nvSpPr>
        <p:spPr>
          <a:xfrm>
            <a:off x="0" y="539750"/>
            <a:ext cx="9144000" cy="0"/>
          </a:xfrm>
          <a:prstGeom prst="line">
            <a:avLst/>
          </a:prstGeom>
          <a:noFill/>
          <a:ln w="9525">
            <a:solidFill>
              <a:srgbClr val="999999"/>
            </a:solidFill>
            <a:prstDash val="solid"/>
          </a:ln>
        </p:spPr>
      </p:sp>
      <p:sp>
        <p:nvSpPr>
          <p:cNvPr id="5" name="Shape 2"/>
          <p:cNvSpPr/>
          <p:nvPr/>
        </p:nvSpPr>
        <p:spPr>
          <a:xfrm>
            <a:off x="88900" y="4876800"/>
            <a:ext cx="723900" cy="165100"/>
          </a:xfrm>
          <a:prstGeom prst="rect">
            <a:avLst/>
          </a:prstGeom>
          <a:solidFill>
            <a:srgbClr val="FFFFFF"/>
          </a:solidFill>
          <a:ln w="6350">
            <a:solidFill>
              <a:srgbClr val="B2B2B2"/>
            </a:solidFill>
            <a:prstDash val="solid"/>
          </a:ln>
        </p:spPr>
      </p:sp>
      <p:sp>
        <p:nvSpPr>
          <p:cNvPr id="6" name="Text 3"/>
          <p:cNvSpPr txBox="1"/>
          <p:nvPr/>
        </p:nvSpPr>
        <p:spPr>
          <a:xfrm>
            <a:off x="88900" y="4876800"/>
            <a:ext cx="723900" cy="165100"/>
          </a:xfrm>
          <a:prstGeom prst="rect">
            <a:avLst/>
          </a:prstGeom>
          <a:noFill/>
          <a:ln/>
        </p:spPr>
        <p:txBody>
          <a:bodyPr wrap="square" lIns="0" tIns="0" rIns="0" bIns="0" rtlCol="0" anchor="ctr"/>
          <a:lstStyle/>
          <a:p>
            <a:pPr algn="ctr" indent="0" marL="0">
              <a:buNone/>
            </a:pPr>
            <a:r>
              <a:rPr lang="en-US" sz="700" dirty="0">
                <a:solidFill>
                  <a:srgbClr val="757575"/>
                </a:solidFill>
                <a:latin typeface="Arial" pitchFamily="34" charset="0"/>
                <a:ea typeface="Arial" pitchFamily="34" charset="-122"/>
                <a:cs typeface="Arial" pitchFamily="34" charset="-120"/>
              </a:rPr>
              <a:t>confidential</a:t>
            </a:r>
            <a:endParaRPr lang="en-US" sz="700" dirty="0"/>
          </a:p>
        </p:txBody>
      </p:sp>
      <p:sp>
        <p:nvSpPr>
          <p:cNvPr id="7" name="Text 4"/>
          <p:cNvSpPr txBox="1"/>
          <p:nvPr/>
        </p:nvSpPr>
        <p:spPr>
          <a:xfrm>
            <a:off x="8509000" y="4826000"/>
            <a:ext cx="533400" cy="203200"/>
          </a:xfrm>
          <a:prstGeom prst="rect">
            <a:avLst/>
          </a:prstGeom>
          <a:noFill/>
          <a:ln/>
        </p:spPr>
        <p:txBody>
          <a:bodyPr wrap="square" lIns="0" tIns="0" rIns="0" bIns="0" rtlCol="0" anchor="t"/>
          <a:lstStyle/>
          <a:p>
            <a:pPr algn="r" indent="0" marL="0">
              <a:buNone/>
            </a:pPr>
            <a:r>
              <a:rPr lang="en-US" sz="1100" dirty="0">
                <a:solidFill>
                  <a:srgbClr val="757575"/>
                </a:solidFill>
                <a:latin typeface="Noto Sans JP" pitchFamily="34" charset="0"/>
                <a:ea typeface="Noto Sans JP" pitchFamily="34" charset="-122"/>
                <a:cs typeface="Noto Sans JP" pitchFamily="34" charset="-120"/>
              </a:rPr>
              <a:t>20</a:t>
            </a:r>
            <a:endParaRPr lang="en-US" sz="1100" dirty="0"/>
          </a:p>
        </p:txBody>
      </p:sp>
      <p:pic>
        <p:nvPicPr>
          <p:cNvPr id="8" name="Image 1" descr="/tmp/claude-0/-home-user--/135b95b8-9a7c-5e2e-abb3-3369b8f4d943/scratchpad/assets/bole_p12.jpg">    </p:cNvPr>
          <p:cNvPicPr>
            <a:picLocks noChangeAspect="1"/>
          </p:cNvPicPr>
          <p:nvPr/>
        </p:nvPicPr>
        <p:blipFill>
          <a:blip r:embed="rId2"/>
          <a:stretch>
            <a:fillRect/>
          </a:stretch>
        </p:blipFill>
        <p:spPr>
          <a:xfrm>
            <a:off x="0" y="546100"/>
            <a:ext cx="9144000" cy="4597400"/>
          </a:xfrm>
          <a:prstGeom prst="rect">
            <a:avLst/>
          </a:prstGeom>
        </p:spPr>
      </p:pic>
      <p:sp>
        <p:nvSpPr>
          <p:cNvPr id="9" name="Shape 5"/>
          <p:cNvSpPr/>
          <p:nvPr/>
        </p:nvSpPr>
        <p:spPr>
          <a:xfrm>
            <a:off x="88900" y="4876800"/>
            <a:ext cx="723900" cy="165100"/>
          </a:xfrm>
          <a:prstGeom prst="rect">
            <a:avLst/>
          </a:prstGeom>
          <a:solidFill>
            <a:srgbClr val="FFFFFF"/>
          </a:solidFill>
          <a:ln w="6350">
            <a:solidFill>
              <a:srgbClr val="B2B2B2"/>
            </a:solidFill>
            <a:prstDash val="solid"/>
          </a:ln>
        </p:spPr>
      </p:sp>
      <p:sp>
        <p:nvSpPr>
          <p:cNvPr id="10" name="Text 6"/>
          <p:cNvSpPr txBox="1"/>
          <p:nvPr/>
        </p:nvSpPr>
        <p:spPr>
          <a:xfrm>
            <a:off x="88900" y="4876800"/>
            <a:ext cx="723900" cy="165100"/>
          </a:xfrm>
          <a:prstGeom prst="rect">
            <a:avLst/>
          </a:prstGeom>
          <a:noFill/>
          <a:ln/>
        </p:spPr>
        <p:txBody>
          <a:bodyPr wrap="square" lIns="0" tIns="0" rIns="0" bIns="0" rtlCol="0" anchor="ctr"/>
          <a:lstStyle/>
          <a:p>
            <a:pPr algn="ctr" indent="0" marL="0">
              <a:buNone/>
            </a:pPr>
            <a:r>
              <a:rPr lang="en-US" sz="700" dirty="0">
                <a:solidFill>
                  <a:srgbClr val="757575"/>
                </a:solidFill>
                <a:latin typeface="Arial" pitchFamily="34" charset="0"/>
                <a:ea typeface="Arial" pitchFamily="34" charset="-122"/>
                <a:cs typeface="Arial" pitchFamily="34" charset="-120"/>
              </a:rPr>
              <a:t>confidential</a:t>
            </a:r>
            <a:endParaRPr lang="en-US" sz="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pic>
        <p:nvPicPr>
          <p:cNvPr id="2" name="Image 0" descr="/tmp/claude-0/-home-user--/135b95b8-9a7c-5e2e-abb3-3369b8f4d943/scratchpad/assets/logo_dark.png">    </p:cNvPr>
          <p:cNvPicPr>
            <a:picLocks noChangeAspect="1"/>
          </p:cNvPicPr>
          <p:nvPr/>
        </p:nvPicPr>
        <p:blipFill>
          <a:blip r:embed="rId1"/>
          <a:stretch>
            <a:fillRect/>
          </a:stretch>
        </p:blipFill>
        <p:spPr>
          <a:xfrm>
            <a:off x="355600" y="160020"/>
            <a:ext cx="558800" cy="254000"/>
          </a:xfrm>
          <a:prstGeom prst="rect">
            <a:avLst/>
          </a:prstGeom>
        </p:spPr>
      </p:pic>
      <p:sp>
        <p:nvSpPr>
          <p:cNvPr id="3" name="Text 0"/>
          <p:cNvSpPr txBox="1"/>
          <p:nvPr/>
        </p:nvSpPr>
        <p:spPr>
          <a:xfrm>
            <a:off x="1397000" y="127000"/>
            <a:ext cx="6350000" cy="304800"/>
          </a:xfrm>
          <a:prstGeom prst="rect">
            <a:avLst/>
          </a:prstGeom>
          <a:noFill/>
          <a:ln/>
        </p:spPr>
        <p:txBody>
          <a:bodyPr wrap="square" lIns="0" tIns="0" rIns="0" bIns="0" rtlCol="0" anchor="ctr"/>
          <a:lstStyle/>
          <a:p>
            <a:pPr algn="ctr" indent="0" marL="0">
              <a:buNone/>
            </a:pPr>
            <a:r>
              <a:rPr lang="en-US" sz="1500" b="1" dirty="0">
                <a:solidFill>
                  <a:srgbClr val="222222"/>
                </a:solidFill>
                <a:latin typeface="Noto Sans JP" pitchFamily="34" charset="0"/>
                <a:ea typeface="Noto Sans JP" pitchFamily="34" charset="-122"/>
                <a:cs typeface="Noto Sans JP" pitchFamily="34" charset="-120"/>
              </a:rPr>
              <a:t>弊社木材流通事例：商業施設での木材活用</a:t>
            </a:r>
            <a:endParaRPr lang="en-US" sz="1500" dirty="0"/>
          </a:p>
        </p:txBody>
      </p:sp>
      <p:sp>
        <p:nvSpPr>
          <p:cNvPr id="4" name="Shape 1"/>
          <p:cNvSpPr/>
          <p:nvPr/>
        </p:nvSpPr>
        <p:spPr>
          <a:xfrm>
            <a:off x="0" y="539750"/>
            <a:ext cx="9144000" cy="0"/>
          </a:xfrm>
          <a:prstGeom prst="line">
            <a:avLst/>
          </a:prstGeom>
          <a:noFill/>
          <a:ln w="9525">
            <a:solidFill>
              <a:srgbClr val="999999"/>
            </a:solidFill>
            <a:prstDash val="solid"/>
          </a:ln>
        </p:spPr>
      </p:sp>
      <p:sp>
        <p:nvSpPr>
          <p:cNvPr id="5" name="Shape 2"/>
          <p:cNvSpPr/>
          <p:nvPr/>
        </p:nvSpPr>
        <p:spPr>
          <a:xfrm>
            <a:off x="88900" y="4876800"/>
            <a:ext cx="723900" cy="165100"/>
          </a:xfrm>
          <a:prstGeom prst="rect">
            <a:avLst/>
          </a:prstGeom>
          <a:solidFill>
            <a:srgbClr val="FFFFFF"/>
          </a:solidFill>
          <a:ln w="6350">
            <a:solidFill>
              <a:srgbClr val="B2B2B2"/>
            </a:solidFill>
            <a:prstDash val="solid"/>
          </a:ln>
        </p:spPr>
      </p:sp>
      <p:sp>
        <p:nvSpPr>
          <p:cNvPr id="6" name="Text 3"/>
          <p:cNvSpPr txBox="1"/>
          <p:nvPr/>
        </p:nvSpPr>
        <p:spPr>
          <a:xfrm>
            <a:off x="88900" y="4876800"/>
            <a:ext cx="723900" cy="165100"/>
          </a:xfrm>
          <a:prstGeom prst="rect">
            <a:avLst/>
          </a:prstGeom>
          <a:noFill/>
          <a:ln/>
        </p:spPr>
        <p:txBody>
          <a:bodyPr wrap="square" lIns="0" tIns="0" rIns="0" bIns="0" rtlCol="0" anchor="ctr"/>
          <a:lstStyle/>
          <a:p>
            <a:pPr algn="ctr" indent="0" marL="0">
              <a:buNone/>
            </a:pPr>
            <a:r>
              <a:rPr lang="en-US" sz="700" dirty="0">
                <a:solidFill>
                  <a:srgbClr val="757575"/>
                </a:solidFill>
                <a:latin typeface="Arial" pitchFamily="34" charset="0"/>
                <a:ea typeface="Arial" pitchFamily="34" charset="-122"/>
                <a:cs typeface="Arial" pitchFamily="34" charset="-120"/>
              </a:rPr>
              <a:t>confidential</a:t>
            </a:r>
            <a:endParaRPr lang="en-US" sz="700" dirty="0"/>
          </a:p>
        </p:txBody>
      </p:sp>
      <p:sp>
        <p:nvSpPr>
          <p:cNvPr id="7" name="Text 4"/>
          <p:cNvSpPr txBox="1"/>
          <p:nvPr/>
        </p:nvSpPr>
        <p:spPr>
          <a:xfrm>
            <a:off x="8509000" y="4826000"/>
            <a:ext cx="533400" cy="203200"/>
          </a:xfrm>
          <a:prstGeom prst="rect">
            <a:avLst/>
          </a:prstGeom>
          <a:noFill/>
          <a:ln/>
        </p:spPr>
        <p:txBody>
          <a:bodyPr wrap="square" lIns="0" tIns="0" rIns="0" bIns="0" rtlCol="0" anchor="t"/>
          <a:lstStyle/>
          <a:p>
            <a:pPr algn="r" indent="0" marL="0">
              <a:buNone/>
            </a:pPr>
            <a:r>
              <a:rPr lang="en-US" sz="1100" dirty="0">
                <a:solidFill>
                  <a:srgbClr val="757575"/>
                </a:solidFill>
                <a:latin typeface="Noto Sans JP" pitchFamily="34" charset="0"/>
                <a:ea typeface="Noto Sans JP" pitchFamily="34" charset="-122"/>
                <a:cs typeface="Noto Sans JP" pitchFamily="34" charset="-120"/>
              </a:rPr>
              <a:t>21</a:t>
            </a:r>
            <a:endParaRPr lang="en-US" sz="1100" dirty="0"/>
          </a:p>
        </p:txBody>
      </p:sp>
      <p:pic>
        <p:nvPicPr>
          <p:cNvPr id="8" name="Image 1" descr="/tmp/claude-0/-home-user--/135b95b8-9a7c-5e2e-abb3-3369b8f4d943/scratchpad/assets/bole_p13.jpg">    </p:cNvPr>
          <p:cNvPicPr>
            <a:picLocks noChangeAspect="1"/>
          </p:cNvPicPr>
          <p:nvPr/>
        </p:nvPicPr>
        <p:blipFill>
          <a:blip r:embed="rId2"/>
          <a:stretch>
            <a:fillRect/>
          </a:stretch>
        </p:blipFill>
        <p:spPr>
          <a:xfrm>
            <a:off x="0" y="546100"/>
            <a:ext cx="9144000" cy="42164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pic>
        <p:nvPicPr>
          <p:cNvPr id="2" name="Image 0" descr="/tmp/claude-0/-home-user--/135b95b8-9a7c-5e2e-abb3-3369b8f4d943/scratchpad/assets/logo_dark.png">    </p:cNvPr>
          <p:cNvPicPr>
            <a:picLocks noChangeAspect="1"/>
          </p:cNvPicPr>
          <p:nvPr/>
        </p:nvPicPr>
        <p:blipFill>
          <a:blip r:embed="rId1"/>
          <a:stretch>
            <a:fillRect/>
          </a:stretch>
        </p:blipFill>
        <p:spPr>
          <a:xfrm>
            <a:off x="355600" y="160020"/>
            <a:ext cx="558800" cy="254000"/>
          </a:xfrm>
          <a:prstGeom prst="rect">
            <a:avLst/>
          </a:prstGeom>
        </p:spPr>
      </p:pic>
      <p:sp>
        <p:nvSpPr>
          <p:cNvPr id="3" name="Text 0"/>
          <p:cNvSpPr txBox="1"/>
          <p:nvPr/>
        </p:nvSpPr>
        <p:spPr>
          <a:xfrm>
            <a:off x="1397000" y="127000"/>
            <a:ext cx="6350000" cy="304800"/>
          </a:xfrm>
          <a:prstGeom prst="rect">
            <a:avLst/>
          </a:prstGeom>
          <a:noFill/>
          <a:ln/>
        </p:spPr>
        <p:txBody>
          <a:bodyPr wrap="square" lIns="0" tIns="0" rIns="0" bIns="0" rtlCol="0" anchor="ctr"/>
          <a:lstStyle/>
          <a:p>
            <a:pPr algn="ctr" indent="0" marL="0">
              <a:buNone/>
            </a:pPr>
            <a:r>
              <a:rPr lang="en-US" sz="1500" b="1" dirty="0">
                <a:solidFill>
                  <a:srgbClr val="222222"/>
                </a:solidFill>
                <a:latin typeface="Noto Sans JP" pitchFamily="34" charset="0"/>
                <a:ea typeface="Noto Sans JP" pitchFamily="34" charset="-122"/>
                <a:cs typeface="Noto Sans JP" pitchFamily="34" charset="-120"/>
              </a:rPr>
              <a:t>八王子材の流通イメージ</a:t>
            </a:r>
            <a:endParaRPr lang="en-US" sz="1500" dirty="0"/>
          </a:p>
        </p:txBody>
      </p:sp>
      <p:sp>
        <p:nvSpPr>
          <p:cNvPr id="4" name="Shape 1"/>
          <p:cNvSpPr/>
          <p:nvPr/>
        </p:nvSpPr>
        <p:spPr>
          <a:xfrm>
            <a:off x="0" y="539750"/>
            <a:ext cx="9144000" cy="0"/>
          </a:xfrm>
          <a:prstGeom prst="line">
            <a:avLst/>
          </a:prstGeom>
          <a:noFill/>
          <a:ln w="9525">
            <a:solidFill>
              <a:srgbClr val="999999"/>
            </a:solidFill>
            <a:prstDash val="solid"/>
          </a:ln>
        </p:spPr>
      </p:sp>
      <p:sp>
        <p:nvSpPr>
          <p:cNvPr id="5" name="Shape 2"/>
          <p:cNvSpPr/>
          <p:nvPr/>
        </p:nvSpPr>
        <p:spPr>
          <a:xfrm>
            <a:off x="88900" y="4876800"/>
            <a:ext cx="723900" cy="165100"/>
          </a:xfrm>
          <a:prstGeom prst="rect">
            <a:avLst/>
          </a:prstGeom>
          <a:solidFill>
            <a:srgbClr val="FFFFFF"/>
          </a:solidFill>
          <a:ln w="6350">
            <a:solidFill>
              <a:srgbClr val="B2B2B2"/>
            </a:solidFill>
            <a:prstDash val="solid"/>
          </a:ln>
        </p:spPr>
      </p:sp>
      <p:sp>
        <p:nvSpPr>
          <p:cNvPr id="6" name="Text 3"/>
          <p:cNvSpPr txBox="1"/>
          <p:nvPr/>
        </p:nvSpPr>
        <p:spPr>
          <a:xfrm>
            <a:off x="88900" y="4876800"/>
            <a:ext cx="723900" cy="165100"/>
          </a:xfrm>
          <a:prstGeom prst="rect">
            <a:avLst/>
          </a:prstGeom>
          <a:noFill/>
          <a:ln/>
        </p:spPr>
        <p:txBody>
          <a:bodyPr wrap="square" lIns="0" tIns="0" rIns="0" bIns="0" rtlCol="0" anchor="ctr"/>
          <a:lstStyle/>
          <a:p>
            <a:pPr algn="ctr" indent="0" marL="0">
              <a:buNone/>
            </a:pPr>
            <a:r>
              <a:rPr lang="en-US" sz="700" dirty="0">
                <a:solidFill>
                  <a:srgbClr val="757575"/>
                </a:solidFill>
                <a:latin typeface="Arial" pitchFamily="34" charset="0"/>
                <a:ea typeface="Arial" pitchFamily="34" charset="-122"/>
                <a:cs typeface="Arial" pitchFamily="34" charset="-120"/>
              </a:rPr>
              <a:t>confidential</a:t>
            </a:r>
            <a:endParaRPr lang="en-US" sz="700" dirty="0"/>
          </a:p>
        </p:txBody>
      </p:sp>
      <p:sp>
        <p:nvSpPr>
          <p:cNvPr id="7" name="Text 4"/>
          <p:cNvSpPr txBox="1"/>
          <p:nvPr/>
        </p:nvSpPr>
        <p:spPr>
          <a:xfrm>
            <a:off x="8509000" y="4826000"/>
            <a:ext cx="533400" cy="203200"/>
          </a:xfrm>
          <a:prstGeom prst="rect">
            <a:avLst/>
          </a:prstGeom>
          <a:noFill/>
          <a:ln/>
        </p:spPr>
        <p:txBody>
          <a:bodyPr wrap="square" lIns="0" tIns="0" rIns="0" bIns="0" rtlCol="0" anchor="t"/>
          <a:lstStyle/>
          <a:p>
            <a:pPr algn="r" indent="0" marL="0">
              <a:buNone/>
            </a:pPr>
            <a:r>
              <a:rPr lang="en-US" sz="1100" dirty="0">
                <a:solidFill>
                  <a:srgbClr val="757575"/>
                </a:solidFill>
                <a:latin typeface="Noto Sans JP" pitchFamily="34" charset="0"/>
                <a:ea typeface="Noto Sans JP" pitchFamily="34" charset="-122"/>
                <a:cs typeface="Noto Sans JP" pitchFamily="34" charset="-120"/>
              </a:rPr>
              <a:t>22</a:t>
            </a:r>
            <a:endParaRPr lang="en-US" sz="1100" dirty="0"/>
          </a:p>
        </p:txBody>
      </p:sp>
      <p:sp>
        <p:nvSpPr>
          <p:cNvPr id="8" name="Text 5"/>
          <p:cNvSpPr txBox="1"/>
          <p:nvPr/>
        </p:nvSpPr>
        <p:spPr>
          <a:xfrm>
            <a:off x="457200" y="685800"/>
            <a:ext cx="8229600" cy="508000"/>
          </a:xfrm>
          <a:prstGeom prst="rect">
            <a:avLst/>
          </a:prstGeom>
          <a:noFill/>
          <a:ln/>
        </p:spPr>
        <p:txBody>
          <a:bodyPr wrap="square" lIns="0" tIns="0" rIns="0" bIns="0" rtlCol="0" anchor="ctr"/>
          <a:lstStyle/>
          <a:p>
            <a:pPr indent="0" marL="0">
              <a:buNone/>
            </a:pPr>
            <a:r>
              <a:rPr lang="en-US" sz="1300" b="1" dirty="0">
                <a:solidFill>
                  <a:srgbClr val="16816D"/>
                </a:solidFill>
                <a:latin typeface="Noto Sans JP" pitchFamily="34" charset="0"/>
                <a:ea typeface="Noto Sans JP" pitchFamily="34" charset="-122"/>
                <a:cs typeface="Noto Sans JP" pitchFamily="34" charset="-120"/>
              </a:rPr>
              <a:t>整備で生まれた木材を「八王子の森から来た木」として、トレーサビリティ付きで貴社施設へ届けます。</a:t>
            </a:r>
            <a:endParaRPr lang="en-US" sz="1300" dirty="0"/>
          </a:p>
        </p:txBody>
      </p:sp>
      <p:sp>
        <p:nvSpPr>
          <p:cNvPr id="9" name="Shape 6"/>
          <p:cNvSpPr/>
          <p:nvPr/>
        </p:nvSpPr>
        <p:spPr>
          <a:xfrm>
            <a:off x="838200" y="1397000"/>
            <a:ext cx="711200" cy="711200"/>
          </a:xfrm>
          <a:prstGeom prst="ellipse">
            <a:avLst/>
          </a:prstGeom>
          <a:solidFill>
            <a:srgbClr val="1F9970"/>
          </a:solidFill>
          <a:ln/>
        </p:spPr>
      </p:sp>
      <p:pic>
        <p:nvPicPr>
          <p:cNvPr id="10" name="Image 1" descr="preencoded.png">    </p:cNvPr>
          <p:cNvPicPr>
            <a:picLocks noChangeAspect="1"/>
          </p:cNvPicPr>
          <p:nvPr/>
        </p:nvPicPr>
        <p:blipFill>
          <a:blip r:embed="rId2"/>
          <a:stretch>
            <a:fillRect/>
          </a:stretch>
        </p:blipFill>
        <p:spPr>
          <a:xfrm>
            <a:off x="1016000" y="1574800"/>
            <a:ext cx="355600" cy="355600"/>
          </a:xfrm>
          <a:prstGeom prst="rect">
            <a:avLst/>
          </a:prstGeom>
        </p:spPr>
      </p:pic>
      <p:sp>
        <p:nvSpPr>
          <p:cNvPr id="11" name="Text 7"/>
          <p:cNvSpPr txBox="1"/>
          <p:nvPr/>
        </p:nvSpPr>
        <p:spPr>
          <a:xfrm>
            <a:off x="457200" y="2209800"/>
            <a:ext cx="1473200" cy="228600"/>
          </a:xfrm>
          <a:prstGeom prst="rect">
            <a:avLst/>
          </a:prstGeom>
          <a:noFill/>
          <a:ln/>
        </p:spPr>
        <p:txBody>
          <a:bodyPr wrap="square" lIns="0" tIns="0" rIns="0" bIns="0" rtlCol="0" anchor="t"/>
          <a:lstStyle/>
          <a:p>
            <a:pPr algn="ctr" indent="0" marL="0">
              <a:buNone/>
            </a:pPr>
            <a:r>
              <a:rPr lang="en-US" sz="1150" b="1" dirty="0">
                <a:solidFill>
                  <a:srgbClr val="222222"/>
                </a:solidFill>
                <a:latin typeface="Noto Sans JP" pitchFamily="34" charset="0"/>
                <a:ea typeface="Noto Sans JP" pitchFamily="34" charset="-122"/>
                <a:cs typeface="Noto Sans JP" pitchFamily="34" charset="-120"/>
              </a:rPr>
              <a:t>八王子の森</a:t>
            </a:r>
            <a:endParaRPr lang="en-US" sz="1150" dirty="0"/>
          </a:p>
        </p:txBody>
      </p:sp>
      <p:sp>
        <p:nvSpPr>
          <p:cNvPr id="12" name="Text 8"/>
          <p:cNvSpPr txBox="1"/>
          <p:nvPr/>
        </p:nvSpPr>
        <p:spPr>
          <a:xfrm>
            <a:off x="457200" y="2489200"/>
            <a:ext cx="1473200" cy="431800"/>
          </a:xfrm>
          <a:prstGeom prst="rect">
            <a:avLst/>
          </a:prstGeom>
          <a:noFill/>
          <a:ln/>
        </p:spPr>
        <p:txBody>
          <a:bodyPr wrap="square" lIns="0" tIns="0" rIns="0" bIns="0" rtlCol="0" anchor="t"/>
          <a:lstStyle/>
          <a:p>
            <a:pPr algn="ctr" indent="0" marL="0">
              <a:buNone/>
            </a:pPr>
            <a:r>
              <a:rPr lang="en-US" sz="900" dirty="0">
                <a:solidFill>
                  <a:srgbClr val="444444"/>
                </a:solidFill>
                <a:latin typeface="Noto Sans JP" pitchFamily="34" charset="0"/>
                <a:ea typeface="Noto Sans JP" pitchFamily="34" charset="-122"/>
                <a:cs typeface="Noto Sans JP" pitchFamily="34" charset="-120"/>
              </a:rPr>
              <a:t>間伐材・大径木</a:t>
            </a:r>
            <a:endParaRPr lang="en-US" sz="900" dirty="0"/>
          </a:p>
          <a:p>
            <a:pPr algn="ctr" indent="0" marL="0">
              <a:buNone/>
            </a:pPr>
            <a:r>
              <a:rPr lang="en-US" sz="900" dirty="0">
                <a:solidFill>
                  <a:srgbClr val="444444"/>
                </a:solidFill>
                <a:latin typeface="Noto Sans JP" pitchFamily="34" charset="0"/>
                <a:ea typeface="Noto Sans JP" pitchFamily="34" charset="-122"/>
                <a:cs typeface="Noto Sans JP" pitchFamily="34" charset="-120"/>
              </a:rPr>
              <a:t>小径木</a:t>
            </a:r>
            <a:endParaRPr lang="en-US" sz="900" dirty="0"/>
          </a:p>
        </p:txBody>
      </p:sp>
      <p:pic>
        <p:nvPicPr>
          <p:cNvPr id="13" name="Image 2" descr="preencoded.png">    </p:cNvPr>
          <p:cNvPicPr>
            <a:picLocks noChangeAspect="1"/>
          </p:cNvPicPr>
          <p:nvPr/>
        </p:nvPicPr>
        <p:blipFill>
          <a:blip r:embed="rId3"/>
          <a:stretch>
            <a:fillRect/>
          </a:stretch>
        </p:blipFill>
        <p:spPr>
          <a:xfrm>
            <a:off x="1879600" y="1651000"/>
            <a:ext cx="203200" cy="203200"/>
          </a:xfrm>
          <a:prstGeom prst="rect">
            <a:avLst/>
          </a:prstGeom>
        </p:spPr>
      </p:pic>
      <p:sp>
        <p:nvSpPr>
          <p:cNvPr id="14" name="Shape 9"/>
          <p:cNvSpPr/>
          <p:nvPr/>
        </p:nvSpPr>
        <p:spPr>
          <a:xfrm>
            <a:off x="2514600" y="1397000"/>
            <a:ext cx="711200" cy="711200"/>
          </a:xfrm>
          <a:prstGeom prst="ellipse">
            <a:avLst/>
          </a:prstGeom>
          <a:solidFill>
            <a:srgbClr val="1F9970"/>
          </a:solidFill>
          <a:ln/>
        </p:spPr>
      </p:sp>
      <p:pic>
        <p:nvPicPr>
          <p:cNvPr id="15" name="Image 3" descr="preencoded.png">    </p:cNvPr>
          <p:cNvPicPr>
            <a:picLocks noChangeAspect="1"/>
          </p:cNvPicPr>
          <p:nvPr/>
        </p:nvPicPr>
        <p:blipFill>
          <a:blip r:embed="rId4"/>
          <a:stretch>
            <a:fillRect/>
          </a:stretch>
        </p:blipFill>
        <p:spPr>
          <a:xfrm>
            <a:off x="2692400" y="1574800"/>
            <a:ext cx="355600" cy="355600"/>
          </a:xfrm>
          <a:prstGeom prst="rect">
            <a:avLst/>
          </a:prstGeom>
        </p:spPr>
      </p:pic>
      <p:sp>
        <p:nvSpPr>
          <p:cNvPr id="16" name="Text 10"/>
          <p:cNvSpPr txBox="1"/>
          <p:nvPr/>
        </p:nvSpPr>
        <p:spPr>
          <a:xfrm>
            <a:off x="2133600" y="2209800"/>
            <a:ext cx="1473200" cy="228600"/>
          </a:xfrm>
          <a:prstGeom prst="rect">
            <a:avLst/>
          </a:prstGeom>
          <a:noFill/>
          <a:ln/>
        </p:spPr>
        <p:txBody>
          <a:bodyPr wrap="square" lIns="0" tIns="0" rIns="0" bIns="0" rtlCol="0" anchor="t"/>
          <a:lstStyle/>
          <a:p>
            <a:pPr algn="ctr" indent="0" marL="0">
              <a:buNone/>
            </a:pPr>
            <a:r>
              <a:rPr lang="en-US" sz="1150" b="1" dirty="0">
                <a:solidFill>
                  <a:srgbClr val="222222"/>
                </a:solidFill>
                <a:latin typeface="Noto Sans JP" pitchFamily="34" charset="0"/>
                <a:ea typeface="Noto Sans JP" pitchFamily="34" charset="-122"/>
                <a:cs typeface="Noto Sans JP" pitchFamily="34" charset="-120"/>
              </a:rPr>
              <a:t>搬出・選木</a:t>
            </a:r>
            <a:endParaRPr lang="en-US" sz="1150" dirty="0"/>
          </a:p>
        </p:txBody>
      </p:sp>
      <p:sp>
        <p:nvSpPr>
          <p:cNvPr id="17" name="Text 11"/>
          <p:cNvSpPr txBox="1"/>
          <p:nvPr/>
        </p:nvSpPr>
        <p:spPr>
          <a:xfrm>
            <a:off x="2133600" y="2489200"/>
            <a:ext cx="1473200" cy="431800"/>
          </a:xfrm>
          <a:prstGeom prst="rect">
            <a:avLst/>
          </a:prstGeom>
          <a:noFill/>
          <a:ln/>
        </p:spPr>
        <p:txBody>
          <a:bodyPr wrap="square" lIns="0" tIns="0" rIns="0" bIns="0" rtlCol="0" anchor="t"/>
          <a:lstStyle/>
          <a:p>
            <a:pPr algn="ctr" indent="0" marL="0">
              <a:buNone/>
            </a:pPr>
            <a:r>
              <a:rPr lang="en-US" sz="900" dirty="0">
                <a:solidFill>
                  <a:srgbClr val="444444"/>
                </a:solidFill>
                <a:latin typeface="Noto Sans JP" pitchFamily="34" charset="0"/>
                <a:ea typeface="Noto Sans JP" pitchFamily="34" charset="-122"/>
                <a:cs typeface="Noto Sans JP" pitchFamily="34" charset="-120"/>
              </a:rPr>
              <a:t>用途に応じて</a:t>
            </a:r>
            <a:endParaRPr lang="en-US" sz="900" dirty="0"/>
          </a:p>
          <a:p>
            <a:pPr algn="ctr" indent="0" marL="0">
              <a:buNone/>
            </a:pPr>
            <a:r>
              <a:rPr lang="en-US" sz="900" dirty="0">
                <a:solidFill>
                  <a:srgbClr val="444444"/>
                </a:solidFill>
                <a:latin typeface="Noto Sans JP" pitchFamily="34" charset="0"/>
                <a:ea typeface="Noto Sans JP" pitchFamily="34" charset="-122"/>
                <a:cs typeface="Noto Sans JP" pitchFamily="34" charset="-120"/>
              </a:rPr>
              <a:t>仕分け</a:t>
            </a:r>
            <a:endParaRPr lang="en-US" sz="900" dirty="0"/>
          </a:p>
        </p:txBody>
      </p:sp>
      <p:pic>
        <p:nvPicPr>
          <p:cNvPr id="18" name="Image 4" descr="preencoded.png">    </p:cNvPr>
          <p:cNvPicPr>
            <a:picLocks noChangeAspect="1"/>
          </p:cNvPicPr>
          <p:nvPr/>
        </p:nvPicPr>
        <p:blipFill>
          <a:blip r:embed="rId5"/>
          <a:stretch>
            <a:fillRect/>
          </a:stretch>
        </p:blipFill>
        <p:spPr>
          <a:xfrm>
            <a:off x="3556000" y="1651000"/>
            <a:ext cx="203200" cy="203200"/>
          </a:xfrm>
          <a:prstGeom prst="rect">
            <a:avLst/>
          </a:prstGeom>
        </p:spPr>
      </p:pic>
      <p:sp>
        <p:nvSpPr>
          <p:cNvPr id="19" name="Shape 12"/>
          <p:cNvSpPr/>
          <p:nvPr/>
        </p:nvSpPr>
        <p:spPr>
          <a:xfrm>
            <a:off x="4191000" y="1397000"/>
            <a:ext cx="711200" cy="711200"/>
          </a:xfrm>
          <a:prstGeom prst="ellipse">
            <a:avLst/>
          </a:prstGeom>
          <a:solidFill>
            <a:srgbClr val="1F9970"/>
          </a:solidFill>
          <a:ln/>
        </p:spPr>
      </p:sp>
      <p:pic>
        <p:nvPicPr>
          <p:cNvPr id="20" name="Image 5" descr="preencoded.png">    </p:cNvPr>
          <p:cNvPicPr>
            <a:picLocks noChangeAspect="1"/>
          </p:cNvPicPr>
          <p:nvPr/>
        </p:nvPicPr>
        <p:blipFill>
          <a:blip r:embed="rId6"/>
          <a:stretch>
            <a:fillRect/>
          </a:stretch>
        </p:blipFill>
        <p:spPr>
          <a:xfrm>
            <a:off x="4368800" y="1574800"/>
            <a:ext cx="355600" cy="355600"/>
          </a:xfrm>
          <a:prstGeom prst="rect">
            <a:avLst/>
          </a:prstGeom>
        </p:spPr>
      </p:pic>
      <p:sp>
        <p:nvSpPr>
          <p:cNvPr id="21" name="Text 13"/>
          <p:cNvSpPr txBox="1"/>
          <p:nvPr/>
        </p:nvSpPr>
        <p:spPr>
          <a:xfrm>
            <a:off x="3810000" y="2209800"/>
            <a:ext cx="1473200" cy="228600"/>
          </a:xfrm>
          <a:prstGeom prst="rect">
            <a:avLst/>
          </a:prstGeom>
          <a:noFill/>
          <a:ln/>
        </p:spPr>
        <p:txBody>
          <a:bodyPr wrap="square" lIns="0" tIns="0" rIns="0" bIns="0" rtlCol="0" anchor="t"/>
          <a:lstStyle/>
          <a:p>
            <a:pPr algn="ctr" indent="0" marL="0">
              <a:buNone/>
            </a:pPr>
            <a:r>
              <a:rPr lang="en-US" sz="1150" b="1" dirty="0">
                <a:solidFill>
                  <a:srgbClr val="222222"/>
                </a:solidFill>
                <a:latin typeface="Noto Sans JP" pitchFamily="34" charset="0"/>
                <a:ea typeface="Noto Sans JP" pitchFamily="34" charset="-122"/>
                <a:cs typeface="Noto Sans JP" pitchFamily="34" charset="-120"/>
              </a:rPr>
              <a:t>製材・加工</a:t>
            </a:r>
            <a:endParaRPr lang="en-US" sz="1150" dirty="0"/>
          </a:p>
        </p:txBody>
      </p:sp>
      <p:sp>
        <p:nvSpPr>
          <p:cNvPr id="22" name="Text 14"/>
          <p:cNvSpPr txBox="1"/>
          <p:nvPr/>
        </p:nvSpPr>
        <p:spPr>
          <a:xfrm>
            <a:off x="3810000" y="2489200"/>
            <a:ext cx="1473200" cy="431800"/>
          </a:xfrm>
          <a:prstGeom prst="rect">
            <a:avLst/>
          </a:prstGeom>
          <a:noFill/>
          <a:ln/>
        </p:spPr>
        <p:txBody>
          <a:bodyPr wrap="square" lIns="0" tIns="0" rIns="0" bIns="0" rtlCol="0" anchor="t"/>
          <a:lstStyle/>
          <a:p>
            <a:pPr algn="ctr" indent="0" marL="0">
              <a:buNone/>
            </a:pPr>
            <a:r>
              <a:rPr lang="en-US" sz="900" dirty="0">
                <a:solidFill>
                  <a:srgbClr val="444444"/>
                </a:solidFill>
                <a:latin typeface="Noto Sans JP" pitchFamily="34" charset="0"/>
                <a:ea typeface="Noto Sans JP" pitchFamily="34" charset="-122"/>
                <a:cs typeface="Noto Sans JP" pitchFamily="34" charset="-120"/>
              </a:rPr>
              <a:t>多摩地域の</a:t>
            </a:r>
            <a:endParaRPr lang="en-US" sz="900" dirty="0"/>
          </a:p>
          <a:p>
            <a:pPr algn="ctr" indent="0" marL="0">
              <a:buNone/>
            </a:pPr>
            <a:r>
              <a:rPr lang="en-US" sz="900" dirty="0">
                <a:solidFill>
                  <a:srgbClr val="444444"/>
                </a:solidFill>
                <a:latin typeface="Noto Sans JP" pitchFamily="34" charset="0"/>
                <a:ea typeface="Noto Sans JP" pitchFamily="34" charset="-122"/>
                <a:cs typeface="Noto Sans JP" pitchFamily="34" charset="-120"/>
              </a:rPr>
              <a:t>製材所・木工所</a:t>
            </a:r>
            <a:endParaRPr lang="en-US" sz="900" dirty="0"/>
          </a:p>
        </p:txBody>
      </p:sp>
      <p:pic>
        <p:nvPicPr>
          <p:cNvPr id="23" name="Image 6" descr="preencoded.png">    </p:cNvPr>
          <p:cNvPicPr>
            <a:picLocks noChangeAspect="1"/>
          </p:cNvPicPr>
          <p:nvPr/>
        </p:nvPicPr>
        <p:blipFill>
          <a:blip r:embed="rId7"/>
          <a:stretch>
            <a:fillRect/>
          </a:stretch>
        </p:blipFill>
        <p:spPr>
          <a:xfrm>
            <a:off x="5232400" y="1651000"/>
            <a:ext cx="203200" cy="203200"/>
          </a:xfrm>
          <a:prstGeom prst="rect">
            <a:avLst/>
          </a:prstGeom>
        </p:spPr>
      </p:pic>
      <p:sp>
        <p:nvSpPr>
          <p:cNvPr id="24" name="Shape 15"/>
          <p:cNvSpPr/>
          <p:nvPr/>
        </p:nvSpPr>
        <p:spPr>
          <a:xfrm>
            <a:off x="5867400" y="1397000"/>
            <a:ext cx="711200" cy="711200"/>
          </a:xfrm>
          <a:prstGeom prst="ellipse">
            <a:avLst/>
          </a:prstGeom>
          <a:solidFill>
            <a:srgbClr val="1F9970"/>
          </a:solidFill>
          <a:ln/>
        </p:spPr>
      </p:sp>
      <p:pic>
        <p:nvPicPr>
          <p:cNvPr id="25" name="Image 7" descr="preencoded.png">    </p:cNvPr>
          <p:cNvPicPr>
            <a:picLocks noChangeAspect="1"/>
          </p:cNvPicPr>
          <p:nvPr/>
        </p:nvPicPr>
        <p:blipFill>
          <a:blip r:embed="rId8"/>
          <a:stretch>
            <a:fillRect/>
          </a:stretch>
        </p:blipFill>
        <p:spPr>
          <a:xfrm>
            <a:off x="6045200" y="1574800"/>
            <a:ext cx="355600" cy="355600"/>
          </a:xfrm>
          <a:prstGeom prst="rect">
            <a:avLst/>
          </a:prstGeom>
        </p:spPr>
      </p:pic>
      <p:sp>
        <p:nvSpPr>
          <p:cNvPr id="26" name="Text 16"/>
          <p:cNvSpPr txBox="1"/>
          <p:nvPr/>
        </p:nvSpPr>
        <p:spPr>
          <a:xfrm>
            <a:off x="5486400" y="2209800"/>
            <a:ext cx="1473200" cy="228600"/>
          </a:xfrm>
          <a:prstGeom prst="rect">
            <a:avLst/>
          </a:prstGeom>
          <a:noFill/>
          <a:ln/>
        </p:spPr>
        <p:txBody>
          <a:bodyPr wrap="square" lIns="0" tIns="0" rIns="0" bIns="0" rtlCol="0" anchor="t"/>
          <a:lstStyle/>
          <a:p>
            <a:pPr algn="ctr" indent="0" marL="0">
              <a:buNone/>
            </a:pPr>
            <a:r>
              <a:rPr lang="en-US" sz="1150" b="1" dirty="0">
                <a:solidFill>
                  <a:srgbClr val="222222"/>
                </a:solidFill>
                <a:latin typeface="Noto Sans JP" pitchFamily="34" charset="0"/>
                <a:ea typeface="Noto Sans JP" pitchFamily="34" charset="-122"/>
                <a:cs typeface="Noto Sans JP" pitchFamily="34" charset="-120"/>
              </a:rPr>
              <a:t>情報付与</a:t>
            </a:r>
            <a:endParaRPr lang="en-US" sz="1150" dirty="0"/>
          </a:p>
        </p:txBody>
      </p:sp>
      <p:sp>
        <p:nvSpPr>
          <p:cNvPr id="27" name="Text 17"/>
          <p:cNvSpPr txBox="1"/>
          <p:nvPr/>
        </p:nvSpPr>
        <p:spPr>
          <a:xfrm>
            <a:off x="5486400" y="2489200"/>
            <a:ext cx="1473200" cy="431800"/>
          </a:xfrm>
          <a:prstGeom prst="rect">
            <a:avLst/>
          </a:prstGeom>
          <a:noFill/>
          <a:ln/>
        </p:spPr>
        <p:txBody>
          <a:bodyPr wrap="square" lIns="0" tIns="0" rIns="0" bIns="0" rtlCol="0" anchor="t"/>
          <a:lstStyle/>
          <a:p>
            <a:pPr algn="ctr" indent="0" marL="0">
              <a:buNone/>
            </a:pPr>
            <a:r>
              <a:rPr lang="en-US" sz="900" dirty="0">
                <a:solidFill>
                  <a:srgbClr val="444444"/>
                </a:solidFill>
                <a:latin typeface="Noto Sans JP" pitchFamily="34" charset="0"/>
                <a:ea typeface="Noto Sans JP" pitchFamily="34" charset="-122"/>
                <a:cs typeface="Noto Sans JP" pitchFamily="34" charset="-120"/>
              </a:rPr>
              <a:t>産地・樹齢・加工者</a:t>
            </a:r>
            <a:endParaRPr lang="en-US" sz="900" dirty="0"/>
          </a:p>
          <a:p>
            <a:pPr algn="ctr" indent="0" marL="0">
              <a:buNone/>
            </a:pPr>
            <a:r>
              <a:rPr lang="en-US" sz="900" dirty="0">
                <a:solidFill>
                  <a:srgbClr val="444444"/>
                </a:solidFill>
                <a:latin typeface="Noto Sans JP" pitchFamily="34" charset="0"/>
                <a:ea typeface="Noto Sans JP" pitchFamily="34" charset="-122"/>
                <a:cs typeface="Noto Sans JP" pitchFamily="34" charset="-120"/>
              </a:rPr>
              <a:t>をQRで可視化</a:t>
            </a:r>
            <a:endParaRPr lang="en-US" sz="900" dirty="0"/>
          </a:p>
        </p:txBody>
      </p:sp>
      <p:pic>
        <p:nvPicPr>
          <p:cNvPr id="28" name="Image 8" descr="preencoded.png">    </p:cNvPr>
          <p:cNvPicPr>
            <a:picLocks noChangeAspect="1"/>
          </p:cNvPicPr>
          <p:nvPr/>
        </p:nvPicPr>
        <p:blipFill>
          <a:blip r:embed="rId9"/>
          <a:stretch>
            <a:fillRect/>
          </a:stretch>
        </p:blipFill>
        <p:spPr>
          <a:xfrm>
            <a:off x="6908800" y="1651000"/>
            <a:ext cx="203200" cy="203200"/>
          </a:xfrm>
          <a:prstGeom prst="rect">
            <a:avLst/>
          </a:prstGeom>
        </p:spPr>
      </p:pic>
      <p:sp>
        <p:nvSpPr>
          <p:cNvPr id="29" name="Shape 18"/>
          <p:cNvSpPr/>
          <p:nvPr/>
        </p:nvSpPr>
        <p:spPr>
          <a:xfrm>
            <a:off x="7543800" y="1397000"/>
            <a:ext cx="711200" cy="711200"/>
          </a:xfrm>
          <a:prstGeom prst="ellipse">
            <a:avLst/>
          </a:prstGeom>
          <a:solidFill>
            <a:srgbClr val="16816D"/>
          </a:solidFill>
          <a:ln/>
        </p:spPr>
      </p:sp>
      <p:pic>
        <p:nvPicPr>
          <p:cNvPr id="30" name="Image 9" descr="preencoded.png">    </p:cNvPr>
          <p:cNvPicPr>
            <a:picLocks noChangeAspect="1"/>
          </p:cNvPicPr>
          <p:nvPr/>
        </p:nvPicPr>
        <p:blipFill>
          <a:blip r:embed="rId10"/>
          <a:stretch>
            <a:fillRect/>
          </a:stretch>
        </p:blipFill>
        <p:spPr>
          <a:xfrm>
            <a:off x="7721600" y="1574800"/>
            <a:ext cx="355600" cy="355600"/>
          </a:xfrm>
          <a:prstGeom prst="rect">
            <a:avLst/>
          </a:prstGeom>
        </p:spPr>
      </p:pic>
      <p:sp>
        <p:nvSpPr>
          <p:cNvPr id="31" name="Text 19"/>
          <p:cNvSpPr txBox="1"/>
          <p:nvPr/>
        </p:nvSpPr>
        <p:spPr>
          <a:xfrm>
            <a:off x="7162800" y="2209800"/>
            <a:ext cx="1473200" cy="228600"/>
          </a:xfrm>
          <a:prstGeom prst="rect">
            <a:avLst/>
          </a:prstGeom>
          <a:noFill/>
          <a:ln/>
        </p:spPr>
        <p:txBody>
          <a:bodyPr wrap="square" lIns="0" tIns="0" rIns="0" bIns="0" rtlCol="0" anchor="t"/>
          <a:lstStyle/>
          <a:p>
            <a:pPr algn="ctr" indent="0" marL="0">
              <a:buNone/>
            </a:pPr>
            <a:r>
              <a:rPr lang="en-US" sz="1150" b="1" dirty="0">
                <a:solidFill>
                  <a:srgbClr val="222222"/>
                </a:solidFill>
                <a:latin typeface="Noto Sans JP" pitchFamily="34" charset="0"/>
                <a:ea typeface="Noto Sans JP" pitchFamily="34" charset="-122"/>
                <a:cs typeface="Noto Sans JP" pitchFamily="34" charset="-120"/>
              </a:rPr>
              <a:t>貴社施設で利用</a:t>
            </a:r>
            <a:endParaRPr lang="en-US" sz="1150" dirty="0"/>
          </a:p>
        </p:txBody>
      </p:sp>
      <p:sp>
        <p:nvSpPr>
          <p:cNvPr id="32" name="Text 20"/>
          <p:cNvSpPr txBox="1"/>
          <p:nvPr/>
        </p:nvSpPr>
        <p:spPr>
          <a:xfrm>
            <a:off x="7162800" y="2489200"/>
            <a:ext cx="1473200" cy="431800"/>
          </a:xfrm>
          <a:prstGeom prst="rect">
            <a:avLst/>
          </a:prstGeom>
          <a:noFill/>
          <a:ln/>
        </p:spPr>
        <p:txBody>
          <a:bodyPr wrap="square" lIns="0" tIns="0" rIns="0" bIns="0" rtlCol="0" anchor="t"/>
          <a:lstStyle/>
          <a:p>
            <a:pPr algn="ctr" indent="0" marL="0">
              <a:buNone/>
            </a:pPr>
            <a:r>
              <a:rPr lang="en-US" sz="900" dirty="0">
                <a:solidFill>
                  <a:srgbClr val="444444"/>
                </a:solidFill>
                <a:latin typeface="Noto Sans JP" pitchFamily="34" charset="0"/>
                <a:ea typeface="Noto Sans JP" pitchFamily="34" charset="-122"/>
                <a:cs typeface="Noto Sans JP" pitchFamily="34" charset="-120"/>
              </a:rPr>
              <a:t>アウトレット・DC</a:t>
            </a:r>
            <a:endParaRPr lang="en-US" sz="900" dirty="0"/>
          </a:p>
          <a:p>
            <a:pPr algn="ctr" indent="0" marL="0">
              <a:buNone/>
            </a:pPr>
            <a:r>
              <a:rPr lang="en-US" sz="900" dirty="0">
                <a:solidFill>
                  <a:srgbClr val="444444"/>
                </a:solidFill>
                <a:latin typeface="Noto Sans JP" pitchFamily="34" charset="0"/>
                <a:ea typeface="Noto Sans JP" pitchFamily="34" charset="-122"/>
                <a:cs typeface="Noto Sans JP" pitchFamily="34" charset="-120"/>
              </a:rPr>
              <a:t>オフィス等</a:t>
            </a:r>
            <a:endParaRPr lang="en-US" sz="900" dirty="0"/>
          </a:p>
        </p:txBody>
      </p:sp>
      <p:sp>
        <p:nvSpPr>
          <p:cNvPr id="33" name="Shape 21"/>
          <p:cNvSpPr/>
          <p:nvPr/>
        </p:nvSpPr>
        <p:spPr>
          <a:xfrm>
            <a:off x="457200" y="3200400"/>
            <a:ext cx="2616200" cy="1016000"/>
          </a:xfrm>
          <a:prstGeom prst="rect">
            <a:avLst/>
          </a:prstGeom>
          <a:solidFill>
            <a:srgbClr val="E8F5EF"/>
          </a:solidFill>
          <a:ln/>
        </p:spPr>
      </p:sp>
      <p:pic>
        <p:nvPicPr>
          <p:cNvPr id="34" name="Image 10" descr="preencoded.png">    </p:cNvPr>
          <p:cNvPicPr>
            <a:picLocks noChangeAspect="1"/>
          </p:cNvPicPr>
          <p:nvPr/>
        </p:nvPicPr>
        <p:blipFill>
          <a:blip r:embed="rId11"/>
          <a:stretch>
            <a:fillRect/>
          </a:stretch>
        </p:blipFill>
        <p:spPr>
          <a:xfrm>
            <a:off x="609600" y="3352800"/>
            <a:ext cx="279400" cy="279400"/>
          </a:xfrm>
          <a:prstGeom prst="rect">
            <a:avLst/>
          </a:prstGeom>
        </p:spPr>
      </p:pic>
      <p:sp>
        <p:nvSpPr>
          <p:cNvPr id="35" name="Text 22"/>
          <p:cNvSpPr txBox="1"/>
          <p:nvPr/>
        </p:nvSpPr>
        <p:spPr>
          <a:xfrm>
            <a:off x="990600" y="3352800"/>
            <a:ext cx="1981200" cy="279400"/>
          </a:xfrm>
          <a:prstGeom prst="rect">
            <a:avLst/>
          </a:prstGeom>
          <a:noFill/>
          <a:ln/>
        </p:spPr>
        <p:txBody>
          <a:bodyPr wrap="square" lIns="0" tIns="0" rIns="0" bIns="0" rtlCol="0" anchor="ctr"/>
          <a:lstStyle/>
          <a:p>
            <a:pPr indent="0" marL="0">
              <a:buNone/>
            </a:pPr>
            <a:r>
              <a:rPr lang="en-US" sz="1150" b="1" dirty="0">
                <a:solidFill>
                  <a:srgbClr val="222222"/>
                </a:solidFill>
                <a:latin typeface="Noto Sans JP" pitchFamily="34" charset="0"/>
                <a:ea typeface="Noto Sans JP" pitchFamily="34" charset="-122"/>
                <a:cs typeface="Noto Sans JP" pitchFamily="34" charset="-120"/>
              </a:rPr>
              <a:t>建築・内装</a:t>
            </a:r>
            <a:endParaRPr lang="en-US" sz="1150" dirty="0"/>
          </a:p>
        </p:txBody>
      </p:sp>
      <p:sp>
        <p:nvSpPr>
          <p:cNvPr id="36" name="Text 23"/>
          <p:cNvSpPr txBox="1"/>
          <p:nvPr/>
        </p:nvSpPr>
        <p:spPr>
          <a:xfrm>
            <a:off x="609600" y="3733800"/>
            <a:ext cx="2362200" cy="406400"/>
          </a:xfrm>
          <a:prstGeom prst="rect">
            <a:avLst/>
          </a:prstGeom>
          <a:noFill/>
          <a:ln/>
        </p:spPr>
        <p:txBody>
          <a:bodyPr wrap="square" lIns="0" tIns="0" rIns="0" bIns="0" rtlCol="0" anchor="t"/>
          <a:lstStyle/>
          <a:p>
            <a:pPr indent="0" marL="0">
              <a:buNone/>
            </a:pPr>
            <a:r>
              <a:rPr lang="en-US" sz="900" dirty="0">
                <a:solidFill>
                  <a:srgbClr val="444444"/>
                </a:solidFill>
                <a:latin typeface="Noto Sans JP" pitchFamily="34" charset="0"/>
                <a:ea typeface="Noto Sans JP" pitchFamily="34" charset="-122"/>
                <a:cs typeface="Noto Sans JP" pitchFamily="34" charset="-120"/>
              </a:rPr>
              <a:t>エントランス、壁面・天井ルーバー、サイン</a:t>
            </a:r>
            <a:endParaRPr lang="en-US" sz="900" dirty="0"/>
          </a:p>
        </p:txBody>
      </p:sp>
      <p:sp>
        <p:nvSpPr>
          <p:cNvPr id="37" name="Shape 24"/>
          <p:cNvSpPr/>
          <p:nvPr/>
        </p:nvSpPr>
        <p:spPr>
          <a:xfrm>
            <a:off x="3251200" y="3200400"/>
            <a:ext cx="2616200" cy="1016000"/>
          </a:xfrm>
          <a:prstGeom prst="rect">
            <a:avLst/>
          </a:prstGeom>
          <a:solidFill>
            <a:srgbClr val="E8F5EF"/>
          </a:solidFill>
          <a:ln/>
        </p:spPr>
      </p:sp>
      <p:pic>
        <p:nvPicPr>
          <p:cNvPr id="38" name="Image 11" descr="preencoded.png">    </p:cNvPr>
          <p:cNvPicPr>
            <a:picLocks noChangeAspect="1"/>
          </p:cNvPicPr>
          <p:nvPr/>
        </p:nvPicPr>
        <p:blipFill>
          <a:blip r:embed="rId12"/>
          <a:stretch>
            <a:fillRect/>
          </a:stretch>
        </p:blipFill>
        <p:spPr>
          <a:xfrm>
            <a:off x="3403600" y="3352800"/>
            <a:ext cx="279400" cy="279400"/>
          </a:xfrm>
          <a:prstGeom prst="rect">
            <a:avLst/>
          </a:prstGeom>
        </p:spPr>
      </p:pic>
      <p:sp>
        <p:nvSpPr>
          <p:cNvPr id="39" name="Text 25"/>
          <p:cNvSpPr txBox="1"/>
          <p:nvPr/>
        </p:nvSpPr>
        <p:spPr>
          <a:xfrm>
            <a:off x="3784600" y="3352800"/>
            <a:ext cx="1981200" cy="279400"/>
          </a:xfrm>
          <a:prstGeom prst="rect">
            <a:avLst/>
          </a:prstGeom>
          <a:noFill/>
          <a:ln/>
        </p:spPr>
        <p:txBody>
          <a:bodyPr wrap="square" lIns="0" tIns="0" rIns="0" bIns="0" rtlCol="0" anchor="ctr"/>
          <a:lstStyle/>
          <a:p>
            <a:pPr indent="0" marL="0">
              <a:buNone/>
            </a:pPr>
            <a:r>
              <a:rPr lang="en-US" sz="1150" b="1" dirty="0">
                <a:solidFill>
                  <a:srgbClr val="222222"/>
                </a:solidFill>
                <a:latin typeface="Noto Sans JP" pitchFamily="34" charset="0"/>
                <a:ea typeface="Noto Sans JP" pitchFamily="34" charset="-122"/>
                <a:cs typeface="Noto Sans JP" pitchFamily="34" charset="-120"/>
              </a:rPr>
              <a:t>家具・什器</a:t>
            </a:r>
            <a:endParaRPr lang="en-US" sz="1150" dirty="0"/>
          </a:p>
        </p:txBody>
      </p:sp>
      <p:sp>
        <p:nvSpPr>
          <p:cNvPr id="40" name="Text 26"/>
          <p:cNvSpPr txBox="1"/>
          <p:nvPr/>
        </p:nvSpPr>
        <p:spPr>
          <a:xfrm>
            <a:off x="3403600" y="3733800"/>
            <a:ext cx="2362200" cy="406400"/>
          </a:xfrm>
          <a:prstGeom prst="rect">
            <a:avLst/>
          </a:prstGeom>
          <a:noFill/>
          <a:ln/>
        </p:spPr>
        <p:txBody>
          <a:bodyPr wrap="square" lIns="0" tIns="0" rIns="0" bIns="0" rtlCol="0" anchor="t"/>
          <a:lstStyle/>
          <a:p>
            <a:pPr indent="0" marL="0">
              <a:buNone/>
            </a:pPr>
            <a:r>
              <a:rPr lang="en-US" sz="900" dirty="0">
                <a:solidFill>
                  <a:srgbClr val="444444"/>
                </a:solidFill>
                <a:latin typeface="Noto Sans JP" pitchFamily="34" charset="0"/>
                <a:ea typeface="Noto Sans JP" pitchFamily="34" charset="-122"/>
                <a:cs typeface="Noto Sans JP" pitchFamily="34" charset="-120"/>
              </a:rPr>
              <a:t>ベンチ、テーブル、カウンター（Bole等）</a:t>
            </a:r>
            <a:endParaRPr lang="en-US" sz="900" dirty="0"/>
          </a:p>
        </p:txBody>
      </p:sp>
      <p:sp>
        <p:nvSpPr>
          <p:cNvPr id="41" name="Shape 27"/>
          <p:cNvSpPr/>
          <p:nvPr/>
        </p:nvSpPr>
        <p:spPr>
          <a:xfrm>
            <a:off x="6045200" y="3200400"/>
            <a:ext cx="2616200" cy="1016000"/>
          </a:xfrm>
          <a:prstGeom prst="rect">
            <a:avLst/>
          </a:prstGeom>
          <a:solidFill>
            <a:srgbClr val="E8F5EF"/>
          </a:solidFill>
          <a:ln/>
        </p:spPr>
      </p:sp>
      <p:pic>
        <p:nvPicPr>
          <p:cNvPr id="42" name="Image 12" descr="preencoded.png">    </p:cNvPr>
          <p:cNvPicPr>
            <a:picLocks noChangeAspect="1"/>
          </p:cNvPicPr>
          <p:nvPr/>
        </p:nvPicPr>
        <p:blipFill>
          <a:blip r:embed="rId13"/>
          <a:stretch>
            <a:fillRect/>
          </a:stretch>
        </p:blipFill>
        <p:spPr>
          <a:xfrm>
            <a:off x="6197600" y="3352800"/>
            <a:ext cx="279400" cy="279400"/>
          </a:xfrm>
          <a:prstGeom prst="rect">
            <a:avLst/>
          </a:prstGeom>
        </p:spPr>
      </p:pic>
      <p:sp>
        <p:nvSpPr>
          <p:cNvPr id="43" name="Text 28"/>
          <p:cNvSpPr txBox="1"/>
          <p:nvPr/>
        </p:nvSpPr>
        <p:spPr>
          <a:xfrm>
            <a:off x="6578600" y="3352800"/>
            <a:ext cx="1981200" cy="279400"/>
          </a:xfrm>
          <a:prstGeom prst="rect">
            <a:avLst/>
          </a:prstGeom>
          <a:noFill/>
          <a:ln/>
        </p:spPr>
        <p:txBody>
          <a:bodyPr wrap="square" lIns="0" tIns="0" rIns="0" bIns="0" rtlCol="0" anchor="ctr"/>
          <a:lstStyle/>
          <a:p>
            <a:pPr indent="0" marL="0">
              <a:buNone/>
            </a:pPr>
            <a:r>
              <a:rPr lang="en-US" sz="1150" b="1" dirty="0">
                <a:solidFill>
                  <a:srgbClr val="222222"/>
                </a:solidFill>
                <a:latin typeface="Noto Sans JP" pitchFamily="34" charset="0"/>
                <a:ea typeface="Noto Sans JP" pitchFamily="34" charset="-122"/>
                <a:cs typeface="Noto Sans JP" pitchFamily="34" charset="-120"/>
              </a:rPr>
              <a:t>ノベルティ・体験</a:t>
            </a:r>
            <a:endParaRPr lang="en-US" sz="1150" dirty="0"/>
          </a:p>
        </p:txBody>
      </p:sp>
      <p:sp>
        <p:nvSpPr>
          <p:cNvPr id="44" name="Text 29"/>
          <p:cNvSpPr txBox="1"/>
          <p:nvPr/>
        </p:nvSpPr>
        <p:spPr>
          <a:xfrm>
            <a:off x="6197600" y="3733800"/>
            <a:ext cx="2362200" cy="406400"/>
          </a:xfrm>
          <a:prstGeom prst="rect">
            <a:avLst/>
          </a:prstGeom>
          <a:noFill/>
          <a:ln/>
        </p:spPr>
        <p:txBody>
          <a:bodyPr wrap="square" lIns="0" tIns="0" rIns="0" bIns="0" rtlCol="0" anchor="t"/>
          <a:lstStyle/>
          <a:p>
            <a:pPr indent="0" marL="0">
              <a:buNone/>
            </a:pPr>
            <a:r>
              <a:rPr lang="en-US" sz="900" dirty="0">
                <a:solidFill>
                  <a:srgbClr val="444444"/>
                </a:solidFill>
                <a:latin typeface="Noto Sans JP" pitchFamily="34" charset="0"/>
                <a:ea typeface="Noto Sans JP" pitchFamily="34" charset="-122"/>
                <a:cs typeface="Noto Sans JP" pitchFamily="34" charset="-120"/>
              </a:rPr>
              <a:t>端材や小径木を使ったWS素材・記念品</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pic>
        <p:nvPicPr>
          <p:cNvPr id="2" name="Image 0" descr="/tmp/claude-0/-home-user--/135b95b8-9a7c-5e2e-abb3-3369b8f4d943/scratchpad/assets/logo_dark.png">    </p:cNvPr>
          <p:cNvPicPr>
            <a:picLocks noChangeAspect="1"/>
          </p:cNvPicPr>
          <p:nvPr/>
        </p:nvPicPr>
        <p:blipFill>
          <a:blip r:embed="rId1"/>
          <a:stretch>
            <a:fillRect/>
          </a:stretch>
        </p:blipFill>
        <p:spPr>
          <a:xfrm>
            <a:off x="355600" y="160020"/>
            <a:ext cx="558800" cy="254000"/>
          </a:xfrm>
          <a:prstGeom prst="rect">
            <a:avLst/>
          </a:prstGeom>
        </p:spPr>
      </p:pic>
      <p:sp>
        <p:nvSpPr>
          <p:cNvPr id="3" name="Text 0"/>
          <p:cNvSpPr txBox="1"/>
          <p:nvPr/>
        </p:nvSpPr>
        <p:spPr>
          <a:xfrm>
            <a:off x="1397000" y="127000"/>
            <a:ext cx="6350000" cy="304800"/>
          </a:xfrm>
          <a:prstGeom prst="rect">
            <a:avLst/>
          </a:prstGeom>
          <a:noFill/>
          <a:ln/>
        </p:spPr>
        <p:txBody>
          <a:bodyPr wrap="square" lIns="0" tIns="0" rIns="0" bIns="0" rtlCol="0" anchor="ctr"/>
          <a:lstStyle/>
          <a:p>
            <a:pPr algn="ctr" indent="0" marL="0">
              <a:buNone/>
            </a:pPr>
            <a:r>
              <a:rPr lang="en-US" sz="1500" b="1" dirty="0">
                <a:solidFill>
                  <a:srgbClr val="222222"/>
                </a:solidFill>
                <a:latin typeface="Noto Sans JP" pitchFamily="34" charset="0"/>
                <a:ea typeface="Noto Sans JP" pitchFamily="34" charset="-122"/>
                <a:cs typeface="Noto Sans JP" pitchFamily="34" charset="-120"/>
              </a:rPr>
              <a:t>森林体験プログラム</a:t>
            </a:r>
            <a:endParaRPr lang="en-US" sz="1500" dirty="0"/>
          </a:p>
        </p:txBody>
      </p:sp>
      <p:sp>
        <p:nvSpPr>
          <p:cNvPr id="4" name="Shape 1"/>
          <p:cNvSpPr/>
          <p:nvPr/>
        </p:nvSpPr>
        <p:spPr>
          <a:xfrm>
            <a:off x="0" y="539750"/>
            <a:ext cx="9144000" cy="0"/>
          </a:xfrm>
          <a:prstGeom prst="line">
            <a:avLst/>
          </a:prstGeom>
          <a:noFill/>
          <a:ln w="9525">
            <a:solidFill>
              <a:srgbClr val="999999"/>
            </a:solidFill>
            <a:prstDash val="solid"/>
          </a:ln>
        </p:spPr>
      </p:sp>
      <p:sp>
        <p:nvSpPr>
          <p:cNvPr id="5" name="Shape 2"/>
          <p:cNvSpPr/>
          <p:nvPr/>
        </p:nvSpPr>
        <p:spPr>
          <a:xfrm>
            <a:off x="88900" y="4876800"/>
            <a:ext cx="723900" cy="165100"/>
          </a:xfrm>
          <a:prstGeom prst="rect">
            <a:avLst/>
          </a:prstGeom>
          <a:solidFill>
            <a:srgbClr val="FFFFFF"/>
          </a:solidFill>
          <a:ln w="6350">
            <a:solidFill>
              <a:srgbClr val="B2B2B2"/>
            </a:solidFill>
            <a:prstDash val="solid"/>
          </a:ln>
        </p:spPr>
      </p:sp>
      <p:sp>
        <p:nvSpPr>
          <p:cNvPr id="6" name="Text 3"/>
          <p:cNvSpPr txBox="1"/>
          <p:nvPr/>
        </p:nvSpPr>
        <p:spPr>
          <a:xfrm>
            <a:off x="88900" y="4876800"/>
            <a:ext cx="723900" cy="165100"/>
          </a:xfrm>
          <a:prstGeom prst="rect">
            <a:avLst/>
          </a:prstGeom>
          <a:noFill/>
          <a:ln/>
        </p:spPr>
        <p:txBody>
          <a:bodyPr wrap="square" lIns="0" tIns="0" rIns="0" bIns="0" rtlCol="0" anchor="ctr"/>
          <a:lstStyle/>
          <a:p>
            <a:pPr algn="ctr" indent="0" marL="0">
              <a:buNone/>
            </a:pPr>
            <a:r>
              <a:rPr lang="en-US" sz="700" dirty="0">
                <a:solidFill>
                  <a:srgbClr val="757575"/>
                </a:solidFill>
                <a:latin typeface="Arial" pitchFamily="34" charset="0"/>
                <a:ea typeface="Arial" pitchFamily="34" charset="-122"/>
                <a:cs typeface="Arial" pitchFamily="34" charset="-120"/>
              </a:rPr>
              <a:t>confidential</a:t>
            </a:r>
            <a:endParaRPr lang="en-US" sz="700" dirty="0"/>
          </a:p>
        </p:txBody>
      </p:sp>
      <p:sp>
        <p:nvSpPr>
          <p:cNvPr id="7" name="Text 4"/>
          <p:cNvSpPr txBox="1"/>
          <p:nvPr/>
        </p:nvSpPr>
        <p:spPr>
          <a:xfrm>
            <a:off x="8509000" y="4826000"/>
            <a:ext cx="533400" cy="203200"/>
          </a:xfrm>
          <a:prstGeom prst="rect">
            <a:avLst/>
          </a:prstGeom>
          <a:noFill/>
          <a:ln/>
        </p:spPr>
        <p:txBody>
          <a:bodyPr wrap="square" lIns="0" tIns="0" rIns="0" bIns="0" rtlCol="0" anchor="t"/>
          <a:lstStyle/>
          <a:p>
            <a:pPr algn="r" indent="0" marL="0">
              <a:buNone/>
            </a:pPr>
            <a:r>
              <a:rPr lang="en-US" sz="1100" dirty="0">
                <a:solidFill>
                  <a:srgbClr val="757575"/>
                </a:solidFill>
                <a:latin typeface="Noto Sans JP" pitchFamily="34" charset="0"/>
                <a:ea typeface="Noto Sans JP" pitchFamily="34" charset="-122"/>
                <a:cs typeface="Noto Sans JP" pitchFamily="34" charset="-120"/>
              </a:rPr>
              <a:t>23</a:t>
            </a:r>
            <a:endParaRPr lang="en-US" sz="1100" dirty="0"/>
          </a:p>
        </p:txBody>
      </p:sp>
      <p:pic>
        <p:nvPicPr>
          <p:cNvPr id="8" name="Image 1" descr="/tmp/claude-0/-home-user--/135b95b8-9a7c-5e2e-abb3-3369b8f4d943/scratchpad/assets/town.jpg">    </p:cNvPr>
          <p:cNvPicPr>
            <a:picLocks noChangeAspect="1"/>
          </p:cNvPicPr>
          <p:nvPr/>
        </p:nvPicPr>
        <p:blipFill>
          <a:blip r:embed="rId2"/>
          <a:srcRect l="0" r="0" t="0" b="0"/>
          <a:stretch/>
        </p:blipFill>
        <p:spPr>
          <a:xfrm>
            <a:off x="0" y="546100"/>
            <a:ext cx="3175000" cy="4597400"/>
          </a:xfrm>
          <a:prstGeom prst="rect">
            <a:avLst/>
          </a:prstGeom>
        </p:spPr>
      </p:pic>
      <p:sp>
        <p:nvSpPr>
          <p:cNvPr id="9" name="Shape 5"/>
          <p:cNvSpPr/>
          <p:nvPr/>
        </p:nvSpPr>
        <p:spPr>
          <a:xfrm>
            <a:off x="88900" y="4876800"/>
            <a:ext cx="723900" cy="165100"/>
          </a:xfrm>
          <a:prstGeom prst="rect">
            <a:avLst/>
          </a:prstGeom>
          <a:solidFill>
            <a:srgbClr val="FFFFFF"/>
          </a:solidFill>
          <a:ln w="6350">
            <a:solidFill>
              <a:srgbClr val="B2B2B2"/>
            </a:solidFill>
            <a:prstDash val="solid"/>
          </a:ln>
        </p:spPr>
      </p:sp>
      <p:sp>
        <p:nvSpPr>
          <p:cNvPr id="10" name="Text 6"/>
          <p:cNvSpPr txBox="1"/>
          <p:nvPr/>
        </p:nvSpPr>
        <p:spPr>
          <a:xfrm>
            <a:off x="88900" y="4876800"/>
            <a:ext cx="723900" cy="165100"/>
          </a:xfrm>
          <a:prstGeom prst="rect">
            <a:avLst/>
          </a:prstGeom>
          <a:noFill/>
          <a:ln/>
        </p:spPr>
        <p:txBody>
          <a:bodyPr wrap="square" lIns="0" tIns="0" rIns="0" bIns="0" rtlCol="0" anchor="ctr"/>
          <a:lstStyle/>
          <a:p>
            <a:pPr algn="ctr" indent="0" marL="0">
              <a:buNone/>
            </a:pPr>
            <a:r>
              <a:rPr lang="en-US" sz="700" dirty="0">
                <a:solidFill>
                  <a:srgbClr val="757575"/>
                </a:solidFill>
                <a:latin typeface="Arial" pitchFamily="34" charset="0"/>
                <a:ea typeface="Arial" pitchFamily="34" charset="-122"/>
                <a:cs typeface="Arial" pitchFamily="34" charset="-120"/>
              </a:rPr>
              <a:t>confidential</a:t>
            </a:r>
            <a:endParaRPr lang="en-US" sz="700" dirty="0"/>
          </a:p>
        </p:txBody>
      </p:sp>
      <p:sp>
        <p:nvSpPr>
          <p:cNvPr id="11" name="Text 7"/>
          <p:cNvSpPr txBox="1"/>
          <p:nvPr/>
        </p:nvSpPr>
        <p:spPr>
          <a:xfrm>
            <a:off x="3454400" y="711200"/>
            <a:ext cx="5334000" cy="508000"/>
          </a:xfrm>
          <a:prstGeom prst="rect">
            <a:avLst/>
          </a:prstGeom>
          <a:noFill/>
          <a:ln/>
        </p:spPr>
        <p:txBody>
          <a:bodyPr wrap="square" lIns="0" tIns="0" rIns="0" bIns="0" rtlCol="0" anchor="ctr"/>
          <a:lstStyle/>
          <a:p>
            <a:pPr indent="0" marL="0">
              <a:lnSpc>
                <a:spcPct val="120000"/>
              </a:lnSpc>
              <a:buNone/>
            </a:pPr>
            <a:r>
              <a:rPr lang="en-US" sz="1200" b="1" dirty="0">
                <a:solidFill>
                  <a:srgbClr val="16816D"/>
                </a:solidFill>
                <a:latin typeface="Noto Sans JP" pitchFamily="34" charset="0"/>
                <a:ea typeface="Noto Sans JP" pitchFamily="34" charset="-122"/>
                <a:cs typeface="Noto Sans JP" pitchFamily="34" charset="-120"/>
              </a:rPr>
              <a:t>整備している現場そのものを体験の場に。貴社社員・テナント・地域の親子が、森の変化を継続的に見守ります。</a:t>
            </a:r>
            <a:endParaRPr lang="en-US" sz="1200" dirty="0"/>
          </a:p>
        </p:txBody>
      </p:sp>
      <p:sp>
        <p:nvSpPr>
          <p:cNvPr id="12" name="Shape 8"/>
          <p:cNvSpPr/>
          <p:nvPr/>
        </p:nvSpPr>
        <p:spPr>
          <a:xfrm>
            <a:off x="3454400" y="1346200"/>
            <a:ext cx="5334000" cy="990600"/>
          </a:xfrm>
          <a:prstGeom prst="rect">
            <a:avLst/>
          </a:prstGeom>
          <a:solidFill>
            <a:srgbClr val="E8F5EF"/>
          </a:solidFill>
          <a:ln/>
        </p:spPr>
      </p:sp>
      <p:sp>
        <p:nvSpPr>
          <p:cNvPr id="13" name="Shape 9"/>
          <p:cNvSpPr/>
          <p:nvPr/>
        </p:nvSpPr>
        <p:spPr>
          <a:xfrm>
            <a:off x="3632200" y="1574800"/>
            <a:ext cx="533400" cy="533400"/>
          </a:xfrm>
          <a:prstGeom prst="ellipse">
            <a:avLst/>
          </a:prstGeom>
          <a:solidFill>
            <a:srgbClr val="1F9970"/>
          </a:solidFill>
          <a:ln/>
        </p:spPr>
      </p:sp>
      <p:pic>
        <p:nvPicPr>
          <p:cNvPr id="14" name="Image 2" descr="preencoded.png">    </p:cNvPr>
          <p:cNvPicPr>
            <a:picLocks noChangeAspect="1"/>
          </p:cNvPicPr>
          <p:nvPr/>
        </p:nvPicPr>
        <p:blipFill>
          <a:blip r:embed="rId3"/>
          <a:stretch>
            <a:fillRect/>
          </a:stretch>
        </p:blipFill>
        <p:spPr>
          <a:xfrm>
            <a:off x="3765550" y="1708150"/>
            <a:ext cx="266700" cy="266700"/>
          </a:xfrm>
          <a:prstGeom prst="rect">
            <a:avLst/>
          </a:prstGeom>
        </p:spPr>
      </p:pic>
      <p:sp>
        <p:nvSpPr>
          <p:cNvPr id="15" name="Text 10"/>
          <p:cNvSpPr txBox="1"/>
          <p:nvPr/>
        </p:nvSpPr>
        <p:spPr>
          <a:xfrm>
            <a:off x="4343400" y="1473200"/>
            <a:ext cx="3175000" cy="254000"/>
          </a:xfrm>
          <a:prstGeom prst="rect">
            <a:avLst/>
          </a:prstGeom>
          <a:noFill/>
          <a:ln/>
        </p:spPr>
        <p:txBody>
          <a:bodyPr wrap="square" lIns="0" tIns="0" rIns="0" bIns="0" rtlCol="0" anchor="t"/>
          <a:lstStyle/>
          <a:p>
            <a:pPr indent="0" marL="0">
              <a:buNone/>
            </a:pPr>
            <a:r>
              <a:rPr lang="en-US" sz="1200" b="1" dirty="0">
                <a:solidFill>
                  <a:srgbClr val="222222"/>
                </a:solidFill>
                <a:latin typeface="Noto Sans JP" pitchFamily="34" charset="0"/>
                <a:ea typeface="Noto Sans JP" pitchFamily="34" charset="-122"/>
                <a:cs typeface="Noto Sans JP" pitchFamily="34" charset="-120"/>
              </a:rPr>
              <a:t>森林整備の現場見学ツアー</a:t>
            </a:r>
            <a:endParaRPr lang="en-US" sz="1200" dirty="0"/>
          </a:p>
        </p:txBody>
      </p:sp>
      <p:sp>
        <p:nvSpPr>
          <p:cNvPr id="16" name="Text 11"/>
          <p:cNvSpPr txBox="1"/>
          <p:nvPr/>
        </p:nvSpPr>
        <p:spPr>
          <a:xfrm>
            <a:off x="4343400" y="1752600"/>
            <a:ext cx="4267200" cy="508000"/>
          </a:xfrm>
          <a:prstGeom prst="rect">
            <a:avLst/>
          </a:prstGeom>
          <a:noFill/>
          <a:ln/>
        </p:spPr>
        <p:txBody>
          <a:bodyPr wrap="square" lIns="0" tIns="0" rIns="0" bIns="0" rtlCol="0" anchor="t"/>
          <a:lstStyle/>
          <a:p>
            <a:pPr indent="0" marL="0">
              <a:lnSpc>
                <a:spcPct val="120000"/>
              </a:lnSpc>
              <a:buNone/>
            </a:pPr>
            <a:r>
              <a:rPr lang="en-US" sz="950" dirty="0">
                <a:solidFill>
                  <a:srgbClr val="444444"/>
                </a:solidFill>
                <a:latin typeface="Noto Sans JP" pitchFamily="34" charset="0"/>
                <a:ea typeface="Noto Sans JP" pitchFamily="34" charset="-122"/>
                <a:cs typeface="Noto Sans JP" pitchFamily="34" charset="-120"/>
              </a:rPr>
              <a:t>間伐・搬出の現場を林業者の解説付きで見学。「なぜ間伐が必要か」を体感</a:t>
            </a:r>
            <a:endParaRPr lang="en-US" sz="950" dirty="0"/>
          </a:p>
        </p:txBody>
      </p:sp>
      <p:sp>
        <p:nvSpPr>
          <p:cNvPr id="17" name="Shape 12"/>
          <p:cNvSpPr/>
          <p:nvPr/>
        </p:nvSpPr>
        <p:spPr>
          <a:xfrm>
            <a:off x="7594600" y="1473200"/>
            <a:ext cx="1066800" cy="228600"/>
          </a:xfrm>
          <a:prstGeom prst="roundRect">
            <a:avLst>
              <a:gd name="adj" fmla="val 40000"/>
            </a:avLst>
          </a:prstGeom>
          <a:solidFill>
            <a:srgbClr val="1F9970"/>
          </a:solidFill>
          <a:ln/>
        </p:spPr>
      </p:sp>
      <p:sp>
        <p:nvSpPr>
          <p:cNvPr id="18" name="Text 13"/>
          <p:cNvSpPr txBox="1"/>
          <p:nvPr/>
        </p:nvSpPr>
        <p:spPr>
          <a:xfrm>
            <a:off x="7594600" y="1473200"/>
            <a:ext cx="1066800" cy="228600"/>
          </a:xfrm>
          <a:prstGeom prst="rect">
            <a:avLst/>
          </a:prstGeom>
          <a:noFill/>
          <a:ln/>
        </p:spPr>
        <p:txBody>
          <a:bodyPr wrap="square" lIns="0" tIns="0" rIns="0" bIns="0" rtlCol="0" anchor="ctr"/>
          <a:lstStyle/>
          <a:p>
            <a:pPr algn="ctr" indent="0" marL="0">
              <a:buNone/>
            </a:pPr>
            <a:r>
              <a:rPr lang="en-US" sz="800" b="1" dirty="0">
                <a:solidFill>
                  <a:srgbClr val="FFFFFF"/>
                </a:solidFill>
                <a:latin typeface="Noto Sans JP" pitchFamily="34" charset="0"/>
                <a:ea typeface="Noto Sans JP" pitchFamily="34" charset="-122"/>
                <a:cs typeface="Noto Sans JP" pitchFamily="34" charset="-120"/>
              </a:rPr>
              <a:t>社員研修・CSR</a:t>
            </a:r>
            <a:endParaRPr lang="en-US" sz="800" dirty="0"/>
          </a:p>
        </p:txBody>
      </p:sp>
      <p:sp>
        <p:nvSpPr>
          <p:cNvPr id="19" name="Shape 14"/>
          <p:cNvSpPr/>
          <p:nvPr/>
        </p:nvSpPr>
        <p:spPr>
          <a:xfrm>
            <a:off x="3454400" y="2463800"/>
            <a:ext cx="5334000" cy="990600"/>
          </a:xfrm>
          <a:prstGeom prst="rect">
            <a:avLst/>
          </a:prstGeom>
          <a:solidFill>
            <a:srgbClr val="E8F5EF"/>
          </a:solidFill>
          <a:ln/>
        </p:spPr>
      </p:sp>
      <p:sp>
        <p:nvSpPr>
          <p:cNvPr id="20" name="Shape 15"/>
          <p:cNvSpPr/>
          <p:nvPr/>
        </p:nvSpPr>
        <p:spPr>
          <a:xfrm>
            <a:off x="3632200" y="2692400"/>
            <a:ext cx="533400" cy="533400"/>
          </a:xfrm>
          <a:prstGeom prst="ellipse">
            <a:avLst/>
          </a:prstGeom>
          <a:solidFill>
            <a:srgbClr val="1F9970"/>
          </a:solidFill>
          <a:ln/>
        </p:spPr>
      </p:sp>
      <p:pic>
        <p:nvPicPr>
          <p:cNvPr id="21" name="Image 3" descr="preencoded.png">    </p:cNvPr>
          <p:cNvPicPr>
            <a:picLocks noChangeAspect="1"/>
          </p:cNvPicPr>
          <p:nvPr/>
        </p:nvPicPr>
        <p:blipFill>
          <a:blip r:embed="rId4"/>
          <a:stretch>
            <a:fillRect/>
          </a:stretch>
        </p:blipFill>
        <p:spPr>
          <a:xfrm>
            <a:off x="3765550" y="2825750"/>
            <a:ext cx="266700" cy="266700"/>
          </a:xfrm>
          <a:prstGeom prst="rect">
            <a:avLst/>
          </a:prstGeom>
        </p:spPr>
      </p:pic>
      <p:sp>
        <p:nvSpPr>
          <p:cNvPr id="22" name="Text 16"/>
          <p:cNvSpPr txBox="1"/>
          <p:nvPr/>
        </p:nvSpPr>
        <p:spPr>
          <a:xfrm>
            <a:off x="4343400" y="2590800"/>
            <a:ext cx="3175000" cy="254000"/>
          </a:xfrm>
          <a:prstGeom prst="rect">
            <a:avLst/>
          </a:prstGeom>
          <a:noFill/>
          <a:ln/>
        </p:spPr>
        <p:txBody>
          <a:bodyPr wrap="square" lIns="0" tIns="0" rIns="0" bIns="0" rtlCol="0" anchor="t"/>
          <a:lstStyle/>
          <a:p>
            <a:pPr indent="0" marL="0">
              <a:buNone/>
            </a:pPr>
            <a:r>
              <a:rPr lang="en-US" sz="1200" b="1" dirty="0">
                <a:solidFill>
                  <a:srgbClr val="222222"/>
                </a:solidFill>
                <a:latin typeface="Noto Sans JP" pitchFamily="34" charset="0"/>
                <a:ea typeface="Noto Sans JP" pitchFamily="34" charset="-122"/>
                <a:cs typeface="Noto Sans JP" pitchFamily="34" charset="-120"/>
              </a:rPr>
              <a:t>間伐・植樹体験</a:t>
            </a:r>
            <a:endParaRPr lang="en-US" sz="1200" dirty="0"/>
          </a:p>
        </p:txBody>
      </p:sp>
      <p:sp>
        <p:nvSpPr>
          <p:cNvPr id="23" name="Text 17"/>
          <p:cNvSpPr txBox="1"/>
          <p:nvPr/>
        </p:nvSpPr>
        <p:spPr>
          <a:xfrm>
            <a:off x="4343400" y="2870200"/>
            <a:ext cx="4267200" cy="508000"/>
          </a:xfrm>
          <a:prstGeom prst="rect">
            <a:avLst/>
          </a:prstGeom>
          <a:noFill/>
          <a:ln/>
        </p:spPr>
        <p:txBody>
          <a:bodyPr wrap="square" lIns="0" tIns="0" rIns="0" bIns="0" rtlCol="0" anchor="t"/>
          <a:lstStyle/>
          <a:p>
            <a:pPr indent="0" marL="0">
              <a:lnSpc>
                <a:spcPct val="120000"/>
              </a:lnSpc>
              <a:buNone/>
            </a:pPr>
            <a:r>
              <a:rPr lang="en-US" sz="950" dirty="0">
                <a:solidFill>
                  <a:srgbClr val="444444"/>
                </a:solidFill>
                <a:latin typeface="Noto Sans JP" pitchFamily="34" charset="0"/>
                <a:ea typeface="Noto Sans JP" pitchFamily="34" charset="-122"/>
                <a:cs typeface="Noto Sans JP" pitchFamily="34" charset="-120"/>
              </a:rPr>
              <a:t>安全管理のもと、小径木の伐倒見学や植樹・下刈りに参加</a:t>
            </a:r>
            <a:endParaRPr lang="en-US" sz="950" dirty="0"/>
          </a:p>
        </p:txBody>
      </p:sp>
      <p:sp>
        <p:nvSpPr>
          <p:cNvPr id="24" name="Shape 18"/>
          <p:cNvSpPr/>
          <p:nvPr/>
        </p:nvSpPr>
        <p:spPr>
          <a:xfrm>
            <a:off x="7594600" y="2590800"/>
            <a:ext cx="1066800" cy="228600"/>
          </a:xfrm>
          <a:prstGeom prst="roundRect">
            <a:avLst>
              <a:gd name="adj" fmla="val 40000"/>
            </a:avLst>
          </a:prstGeom>
          <a:solidFill>
            <a:srgbClr val="1F9970"/>
          </a:solidFill>
          <a:ln/>
        </p:spPr>
      </p:sp>
      <p:sp>
        <p:nvSpPr>
          <p:cNvPr id="25" name="Text 19"/>
          <p:cNvSpPr txBox="1"/>
          <p:nvPr/>
        </p:nvSpPr>
        <p:spPr>
          <a:xfrm>
            <a:off x="7594600" y="2590800"/>
            <a:ext cx="1066800" cy="228600"/>
          </a:xfrm>
          <a:prstGeom prst="rect">
            <a:avLst/>
          </a:prstGeom>
          <a:noFill/>
          <a:ln/>
        </p:spPr>
        <p:txBody>
          <a:bodyPr wrap="square" lIns="0" tIns="0" rIns="0" bIns="0" rtlCol="0" anchor="ctr"/>
          <a:lstStyle/>
          <a:p>
            <a:pPr algn="ctr" indent="0" marL="0">
              <a:buNone/>
            </a:pPr>
            <a:r>
              <a:rPr lang="en-US" sz="800" b="1" dirty="0">
                <a:solidFill>
                  <a:srgbClr val="FFFFFF"/>
                </a:solidFill>
                <a:latin typeface="Noto Sans JP" pitchFamily="34" charset="0"/>
                <a:ea typeface="Noto Sans JP" pitchFamily="34" charset="-122"/>
                <a:cs typeface="Noto Sans JP" pitchFamily="34" charset="-120"/>
              </a:rPr>
              <a:t>社員・親子</a:t>
            </a:r>
            <a:endParaRPr lang="en-US" sz="800" dirty="0"/>
          </a:p>
        </p:txBody>
      </p:sp>
      <p:sp>
        <p:nvSpPr>
          <p:cNvPr id="26" name="Shape 20"/>
          <p:cNvSpPr/>
          <p:nvPr/>
        </p:nvSpPr>
        <p:spPr>
          <a:xfrm>
            <a:off x="3454400" y="3581400"/>
            <a:ext cx="5334000" cy="990600"/>
          </a:xfrm>
          <a:prstGeom prst="rect">
            <a:avLst/>
          </a:prstGeom>
          <a:solidFill>
            <a:srgbClr val="E8F5EF"/>
          </a:solidFill>
          <a:ln/>
        </p:spPr>
      </p:sp>
      <p:sp>
        <p:nvSpPr>
          <p:cNvPr id="27" name="Shape 21"/>
          <p:cNvSpPr/>
          <p:nvPr/>
        </p:nvSpPr>
        <p:spPr>
          <a:xfrm>
            <a:off x="3632200" y="3810000"/>
            <a:ext cx="533400" cy="533400"/>
          </a:xfrm>
          <a:prstGeom prst="ellipse">
            <a:avLst/>
          </a:prstGeom>
          <a:solidFill>
            <a:srgbClr val="1F9970"/>
          </a:solidFill>
          <a:ln/>
        </p:spPr>
      </p:sp>
      <p:pic>
        <p:nvPicPr>
          <p:cNvPr id="28" name="Image 4" descr="preencoded.png">    </p:cNvPr>
          <p:cNvPicPr>
            <a:picLocks noChangeAspect="1"/>
          </p:cNvPicPr>
          <p:nvPr/>
        </p:nvPicPr>
        <p:blipFill>
          <a:blip r:embed="rId5"/>
          <a:stretch>
            <a:fillRect/>
          </a:stretch>
        </p:blipFill>
        <p:spPr>
          <a:xfrm>
            <a:off x="3765550" y="3943350"/>
            <a:ext cx="266700" cy="266700"/>
          </a:xfrm>
          <a:prstGeom prst="rect">
            <a:avLst/>
          </a:prstGeom>
        </p:spPr>
      </p:pic>
      <p:sp>
        <p:nvSpPr>
          <p:cNvPr id="29" name="Text 22"/>
          <p:cNvSpPr txBox="1"/>
          <p:nvPr/>
        </p:nvSpPr>
        <p:spPr>
          <a:xfrm>
            <a:off x="4343400" y="3708400"/>
            <a:ext cx="3175000" cy="254000"/>
          </a:xfrm>
          <a:prstGeom prst="rect">
            <a:avLst/>
          </a:prstGeom>
          <a:noFill/>
          <a:ln/>
        </p:spPr>
        <p:txBody>
          <a:bodyPr wrap="square" lIns="0" tIns="0" rIns="0" bIns="0" rtlCol="0" anchor="t"/>
          <a:lstStyle/>
          <a:p>
            <a:pPr indent="0" marL="0">
              <a:buNone/>
            </a:pPr>
            <a:r>
              <a:rPr lang="en-US" sz="1200" b="1" dirty="0">
                <a:solidFill>
                  <a:srgbClr val="222222"/>
                </a:solidFill>
                <a:latin typeface="Noto Sans JP" pitchFamily="34" charset="0"/>
                <a:ea typeface="Noto Sans JP" pitchFamily="34" charset="-122"/>
                <a:cs typeface="Noto Sans JP" pitchFamily="34" charset="-120"/>
              </a:rPr>
              <a:t>水と生きもの調査</a:t>
            </a:r>
            <a:endParaRPr lang="en-US" sz="1200" dirty="0"/>
          </a:p>
        </p:txBody>
      </p:sp>
      <p:sp>
        <p:nvSpPr>
          <p:cNvPr id="30" name="Text 23"/>
          <p:cNvSpPr txBox="1"/>
          <p:nvPr/>
        </p:nvSpPr>
        <p:spPr>
          <a:xfrm>
            <a:off x="4343400" y="3987800"/>
            <a:ext cx="4267200" cy="508000"/>
          </a:xfrm>
          <a:prstGeom prst="rect">
            <a:avLst/>
          </a:prstGeom>
          <a:noFill/>
          <a:ln/>
        </p:spPr>
        <p:txBody>
          <a:bodyPr wrap="square" lIns="0" tIns="0" rIns="0" bIns="0" rtlCol="0" anchor="t"/>
          <a:lstStyle/>
          <a:p>
            <a:pPr indent="0" marL="0">
              <a:lnSpc>
                <a:spcPct val="120000"/>
              </a:lnSpc>
              <a:buNone/>
            </a:pPr>
            <a:r>
              <a:rPr lang="en-US" sz="950" dirty="0">
                <a:solidFill>
                  <a:srgbClr val="444444"/>
                </a:solidFill>
                <a:latin typeface="Noto Sans JP" pitchFamily="34" charset="0"/>
                <a:ea typeface="Noto Sans JP" pitchFamily="34" charset="-122"/>
                <a:cs typeface="Noto Sans JP" pitchFamily="34" charset="-120"/>
              </a:rPr>
              <a:t>整備前後で渓流の水質や動植物を観察。TNFD開示のモニタリングにも活用</a:t>
            </a:r>
            <a:endParaRPr lang="en-US" sz="950" dirty="0"/>
          </a:p>
        </p:txBody>
      </p:sp>
      <p:sp>
        <p:nvSpPr>
          <p:cNvPr id="31" name="Shape 24"/>
          <p:cNvSpPr/>
          <p:nvPr/>
        </p:nvSpPr>
        <p:spPr>
          <a:xfrm>
            <a:off x="7594600" y="3708400"/>
            <a:ext cx="1066800" cy="228600"/>
          </a:xfrm>
          <a:prstGeom prst="roundRect">
            <a:avLst>
              <a:gd name="adj" fmla="val 40000"/>
            </a:avLst>
          </a:prstGeom>
          <a:solidFill>
            <a:srgbClr val="1F9970"/>
          </a:solidFill>
          <a:ln/>
        </p:spPr>
      </p:sp>
      <p:sp>
        <p:nvSpPr>
          <p:cNvPr id="32" name="Text 25"/>
          <p:cNvSpPr txBox="1"/>
          <p:nvPr/>
        </p:nvSpPr>
        <p:spPr>
          <a:xfrm>
            <a:off x="7594600" y="3708400"/>
            <a:ext cx="1066800" cy="228600"/>
          </a:xfrm>
          <a:prstGeom prst="rect">
            <a:avLst/>
          </a:prstGeom>
          <a:noFill/>
          <a:ln/>
        </p:spPr>
        <p:txBody>
          <a:bodyPr wrap="square" lIns="0" tIns="0" rIns="0" bIns="0" rtlCol="0" anchor="ctr"/>
          <a:lstStyle/>
          <a:p>
            <a:pPr algn="ctr" indent="0" marL="0">
              <a:buNone/>
            </a:pPr>
            <a:r>
              <a:rPr lang="en-US" sz="800" b="1" dirty="0">
                <a:solidFill>
                  <a:srgbClr val="FFFFFF"/>
                </a:solidFill>
                <a:latin typeface="Noto Sans JP" pitchFamily="34" charset="0"/>
                <a:ea typeface="Noto Sans JP" pitchFamily="34" charset="-122"/>
                <a:cs typeface="Noto Sans JP" pitchFamily="34" charset="-120"/>
              </a:rPr>
              <a:t>社員・地域住民</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pic>
        <p:nvPicPr>
          <p:cNvPr id="2" name="Image 0" descr="/tmp/claude-0/-home-user--/135b95b8-9a7c-5e2e-abb3-3369b8f4d943/scratchpad/assets/logo_dark.png">    </p:cNvPr>
          <p:cNvPicPr>
            <a:picLocks noChangeAspect="1"/>
          </p:cNvPicPr>
          <p:nvPr/>
        </p:nvPicPr>
        <p:blipFill>
          <a:blip r:embed="rId1"/>
          <a:stretch>
            <a:fillRect/>
          </a:stretch>
        </p:blipFill>
        <p:spPr>
          <a:xfrm>
            <a:off x="355600" y="160020"/>
            <a:ext cx="558800" cy="254000"/>
          </a:xfrm>
          <a:prstGeom prst="rect">
            <a:avLst/>
          </a:prstGeom>
        </p:spPr>
      </p:pic>
      <p:sp>
        <p:nvSpPr>
          <p:cNvPr id="3" name="Text 0"/>
          <p:cNvSpPr txBox="1"/>
          <p:nvPr/>
        </p:nvSpPr>
        <p:spPr>
          <a:xfrm>
            <a:off x="1397000" y="127000"/>
            <a:ext cx="6350000" cy="304800"/>
          </a:xfrm>
          <a:prstGeom prst="rect">
            <a:avLst/>
          </a:prstGeom>
          <a:noFill/>
          <a:ln/>
        </p:spPr>
        <p:txBody>
          <a:bodyPr wrap="square" lIns="0" tIns="0" rIns="0" bIns="0" rtlCol="0" anchor="ctr"/>
          <a:lstStyle/>
          <a:p>
            <a:pPr algn="ctr" indent="0" marL="0">
              <a:buNone/>
            </a:pPr>
            <a:r>
              <a:rPr lang="en-US" sz="1500" b="1" dirty="0">
                <a:solidFill>
                  <a:srgbClr val="222222"/>
                </a:solidFill>
                <a:latin typeface="Noto Sans JP" pitchFamily="34" charset="0"/>
                <a:ea typeface="Noto Sans JP" pitchFamily="34" charset="-122"/>
                <a:cs typeface="Noto Sans JP" pitchFamily="34" charset="-120"/>
              </a:rPr>
              <a:t>木材ワークショップ</a:t>
            </a:r>
            <a:endParaRPr lang="en-US" sz="1500" dirty="0"/>
          </a:p>
        </p:txBody>
      </p:sp>
      <p:sp>
        <p:nvSpPr>
          <p:cNvPr id="4" name="Shape 1"/>
          <p:cNvSpPr/>
          <p:nvPr/>
        </p:nvSpPr>
        <p:spPr>
          <a:xfrm>
            <a:off x="0" y="539750"/>
            <a:ext cx="9144000" cy="0"/>
          </a:xfrm>
          <a:prstGeom prst="line">
            <a:avLst/>
          </a:prstGeom>
          <a:noFill/>
          <a:ln w="9525">
            <a:solidFill>
              <a:srgbClr val="999999"/>
            </a:solidFill>
            <a:prstDash val="solid"/>
          </a:ln>
        </p:spPr>
      </p:sp>
      <p:sp>
        <p:nvSpPr>
          <p:cNvPr id="5" name="Shape 2"/>
          <p:cNvSpPr/>
          <p:nvPr/>
        </p:nvSpPr>
        <p:spPr>
          <a:xfrm>
            <a:off x="88900" y="4876800"/>
            <a:ext cx="723900" cy="165100"/>
          </a:xfrm>
          <a:prstGeom prst="rect">
            <a:avLst/>
          </a:prstGeom>
          <a:solidFill>
            <a:srgbClr val="FFFFFF"/>
          </a:solidFill>
          <a:ln w="6350">
            <a:solidFill>
              <a:srgbClr val="B2B2B2"/>
            </a:solidFill>
            <a:prstDash val="solid"/>
          </a:ln>
        </p:spPr>
      </p:sp>
      <p:sp>
        <p:nvSpPr>
          <p:cNvPr id="6" name="Text 3"/>
          <p:cNvSpPr txBox="1"/>
          <p:nvPr/>
        </p:nvSpPr>
        <p:spPr>
          <a:xfrm>
            <a:off x="88900" y="4876800"/>
            <a:ext cx="723900" cy="165100"/>
          </a:xfrm>
          <a:prstGeom prst="rect">
            <a:avLst/>
          </a:prstGeom>
          <a:noFill/>
          <a:ln/>
        </p:spPr>
        <p:txBody>
          <a:bodyPr wrap="square" lIns="0" tIns="0" rIns="0" bIns="0" rtlCol="0" anchor="ctr"/>
          <a:lstStyle/>
          <a:p>
            <a:pPr algn="ctr" indent="0" marL="0">
              <a:buNone/>
            </a:pPr>
            <a:r>
              <a:rPr lang="en-US" sz="700" dirty="0">
                <a:solidFill>
                  <a:srgbClr val="757575"/>
                </a:solidFill>
                <a:latin typeface="Arial" pitchFamily="34" charset="0"/>
                <a:ea typeface="Arial" pitchFamily="34" charset="-122"/>
                <a:cs typeface="Arial" pitchFamily="34" charset="-120"/>
              </a:rPr>
              <a:t>confidential</a:t>
            </a:r>
            <a:endParaRPr lang="en-US" sz="700" dirty="0"/>
          </a:p>
        </p:txBody>
      </p:sp>
      <p:sp>
        <p:nvSpPr>
          <p:cNvPr id="7" name="Text 4"/>
          <p:cNvSpPr txBox="1"/>
          <p:nvPr/>
        </p:nvSpPr>
        <p:spPr>
          <a:xfrm>
            <a:off x="8509000" y="4826000"/>
            <a:ext cx="533400" cy="203200"/>
          </a:xfrm>
          <a:prstGeom prst="rect">
            <a:avLst/>
          </a:prstGeom>
          <a:noFill/>
          <a:ln/>
        </p:spPr>
        <p:txBody>
          <a:bodyPr wrap="square" lIns="0" tIns="0" rIns="0" bIns="0" rtlCol="0" anchor="t"/>
          <a:lstStyle/>
          <a:p>
            <a:pPr algn="r" indent="0" marL="0">
              <a:buNone/>
            </a:pPr>
            <a:r>
              <a:rPr lang="en-US" sz="1100" dirty="0">
                <a:solidFill>
                  <a:srgbClr val="757575"/>
                </a:solidFill>
                <a:latin typeface="Noto Sans JP" pitchFamily="34" charset="0"/>
                <a:ea typeface="Noto Sans JP" pitchFamily="34" charset="-122"/>
                <a:cs typeface="Noto Sans JP" pitchFamily="34" charset="-120"/>
              </a:rPr>
              <a:t>24</a:t>
            </a:r>
            <a:endParaRPr lang="en-US" sz="1100" dirty="0"/>
          </a:p>
        </p:txBody>
      </p:sp>
      <p:sp>
        <p:nvSpPr>
          <p:cNvPr id="8" name="Text 5"/>
          <p:cNvSpPr txBox="1"/>
          <p:nvPr/>
        </p:nvSpPr>
        <p:spPr>
          <a:xfrm>
            <a:off x="457200" y="685800"/>
            <a:ext cx="8229600" cy="508000"/>
          </a:xfrm>
          <a:prstGeom prst="rect">
            <a:avLst/>
          </a:prstGeom>
          <a:noFill/>
          <a:ln/>
        </p:spPr>
        <p:txBody>
          <a:bodyPr wrap="square" lIns="0" tIns="0" rIns="0" bIns="0" rtlCol="0" anchor="ctr"/>
          <a:lstStyle/>
          <a:p>
            <a:pPr indent="0" marL="0">
              <a:buNone/>
            </a:pPr>
            <a:r>
              <a:rPr lang="en-US" sz="1300" b="1" dirty="0">
                <a:solidFill>
                  <a:srgbClr val="16816D"/>
                </a:solidFill>
                <a:latin typeface="Noto Sans JP" pitchFamily="34" charset="0"/>
                <a:ea typeface="Noto Sans JP" pitchFamily="34" charset="-122"/>
                <a:cs typeface="Noto Sans JP" pitchFamily="34" charset="-120"/>
              </a:rPr>
              <a:t>森で伐った木が、身近な道具や施設に変わるまでを、貴社施設で体験できるプログラムです。</a:t>
            </a:r>
            <a:endParaRPr lang="en-US" sz="1300" dirty="0"/>
          </a:p>
        </p:txBody>
      </p:sp>
      <p:sp>
        <p:nvSpPr>
          <p:cNvPr id="9" name="Shape 6"/>
          <p:cNvSpPr/>
          <p:nvPr/>
        </p:nvSpPr>
        <p:spPr>
          <a:xfrm>
            <a:off x="457200" y="1270000"/>
            <a:ext cx="2616200" cy="1905000"/>
          </a:xfrm>
          <a:prstGeom prst="rect">
            <a:avLst/>
          </a:prstGeom>
          <a:solidFill>
            <a:srgbClr val="FFFFFF"/>
          </a:solidFill>
          <a:ln w="12700">
            <a:solidFill>
              <a:srgbClr val="BFE3D3"/>
            </a:solidFill>
            <a:prstDash val="solid"/>
          </a:ln>
          <a:effectLst>
            <a:outerShdw sx="100000" sy="100000" kx="0" ky="0" algn="bl" rotWithShape="0" blurRad="50800" dist="12700" dir="5400000">
              <a:srgbClr val="000000">
                <a:alpha val="8000"/>
              </a:srgbClr>
            </a:outerShdw>
          </a:effectLst>
        </p:spPr>
      </p:sp>
      <p:sp>
        <p:nvSpPr>
          <p:cNvPr id="10" name="Shape 7"/>
          <p:cNvSpPr/>
          <p:nvPr/>
        </p:nvSpPr>
        <p:spPr>
          <a:xfrm>
            <a:off x="1460500" y="1422400"/>
            <a:ext cx="609600" cy="609600"/>
          </a:xfrm>
          <a:prstGeom prst="ellipse">
            <a:avLst/>
          </a:prstGeom>
          <a:solidFill>
            <a:srgbClr val="1F9970"/>
          </a:solidFill>
          <a:ln/>
        </p:spPr>
      </p:sp>
      <p:pic>
        <p:nvPicPr>
          <p:cNvPr id="11" name="Image 1" descr="preencoded.png">    </p:cNvPr>
          <p:cNvPicPr>
            <a:picLocks noChangeAspect="1"/>
          </p:cNvPicPr>
          <p:nvPr/>
        </p:nvPicPr>
        <p:blipFill>
          <a:blip r:embed="rId2"/>
          <a:stretch>
            <a:fillRect/>
          </a:stretch>
        </p:blipFill>
        <p:spPr>
          <a:xfrm>
            <a:off x="1612900" y="1574800"/>
            <a:ext cx="304800" cy="304800"/>
          </a:xfrm>
          <a:prstGeom prst="rect">
            <a:avLst/>
          </a:prstGeom>
        </p:spPr>
      </p:pic>
      <p:sp>
        <p:nvSpPr>
          <p:cNvPr id="12" name="Text 8"/>
          <p:cNvSpPr txBox="1"/>
          <p:nvPr/>
        </p:nvSpPr>
        <p:spPr>
          <a:xfrm>
            <a:off x="584200" y="2108200"/>
            <a:ext cx="2362200" cy="431800"/>
          </a:xfrm>
          <a:prstGeom prst="rect">
            <a:avLst/>
          </a:prstGeom>
          <a:noFill/>
          <a:ln/>
        </p:spPr>
        <p:txBody>
          <a:bodyPr wrap="square" lIns="0" tIns="0" rIns="0" bIns="0" rtlCol="0" anchor="ctr"/>
          <a:lstStyle/>
          <a:p>
            <a:pPr algn="ctr" indent="0" marL="0">
              <a:buNone/>
            </a:pPr>
            <a:r>
              <a:rPr lang="en-US" sz="1150" b="1" dirty="0">
                <a:solidFill>
                  <a:srgbClr val="222222"/>
                </a:solidFill>
                <a:latin typeface="Noto Sans JP" pitchFamily="34" charset="0"/>
                <a:ea typeface="Noto Sans JP" pitchFamily="34" charset="-122"/>
                <a:cs typeface="Noto Sans JP" pitchFamily="34" charset="-120"/>
              </a:rPr>
              <a:t>八王子材でつくる</a:t>
            </a:r>
            <a:endParaRPr lang="en-US" sz="1150" dirty="0"/>
          </a:p>
          <a:p>
            <a:pPr algn="ctr" indent="0" marL="0">
              <a:buNone/>
            </a:pPr>
            <a:r>
              <a:rPr lang="en-US" sz="1150" b="1" dirty="0">
                <a:solidFill>
                  <a:srgbClr val="222222"/>
                </a:solidFill>
                <a:latin typeface="Noto Sans JP" pitchFamily="34" charset="0"/>
                <a:ea typeface="Noto Sans JP" pitchFamily="34" charset="-122"/>
                <a:cs typeface="Noto Sans JP" pitchFamily="34" charset="-120"/>
              </a:rPr>
              <a:t>スツール・小物</a:t>
            </a:r>
            <a:endParaRPr lang="en-US" sz="1150" dirty="0"/>
          </a:p>
        </p:txBody>
      </p:sp>
      <p:sp>
        <p:nvSpPr>
          <p:cNvPr id="13" name="Text 9"/>
          <p:cNvSpPr txBox="1"/>
          <p:nvPr/>
        </p:nvSpPr>
        <p:spPr>
          <a:xfrm>
            <a:off x="635000" y="2590800"/>
            <a:ext cx="2260600" cy="508000"/>
          </a:xfrm>
          <a:prstGeom prst="rect">
            <a:avLst/>
          </a:prstGeom>
          <a:noFill/>
          <a:ln/>
        </p:spPr>
        <p:txBody>
          <a:bodyPr wrap="square" lIns="0" tIns="0" rIns="0" bIns="0" rtlCol="0" anchor="t"/>
          <a:lstStyle/>
          <a:p>
            <a:pPr algn="ctr" indent="0" marL="0">
              <a:buNone/>
            </a:pPr>
            <a:r>
              <a:rPr lang="en-US" sz="900" dirty="0">
                <a:solidFill>
                  <a:srgbClr val="444444"/>
                </a:solidFill>
                <a:latin typeface="Noto Sans JP" pitchFamily="34" charset="0"/>
                <a:ea typeface="Noto Sans JP" pitchFamily="34" charset="-122"/>
                <a:cs typeface="Noto Sans JP" pitchFamily="34" charset="-120"/>
              </a:rPr>
              <a:t>間伐材を使った組み立て式スツールやコースターを親子で製作</a:t>
            </a:r>
            <a:endParaRPr lang="en-US" sz="900" dirty="0"/>
          </a:p>
        </p:txBody>
      </p:sp>
      <p:sp>
        <p:nvSpPr>
          <p:cNvPr id="14" name="Shape 10"/>
          <p:cNvSpPr/>
          <p:nvPr/>
        </p:nvSpPr>
        <p:spPr>
          <a:xfrm>
            <a:off x="3251200" y="1270000"/>
            <a:ext cx="2616200" cy="1905000"/>
          </a:xfrm>
          <a:prstGeom prst="rect">
            <a:avLst/>
          </a:prstGeom>
          <a:solidFill>
            <a:srgbClr val="FFFFFF"/>
          </a:solidFill>
          <a:ln w="12700">
            <a:solidFill>
              <a:srgbClr val="BFE3D3"/>
            </a:solidFill>
            <a:prstDash val="solid"/>
          </a:ln>
          <a:effectLst>
            <a:outerShdw sx="100000" sy="100000" kx="0" ky="0" algn="bl" rotWithShape="0" blurRad="50800" dist="12700" dir="5400000">
              <a:srgbClr val="000000">
                <a:alpha val="8000"/>
              </a:srgbClr>
            </a:outerShdw>
          </a:effectLst>
        </p:spPr>
      </p:sp>
      <p:sp>
        <p:nvSpPr>
          <p:cNvPr id="15" name="Shape 11"/>
          <p:cNvSpPr/>
          <p:nvPr/>
        </p:nvSpPr>
        <p:spPr>
          <a:xfrm>
            <a:off x="4254500" y="1422400"/>
            <a:ext cx="609600" cy="609600"/>
          </a:xfrm>
          <a:prstGeom prst="ellipse">
            <a:avLst/>
          </a:prstGeom>
          <a:solidFill>
            <a:srgbClr val="1F9970"/>
          </a:solidFill>
          <a:ln/>
        </p:spPr>
      </p:sp>
      <p:pic>
        <p:nvPicPr>
          <p:cNvPr id="16" name="Image 2" descr="preencoded.png">    </p:cNvPr>
          <p:cNvPicPr>
            <a:picLocks noChangeAspect="1"/>
          </p:cNvPicPr>
          <p:nvPr/>
        </p:nvPicPr>
        <p:blipFill>
          <a:blip r:embed="rId3"/>
          <a:stretch>
            <a:fillRect/>
          </a:stretch>
        </p:blipFill>
        <p:spPr>
          <a:xfrm>
            <a:off x="4406900" y="1574800"/>
            <a:ext cx="304800" cy="304800"/>
          </a:xfrm>
          <a:prstGeom prst="rect">
            <a:avLst/>
          </a:prstGeom>
        </p:spPr>
      </p:pic>
      <p:sp>
        <p:nvSpPr>
          <p:cNvPr id="17" name="Text 12"/>
          <p:cNvSpPr txBox="1"/>
          <p:nvPr/>
        </p:nvSpPr>
        <p:spPr>
          <a:xfrm>
            <a:off x="3378200" y="2108200"/>
            <a:ext cx="2362200" cy="431800"/>
          </a:xfrm>
          <a:prstGeom prst="rect">
            <a:avLst/>
          </a:prstGeom>
          <a:noFill/>
          <a:ln/>
        </p:spPr>
        <p:txBody>
          <a:bodyPr wrap="square" lIns="0" tIns="0" rIns="0" bIns="0" rtlCol="0" anchor="ctr"/>
          <a:lstStyle/>
          <a:p>
            <a:pPr algn="ctr" indent="0" marL="0">
              <a:buNone/>
            </a:pPr>
            <a:r>
              <a:rPr lang="en-US" sz="1150" b="1" dirty="0">
                <a:solidFill>
                  <a:srgbClr val="222222"/>
                </a:solidFill>
                <a:latin typeface="Noto Sans JP" pitchFamily="34" charset="0"/>
                <a:ea typeface="Noto Sans JP" pitchFamily="34" charset="-122"/>
                <a:cs typeface="Noto Sans JP" pitchFamily="34" charset="-120"/>
              </a:rPr>
              <a:t>小径木・端材の</a:t>
            </a:r>
            <a:endParaRPr lang="en-US" sz="1150" dirty="0"/>
          </a:p>
          <a:p>
            <a:pPr algn="ctr" indent="0" marL="0">
              <a:buNone/>
            </a:pPr>
            <a:r>
              <a:rPr lang="en-US" sz="1150" b="1" dirty="0">
                <a:solidFill>
                  <a:srgbClr val="222222"/>
                </a:solidFill>
                <a:latin typeface="Noto Sans JP" pitchFamily="34" charset="0"/>
                <a:ea typeface="Noto Sans JP" pitchFamily="34" charset="-122"/>
                <a:cs typeface="Noto Sans JP" pitchFamily="34" charset="-120"/>
              </a:rPr>
              <a:t>カトラリーづくり</a:t>
            </a:r>
            <a:endParaRPr lang="en-US" sz="1150" dirty="0"/>
          </a:p>
        </p:txBody>
      </p:sp>
      <p:sp>
        <p:nvSpPr>
          <p:cNvPr id="18" name="Text 13"/>
          <p:cNvSpPr txBox="1"/>
          <p:nvPr/>
        </p:nvSpPr>
        <p:spPr>
          <a:xfrm>
            <a:off x="3429000" y="2590800"/>
            <a:ext cx="2260600" cy="508000"/>
          </a:xfrm>
          <a:prstGeom prst="rect">
            <a:avLst/>
          </a:prstGeom>
          <a:noFill/>
          <a:ln/>
        </p:spPr>
        <p:txBody>
          <a:bodyPr wrap="square" lIns="0" tIns="0" rIns="0" bIns="0" rtlCol="0" anchor="t"/>
          <a:lstStyle/>
          <a:p>
            <a:pPr algn="ctr" indent="0" marL="0">
              <a:buNone/>
            </a:pPr>
            <a:r>
              <a:rPr lang="en-US" sz="900" dirty="0">
                <a:solidFill>
                  <a:srgbClr val="444444"/>
                </a:solidFill>
                <a:latin typeface="Noto Sans JP" pitchFamily="34" charset="0"/>
                <a:ea typeface="Noto Sans JP" pitchFamily="34" charset="-122"/>
                <a:cs typeface="Noto Sans JP" pitchFamily="34" charset="-120"/>
              </a:rPr>
              <a:t>流通に乗りにくい小径木・端材を活用し、素材ロスを減らす</a:t>
            </a:r>
            <a:endParaRPr lang="en-US" sz="900" dirty="0"/>
          </a:p>
        </p:txBody>
      </p:sp>
      <p:sp>
        <p:nvSpPr>
          <p:cNvPr id="19" name="Shape 14"/>
          <p:cNvSpPr/>
          <p:nvPr/>
        </p:nvSpPr>
        <p:spPr>
          <a:xfrm>
            <a:off x="6045200" y="1270000"/>
            <a:ext cx="2616200" cy="1905000"/>
          </a:xfrm>
          <a:prstGeom prst="rect">
            <a:avLst/>
          </a:prstGeom>
          <a:solidFill>
            <a:srgbClr val="FFFFFF"/>
          </a:solidFill>
          <a:ln w="12700">
            <a:solidFill>
              <a:srgbClr val="BFE3D3"/>
            </a:solidFill>
            <a:prstDash val="solid"/>
          </a:ln>
          <a:effectLst>
            <a:outerShdw sx="100000" sy="100000" kx="0" ky="0" algn="bl" rotWithShape="0" blurRad="50800" dist="12700" dir="5400000">
              <a:srgbClr val="000000">
                <a:alpha val="8000"/>
              </a:srgbClr>
            </a:outerShdw>
          </a:effectLst>
        </p:spPr>
      </p:sp>
      <p:sp>
        <p:nvSpPr>
          <p:cNvPr id="20" name="Shape 15"/>
          <p:cNvSpPr/>
          <p:nvPr/>
        </p:nvSpPr>
        <p:spPr>
          <a:xfrm>
            <a:off x="7048500" y="1422400"/>
            <a:ext cx="609600" cy="609600"/>
          </a:xfrm>
          <a:prstGeom prst="ellipse">
            <a:avLst/>
          </a:prstGeom>
          <a:solidFill>
            <a:srgbClr val="1F9970"/>
          </a:solidFill>
          <a:ln/>
        </p:spPr>
      </p:sp>
      <p:pic>
        <p:nvPicPr>
          <p:cNvPr id="21" name="Image 3" descr="preencoded.png">    </p:cNvPr>
          <p:cNvPicPr>
            <a:picLocks noChangeAspect="1"/>
          </p:cNvPicPr>
          <p:nvPr/>
        </p:nvPicPr>
        <p:blipFill>
          <a:blip r:embed="rId4"/>
          <a:stretch>
            <a:fillRect/>
          </a:stretch>
        </p:blipFill>
        <p:spPr>
          <a:xfrm>
            <a:off x="7200900" y="1574800"/>
            <a:ext cx="304800" cy="304800"/>
          </a:xfrm>
          <a:prstGeom prst="rect">
            <a:avLst/>
          </a:prstGeom>
        </p:spPr>
      </p:pic>
      <p:sp>
        <p:nvSpPr>
          <p:cNvPr id="22" name="Text 16"/>
          <p:cNvSpPr txBox="1"/>
          <p:nvPr/>
        </p:nvSpPr>
        <p:spPr>
          <a:xfrm>
            <a:off x="6172200" y="2108200"/>
            <a:ext cx="2362200" cy="431800"/>
          </a:xfrm>
          <a:prstGeom prst="rect">
            <a:avLst/>
          </a:prstGeom>
          <a:noFill/>
          <a:ln/>
        </p:spPr>
        <p:txBody>
          <a:bodyPr wrap="square" lIns="0" tIns="0" rIns="0" bIns="0" rtlCol="0" anchor="ctr"/>
          <a:lstStyle/>
          <a:p>
            <a:pPr algn="ctr" indent="0" marL="0">
              <a:buNone/>
            </a:pPr>
            <a:r>
              <a:rPr lang="en-US" sz="1150" b="1" dirty="0">
                <a:solidFill>
                  <a:srgbClr val="222222"/>
                </a:solidFill>
                <a:latin typeface="Noto Sans JP" pitchFamily="34" charset="0"/>
                <a:ea typeface="Noto Sans JP" pitchFamily="34" charset="-122"/>
                <a:cs typeface="Noto Sans JP" pitchFamily="34" charset="-120"/>
              </a:rPr>
              <a:t>商業施設での</a:t>
            </a:r>
            <a:endParaRPr lang="en-US" sz="1150" dirty="0"/>
          </a:p>
          <a:p>
            <a:pPr algn="ctr" indent="0" marL="0">
              <a:buNone/>
            </a:pPr>
            <a:r>
              <a:rPr lang="en-US" sz="1150" b="1" dirty="0">
                <a:solidFill>
                  <a:srgbClr val="222222"/>
                </a:solidFill>
                <a:latin typeface="Noto Sans JP" pitchFamily="34" charset="0"/>
                <a:ea typeface="Noto Sans JP" pitchFamily="34" charset="-122"/>
                <a:cs typeface="Noto Sans JP" pitchFamily="34" charset="-120"/>
              </a:rPr>
              <a:t>ポップアップWS</a:t>
            </a:r>
            <a:endParaRPr lang="en-US" sz="1150" dirty="0"/>
          </a:p>
        </p:txBody>
      </p:sp>
      <p:sp>
        <p:nvSpPr>
          <p:cNvPr id="23" name="Text 17"/>
          <p:cNvSpPr txBox="1"/>
          <p:nvPr/>
        </p:nvSpPr>
        <p:spPr>
          <a:xfrm>
            <a:off x="6223000" y="2590800"/>
            <a:ext cx="2260600" cy="508000"/>
          </a:xfrm>
          <a:prstGeom prst="rect">
            <a:avLst/>
          </a:prstGeom>
          <a:noFill/>
          <a:ln/>
        </p:spPr>
        <p:txBody>
          <a:bodyPr wrap="square" lIns="0" tIns="0" rIns="0" bIns="0" rtlCol="0" anchor="t"/>
          <a:lstStyle/>
          <a:p>
            <a:pPr algn="ctr" indent="0" marL="0">
              <a:buNone/>
            </a:pPr>
            <a:r>
              <a:rPr lang="en-US" sz="900" dirty="0">
                <a:solidFill>
                  <a:srgbClr val="444444"/>
                </a:solidFill>
                <a:latin typeface="Noto Sans JP" pitchFamily="34" charset="0"/>
                <a:ea typeface="Noto Sans JP" pitchFamily="34" charset="-122"/>
                <a:cs typeface="Noto Sans JP" pitchFamily="34" charset="-120"/>
              </a:rPr>
              <a:t>南大沢のアウトレット等で週末開催。来場者との接点を創出</a:t>
            </a:r>
            <a:endParaRPr lang="en-US" sz="900" dirty="0"/>
          </a:p>
        </p:txBody>
      </p:sp>
      <p:sp>
        <p:nvSpPr>
          <p:cNvPr id="24" name="Text 18"/>
          <p:cNvSpPr txBox="1"/>
          <p:nvPr/>
        </p:nvSpPr>
        <p:spPr>
          <a:xfrm>
            <a:off x="457200" y="3352800"/>
            <a:ext cx="2540000" cy="203200"/>
          </a:xfrm>
          <a:prstGeom prst="rect">
            <a:avLst/>
          </a:prstGeom>
          <a:noFill/>
          <a:ln/>
        </p:spPr>
        <p:txBody>
          <a:bodyPr wrap="square" lIns="0" tIns="0" rIns="0" bIns="0" rtlCol="0" anchor="t"/>
          <a:lstStyle/>
          <a:p>
            <a:pPr indent="0" marL="0">
              <a:buNone/>
            </a:pPr>
            <a:r>
              <a:rPr lang="en-US" sz="1100" b="1" dirty="0">
                <a:solidFill>
                  <a:srgbClr val="16816D"/>
                </a:solidFill>
                <a:latin typeface="Noto Sans JP" pitchFamily="34" charset="0"/>
                <a:ea typeface="Noto Sans JP" pitchFamily="34" charset="-122"/>
                <a:cs typeface="Noto Sans JP" pitchFamily="34" charset="-120"/>
              </a:rPr>
              <a:t>体験がつながる循環</a:t>
            </a:r>
            <a:endParaRPr lang="en-US" sz="1100" dirty="0"/>
          </a:p>
        </p:txBody>
      </p:sp>
      <p:sp>
        <p:nvSpPr>
          <p:cNvPr id="25" name="Shape 19"/>
          <p:cNvSpPr/>
          <p:nvPr/>
        </p:nvSpPr>
        <p:spPr>
          <a:xfrm>
            <a:off x="457200" y="3657600"/>
            <a:ext cx="1778000" cy="508000"/>
          </a:xfrm>
          <a:prstGeom prst="roundRect">
            <a:avLst>
              <a:gd name="adj" fmla="val 18000"/>
            </a:avLst>
          </a:prstGeom>
          <a:solidFill>
            <a:srgbClr val="E8F5EF"/>
          </a:solidFill>
          <a:ln/>
        </p:spPr>
      </p:sp>
      <p:pic>
        <p:nvPicPr>
          <p:cNvPr id="26" name="Image 4" descr="preencoded.png">    </p:cNvPr>
          <p:cNvPicPr>
            <a:picLocks noChangeAspect="1"/>
          </p:cNvPicPr>
          <p:nvPr/>
        </p:nvPicPr>
        <p:blipFill>
          <a:blip r:embed="rId5"/>
          <a:stretch>
            <a:fillRect/>
          </a:stretch>
        </p:blipFill>
        <p:spPr>
          <a:xfrm>
            <a:off x="609600" y="3797300"/>
            <a:ext cx="228600" cy="228600"/>
          </a:xfrm>
          <a:prstGeom prst="rect">
            <a:avLst/>
          </a:prstGeom>
        </p:spPr>
      </p:pic>
      <p:sp>
        <p:nvSpPr>
          <p:cNvPr id="27" name="Text 20"/>
          <p:cNvSpPr txBox="1"/>
          <p:nvPr/>
        </p:nvSpPr>
        <p:spPr>
          <a:xfrm>
            <a:off x="914400" y="3657600"/>
            <a:ext cx="1270000" cy="508000"/>
          </a:xfrm>
          <a:prstGeom prst="rect">
            <a:avLst/>
          </a:prstGeom>
          <a:noFill/>
          <a:ln/>
        </p:spPr>
        <p:txBody>
          <a:bodyPr wrap="square" lIns="0" tIns="0" rIns="0" bIns="0" rtlCol="0" anchor="ctr"/>
          <a:lstStyle/>
          <a:p>
            <a:pPr indent="0" marL="0">
              <a:buNone/>
            </a:pPr>
            <a:r>
              <a:rPr lang="en-US" sz="1050" b="1" dirty="0">
                <a:solidFill>
                  <a:srgbClr val="222222"/>
                </a:solidFill>
                <a:latin typeface="Noto Sans JP" pitchFamily="34" charset="0"/>
                <a:ea typeface="Noto Sans JP" pitchFamily="34" charset="-122"/>
                <a:cs typeface="Noto Sans JP" pitchFamily="34" charset="-120"/>
              </a:rPr>
              <a:t>森林体験</a:t>
            </a:r>
            <a:endParaRPr lang="en-US" sz="1050" dirty="0"/>
          </a:p>
        </p:txBody>
      </p:sp>
      <p:pic>
        <p:nvPicPr>
          <p:cNvPr id="28" name="Image 5" descr="preencoded.png">    </p:cNvPr>
          <p:cNvPicPr>
            <a:picLocks noChangeAspect="1"/>
          </p:cNvPicPr>
          <p:nvPr/>
        </p:nvPicPr>
        <p:blipFill>
          <a:blip r:embed="rId6"/>
          <a:stretch>
            <a:fillRect/>
          </a:stretch>
        </p:blipFill>
        <p:spPr>
          <a:xfrm>
            <a:off x="2298700" y="3822700"/>
            <a:ext cx="177800" cy="177800"/>
          </a:xfrm>
          <a:prstGeom prst="rect">
            <a:avLst/>
          </a:prstGeom>
        </p:spPr>
      </p:pic>
      <p:sp>
        <p:nvSpPr>
          <p:cNvPr id="29" name="Shape 21"/>
          <p:cNvSpPr/>
          <p:nvPr/>
        </p:nvSpPr>
        <p:spPr>
          <a:xfrm>
            <a:off x="2565400" y="3657600"/>
            <a:ext cx="1778000" cy="508000"/>
          </a:xfrm>
          <a:prstGeom prst="roundRect">
            <a:avLst>
              <a:gd name="adj" fmla="val 18000"/>
            </a:avLst>
          </a:prstGeom>
          <a:solidFill>
            <a:srgbClr val="E8F5EF"/>
          </a:solidFill>
          <a:ln/>
        </p:spPr>
      </p:sp>
      <p:pic>
        <p:nvPicPr>
          <p:cNvPr id="30" name="Image 6" descr="preencoded.png">    </p:cNvPr>
          <p:cNvPicPr>
            <a:picLocks noChangeAspect="1"/>
          </p:cNvPicPr>
          <p:nvPr/>
        </p:nvPicPr>
        <p:blipFill>
          <a:blip r:embed="rId7"/>
          <a:stretch>
            <a:fillRect/>
          </a:stretch>
        </p:blipFill>
        <p:spPr>
          <a:xfrm>
            <a:off x="2717800" y="3797300"/>
            <a:ext cx="228600" cy="228600"/>
          </a:xfrm>
          <a:prstGeom prst="rect">
            <a:avLst/>
          </a:prstGeom>
        </p:spPr>
      </p:pic>
      <p:sp>
        <p:nvSpPr>
          <p:cNvPr id="31" name="Text 22"/>
          <p:cNvSpPr txBox="1"/>
          <p:nvPr/>
        </p:nvSpPr>
        <p:spPr>
          <a:xfrm>
            <a:off x="3022600" y="3657600"/>
            <a:ext cx="1270000" cy="508000"/>
          </a:xfrm>
          <a:prstGeom prst="rect">
            <a:avLst/>
          </a:prstGeom>
          <a:noFill/>
          <a:ln/>
        </p:spPr>
        <p:txBody>
          <a:bodyPr wrap="square" lIns="0" tIns="0" rIns="0" bIns="0" rtlCol="0" anchor="ctr"/>
          <a:lstStyle/>
          <a:p>
            <a:pPr indent="0" marL="0">
              <a:buNone/>
            </a:pPr>
            <a:r>
              <a:rPr lang="en-US" sz="1050" b="1" dirty="0">
                <a:solidFill>
                  <a:srgbClr val="222222"/>
                </a:solidFill>
                <a:latin typeface="Noto Sans JP" pitchFamily="34" charset="0"/>
                <a:ea typeface="Noto Sans JP" pitchFamily="34" charset="-122"/>
                <a:cs typeface="Noto Sans JP" pitchFamily="34" charset="-120"/>
              </a:rPr>
              <a:t>木材WS</a:t>
            </a:r>
            <a:endParaRPr lang="en-US" sz="1050" dirty="0"/>
          </a:p>
        </p:txBody>
      </p:sp>
      <p:pic>
        <p:nvPicPr>
          <p:cNvPr id="32" name="Image 7" descr="preencoded.png">    </p:cNvPr>
          <p:cNvPicPr>
            <a:picLocks noChangeAspect="1"/>
          </p:cNvPicPr>
          <p:nvPr/>
        </p:nvPicPr>
        <p:blipFill>
          <a:blip r:embed="rId8"/>
          <a:stretch>
            <a:fillRect/>
          </a:stretch>
        </p:blipFill>
        <p:spPr>
          <a:xfrm>
            <a:off x="4406900" y="3822700"/>
            <a:ext cx="177800" cy="177800"/>
          </a:xfrm>
          <a:prstGeom prst="rect">
            <a:avLst/>
          </a:prstGeom>
        </p:spPr>
      </p:pic>
      <p:sp>
        <p:nvSpPr>
          <p:cNvPr id="33" name="Shape 23"/>
          <p:cNvSpPr/>
          <p:nvPr/>
        </p:nvSpPr>
        <p:spPr>
          <a:xfrm>
            <a:off x="4673600" y="3657600"/>
            <a:ext cx="1778000" cy="508000"/>
          </a:xfrm>
          <a:prstGeom prst="roundRect">
            <a:avLst>
              <a:gd name="adj" fmla="val 18000"/>
            </a:avLst>
          </a:prstGeom>
          <a:solidFill>
            <a:srgbClr val="E8F5EF"/>
          </a:solidFill>
          <a:ln/>
        </p:spPr>
      </p:sp>
      <p:pic>
        <p:nvPicPr>
          <p:cNvPr id="34" name="Image 8" descr="preencoded.png">    </p:cNvPr>
          <p:cNvPicPr>
            <a:picLocks noChangeAspect="1"/>
          </p:cNvPicPr>
          <p:nvPr/>
        </p:nvPicPr>
        <p:blipFill>
          <a:blip r:embed="rId9"/>
          <a:stretch>
            <a:fillRect/>
          </a:stretch>
        </p:blipFill>
        <p:spPr>
          <a:xfrm>
            <a:off x="4826000" y="3797300"/>
            <a:ext cx="228600" cy="228600"/>
          </a:xfrm>
          <a:prstGeom prst="rect">
            <a:avLst/>
          </a:prstGeom>
        </p:spPr>
      </p:pic>
      <p:sp>
        <p:nvSpPr>
          <p:cNvPr id="35" name="Text 24"/>
          <p:cNvSpPr txBox="1"/>
          <p:nvPr/>
        </p:nvSpPr>
        <p:spPr>
          <a:xfrm>
            <a:off x="5130800" y="3657600"/>
            <a:ext cx="1270000" cy="508000"/>
          </a:xfrm>
          <a:prstGeom prst="rect">
            <a:avLst/>
          </a:prstGeom>
          <a:noFill/>
          <a:ln/>
        </p:spPr>
        <p:txBody>
          <a:bodyPr wrap="square" lIns="0" tIns="0" rIns="0" bIns="0" rtlCol="0" anchor="ctr"/>
          <a:lstStyle/>
          <a:p>
            <a:pPr indent="0" marL="0">
              <a:buNone/>
            </a:pPr>
            <a:r>
              <a:rPr lang="en-US" sz="1050" b="1" dirty="0">
                <a:solidFill>
                  <a:srgbClr val="222222"/>
                </a:solidFill>
                <a:latin typeface="Noto Sans JP" pitchFamily="34" charset="0"/>
                <a:ea typeface="Noto Sans JP" pitchFamily="34" charset="-122"/>
                <a:cs typeface="Noto Sans JP" pitchFamily="34" charset="-120"/>
              </a:rPr>
              <a:t>施設で木材利用</a:t>
            </a:r>
            <a:endParaRPr lang="en-US" sz="1050" dirty="0"/>
          </a:p>
        </p:txBody>
      </p:sp>
      <p:pic>
        <p:nvPicPr>
          <p:cNvPr id="36" name="Image 9" descr="preencoded.png">    </p:cNvPr>
          <p:cNvPicPr>
            <a:picLocks noChangeAspect="1"/>
          </p:cNvPicPr>
          <p:nvPr/>
        </p:nvPicPr>
        <p:blipFill>
          <a:blip r:embed="rId10"/>
          <a:stretch>
            <a:fillRect/>
          </a:stretch>
        </p:blipFill>
        <p:spPr>
          <a:xfrm>
            <a:off x="6515100" y="3822700"/>
            <a:ext cx="177800" cy="177800"/>
          </a:xfrm>
          <a:prstGeom prst="rect">
            <a:avLst/>
          </a:prstGeom>
        </p:spPr>
      </p:pic>
      <p:sp>
        <p:nvSpPr>
          <p:cNvPr id="37" name="Shape 25"/>
          <p:cNvSpPr/>
          <p:nvPr/>
        </p:nvSpPr>
        <p:spPr>
          <a:xfrm>
            <a:off x="6781800" y="3657600"/>
            <a:ext cx="1778000" cy="508000"/>
          </a:xfrm>
          <a:prstGeom prst="roundRect">
            <a:avLst>
              <a:gd name="adj" fmla="val 18000"/>
            </a:avLst>
          </a:prstGeom>
          <a:solidFill>
            <a:srgbClr val="E8F5EF"/>
          </a:solidFill>
          <a:ln/>
        </p:spPr>
      </p:sp>
      <p:pic>
        <p:nvPicPr>
          <p:cNvPr id="38" name="Image 10" descr="preencoded.png">    </p:cNvPr>
          <p:cNvPicPr>
            <a:picLocks noChangeAspect="1"/>
          </p:cNvPicPr>
          <p:nvPr/>
        </p:nvPicPr>
        <p:blipFill>
          <a:blip r:embed="rId11"/>
          <a:stretch>
            <a:fillRect/>
          </a:stretch>
        </p:blipFill>
        <p:spPr>
          <a:xfrm>
            <a:off x="6934200" y="3797300"/>
            <a:ext cx="228600" cy="228600"/>
          </a:xfrm>
          <a:prstGeom prst="rect">
            <a:avLst/>
          </a:prstGeom>
        </p:spPr>
      </p:pic>
      <p:sp>
        <p:nvSpPr>
          <p:cNvPr id="39" name="Text 26"/>
          <p:cNvSpPr txBox="1"/>
          <p:nvPr/>
        </p:nvSpPr>
        <p:spPr>
          <a:xfrm>
            <a:off x="7239000" y="3657600"/>
            <a:ext cx="1270000" cy="508000"/>
          </a:xfrm>
          <a:prstGeom prst="rect">
            <a:avLst/>
          </a:prstGeom>
          <a:noFill/>
          <a:ln/>
        </p:spPr>
        <p:txBody>
          <a:bodyPr wrap="square" lIns="0" tIns="0" rIns="0" bIns="0" rtlCol="0" anchor="ctr"/>
          <a:lstStyle/>
          <a:p>
            <a:pPr indent="0" marL="0">
              <a:buNone/>
            </a:pPr>
            <a:r>
              <a:rPr lang="en-US" sz="1050" b="1" dirty="0">
                <a:solidFill>
                  <a:srgbClr val="222222"/>
                </a:solidFill>
                <a:latin typeface="Noto Sans JP" pitchFamily="34" charset="0"/>
                <a:ea typeface="Noto Sans JP" pitchFamily="34" charset="-122"/>
                <a:cs typeface="Noto Sans JP" pitchFamily="34" charset="-120"/>
              </a:rPr>
              <a:t>森への関心・来訪</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F9970"/>
        </a:solidFill>
      </p:bgPr>
    </p:bg>
    <p:spTree>
      <p:nvGrpSpPr>
        <p:cNvPr id="1" name=""/>
        <p:cNvGrpSpPr/>
        <p:nvPr/>
      </p:nvGrpSpPr>
      <p:grpSpPr>
        <a:xfrm>
          <a:off x="0" y="0"/>
          <a:ext cx="0" cy="0"/>
          <a:chOff x="0" y="0"/>
          <a:chExt cx="0" cy="0"/>
        </a:xfrm>
      </p:grpSpPr>
      <p:sp>
        <p:nvSpPr>
          <p:cNvPr id="2" name="Shape 0"/>
          <p:cNvSpPr/>
          <p:nvPr/>
        </p:nvSpPr>
        <p:spPr>
          <a:xfrm>
            <a:off x="342900" y="342900"/>
            <a:ext cx="8458200" cy="4457700"/>
          </a:xfrm>
          <a:prstGeom prst="rect">
            <a:avLst/>
          </a:prstGeom>
          <a:ln w="12700">
            <a:solidFill>
              <a:srgbClr val="FFFFFF"/>
            </a:solidFill>
            <a:prstDash val="solid"/>
          </a:ln>
        </p:spPr>
      </p:sp>
      <p:sp>
        <p:nvSpPr>
          <p:cNvPr id="3" name="Text 1"/>
          <p:cNvSpPr txBox="1"/>
          <p:nvPr/>
        </p:nvSpPr>
        <p:spPr>
          <a:xfrm>
            <a:off x="762000" y="1778000"/>
            <a:ext cx="7620000" cy="1524000"/>
          </a:xfrm>
          <a:prstGeom prst="rect">
            <a:avLst/>
          </a:prstGeom>
          <a:noFill/>
          <a:ln/>
        </p:spPr>
        <p:txBody>
          <a:bodyPr wrap="square" lIns="0" tIns="0" rIns="0" bIns="0" rtlCol="0" anchor="ctr"/>
          <a:lstStyle/>
          <a:p>
            <a:pPr algn="ctr" indent="0" marL="0">
              <a:buNone/>
            </a:pPr>
            <a:r>
              <a:rPr lang="en-US" sz="2600" b="1" dirty="0">
                <a:solidFill>
                  <a:srgbClr val="FFFFFF"/>
                </a:solidFill>
                <a:latin typeface="Noto Sans JP" pitchFamily="34" charset="0"/>
                <a:ea typeface="Noto Sans JP" pitchFamily="34" charset="-122"/>
                <a:cs typeface="Noto Sans JP" pitchFamily="34" charset="-120"/>
              </a:rPr>
              <a:t>本提案による波及効果</a:t>
            </a:r>
            <a:endParaRPr lang="en-US" sz="2600" dirty="0"/>
          </a:p>
        </p:txBody>
      </p:sp>
      <p:sp>
        <p:nvSpPr>
          <p:cNvPr id="4" name="Shape 2"/>
          <p:cNvSpPr/>
          <p:nvPr/>
        </p:nvSpPr>
        <p:spPr>
          <a:xfrm>
            <a:off x="88900" y="4876800"/>
            <a:ext cx="723900" cy="165100"/>
          </a:xfrm>
          <a:prstGeom prst="rect">
            <a:avLst/>
          </a:prstGeom>
          <a:solidFill>
            <a:srgbClr val="FFFFFF"/>
          </a:solidFill>
          <a:ln w="6350">
            <a:solidFill>
              <a:srgbClr val="B2B2B2"/>
            </a:solidFill>
            <a:prstDash val="solid"/>
          </a:ln>
        </p:spPr>
      </p:sp>
      <p:sp>
        <p:nvSpPr>
          <p:cNvPr id="5" name="Text 3"/>
          <p:cNvSpPr txBox="1"/>
          <p:nvPr/>
        </p:nvSpPr>
        <p:spPr>
          <a:xfrm>
            <a:off x="88900" y="4876800"/>
            <a:ext cx="723900" cy="165100"/>
          </a:xfrm>
          <a:prstGeom prst="rect">
            <a:avLst/>
          </a:prstGeom>
          <a:noFill/>
          <a:ln/>
        </p:spPr>
        <p:txBody>
          <a:bodyPr wrap="square" lIns="0" tIns="0" rIns="0" bIns="0" rtlCol="0" anchor="ctr"/>
          <a:lstStyle/>
          <a:p>
            <a:pPr algn="ctr" indent="0" marL="0">
              <a:buNone/>
            </a:pPr>
            <a:r>
              <a:rPr lang="en-US" sz="700" dirty="0">
                <a:solidFill>
                  <a:srgbClr val="757575"/>
                </a:solidFill>
                <a:latin typeface="Arial" pitchFamily="34" charset="0"/>
                <a:ea typeface="Arial" pitchFamily="34" charset="-122"/>
                <a:cs typeface="Arial" pitchFamily="34" charset="-120"/>
              </a:rPr>
              <a:t>confidential</a:t>
            </a:r>
            <a:endParaRPr lang="en-US" sz="7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pic>
        <p:nvPicPr>
          <p:cNvPr id="2" name="Image 0" descr="/tmp/claude-0/-home-user--/135b95b8-9a7c-5e2e-abb3-3369b8f4d943/scratchpad/assets/logo_dark.png">    </p:cNvPr>
          <p:cNvPicPr>
            <a:picLocks noChangeAspect="1"/>
          </p:cNvPicPr>
          <p:nvPr/>
        </p:nvPicPr>
        <p:blipFill>
          <a:blip r:embed="rId1"/>
          <a:stretch>
            <a:fillRect/>
          </a:stretch>
        </p:blipFill>
        <p:spPr>
          <a:xfrm>
            <a:off x="355600" y="160020"/>
            <a:ext cx="558800" cy="254000"/>
          </a:xfrm>
          <a:prstGeom prst="rect">
            <a:avLst/>
          </a:prstGeom>
        </p:spPr>
      </p:pic>
      <p:sp>
        <p:nvSpPr>
          <p:cNvPr id="3" name="Text 0"/>
          <p:cNvSpPr txBox="1"/>
          <p:nvPr/>
        </p:nvSpPr>
        <p:spPr>
          <a:xfrm>
            <a:off x="1397000" y="127000"/>
            <a:ext cx="6350000" cy="304800"/>
          </a:xfrm>
          <a:prstGeom prst="rect">
            <a:avLst/>
          </a:prstGeom>
          <a:noFill/>
          <a:ln/>
        </p:spPr>
        <p:txBody>
          <a:bodyPr wrap="square" lIns="0" tIns="0" rIns="0" bIns="0" rtlCol="0" anchor="ctr"/>
          <a:lstStyle/>
          <a:p>
            <a:pPr algn="ctr" indent="0" marL="0">
              <a:buNone/>
            </a:pPr>
            <a:r>
              <a:rPr lang="en-US" sz="1500" b="1" dirty="0">
                <a:solidFill>
                  <a:srgbClr val="222222"/>
                </a:solidFill>
                <a:latin typeface="Noto Sans JP" pitchFamily="34" charset="0"/>
                <a:ea typeface="Noto Sans JP" pitchFamily="34" charset="-122"/>
                <a:cs typeface="Noto Sans JP" pitchFamily="34" charset="-120"/>
              </a:rPr>
              <a:t>本提案による波及効果</a:t>
            </a:r>
            <a:endParaRPr lang="en-US" sz="1500" dirty="0"/>
          </a:p>
        </p:txBody>
      </p:sp>
      <p:sp>
        <p:nvSpPr>
          <p:cNvPr id="4" name="Shape 1"/>
          <p:cNvSpPr/>
          <p:nvPr/>
        </p:nvSpPr>
        <p:spPr>
          <a:xfrm>
            <a:off x="0" y="539750"/>
            <a:ext cx="9144000" cy="0"/>
          </a:xfrm>
          <a:prstGeom prst="line">
            <a:avLst/>
          </a:prstGeom>
          <a:noFill/>
          <a:ln w="9525">
            <a:solidFill>
              <a:srgbClr val="999999"/>
            </a:solidFill>
            <a:prstDash val="solid"/>
          </a:ln>
        </p:spPr>
      </p:sp>
      <p:sp>
        <p:nvSpPr>
          <p:cNvPr id="5" name="Shape 2"/>
          <p:cNvSpPr/>
          <p:nvPr/>
        </p:nvSpPr>
        <p:spPr>
          <a:xfrm>
            <a:off x="88900" y="4876800"/>
            <a:ext cx="723900" cy="165100"/>
          </a:xfrm>
          <a:prstGeom prst="rect">
            <a:avLst/>
          </a:prstGeom>
          <a:solidFill>
            <a:srgbClr val="FFFFFF"/>
          </a:solidFill>
          <a:ln w="6350">
            <a:solidFill>
              <a:srgbClr val="B2B2B2"/>
            </a:solidFill>
            <a:prstDash val="solid"/>
          </a:ln>
        </p:spPr>
      </p:sp>
      <p:sp>
        <p:nvSpPr>
          <p:cNvPr id="6" name="Text 3"/>
          <p:cNvSpPr txBox="1"/>
          <p:nvPr/>
        </p:nvSpPr>
        <p:spPr>
          <a:xfrm>
            <a:off x="88900" y="4876800"/>
            <a:ext cx="723900" cy="165100"/>
          </a:xfrm>
          <a:prstGeom prst="rect">
            <a:avLst/>
          </a:prstGeom>
          <a:noFill/>
          <a:ln/>
        </p:spPr>
        <p:txBody>
          <a:bodyPr wrap="square" lIns="0" tIns="0" rIns="0" bIns="0" rtlCol="0" anchor="ctr"/>
          <a:lstStyle/>
          <a:p>
            <a:pPr algn="ctr" indent="0" marL="0">
              <a:buNone/>
            </a:pPr>
            <a:r>
              <a:rPr lang="en-US" sz="700" dirty="0">
                <a:solidFill>
                  <a:srgbClr val="757575"/>
                </a:solidFill>
                <a:latin typeface="Arial" pitchFamily="34" charset="0"/>
                <a:ea typeface="Arial" pitchFamily="34" charset="-122"/>
                <a:cs typeface="Arial" pitchFamily="34" charset="-120"/>
              </a:rPr>
              <a:t>confidential</a:t>
            </a:r>
            <a:endParaRPr lang="en-US" sz="700" dirty="0"/>
          </a:p>
        </p:txBody>
      </p:sp>
      <p:sp>
        <p:nvSpPr>
          <p:cNvPr id="7" name="Text 4"/>
          <p:cNvSpPr txBox="1"/>
          <p:nvPr/>
        </p:nvSpPr>
        <p:spPr>
          <a:xfrm>
            <a:off x="8509000" y="4826000"/>
            <a:ext cx="533400" cy="203200"/>
          </a:xfrm>
          <a:prstGeom prst="rect">
            <a:avLst/>
          </a:prstGeom>
          <a:noFill/>
          <a:ln/>
        </p:spPr>
        <p:txBody>
          <a:bodyPr wrap="square" lIns="0" tIns="0" rIns="0" bIns="0" rtlCol="0" anchor="t"/>
          <a:lstStyle/>
          <a:p>
            <a:pPr algn="r" indent="0" marL="0">
              <a:buNone/>
            </a:pPr>
            <a:r>
              <a:rPr lang="en-US" sz="1100" dirty="0">
                <a:solidFill>
                  <a:srgbClr val="757575"/>
                </a:solidFill>
                <a:latin typeface="Noto Sans JP" pitchFamily="34" charset="0"/>
                <a:ea typeface="Noto Sans JP" pitchFamily="34" charset="-122"/>
                <a:cs typeface="Noto Sans JP" pitchFamily="34" charset="-120"/>
              </a:rPr>
              <a:t>26</a:t>
            </a:r>
            <a:endParaRPr lang="en-US" sz="1100" dirty="0"/>
          </a:p>
        </p:txBody>
      </p:sp>
      <p:sp>
        <p:nvSpPr>
          <p:cNvPr id="8" name="Shape 5"/>
          <p:cNvSpPr/>
          <p:nvPr/>
        </p:nvSpPr>
        <p:spPr>
          <a:xfrm>
            <a:off x="457200" y="736600"/>
            <a:ext cx="1955800" cy="812800"/>
          </a:xfrm>
          <a:prstGeom prst="rect">
            <a:avLst/>
          </a:prstGeom>
          <a:solidFill>
            <a:srgbClr val="1F9970"/>
          </a:solidFill>
          <a:ln/>
        </p:spPr>
      </p:sp>
      <p:pic>
        <p:nvPicPr>
          <p:cNvPr id="9" name="Image 1" descr="preencoded.png">    </p:cNvPr>
          <p:cNvPicPr>
            <a:picLocks noChangeAspect="1"/>
          </p:cNvPicPr>
          <p:nvPr/>
        </p:nvPicPr>
        <p:blipFill>
          <a:blip r:embed="rId2"/>
          <a:stretch>
            <a:fillRect/>
          </a:stretch>
        </p:blipFill>
        <p:spPr>
          <a:xfrm>
            <a:off x="609600" y="990600"/>
            <a:ext cx="304800" cy="304800"/>
          </a:xfrm>
          <a:prstGeom prst="rect">
            <a:avLst/>
          </a:prstGeom>
        </p:spPr>
      </p:pic>
      <p:sp>
        <p:nvSpPr>
          <p:cNvPr id="10" name="Text 6"/>
          <p:cNvSpPr txBox="1"/>
          <p:nvPr/>
        </p:nvSpPr>
        <p:spPr>
          <a:xfrm>
            <a:off x="990600" y="736600"/>
            <a:ext cx="1346200" cy="812800"/>
          </a:xfrm>
          <a:prstGeom prst="rect">
            <a:avLst/>
          </a:prstGeom>
          <a:noFill/>
          <a:ln/>
        </p:spPr>
        <p:txBody>
          <a:bodyPr wrap="square" lIns="0" tIns="0" rIns="0" bIns="0" rtlCol="0" anchor="ctr"/>
          <a:lstStyle/>
          <a:p>
            <a:pPr indent="0" marL="0">
              <a:buNone/>
            </a:pPr>
            <a:r>
              <a:rPr lang="en-US" sz="1200" b="1" dirty="0">
                <a:solidFill>
                  <a:srgbClr val="FFFFFF"/>
                </a:solidFill>
                <a:latin typeface="Noto Sans JP" pitchFamily="34" charset="0"/>
                <a:ea typeface="Noto Sans JP" pitchFamily="34" charset="-122"/>
                <a:cs typeface="Noto Sans JP" pitchFamily="34" charset="-120"/>
              </a:rPr>
              <a:t>森林整備</a:t>
            </a:r>
            <a:endParaRPr lang="en-US" sz="1200" dirty="0"/>
          </a:p>
        </p:txBody>
      </p:sp>
      <p:sp>
        <p:nvSpPr>
          <p:cNvPr id="11" name="Shape 7"/>
          <p:cNvSpPr/>
          <p:nvPr/>
        </p:nvSpPr>
        <p:spPr>
          <a:xfrm>
            <a:off x="457200" y="1549400"/>
            <a:ext cx="1955800" cy="2286000"/>
          </a:xfrm>
          <a:prstGeom prst="rect">
            <a:avLst/>
          </a:prstGeom>
          <a:solidFill>
            <a:srgbClr val="E8F5EF"/>
          </a:solidFill>
          <a:ln/>
        </p:spPr>
      </p:sp>
      <p:sp>
        <p:nvSpPr>
          <p:cNvPr id="12" name="Text 8"/>
          <p:cNvSpPr txBox="1"/>
          <p:nvPr/>
        </p:nvSpPr>
        <p:spPr>
          <a:xfrm>
            <a:off x="558800" y="1701800"/>
            <a:ext cx="1752600" cy="2413000"/>
          </a:xfrm>
          <a:prstGeom prst="rect">
            <a:avLst/>
          </a:prstGeom>
          <a:noFill/>
          <a:ln/>
        </p:spPr>
        <p:txBody>
          <a:bodyPr wrap="square" lIns="0" tIns="0" rIns="0" bIns="0" rtlCol="0" anchor="t"/>
          <a:lstStyle/>
          <a:p>
            <a:pPr marL="139700" indent="-139700">
              <a:lnSpc>
                <a:spcPct val="120000"/>
              </a:lnSpc>
              <a:spcAft>
                <a:spcPts val="800"/>
              </a:spcAft>
              <a:buSzPct val="100000"/>
              <a:buChar char="•"/>
            </a:pPr>
            <a:r>
              <a:rPr lang="en-US" sz="950" dirty="0">
                <a:solidFill>
                  <a:srgbClr val="444444"/>
                </a:solidFill>
                <a:latin typeface="Noto Sans JP" pitchFamily="34" charset="0"/>
                <a:ea typeface="Noto Sans JP" pitchFamily="34" charset="-122"/>
                <a:cs typeface="Noto Sans JP" pitchFamily="34" charset="-120"/>
              </a:rPr>
              <a:t>集約化による面的な間伐で、荒廃森林を健全化</a:t>
            </a:r>
            <a:endParaRPr lang="en-US" sz="950" dirty="0"/>
          </a:p>
          <a:p>
            <a:pPr marL="139700" indent="-139700">
              <a:lnSpc>
                <a:spcPct val="120000"/>
              </a:lnSpc>
              <a:spcAft>
                <a:spcPts val="800"/>
              </a:spcAft>
              <a:buSzPct val="100000"/>
              <a:buChar char="•"/>
            </a:pPr>
            <a:r>
              <a:rPr lang="en-US" sz="950" dirty="0">
                <a:solidFill>
                  <a:srgbClr val="444444"/>
                </a:solidFill>
                <a:latin typeface="Noto Sans JP" pitchFamily="34" charset="0"/>
                <a:ea typeface="Noto Sans JP" pitchFamily="34" charset="-122"/>
                <a:cs typeface="Noto Sans JP" pitchFamily="34" charset="-120"/>
              </a:rPr>
              <a:t>水源涵養・土砂災害防止機能の向上</a:t>
            </a:r>
            <a:endParaRPr lang="en-US" sz="950" dirty="0"/>
          </a:p>
          <a:p>
            <a:pPr marL="139700" indent="-139700">
              <a:lnSpc>
                <a:spcPct val="120000"/>
              </a:lnSpc>
              <a:spcAft>
                <a:spcPts val="800"/>
              </a:spcAft>
              <a:buSzPct val="100000"/>
              <a:buChar char="•"/>
            </a:pPr>
            <a:r>
              <a:rPr lang="en-US" sz="950" dirty="0">
                <a:solidFill>
                  <a:srgbClr val="444444"/>
                </a:solidFill>
                <a:latin typeface="Noto Sans JP" pitchFamily="34" charset="0"/>
                <a:ea typeface="Noto Sans JP" pitchFamily="34" charset="-122"/>
                <a:cs typeface="Noto Sans JP" pitchFamily="34" charset="-120"/>
              </a:rPr>
              <a:t>間伐による生物多様性の回復</a:t>
            </a:r>
            <a:endParaRPr lang="en-US" sz="950" dirty="0"/>
          </a:p>
          <a:p>
            <a:pPr marL="139700" indent="-139700">
              <a:lnSpc>
                <a:spcPct val="120000"/>
              </a:lnSpc>
              <a:spcAft>
                <a:spcPts val="800"/>
              </a:spcAft>
              <a:buSzPct val="100000"/>
              <a:buChar char="•"/>
            </a:pPr>
            <a:r>
              <a:rPr lang="en-US" sz="950" dirty="0">
                <a:solidFill>
                  <a:srgbClr val="444444"/>
                </a:solidFill>
                <a:latin typeface="Noto Sans JP" pitchFamily="34" charset="0"/>
                <a:ea typeface="Noto Sans JP" pitchFamily="34" charset="-122"/>
                <a:cs typeface="Noto Sans JP" pitchFamily="34" charset="-120"/>
              </a:rPr>
              <a:t>CO₂吸収量の維持・向上</a:t>
            </a:r>
            <a:endParaRPr lang="en-US" sz="950" dirty="0"/>
          </a:p>
        </p:txBody>
      </p:sp>
      <p:sp>
        <p:nvSpPr>
          <p:cNvPr id="13" name="Shape 9"/>
          <p:cNvSpPr/>
          <p:nvPr/>
        </p:nvSpPr>
        <p:spPr>
          <a:xfrm>
            <a:off x="2540000" y="736600"/>
            <a:ext cx="1955800" cy="812800"/>
          </a:xfrm>
          <a:prstGeom prst="rect">
            <a:avLst/>
          </a:prstGeom>
          <a:solidFill>
            <a:srgbClr val="16816D"/>
          </a:solidFill>
          <a:ln/>
        </p:spPr>
      </p:sp>
      <p:pic>
        <p:nvPicPr>
          <p:cNvPr id="14" name="Image 2" descr="preencoded.png">    </p:cNvPr>
          <p:cNvPicPr>
            <a:picLocks noChangeAspect="1"/>
          </p:cNvPicPr>
          <p:nvPr/>
        </p:nvPicPr>
        <p:blipFill>
          <a:blip r:embed="rId3"/>
          <a:stretch>
            <a:fillRect/>
          </a:stretch>
        </p:blipFill>
        <p:spPr>
          <a:xfrm>
            <a:off x="2692400" y="990600"/>
            <a:ext cx="304800" cy="304800"/>
          </a:xfrm>
          <a:prstGeom prst="rect">
            <a:avLst/>
          </a:prstGeom>
        </p:spPr>
      </p:pic>
      <p:sp>
        <p:nvSpPr>
          <p:cNvPr id="15" name="Text 10"/>
          <p:cNvSpPr txBox="1"/>
          <p:nvPr/>
        </p:nvSpPr>
        <p:spPr>
          <a:xfrm>
            <a:off x="3073400" y="736600"/>
            <a:ext cx="1346200" cy="812800"/>
          </a:xfrm>
          <a:prstGeom prst="rect">
            <a:avLst/>
          </a:prstGeom>
          <a:noFill/>
          <a:ln/>
        </p:spPr>
        <p:txBody>
          <a:bodyPr wrap="square" lIns="0" tIns="0" rIns="0" bIns="0" rtlCol="0" anchor="ctr"/>
          <a:lstStyle/>
          <a:p>
            <a:pPr indent="0" marL="0">
              <a:buNone/>
            </a:pPr>
            <a:r>
              <a:rPr lang="en-US" sz="1200" b="1" dirty="0">
                <a:solidFill>
                  <a:srgbClr val="FFFFFF"/>
                </a:solidFill>
                <a:latin typeface="Noto Sans JP" pitchFamily="34" charset="0"/>
                <a:ea typeface="Noto Sans JP" pitchFamily="34" charset="-122"/>
                <a:cs typeface="Noto Sans JP" pitchFamily="34" charset="-120"/>
              </a:rPr>
              <a:t>地域事業者への事業機会</a:t>
            </a:r>
            <a:endParaRPr lang="en-US" sz="1200" dirty="0"/>
          </a:p>
        </p:txBody>
      </p:sp>
      <p:sp>
        <p:nvSpPr>
          <p:cNvPr id="16" name="Shape 11"/>
          <p:cNvSpPr/>
          <p:nvPr/>
        </p:nvSpPr>
        <p:spPr>
          <a:xfrm>
            <a:off x="2540000" y="1549400"/>
            <a:ext cx="1955800" cy="2286000"/>
          </a:xfrm>
          <a:prstGeom prst="rect">
            <a:avLst/>
          </a:prstGeom>
          <a:solidFill>
            <a:srgbClr val="E8F5EF"/>
          </a:solidFill>
          <a:ln/>
        </p:spPr>
      </p:sp>
      <p:sp>
        <p:nvSpPr>
          <p:cNvPr id="17" name="Text 12"/>
          <p:cNvSpPr txBox="1"/>
          <p:nvPr/>
        </p:nvSpPr>
        <p:spPr>
          <a:xfrm>
            <a:off x="2641600" y="1701800"/>
            <a:ext cx="1752600" cy="2413000"/>
          </a:xfrm>
          <a:prstGeom prst="rect">
            <a:avLst/>
          </a:prstGeom>
          <a:noFill/>
          <a:ln/>
        </p:spPr>
        <p:txBody>
          <a:bodyPr wrap="square" lIns="0" tIns="0" rIns="0" bIns="0" rtlCol="0" anchor="t"/>
          <a:lstStyle/>
          <a:p>
            <a:pPr marL="139700" indent="-139700">
              <a:lnSpc>
                <a:spcPct val="120000"/>
              </a:lnSpc>
              <a:spcAft>
                <a:spcPts val="800"/>
              </a:spcAft>
              <a:buSzPct val="100000"/>
              <a:buChar char="•"/>
            </a:pPr>
            <a:r>
              <a:rPr lang="en-US" sz="950" dirty="0">
                <a:solidFill>
                  <a:srgbClr val="444444"/>
                </a:solidFill>
                <a:latin typeface="Noto Sans JP" pitchFamily="34" charset="0"/>
                <a:ea typeface="Noto Sans JP" pitchFamily="34" charset="-122"/>
                <a:cs typeface="Noto Sans JP" pitchFamily="34" charset="-120"/>
              </a:rPr>
              <a:t>境界明確化・測量の業務</a:t>
            </a:r>
            <a:endParaRPr lang="en-US" sz="950" dirty="0"/>
          </a:p>
          <a:p>
            <a:pPr marL="139700" indent="-139700">
              <a:lnSpc>
                <a:spcPct val="120000"/>
              </a:lnSpc>
              <a:spcAft>
                <a:spcPts val="800"/>
              </a:spcAft>
              <a:buSzPct val="100000"/>
              <a:buChar char="•"/>
            </a:pPr>
            <a:r>
              <a:rPr lang="en-US" sz="950" dirty="0">
                <a:solidFill>
                  <a:srgbClr val="444444"/>
                </a:solidFill>
                <a:latin typeface="Noto Sans JP" pitchFamily="34" charset="0"/>
                <a:ea typeface="Noto Sans JP" pitchFamily="34" charset="-122"/>
                <a:cs typeface="Noto Sans JP" pitchFamily="34" charset="-120"/>
              </a:rPr>
              <a:t>施業・作業道開設の受注</a:t>
            </a:r>
            <a:endParaRPr lang="en-US" sz="950" dirty="0"/>
          </a:p>
          <a:p>
            <a:pPr marL="139700" indent="-139700">
              <a:lnSpc>
                <a:spcPct val="120000"/>
              </a:lnSpc>
              <a:spcAft>
                <a:spcPts val="800"/>
              </a:spcAft>
              <a:buSzPct val="100000"/>
              <a:buChar char="•"/>
            </a:pPr>
            <a:r>
              <a:rPr lang="en-US" sz="950" dirty="0">
                <a:solidFill>
                  <a:srgbClr val="444444"/>
                </a:solidFill>
                <a:latin typeface="Noto Sans JP" pitchFamily="34" charset="0"/>
                <a:ea typeface="Noto Sans JP" pitchFamily="34" charset="-122"/>
                <a:cs typeface="Noto Sans JP" pitchFamily="34" charset="-120"/>
              </a:rPr>
              <a:t>製材・加工・家具製作の需要</a:t>
            </a:r>
            <a:endParaRPr lang="en-US" sz="950" dirty="0"/>
          </a:p>
          <a:p>
            <a:pPr marL="139700" indent="-139700">
              <a:lnSpc>
                <a:spcPct val="120000"/>
              </a:lnSpc>
              <a:spcAft>
                <a:spcPts val="800"/>
              </a:spcAft>
              <a:buSzPct val="100000"/>
              <a:buChar char="•"/>
            </a:pPr>
            <a:r>
              <a:rPr lang="en-US" sz="950" dirty="0">
                <a:solidFill>
                  <a:srgbClr val="444444"/>
                </a:solidFill>
                <a:latin typeface="Noto Sans JP" pitchFamily="34" charset="0"/>
                <a:ea typeface="Noto Sans JP" pitchFamily="34" charset="-122"/>
                <a:cs typeface="Noto Sans JP" pitchFamily="34" charset="-120"/>
              </a:rPr>
              <a:t>体験プログラムの運営</a:t>
            </a:r>
            <a:endParaRPr lang="en-US" sz="950" dirty="0"/>
          </a:p>
        </p:txBody>
      </p:sp>
      <p:sp>
        <p:nvSpPr>
          <p:cNvPr id="18" name="Shape 13"/>
          <p:cNvSpPr/>
          <p:nvPr/>
        </p:nvSpPr>
        <p:spPr>
          <a:xfrm>
            <a:off x="4622800" y="736600"/>
            <a:ext cx="1955800" cy="812800"/>
          </a:xfrm>
          <a:prstGeom prst="rect">
            <a:avLst/>
          </a:prstGeom>
          <a:solidFill>
            <a:srgbClr val="4E8F7A"/>
          </a:solidFill>
          <a:ln/>
        </p:spPr>
      </p:sp>
      <p:pic>
        <p:nvPicPr>
          <p:cNvPr id="19" name="Image 3" descr="preencoded.png">    </p:cNvPr>
          <p:cNvPicPr>
            <a:picLocks noChangeAspect="1"/>
          </p:cNvPicPr>
          <p:nvPr/>
        </p:nvPicPr>
        <p:blipFill>
          <a:blip r:embed="rId4"/>
          <a:stretch>
            <a:fillRect/>
          </a:stretch>
        </p:blipFill>
        <p:spPr>
          <a:xfrm>
            <a:off x="4775200" y="990600"/>
            <a:ext cx="304800" cy="304800"/>
          </a:xfrm>
          <a:prstGeom prst="rect">
            <a:avLst/>
          </a:prstGeom>
        </p:spPr>
      </p:pic>
      <p:sp>
        <p:nvSpPr>
          <p:cNvPr id="20" name="Text 14"/>
          <p:cNvSpPr txBox="1"/>
          <p:nvPr/>
        </p:nvSpPr>
        <p:spPr>
          <a:xfrm>
            <a:off x="5156200" y="736600"/>
            <a:ext cx="1346200" cy="812800"/>
          </a:xfrm>
          <a:prstGeom prst="rect">
            <a:avLst/>
          </a:prstGeom>
          <a:noFill/>
          <a:ln/>
        </p:spPr>
        <p:txBody>
          <a:bodyPr wrap="square" lIns="0" tIns="0" rIns="0" bIns="0" rtlCol="0" anchor="ctr"/>
          <a:lstStyle/>
          <a:p>
            <a:pPr indent="0" marL="0">
              <a:buNone/>
            </a:pPr>
            <a:r>
              <a:rPr lang="en-US" sz="1200" b="1" dirty="0">
                <a:solidFill>
                  <a:srgbClr val="FFFFFF"/>
                </a:solidFill>
                <a:latin typeface="Noto Sans JP" pitchFamily="34" charset="0"/>
                <a:ea typeface="Noto Sans JP" pitchFamily="34" charset="-122"/>
                <a:cs typeface="Noto Sans JP" pitchFamily="34" charset="-120"/>
              </a:rPr>
              <a:t>八王子市様</a:t>
            </a:r>
            <a:endParaRPr lang="en-US" sz="1200" dirty="0"/>
          </a:p>
        </p:txBody>
      </p:sp>
      <p:sp>
        <p:nvSpPr>
          <p:cNvPr id="21" name="Shape 15"/>
          <p:cNvSpPr/>
          <p:nvPr/>
        </p:nvSpPr>
        <p:spPr>
          <a:xfrm>
            <a:off x="4622800" y="1549400"/>
            <a:ext cx="1955800" cy="2286000"/>
          </a:xfrm>
          <a:prstGeom prst="rect">
            <a:avLst/>
          </a:prstGeom>
          <a:solidFill>
            <a:srgbClr val="E8F5EF"/>
          </a:solidFill>
          <a:ln/>
        </p:spPr>
      </p:sp>
      <p:sp>
        <p:nvSpPr>
          <p:cNvPr id="22" name="Text 16"/>
          <p:cNvSpPr txBox="1"/>
          <p:nvPr/>
        </p:nvSpPr>
        <p:spPr>
          <a:xfrm>
            <a:off x="4724400" y="1701800"/>
            <a:ext cx="1752600" cy="2413000"/>
          </a:xfrm>
          <a:prstGeom prst="rect">
            <a:avLst/>
          </a:prstGeom>
          <a:noFill/>
          <a:ln/>
        </p:spPr>
        <p:txBody>
          <a:bodyPr wrap="square" lIns="0" tIns="0" rIns="0" bIns="0" rtlCol="0" anchor="t"/>
          <a:lstStyle/>
          <a:p>
            <a:pPr marL="139700" indent="-139700">
              <a:lnSpc>
                <a:spcPct val="120000"/>
              </a:lnSpc>
              <a:spcAft>
                <a:spcPts val="800"/>
              </a:spcAft>
              <a:buSzPct val="100000"/>
              <a:buChar char="•"/>
            </a:pPr>
            <a:r>
              <a:rPr lang="en-US" sz="950" dirty="0">
                <a:solidFill>
                  <a:srgbClr val="444444"/>
                </a:solidFill>
                <a:latin typeface="Noto Sans JP" pitchFamily="34" charset="0"/>
                <a:ea typeface="Noto Sans JP" pitchFamily="34" charset="-122"/>
                <a:cs typeface="Noto Sans JP" pitchFamily="34" charset="-120"/>
              </a:rPr>
              <a:t>森林経営管理制度が次の段階へ前進</a:t>
            </a:r>
            <a:endParaRPr lang="en-US" sz="950" dirty="0"/>
          </a:p>
          <a:p>
            <a:pPr marL="139700" indent="-139700">
              <a:lnSpc>
                <a:spcPct val="120000"/>
              </a:lnSpc>
              <a:spcAft>
                <a:spcPts val="800"/>
              </a:spcAft>
              <a:buSzPct val="100000"/>
              <a:buChar char="•"/>
            </a:pPr>
            <a:r>
              <a:rPr lang="en-US" sz="950" dirty="0">
                <a:solidFill>
                  <a:srgbClr val="444444"/>
                </a:solidFill>
                <a:latin typeface="Noto Sans JP" pitchFamily="34" charset="0"/>
                <a:ea typeface="Noto Sans JP" pitchFamily="34" charset="-122"/>
                <a:cs typeface="Noto Sans JP" pitchFamily="34" charset="-120"/>
              </a:rPr>
              <a:t>譲与税に加えた新たな整備財源</a:t>
            </a:r>
            <a:endParaRPr lang="en-US" sz="950" dirty="0"/>
          </a:p>
          <a:p>
            <a:pPr marL="139700" indent="-139700">
              <a:lnSpc>
                <a:spcPct val="120000"/>
              </a:lnSpc>
              <a:spcAft>
                <a:spcPts val="800"/>
              </a:spcAft>
              <a:buSzPct val="100000"/>
              <a:buChar char="•"/>
            </a:pPr>
            <a:r>
              <a:rPr lang="en-US" sz="950" dirty="0">
                <a:solidFill>
                  <a:srgbClr val="444444"/>
                </a:solidFill>
                <a:latin typeface="Noto Sans JP" pitchFamily="34" charset="0"/>
                <a:ea typeface="Noto Sans JP" pitchFamily="34" charset="-122"/>
                <a:cs typeface="Noto Sans JP" pitchFamily="34" charset="-120"/>
              </a:rPr>
              <a:t>地籍・境界情報の蓄積</a:t>
            </a:r>
            <a:endParaRPr lang="en-US" sz="950" dirty="0"/>
          </a:p>
          <a:p>
            <a:pPr marL="139700" indent="-139700">
              <a:lnSpc>
                <a:spcPct val="120000"/>
              </a:lnSpc>
              <a:spcAft>
                <a:spcPts val="800"/>
              </a:spcAft>
              <a:buSzPct val="100000"/>
              <a:buChar char="•"/>
            </a:pPr>
            <a:r>
              <a:rPr lang="en-US" sz="950" dirty="0">
                <a:solidFill>
                  <a:srgbClr val="444444"/>
                </a:solidFill>
                <a:latin typeface="Noto Sans JP" pitchFamily="34" charset="0"/>
                <a:ea typeface="Noto Sans JP" pitchFamily="34" charset="-122"/>
                <a:cs typeface="Noto Sans JP" pitchFamily="34" charset="-120"/>
              </a:rPr>
              <a:t>市民の森林への理解促進</a:t>
            </a:r>
            <a:endParaRPr lang="en-US" sz="950" dirty="0"/>
          </a:p>
        </p:txBody>
      </p:sp>
      <p:sp>
        <p:nvSpPr>
          <p:cNvPr id="23" name="Shape 17"/>
          <p:cNvSpPr/>
          <p:nvPr/>
        </p:nvSpPr>
        <p:spPr>
          <a:xfrm>
            <a:off x="6705600" y="736600"/>
            <a:ext cx="1955800" cy="812800"/>
          </a:xfrm>
          <a:prstGeom prst="rect">
            <a:avLst/>
          </a:prstGeom>
          <a:solidFill>
            <a:srgbClr val="3C6E5E"/>
          </a:solidFill>
          <a:ln/>
        </p:spPr>
      </p:sp>
      <p:pic>
        <p:nvPicPr>
          <p:cNvPr id="24" name="Image 4" descr="preencoded.png">    </p:cNvPr>
          <p:cNvPicPr>
            <a:picLocks noChangeAspect="1"/>
          </p:cNvPicPr>
          <p:nvPr/>
        </p:nvPicPr>
        <p:blipFill>
          <a:blip r:embed="rId5"/>
          <a:stretch>
            <a:fillRect/>
          </a:stretch>
        </p:blipFill>
        <p:spPr>
          <a:xfrm>
            <a:off x="6858000" y="990600"/>
            <a:ext cx="304800" cy="304800"/>
          </a:xfrm>
          <a:prstGeom prst="rect">
            <a:avLst/>
          </a:prstGeom>
        </p:spPr>
      </p:pic>
      <p:sp>
        <p:nvSpPr>
          <p:cNvPr id="25" name="Text 18"/>
          <p:cNvSpPr txBox="1"/>
          <p:nvPr/>
        </p:nvSpPr>
        <p:spPr>
          <a:xfrm>
            <a:off x="7239000" y="736600"/>
            <a:ext cx="1346200" cy="812800"/>
          </a:xfrm>
          <a:prstGeom prst="rect">
            <a:avLst/>
          </a:prstGeom>
          <a:noFill/>
          <a:ln/>
        </p:spPr>
        <p:txBody>
          <a:bodyPr wrap="square" lIns="0" tIns="0" rIns="0" bIns="0" rtlCol="0" anchor="ctr"/>
          <a:lstStyle/>
          <a:p>
            <a:pPr indent="0" marL="0">
              <a:buNone/>
            </a:pPr>
            <a:r>
              <a:rPr lang="en-US" sz="1200" b="1" dirty="0">
                <a:solidFill>
                  <a:srgbClr val="FFFFFF"/>
                </a:solidFill>
                <a:latin typeface="Noto Sans JP" pitchFamily="34" charset="0"/>
                <a:ea typeface="Noto Sans JP" pitchFamily="34" charset="-122"/>
                <a:cs typeface="Noto Sans JP" pitchFamily="34" charset="-120"/>
              </a:rPr>
              <a:t>貴社</a:t>
            </a:r>
            <a:endParaRPr lang="en-US" sz="1200" dirty="0"/>
          </a:p>
        </p:txBody>
      </p:sp>
      <p:sp>
        <p:nvSpPr>
          <p:cNvPr id="26" name="Shape 19"/>
          <p:cNvSpPr/>
          <p:nvPr/>
        </p:nvSpPr>
        <p:spPr>
          <a:xfrm>
            <a:off x="6705600" y="1549400"/>
            <a:ext cx="1955800" cy="2286000"/>
          </a:xfrm>
          <a:prstGeom prst="rect">
            <a:avLst/>
          </a:prstGeom>
          <a:solidFill>
            <a:srgbClr val="E8F5EF"/>
          </a:solidFill>
          <a:ln/>
        </p:spPr>
      </p:sp>
      <p:sp>
        <p:nvSpPr>
          <p:cNvPr id="27" name="Text 20"/>
          <p:cNvSpPr txBox="1"/>
          <p:nvPr/>
        </p:nvSpPr>
        <p:spPr>
          <a:xfrm>
            <a:off x="6807200" y="1701800"/>
            <a:ext cx="1752600" cy="2413000"/>
          </a:xfrm>
          <a:prstGeom prst="rect">
            <a:avLst/>
          </a:prstGeom>
          <a:noFill/>
          <a:ln/>
        </p:spPr>
        <p:txBody>
          <a:bodyPr wrap="square" lIns="0" tIns="0" rIns="0" bIns="0" rtlCol="0" anchor="t"/>
          <a:lstStyle/>
          <a:p>
            <a:pPr marL="139700" indent="-139700">
              <a:lnSpc>
                <a:spcPct val="120000"/>
              </a:lnSpc>
              <a:spcAft>
                <a:spcPts val="800"/>
              </a:spcAft>
              <a:buSzPct val="100000"/>
              <a:buChar char="•"/>
            </a:pPr>
            <a:r>
              <a:rPr lang="en-US" sz="950" dirty="0">
                <a:solidFill>
                  <a:srgbClr val="444444"/>
                </a:solidFill>
                <a:latin typeface="Noto Sans JP" pitchFamily="34" charset="0"/>
                <a:ea typeface="Noto Sans JP" pitchFamily="34" charset="-122"/>
                <a:cs typeface="Noto Sans JP" pitchFamily="34" charset="-120"/>
              </a:rPr>
              <a:t>同水系での水資源・生物多様性への貢献実績</a:t>
            </a:r>
            <a:endParaRPr lang="en-US" sz="950" dirty="0"/>
          </a:p>
          <a:p>
            <a:pPr marL="139700" indent="-139700">
              <a:lnSpc>
                <a:spcPct val="120000"/>
              </a:lnSpc>
              <a:spcAft>
                <a:spcPts val="800"/>
              </a:spcAft>
              <a:buSzPct val="100000"/>
              <a:buChar char="•"/>
            </a:pPr>
            <a:r>
              <a:rPr lang="en-US" sz="950" dirty="0">
                <a:solidFill>
                  <a:srgbClr val="444444"/>
                </a:solidFill>
                <a:latin typeface="Noto Sans JP" pitchFamily="34" charset="0"/>
                <a:ea typeface="Noto Sans JP" pitchFamily="34" charset="-122"/>
                <a:cs typeface="Noto Sans JP" pitchFamily="34" charset="-120"/>
              </a:rPr>
              <a:t>TNFD・脱炭素行動計画の開示材料</a:t>
            </a:r>
            <a:endParaRPr lang="en-US" sz="950" dirty="0"/>
          </a:p>
          <a:p>
            <a:pPr marL="139700" indent="-139700">
              <a:lnSpc>
                <a:spcPct val="120000"/>
              </a:lnSpc>
              <a:spcAft>
                <a:spcPts val="800"/>
              </a:spcAft>
              <a:buSzPct val="100000"/>
              <a:buChar char="•"/>
            </a:pPr>
            <a:r>
              <a:rPr lang="en-US" sz="950" dirty="0">
                <a:solidFill>
                  <a:srgbClr val="444444"/>
                </a:solidFill>
                <a:latin typeface="Noto Sans JP" pitchFamily="34" charset="0"/>
                <a:ea typeface="Noto Sans JP" pitchFamily="34" charset="-122"/>
                <a:cs typeface="Noto Sans JP" pitchFamily="34" charset="-120"/>
              </a:rPr>
              <a:t>施設での地域材活用によるブランド価値</a:t>
            </a:r>
            <a:endParaRPr lang="en-US" sz="950" dirty="0"/>
          </a:p>
          <a:p>
            <a:pPr marL="139700" indent="-139700">
              <a:lnSpc>
                <a:spcPct val="120000"/>
              </a:lnSpc>
              <a:spcAft>
                <a:spcPts val="800"/>
              </a:spcAft>
              <a:buSzPct val="100000"/>
              <a:buChar char="•"/>
            </a:pPr>
            <a:r>
              <a:rPr lang="en-US" sz="950" dirty="0">
                <a:solidFill>
                  <a:srgbClr val="444444"/>
                </a:solidFill>
                <a:latin typeface="Noto Sans JP" pitchFamily="34" charset="0"/>
                <a:ea typeface="Noto Sans JP" pitchFamily="34" charset="-122"/>
                <a:cs typeface="Noto Sans JP" pitchFamily="34" charset="-120"/>
              </a:rPr>
              <a:t>社員・来場者のエンゲージメント</a:t>
            </a:r>
            <a:endParaRPr lang="en-US" sz="9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pic>
        <p:nvPicPr>
          <p:cNvPr id="2" name="Image 0" descr="/tmp/claude-0/-home-user--/135b95b8-9a7c-5e2e-abb3-3369b8f4d943/scratchpad/assets/logo_dark.png">    </p:cNvPr>
          <p:cNvPicPr>
            <a:picLocks noChangeAspect="1"/>
          </p:cNvPicPr>
          <p:nvPr/>
        </p:nvPicPr>
        <p:blipFill>
          <a:blip r:embed="rId1"/>
          <a:stretch>
            <a:fillRect/>
          </a:stretch>
        </p:blipFill>
        <p:spPr>
          <a:xfrm>
            <a:off x="355600" y="160020"/>
            <a:ext cx="558800" cy="254000"/>
          </a:xfrm>
          <a:prstGeom prst="rect">
            <a:avLst/>
          </a:prstGeom>
        </p:spPr>
      </p:pic>
      <p:sp>
        <p:nvSpPr>
          <p:cNvPr id="3" name="Text 0"/>
          <p:cNvSpPr txBox="1"/>
          <p:nvPr/>
        </p:nvSpPr>
        <p:spPr>
          <a:xfrm>
            <a:off x="1397000" y="127000"/>
            <a:ext cx="6350000" cy="304800"/>
          </a:xfrm>
          <a:prstGeom prst="rect">
            <a:avLst/>
          </a:prstGeom>
          <a:noFill/>
          <a:ln/>
        </p:spPr>
        <p:txBody>
          <a:bodyPr wrap="square" lIns="0" tIns="0" rIns="0" bIns="0" rtlCol="0" anchor="ctr"/>
          <a:lstStyle/>
          <a:p>
            <a:pPr algn="ctr" indent="0" marL="0">
              <a:buNone/>
            </a:pPr>
            <a:r>
              <a:rPr lang="en-US" sz="1500" b="1" dirty="0">
                <a:solidFill>
                  <a:srgbClr val="222222"/>
                </a:solidFill>
                <a:latin typeface="Noto Sans JP" pitchFamily="34" charset="0"/>
                <a:ea typeface="Noto Sans JP" pitchFamily="34" charset="-122"/>
                <a:cs typeface="Noto Sans JP" pitchFamily="34" charset="-120"/>
              </a:rPr>
              <a:t>地域事業者への事業機会</a:t>
            </a:r>
            <a:endParaRPr lang="en-US" sz="1500" dirty="0"/>
          </a:p>
        </p:txBody>
      </p:sp>
      <p:sp>
        <p:nvSpPr>
          <p:cNvPr id="4" name="Shape 1"/>
          <p:cNvSpPr/>
          <p:nvPr/>
        </p:nvSpPr>
        <p:spPr>
          <a:xfrm>
            <a:off x="0" y="539750"/>
            <a:ext cx="9144000" cy="0"/>
          </a:xfrm>
          <a:prstGeom prst="line">
            <a:avLst/>
          </a:prstGeom>
          <a:noFill/>
          <a:ln w="9525">
            <a:solidFill>
              <a:srgbClr val="999999"/>
            </a:solidFill>
            <a:prstDash val="solid"/>
          </a:ln>
        </p:spPr>
      </p:sp>
      <p:sp>
        <p:nvSpPr>
          <p:cNvPr id="5" name="Shape 2"/>
          <p:cNvSpPr/>
          <p:nvPr/>
        </p:nvSpPr>
        <p:spPr>
          <a:xfrm>
            <a:off x="88900" y="4876800"/>
            <a:ext cx="723900" cy="165100"/>
          </a:xfrm>
          <a:prstGeom prst="rect">
            <a:avLst/>
          </a:prstGeom>
          <a:solidFill>
            <a:srgbClr val="FFFFFF"/>
          </a:solidFill>
          <a:ln w="6350">
            <a:solidFill>
              <a:srgbClr val="B2B2B2"/>
            </a:solidFill>
            <a:prstDash val="solid"/>
          </a:ln>
        </p:spPr>
      </p:sp>
      <p:sp>
        <p:nvSpPr>
          <p:cNvPr id="6" name="Text 3"/>
          <p:cNvSpPr txBox="1"/>
          <p:nvPr/>
        </p:nvSpPr>
        <p:spPr>
          <a:xfrm>
            <a:off x="88900" y="4876800"/>
            <a:ext cx="723900" cy="165100"/>
          </a:xfrm>
          <a:prstGeom prst="rect">
            <a:avLst/>
          </a:prstGeom>
          <a:noFill/>
          <a:ln/>
        </p:spPr>
        <p:txBody>
          <a:bodyPr wrap="square" lIns="0" tIns="0" rIns="0" bIns="0" rtlCol="0" anchor="ctr"/>
          <a:lstStyle/>
          <a:p>
            <a:pPr algn="ctr" indent="0" marL="0">
              <a:buNone/>
            </a:pPr>
            <a:r>
              <a:rPr lang="en-US" sz="700" dirty="0">
                <a:solidFill>
                  <a:srgbClr val="757575"/>
                </a:solidFill>
                <a:latin typeface="Arial" pitchFamily="34" charset="0"/>
                <a:ea typeface="Arial" pitchFamily="34" charset="-122"/>
                <a:cs typeface="Arial" pitchFamily="34" charset="-120"/>
              </a:rPr>
              <a:t>confidential</a:t>
            </a:r>
            <a:endParaRPr lang="en-US" sz="700" dirty="0"/>
          </a:p>
        </p:txBody>
      </p:sp>
      <p:sp>
        <p:nvSpPr>
          <p:cNvPr id="7" name="Text 4"/>
          <p:cNvSpPr txBox="1"/>
          <p:nvPr/>
        </p:nvSpPr>
        <p:spPr>
          <a:xfrm>
            <a:off x="8509000" y="4826000"/>
            <a:ext cx="533400" cy="203200"/>
          </a:xfrm>
          <a:prstGeom prst="rect">
            <a:avLst/>
          </a:prstGeom>
          <a:noFill/>
          <a:ln/>
        </p:spPr>
        <p:txBody>
          <a:bodyPr wrap="square" lIns="0" tIns="0" rIns="0" bIns="0" rtlCol="0" anchor="t"/>
          <a:lstStyle/>
          <a:p>
            <a:pPr algn="r" indent="0" marL="0">
              <a:buNone/>
            </a:pPr>
            <a:r>
              <a:rPr lang="en-US" sz="1100" dirty="0">
                <a:solidFill>
                  <a:srgbClr val="757575"/>
                </a:solidFill>
                <a:latin typeface="Noto Sans JP" pitchFamily="34" charset="0"/>
                <a:ea typeface="Noto Sans JP" pitchFamily="34" charset="-122"/>
                <a:cs typeface="Noto Sans JP" pitchFamily="34" charset="-120"/>
              </a:rPr>
              <a:t>27</a:t>
            </a:r>
            <a:endParaRPr lang="en-US" sz="1100" dirty="0"/>
          </a:p>
        </p:txBody>
      </p:sp>
      <p:sp>
        <p:nvSpPr>
          <p:cNvPr id="8" name="Text 5"/>
          <p:cNvSpPr txBox="1"/>
          <p:nvPr/>
        </p:nvSpPr>
        <p:spPr>
          <a:xfrm>
            <a:off x="457200" y="685800"/>
            <a:ext cx="8229600" cy="508000"/>
          </a:xfrm>
          <a:prstGeom prst="rect">
            <a:avLst/>
          </a:prstGeom>
          <a:noFill/>
          <a:ln/>
        </p:spPr>
        <p:txBody>
          <a:bodyPr wrap="square" lIns="0" tIns="0" rIns="0" bIns="0" rtlCol="0" anchor="ctr"/>
          <a:lstStyle/>
          <a:p>
            <a:pPr indent="0" marL="0">
              <a:buNone/>
            </a:pPr>
            <a:r>
              <a:rPr lang="en-US" sz="1300" b="1" dirty="0">
                <a:solidFill>
                  <a:srgbClr val="16816D"/>
                </a:solidFill>
                <a:latin typeface="Noto Sans JP" pitchFamily="34" charset="0"/>
                <a:ea typeface="Noto Sans JP" pitchFamily="34" charset="-122"/>
                <a:cs typeface="Noto Sans JP" pitchFamily="34" charset="-120"/>
              </a:rPr>
              <a:t>寄付金の大部分は、地域の事業者への発注として八王子・多摩地域の中で循環します。</a:t>
            </a:r>
            <a:endParaRPr lang="en-US" sz="1300" dirty="0"/>
          </a:p>
        </p:txBody>
      </p:sp>
      <p:sp>
        <p:nvSpPr>
          <p:cNvPr id="9" name="Shape 6"/>
          <p:cNvSpPr/>
          <p:nvPr/>
        </p:nvSpPr>
        <p:spPr>
          <a:xfrm>
            <a:off x="381000" y="1320800"/>
            <a:ext cx="1270000" cy="1905000"/>
          </a:xfrm>
          <a:prstGeom prst="rect">
            <a:avLst/>
          </a:prstGeom>
          <a:solidFill>
            <a:srgbClr val="E8F5EF"/>
          </a:solidFill>
          <a:ln/>
        </p:spPr>
      </p:sp>
      <p:sp>
        <p:nvSpPr>
          <p:cNvPr id="10" name="Shape 7"/>
          <p:cNvSpPr/>
          <p:nvPr/>
        </p:nvSpPr>
        <p:spPr>
          <a:xfrm>
            <a:off x="736600" y="1473200"/>
            <a:ext cx="558800" cy="558800"/>
          </a:xfrm>
          <a:prstGeom prst="ellipse">
            <a:avLst/>
          </a:prstGeom>
          <a:solidFill>
            <a:srgbClr val="1F9970"/>
          </a:solidFill>
          <a:ln/>
        </p:spPr>
      </p:sp>
      <p:pic>
        <p:nvPicPr>
          <p:cNvPr id="11" name="Image 1" descr="preencoded.png">    </p:cNvPr>
          <p:cNvPicPr>
            <a:picLocks noChangeAspect="1"/>
          </p:cNvPicPr>
          <p:nvPr/>
        </p:nvPicPr>
        <p:blipFill>
          <a:blip r:embed="rId2"/>
          <a:stretch>
            <a:fillRect/>
          </a:stretch>
        </p:blipFill>
        <p:spPr>
          <a:xfrm>
            <a:off x="876300" y="1612900"/>
            <a:ext cx="279400" cy="279400"/>
          </a:xfrm>
          <a:prstGeom prst="rect">
            <a:avLst/>
          </a:prstGeom>
        </p:spPr>
      </p:pic>
      <p:sp>
        <p:nvSpPr>
          <p:cNvPr id="12" name="Text 8"/>
          <p:cNvSpPr txBox="1"/>
          <p:nvPr/>
        </p:nvSpPr>
        <p:spPr>
          <a:xfrm>
            <a:off x="381000" y="2133600"/>
            <a:ext cx="1270000" cy="228600"/>
          </a:xfrm>
          <a:prstGeom prst="rect">
            <a:avLst/>
          </a:prstGeom>
          <a:noFill/>
          <a:ln/>
        </p:spPr>
        <p:txBody>
          <a:bodyPr wrap="square" lIns="0" tIns="0" rIns="0" bIns="0" rtlCol="0" anchor="t"/>
          <a:lstStyle/>
          <a:p>
            <a:pPr algn="ctr" indent="0" marL="0">
              <a:buNone/>
            </a:pPr>
            <a:r>
              <a:rPr lang="en-US" sz="1050" b="1" dirty="0">
                <a:solidFill>
                  <a:srgbClr val="222222"/>
                </a:solidFill>
                <a:latin typeface="Noto Sans JP" pitchFamily="34" charset="0"/>
                <a:ea typeface="Noto Sans JP" pitchFamily="34" charset="-122"/>
                <a:cs typeface="Noto Sans JP" pitchFamily="34" charset="-120"/>
              </a:rPr>
              <a:t>境界明確化</a:t>
            </a:r>
            <a:endParaRPr lang="en-US" sz="1050" dirty="0"/>
          </a:p>
        </p:txBody>
      </p:sp>
      <p:sp>
        <p:nvSpPr>
          <p:cNvPr id="13" name="Text 9"/>
          <p:cNvSpPr txBox="1"/>
          <p:nvPr/>
        </p:nvSpPr>
        <p:spPr>
          <a:xfrm>
            <a:off x="381000" y="2438400"/>
            <a:ext cx="1270000" cy="508000"/>
          </a:xfrm>
          <a:prstGeom prst="rect">
            <a:avLst/>
          </a:prstGeom>
          <a:noFill/>
          <a:ln/>
        </p:spPr>
        <p:txBody>
          <a:bodyPr wrap="square" lIns="0" tIns="0" rIns="0" bIns="0" rtlCol="0" anchor="t"/>
          <a:lstStyle/>
          <a:p>
            <a:pPr algn="ctr" indent="0" marL="0">
              <a:buNone/>
            </a:pPr>
            <a:r>
              <a:rPr lang="en-US" sz="900" dirty="0">
                <a:solidFill>
                  <a:srgbClr val="444444"/>
                </a:solidFill>
                <a:latin typeface="Noto Sans JP" pitchFamily="34" charset="0"/>
                <a:ea typeface="Noto Sans JP" pitchFamily="34" charset="-122"/>
                <a:cs typeface="Noto Sans JP" pitchFamily="34" charset="-120"/>
              </a:rPr>
              <a:t>測量事業者</a:t>
            </a:r>
            <a:endParaRPr lang="en-US" sz="900" dirty="0"/>
          </a:p>
          <a:p>
            <a:pPr algn="ctr" indent="0" marL="0">
              <a:buNone/>
            </a:pPr>
            <a:r>
              <a:rPr lang="en-US" sz="900" dirty="0">
                <a:solidFill>
                  <a:srgbClr val="444444"/>
                </a:solidFill>
                <a:latin typeface="Noto Sans JP" pitchFamily="34" charset="0"/>
                <a:ea typeface="Noto Sans JP" pitchFamily="34" charset="-122"/>
                <a:cs typeface="Noto Sans JP" pitchFamily="34" charset="-120"/>
              </a:rPr>
              <a:t>土地家屋調査士</a:t>
            </a:r>
            <a:endParaRPr lang="en-US" sz="900" dirty="0"/>
          </a:p>
        </p:txBody>
      </p:sp>
      <p:pic>
        <p:nvPicPr>
          <p:cNvPr id="14" name="Image 2" descr="preencoded.png">    </p:cNvPr>
          <p:cNvPicPr>
            <a:picLocks noChangeAspect="1"/>
          </p:cNvPicPr>
          <p:nvPr/>
        </p:nvPicPr>
        <p:blipFill>
          <a:blip r:embed="rId3"/>
          <a:stretch>
            <a:fillRect/>
          </a:stretch>
        </p:blipFill>
        <p:spPr>
          <a:xfrm>
            <a:off x="1663700" y="2184400"/>
            <a:ext cx="127000" cy="127000"/>
          </a:xfrm>
          <a:prstGeom prst="rect">
            <a:avLst/>
          </a:prstGeom>
        </p:spPr>
      </p:pic>
      <p:sp>
        <p:nvSpPr>
          <p:cNvPr id="15" name="Shape 10"/>
          <p:cNvSpPr/>
          <p:nvPr/>
        </p:nvSpPr>
        <p:spPr>
          <a:xfrm>
            <a:off x="1803400" y="1320800"/>
            <a:ext cx="1270000" cy="1905000"/>
          </a:xfrm>
          <a:prstGeom prst="rect">
            <a:avLst/>
          </a:prstGeom>
          <a:solidFill>
            <a:srgbClr val="E8F5EF"/>
          </a:solidFill>
          <a:ln/>
        </p:spPr>
      </p:sp>
      <p:sp>
        <p:nvSpPr>
          <p:cNvPr id="16" name="Shape 11"/>
          <p:cNvSpPr/>
          <p:nvPr/>
        </p:nvSpPr>
        <p:spPr>
          <a:xfrm>
            <a:off x="2159000" y="1473200"/>
            <a:ext cx="558800" cy="558800"/>
          </a:xfrm>
          <a:prstGeom prst="ellipse">
            <a:avLst/>
          </a:prstGeom>
          <a:solidFill>
            <a:srgbClr val="1F9970"/>
          </a:solidFill>
          <a:ln/>
        </p:spPr>
      </p:sp>
      <p:pic>
        <p:nvPicPr>
          <p:cNvPr id="17" name="Image 3" descr="preencoded.png">    </p:cNvPr>
          <p:cNvPicPr>
            <a:picLocks noChangeAspect="1"/>
          </p:cNvPicPr>
          <p:nvPr/>
        </p:nvPicPr>
        <p:blipFill>
          <a:blip r:embed="rId4"/>
          <a:stretch>
            <a:fillRect/>
          </a:stretch>
        </p:blipFill>
        <p:spPr>
          <a:xfrm>
            <a:off x="2298700" y="1612900"/>
            <a:ext cx="279400" cy="279400"/>
          </a:xfrm>
          <a:prstGeom prst="rect">
            <a:avLst/>
          </a:prstGeom>
        </p:spPr>
      </p:pic>
      <p:sp>
        <p:nvSpPr>
          <p:cNvPr id="18" name="Text 12"/>
          <p:cNvSpPr txBox="1"/>
          <p:nvPr/>
        </p:nvSpPr>
        <p:spPr>
          <a:xfrm>
            <a:off x="1803400" y="2133600"/>
            <a:ext cx="1270000" cy="228600"/>
          </a:xfrm>
          <a:prstGeom prst="rect">
            <a:avLst/>
          </a:prstGeom>
          <a:noFill/>
          <a:ln/>
        </p:spPr>
        <p:txBody>
          <a:bodyPr wrap="square" lIns="0" tIns="0" rIns="0" bIns="0" rtlCol="0" anchor="t"/>
          <a:lstStyle/>
          <a:p>
            <a:pPr algn="ctr" indent="0" marL="0">
              <a:buNone/>
            </a:pPr>
            <a:r>
              <a:rPr lang="en-US" sz="1050" b="1" dirty="0">
                <a:solidFill>
                  <a:srgbClr val="222222"/>
                </a:solidFill>
                <a:latin typeface="Noto Sans JP" pitchFamily="34" charset="0"/>
                <a:ea typeface="Noto Sans JP" pitchFamily="34" charset="-122"/>
                <a:cs typeface="Noto Sans JP" pitchFamily="34" charset="-120"/>
              </a:rPr>
              <a:t>施業・作業道</a:t>
            </a:r>
            <a:endParaRPr lang="en-US" sz="1050" dirty="0"/>
          </a:p>
        </p:txBody>
      </p:sp>
      <p:sp>
        <p:nvSpPr>
          <p:cNvPr id="19" name="Text 13"/>
          <p:cNvSpPr txBox="1"/>
          <p:nvPr/>
        </p:nvSpPr>
        <p:spPr>
          <a:xfrm>
            <a:off x="1803400" y="2438400"/>
            <a:ext cx="1270000" cy="508000"/>
          </a:xfrm>
          <a:prstGeom prst="rect">
            <a:avLst/>
          </a:prstGeom>
          <a:noFill/>
          <a:ln/>
        </p:spPr>
        <p:txBody>
          <a:bodyPr wrap="square" lIns="0" tIns="0" rIns="0" bIns="0" rtlCol="0" anchor="t"/>
          <a:lstStyle/>
          <a:p>
            <a:pPr algn="ctr" indent="0" marL="0">
              <a:buNone/>
            </a:pPr>
            <a:r>
              <a:rPr lang="en-US" sz="900" dirty="0">
                <a:solidFill>
                  <a:srgbClr val="444444"/>
                </a:solidFill>
                <a:latin typeface="Noto Sans JP" pitchFamily="34" charset="0"/>
                <a:ea typeface="Noto Sans JP" pitchFamily="34" charset="-122"/>
                <a:cs typeface="Noto Sans JP" pitchFamily="34" charset="-120"/>
              </a:rPr>
              <a:t>森林組合</a:t>
            </a:r>
            <a:endParaRPr lang="en-US" sz="900" dirty="0"/>
          </a:p>
          <a:p>
            <a:pPr algn="ctr" indent="0" marL="0">
              <a:buNone/>
            </a:pPr>
            <a:r>
              <a:rPr lang="en-US" sz="900" dirty="0">
                <a:solidFill>
                  <a:srgbClr val="444444"/>
                </a:solidFill>
                <a:latin typeface="Noto Sans JP" pitchFamily="34" charset="0"/>
                <a:ea typeface="Noto Sans JP" pitchFamily="34" charset="-122"/>
                <a:cs typeface="Noto Sans JP" pitchFamily="34" charset="-120"/>
              </a:rPr>
              <a:t>林業事業体</a:t>
            </a:r>
            <a:endParaRPr lang="en-US" sz="900" dirty="0"/>
          </a:p>
        </p:txBody>
      </p:sp>
      <p:pic>
        <p:nvPicPr>
          <p:cNvPr id="20" name="Image 4" descr="preencoded.png">    </p:cNvPr>
          <p:cNvPicPr>
            <a:picLocks noChangeAspect="1"/>
          </p:cNvPicPr>
          <p:nvPr/>
        </p:nvPicPr>
        <p:blipFill>
          <a:blip r:embed="rId5"/>
          <a:stretch>
            <a:fillRect/>
          </a:stretch>
        </p:blipFill>
        <p:spPr>
          <a:xfrm>
            <a:off x="3086100" y="2184400"/>
            <a:ext cx="127000" cy="127000"/>
          </a:xfrm>
          <a:prstGeom prst="rect">
            <a:avLst/>
          </a:prstGeom>
        </p:spPr>
      </p:pic>
      <p:sp>
        <p:nvSpPr>
          <p:cNvPr id="21" name="Shape 14"/>
          <p:cNvSpPr/>
          <p:nvPr/>
        </p:nvSpPr>
        <p:spPr>
          <a:xfrm>
            <a:off x="3225800" y="1320800"/>
            <a:ext cx="1270000" cy="1905000"/>
          </a:xfrm>
          <a:prstGeom prst="rect">
            <a:avLst/>
          </a:prstGeom>
          <a:solidFill>
            <a:srgbClr val="E8F5EF"/>
          </a:solidFill>
          <a:ln/>
        </p:spPr>
      </p:sp>
      <p:sp>
        <p:nvSpPr>
          <p:cNvPr id="22" name="Shape 15"/>
          <p:cNvSpPr/>
          <p:nvPr/>
        </p:nvSpPr>
        <p:spPr>
          <a:xfrm>
            <a:off x="3581400" y="1473200"/>
            <a:ext cx="558800" cy="558800"/>
          </a:xfrm>
          <a:prstGeom prst="ellipse">
            <a:avLst/>
          </a:prstGeom>
          <a:solidFill>
            <a:srgbClr val="1F9970"/>
          </a:solidFill>
          <a:ln/>
        </p:spPr>
      </p:sp>
      <p:pic>
        <p:nvPicPr>
          <p:cNvPr id="23" name="Image 5" descr="preencoded.png">    </p:cNvPr>
          <p:cNvPicPr>
            <a:picLocks noChangeAspect="1"/>
          </p:cNvPicPr>
          <p:nvPr/>
        </p:nvPicPr>
        <p:blipFill>
          <a:blip r:embed="rId6"/>
          <a:stretch>
            <a:fillRect/>
          </a:stretch>
        </p:blipFill>
        <p:spPr>
          <a:xfrm>
            <a:off x="3721100" y="1612900"/>
            <a:ext cx="279400" cy="279400"/>
          </a:xfrm>
          <a:prstGeom prst="rect">
            <a:avLst/>
          </a:prstGeom>
        </p:spPr>
      </p:pic>
      <p:sp>
        <p:nvSpPr>
          <p:cNvPr id="24" name="Text 16"/>
          <p:cNvSpPr txBox="1"/>
          <p:nvPr/>
        </p:nvSpPr>
        <p:spPr>
          <a:xfrm>
            <a:off x="3225800" y="2133600"/>
            <a:ext cx="1270000" cy="228600"/>
          </a:xfrm>
          <a:prstGeom prst="rect">
            <a:avLst/>
          </a:prstGeom>
          <a:noFill/>
          <a:ln/>
        </p:spPr>
        <p:txBody>
          <a:bodyPr wrap="square" lIns="0" tIns="0" rIns="0" bIns="0" rtlCol="0" anchor="t"/>
          <a:lstStyle/>
          <a:p>
            <a:pPr algn="ctr" indent="0" marL="0">
              <a:buNone/>
            </a:pPr>
            <a:r>
              <a:rPr lang="en-US" sz="1050" b="1" dirty="0">
                <a:solidFill>
                  <a:srgbClr val="222222"/>
                </a:solidFill>
                <a:latin typeface="Noto Sans JP" pitchFamily="34" charset="0"/>
                <a:ea typeface="Noto Sans JP" pitchFamily="34" charset="-122"/>
                <a:cs typeface="Noto Sans JP" pitchFamily="34" charset="-120"/>
              </a:rPr>
              <a:t>造林・保育</a:t>
            </a:r>
            <a:endParaRPr lang="en-US" sz="1050" dirty="0"/>
          </a:p>
        </p:txBody>
      </p:sp>
      <p:sp>
        <p:nvSpPr>
          <p:cNvPr id="25" name="Text 17"/>
          <p:cNvSpPr txBox="1"/>
          <p:nvPr/>
        </p:nvSpPr>
        <p:spPr>
          <a:xfrm>
            <a:off x="3225800" y="2438400"/>
            <a:ext cx="1270000" cy="508000"/>
          </a:xfrm>
          <a:prstGeom prst="rect">
            <a:avLst/>
          </a:prstGeom>
          <a:noFill/>
          <a:ln/>
        </p:spPr>
        <p:txBody>
          <a:bodyPr wrap="square" lIns="0" tIns="0" rIns="0" bIns="0" rtlCol="0" anchor="t"/>
          <a:lstStyle/>
          <a:p>
            <a:pPr algn="ctr" indent="0" marL="0">
              <a:buNone/>
            </a:pPr>
            <a:r>
              <a:rPr lang="en-US" sz="900" dirty="0">
                <a:solidFill>
                  <a:srgbClr val="444444"/>
                </a:solidFill>
                <a:latin typeface="Noto Sans JP" pitchFamily="34" charset="0"/>
                <a:ea typeface="Noto Sans JP" pitchFamily="34" charset="-122"/>
                <a:cs typeface="Noto Sans JP" pitchFamily="34" charset="-120"/>
              </a:rPr>
              <a:t>造林事業者</a:t>
            </a:r>
            <a:endParaRPr lang="en-US" sz="900" dirty="0"/>
          </a:p>
          <a:p>
            <a:pPr algn="ctr" indent="0" marL="0">
              <a:buNone/>
            </a:pPr>
            <a:r>
              <a:rPr lang="en-US" sz="900" dirty="0">
                <a:solidFill>
                  <a:srgbClr val="444444"/>
                </a:solidFill>
                <a:latin typeface="Noto Sans JP" pitchFamily="34" charset="0"/>
                <a:ea typeface="Noto Sans JP" pitchFamily="34" charset="-122"/>
                <a:cs typeface="Noto Sans JP" pitchFamily="34" charset="-120"/>
              </a:rPr>
              <a:t>森林組合</a:t>
            </a:r>
            <a:endParaRPr lang="en-US" sz="900" dirty="0"/>
          </a:p>
        </p:txBody>
      </p:sp>
      <p:pic>
        <p:nvPicPr>
          <p:cNvPr id="26" name="Image 6" descr="preencoded.png">    </p:cNvPr>
          <p:cNvPicPr>
            <a:picLocks noChangeAspect="1"/>
          </p:cNvPicPr>
          <p:nvPr/>
        </p:nvPicPr>
        <p:blipFill>
          <a:blip r:embed="rId7"/>
          <a:stretch>
            <a:fillRect/>
          </a:stretch>
        </p:blipFill>
        <p:spPr>
          <a:xfrm>
            <a:off x="4508500" y="2184400"/>
            <a:ext cx="127000" cy="127000"/>
          </a:xfrm>
          <a:prstGeom prst="rect">
            <a:avLst/>
          </a:prstGeom>
        </p:spPr>
      </p:pic>
      <p:sp>
        <p:nvSpPr>
          <p:cNvPr id="27" name="Shape 18"/>
          <p:cNvSpPr/>
          <p:nvPr/>
        </p:nvSpPr>
        <p:spPr>
          <a:xfrm>
            <a:off x="4648200" y="1320800"/>
            <a:ext cx="1270000" cy="1905000"/>
          </a:xfrm>
          <a:prstGeom prst="rect">
            <a:avLst/>
          </a:prstGeom>
          <a:solidFill>
            <a:srgbClr val="E8F5EF"/>
          </a:solidFill>
          <a:ln/>
        </p:spPr>
      </p:sp>
      <p:sp>
        <p:nvSpPr>
          <p:cNvPr id="28" name="Shape 19"/>
          <p:cNvSpPr/>
          <p:nvPr/>
        </p:nvSpPr>
        <p:spPr>
          <a:xfrm>
            <a:off x="5003800" y="1473200"/>
            <a:ext cx="558800" cy="558800"/>
          </a:xfrm>
          <a:prstGeom prst="ellipse">
            <a:avLst/>
          </a:prstGeom>
          <a:solidFill>
            <a:srgbClr val="1F9970"/>
          </a:solidFill>
          <a:ln/>
        </p:spPr>
      </p:sp>
      <p:pic>
        <p:nvPicPr>
          <p:cNvPr id="29" name="Image 7" descr="preencoded.png">    </p:cNvPr>
          <p:cNvPicPr>
            <a:picLocks noChangeAspect="1"/>
          </p:cNvPicPr>
          <p:nvPr/>
        </p:nvPicPr>
        <p:blipFill>
          <a:blip r:embed="rId8"/>
          <a:stretch>
            <a:fillRect/>
          </a:stretch>
        </p:blipFill>
        <p:spPr>
          <a:xfrm>
            <a:off x="5143500" y="1612900"/>
            <a:ext cx="279400" cy="279400"/>
          </a:xfrm>
          <a:prstGeom prst="rect">
            <a:avLst/>
          </a:prstGeom>
        </p:spPr>
      </p:pic>
      <p:sp>
        <p:nvSpPr>
          <p:cNvPr id="30" name="Text 20"/>
          <p:cNvSpPr txBox="1"/>
          <p:nvPr/>
        </p:nvSpPr>
        <p:spPr>
          <a:xfrm>
            <a:off x="4648200" y="2133600"/>
            <a:ext cx="1270000" cy="228600"/>
          </a:xfrm>
          <a:prstGeom prst="rect">
            <a:avLst/>
          </a:prstGeom>
          <a:noFill/>
          <a:ln/>
        </p:spPr>
        <p:txBody>
          <a:bodyPr wrap="square" lIns="0" tIns="0" rIns="0" bIns="0" rtlCol="0" anchor="t"/>
          <a:lstStyle/>
          <a:p>
            <a:pPr algn="ctr" indent="0" marL="0">
              <a:buNone/>
            </a:pPr>
            <a:r>
              <a:rPr lang="en-US" sz="1050" b="1" dirty="0">
                <a:solidFill>
                  <a:srgbClr val="222222"/>
                </a:solidFill>
                <a:latin typeface="Noto Sans JP" pitchFamily="34" charset="0"/>
                <a:ea typeface="Noto Sans JP" pitchFamily="34" charset="-122"/>
                <a:cs typeface="Noto Sans JP" pitchFamily="34" charset="-120"/>
              </a:rPr>
              <a:t>製材・加工</a:t>
            </a:r>
            <a:endParaRPr lang="en-US" sz="1050" dirty="0"/>
          </a:p>
        </p:txBody>
      </p:sp>
      <p:sp>
        <p:nvSpPr>
          <p:cNvPr id="31" name="Text 21"/>
          <p:cNvSpPr txBox="1"/>
          <p:nvPr/>
        </p:nvSpPr>
        <p:spPr>
          <a:xfrm>
            <a:off x="4648200" y="2438400"/>
            <a:ext cx="1270000" cy="508000"/>
          </a:xfrm>
          <a:prstGeom prst="rect">
            <a:avLst/>
          </a:prstGeom>
          <a:noFill/>
          <a:ln/>
        </p:spPr>
        <p:txBody>
          <a:bodyPr wrap="square" lIns="0" tIns="0" rIns="0" bIns="0" rtlCol="0" anchor="t"/>
          <a:lstStyle/>
          <a:p>
            <a:pPr algn="ctr" indent="0" marL="0">
              <a:buNone/>
            </a:pPr>
            <a:r>
              <a:rPr lang="en-US" sz="900" dirty="0">
                <a:solidFill>
                  <a:srgbClr val="444444"/>
                </a:solidFill>
                <a:latin typeface="Noto Sans JP" pitchFamily="34" charset="0"/>
                <a:ea typeface="Noto Sans JP" pitchFamily="34" charset="-122"/>
                <a:cs typeface="Noto Sans JP" pitchFamily="34" charset="-120"/>
              </a:rPr>
              <a:t>多摩の製材所</a:t>
            </a:r>
            <a:endParaRPr lang="en-US" sz="900" dirty="0"/>
          </a:p>
          <a:p>
            <a:pPr algn="ctr" indent="0" marL="0">
              <a:buNone/>
            </a:pPr>
            <a:r>
              <a:rPr lang="en-US" sz="900" dirty="0">
                <a:solidFill>
                  <a:srgbClr val="444444"/>
                </a:solidFill>
                <a:latin typeface="Noto Sans JP" pitchFamily="34" charset="0"/>
                <a:ea typeface="Noto Sans JP" pitchFamily="34" charset="-122"/>
                <a:cs typeface="Noto Sans JP" pitchFamily="34" charset="-120"/>
              </a:rPr>
              <a:t>木工所</a:t>
            </a:r>
            <a:endParaRPr lang="en-US" sz="900" dirty="0"/>
          </a:p>
        </p:txBody>
      </p:sp>
      <p:pic>
        <p:nvPicPr>
          <p:cNvPr id="32" name="Image 8" descr="preencoded.png">    </p:cNvPr>
          <p:cNvPicPr>
            <a:picLocks noChangeAspect="1"/>
          </p:cNvPicPr>
          <p:nvPr/>
        </p:nvPicPr>
        <p:blipFill>
          <a:blip r:embed="rId9"/>
          <a:stretch>
            <a:fillRect/>
          </a:stretch>
        </p:blipFill>
        <p:spPr>
          <a:xfrm>
            <a:off x="5930900" y="2184400"/>
            <a:ext cx="127000" cy="127000"/>
          </a:xfrm>
          <a:prstGeom prst="rect">
            <a:avLst/>
          </a:prstGeom>
        </p:spPr>
      </p:pic>
      <p:sp>
        <p:nvSpPr>
          <p:cNvPr id="33" name="Shape 22"/>
          <p:cNvSpPr/>
          <p:nvPr/>
        </p:nvSpPr>
        <p:spPr>
          <a:xfrm>
            <a:off x="6070600" y="1320800"/>
            <a:ext cx="1270000" cy="1905000"/>
          </a:xfrm>
          <a:prstGeom prst="rect">
            <a:avLst/>
          </a:prstGeom>
          <a:solidFill>
            <a:srgbClr val="E8F5EF"/>
          </a:solidFill>
          <a:ln/>
        </p:spPr>
      </p:sp>
      <p:sp>
        <p:nvSpPr>
          <p:cNvPr id="34" name="Shape 23"/>
          <p:cNvSpPr/>
          <p:nvPr/>
        </p:nvSpPr>
        <p:spPr>
          <a:xfrm>
            <a:off x="6426200" y="1473200"/>
            <a:ext cx="558800" cy="558800"/>
          </a:xfrm>
          <a:prstGeom prst="ellipse">
            <a:avLst/>
          </a:prstGeom>
          <a:solidFill>
            <a:srgbClr val="1F9970"/>
          </a:solidFill>
          <a:ln/>
        </p:spPr>
      </p:sp>
      <p:pic>
        <p:nvPicPr>
          <p:cNvPr id="35" name="Image 9" descr="preencoded.png">    </p:cNvPr>
          <p:cNvPicPr>
            <a:picLocks noChangeAspect="1"/>
          </p:cNvPicPr>
          <p:nvPr/>
        </p:nvPicPr>
        <p:blipFill>
          <a:blip r:embed="rId10"/>
          <a:stretch>
            <a:fillRect/>
          </a:stretch>
        </p:blipFill>
        <p:spPr>
          <a:xfrm>
            <a:off x="6565900" y="1612900"/>
            <a:ext cx="279400" cy="279400"/>
          </a:xfrm>
          <a:prstGeom prst="rect">
            <a:avLst/>
          </a:prstGeom>
        </p:spPr>
      </p:pic>
      <p:sp>
        <p:nvSpPr>
          <p:cNvPr id="36" name="Text 24"/>
          <p:cNvSpPr txBox="1"/>
          <p:nvPr/>
        </p:nvSpPr>
        <p:spPr>
          <a:xfrm>
            <a:off x="6070600" y="2133600"/>
            <a:ext cx="1270000" cy="228600"/>
          </a:xfrm>
          <a:prstGeom prst="rect">
            <a:avLst/>
          </a:prstGeom>
          <a:noFill/>
          <a:ln/>
        </p:spPr>
        <p:txBody>
          <a:bodyPr wrap="square" lIns="0" tIns="0" rIns="0" bIns="0" rtlCol="0" anchor="t"/>
          <a:lstStyle/>
          <a:p>
            <a:pPr algn="ctr" indent="0" marL="0">
              <a:buNone/>
            </a:pPr>
            <a:r>
              <a:rPr lang="en-US" sz="1050" b="1" dirty="0">
                <a:solidFill>
                  <a:srgbClr val="222222"/>
                </a:solidFill>
                <a:latin typeface="Noto Sans JP" pitchFamily="34" charset="0"/>
                <a:ea typeface="Noto Sans JP" pitchFamily="34" charset="-122"/>
                <a:cs typeface="Noto Sans JP" pitchFamily="34" charset="-120"/>
              </a:rPr>
              <a:t>設計・施工</a:t>
            </a:r>
            <a:endParaRPr lang="en-US" sz="1050" dirty="0"/>
          </a:p>
        </p:txBody>
      </p:sp>
      <p:sp>
        <p:nvSpPr>
          <p:cNvPr id="37" name="Text 25"/>
          <p:cNvSpPr txBox="1"/>
          <p:nvPr/>
        </p:nvSpPr>
        <p:spPr>
          <a:xfrm>
            <a:off x="6070600" y="2438400"/>
            <a:ext cx="1270000" cy="508000"/>
          </a:xfrm>
          <a:prstGeom prst="rect">
            <a:avLst/>
          </a:prstGeom>
          <a:noFill/>
          <a:ln/>
        </p:spPr>
        <p:txBody>
          <a:bodyPr wrap="square" lIns="0" tIns="0" rIns="0" bIns="0" rtlCol="0" anchor="t"/>
          <a:lstStyle/>
          <a:p>
            <a:pPr algn="ctr" indent="0" marL="0">
              <a:buNone/>
            </a:pPr>
            <a:r>
              <a:rPr lang="en-US" sz="900" dirty="0">
                <a:solidFill>
                  <a:srgbClr val="444444"/>
                </a:solidFill>
                <a:latin typeface="Noto Sans JP" pitchFamily="34" charset="0"/>
                <a:ea typeface="Noto Sans JP" pitchFamily="34" charset="-122"/>
                <a:cs typeface="Noto Sans JP" pitchFamily="34" charset="-120"/>
              </a:rPr>
              <a:t>地域工務店</a:t>
            </a:r>
            <a:endParaRPr lang="en-US" sz="900" dirty="0"/>
          </a:p>
          <a:p>
            <a:pPr algn="ctr" indent="0" marL="0">
              <a:buNone/>
            </a:pPr>
            <a:r>
              <a:rPr lang="en-US" sz="900" dirty="0">
                <a:solidFill>
                  <a:srgbClr val="444444"/>
                </a:solidFill>
                <a:latin typeface="Noto Sans JP" pitchFamily="34" charset="0"/>
                <a:ea typeface="Noto Sans JP" pitchFamily="34" charset="-122"/>
                <a:cs typeface="Noto Sans JP" pitchFamily="34" charset="-120"/>
              </a:rPr>
              <a:t>家具メーカー</a:t>
            </a:r>
            <a:endParaRPr lang="en-US" sz="900" dirty="0"/>
          </a:p>
        </p:txBody>
      </p:sp>
      <p:pic>
        <p:nvPicPr>
          <p:cNvPr id="38" name="Image 10" descr="preencoded.png">    </p:cNvPr>
          <p:cNvPicPr>
            <a:picLocks noChangeAspect="1"/>
          </p:cNvPicPr>
          <p:nvPr/>
        </p:nvPicPr>
        <p:blipFill>
          <a:blip r:embed="rId11"/>
          <a:stretch>
            <a:fillRect/>
          </a:stretch>
        </p:blipFill>
        <p:spPr>
          <a:xfrm>
            <a:off x="7353300" y="2184400"/>
            <a:ext cx="127000" cy="127000"/>
          </a:xfrm>
          <a:prstGeom prst="rect">
            <a:avLst/>
          </a:prstGeom>
        </p:spPr>
      </p:pic>
      <p:sp>
        <p:nvSpPr>
          <p:cNvPr id="39" name="Shape 26"/>
          <p:cNvSpPr/>
          <p:nvPr/>
        </p:nvSpPr>
        <p:spPr>
          <a:xfrm>
            <a:off x="7493000" y="1320800"/>
            <a:ext cx="1270000" cy="1905000"/>
          </a:xfrm>
          <a:prstGeom prst="rect">
            <a:avLst/>
          </a:prstGeom>
          <a:solidFill>
            <a:srgbClr val="E8F5EF"/>
          </a:solidFill>
          <a:ln/>
        </p:spPr>
      </p:sp>
      <p:sp>
        <p:nvSpPr>
          <p:cNvPr id="40" name="Shape 27"/>
          <p:cNvSpPr/>
          <p:nvPr/>
        </p:nvSpPr>
        <p:spPr>
          <a:xfrm>
            <a:off x="7848600" y="1473200"/>
            <a:ext cx="558800" cy="558800"/>
          </a:xfrm>
          <a:prstGeom prst="ellipse">
            <a:avLst/>
          </a:prstGeom>
          <a:solidFill>
            <a:srgbClr val="1F9970"/>
          </a:solidFill>
          <a:ln/>
        </p:spPr>
      </p:sp>
      <p:pic>
        <p:nvPicPr>
          <p:cNvPr id="41" name="Image 11" descr="preencoded.png">    </p:cNvPr>
          <p:cNvPicPr>
            <a:picLocks noChangeAspect="1"/>
          </p:cNvPicPr>
          <p:nvPr/>
        </p:nvPicPr>
        <p:blipFill>
          <a:blip r:embed="rId12"/>
          <a:stretch>
            <a:fillRect/>
          </a:stretch>
        </p:blipFill>
        <p:spPr>
          <a:xfrm>
            <a:off x="7988300" y="1612900"/>
            <a:ext cx="279400" cy="279400"/>
          </a:xfrm>
          <a:prstGeom prst="rect">
            <a:avLst/>
          </a:prstGeom>
        </p:spPr>
      </p:pic>
      <p:sp>
        <p:nvSpPr>
          <p:cNvPr id="42" name="Text 28"/>
          <p:cNvSpPr txBox="1"/>
          <p:nvPr/>
        </p:nvSpPr>
        <p:spPr>
          <a:xfrm>
            <a:off x="7493000" y="2133600"/>
            <a:ext cx="1270000" cy="228600"/>
          </a:xfrm>
          <a:prstGeom prst="rect">
            <a:avLst/>
          </a:prstGeom>
          <a:noFill/>
          <a:ln/>
        </p:spPr>
        <p:txBody>
          <a:bodyPr wrap="square" lIns="0" tIns="0" rIns="0" bIns="0" rtlCol="0" anchor="t"/>
          <a:lstStyle/>
          <a:p>
            <a:pPr algn="ctr" indent="0" marL="0">
              <a:buNone/>
            </a:pPr>
            <a:r>
              <a:rPr lang="en-US" sz="1050" b="1" dirty="0">
                <a:solidFill>
                  <a:srgbClr val="222222"/>
                </a:solidFill>
                <a:latin typeface="Noto Sans JP" pitchFamily="34" charset="0"/>
                <a:ea typeface="Noto Sans JP" pitchFamily="34" charset="-122"/>
                <a:cs typeface="Noto Sans JP" pitchFamily="34" charset="-120"/>
              </a:rPr>
              <a:t>体験・教育</a:t>
            </a:r>
            <a:endParaRPr lang="en-US" sz="1050" dirty="0"/>
          </a:p>
        </p:txBody>
      </p:sp>
      <p:sp>
        <p:nvSpPr>
          <p:cNvPr id="43" name="Text 29"/>
          <p:cNvSpPr txBox="1"/>
          <p:nvPr/>
        </p:nvSpPr>
        <p:spPr>
          <a:xfrm>
            <a:off x="7493000" y="2438400"/>
            <a:ext cx="1270000" cy="508000"/>
          </a:xfrm>
          <a:prstGeom prst="rect">
            <a:avLst/>
          </a:prstGeom>
          <a:noFill/>
          <a:ln/>
        </p:spPr>
        <p:txBody>
          <a:bodyPr wrap="square" lIns="0" tIns="0" rIns="0" bIns="0" rtlCol="0" anchor="t"/>
          <a:lstStyle/>
          <a:p>
            <a:pPr algn="ctr" indent="0" marL="0">
              <a:buNone/>
            </a:pPr>
            <a:r>
              <a:rPr lang="en-US" sz="900" dirty="0">
                <a:solidFill>
                  <a:srgbClr val="444444"/>
                </a:solidFill>
                <a:latin typeface="Noto Sans JP" pitchFamily="34" charset="0"/>
                <a:ea typeface="Noto Sans JP" pitchFamily="34" charset="-122"/>
                <a:cs typeface="Noto Sans JP" pitchFamily="34" charset="-120"/>
              </a:rPr>
              <a:t>森林ガイド</a:t>
            </a:r>
            <a:endParaRPr lang="en-US" sz="900" dirty="0"/>
          </a:p>
          <a:p>
            <a:pPr algn="ctr" indent="0" marL="0">
              <a:buNone/>
            </a:pPr>
            <a:r>
              <a:rPr lang="en-US" sz="900" dirty="0">
                <a:solidFill>
                  <a:srgbClr val="444444"/>
                </a:solidFill>
                <a:latin typeface="Noto Sans JP" pitchFamily="34" charset="0"/>
                <a:ea typeface="Noto Sans JP" pitchFamily="34" charset="-122"/>
                <a:cs typeface="Noto Sans JP" pitchFamily="34" charset="-120"/>
              </a:rPr>
              <a:t>NPO・学校</a:t>
            </a:r>
            <a:endParaRPr lang="en-US" sz="900" dirty="0"/>
          </a:p>
        </p:txBody>
      </p:sp>
      <p:sp>
        <p:nvSpPr>
          <p:cNvPr id="44" name="Shape 30"/>
          <p:cNvSpPr/>
          <p:nvPr/>
        </p:nvSpPr>
        <p:spPr>
          <a:xfrm>
            <a:off x="381000" y="3403600"/>
            <a:ext cx="8382000" cy="787400"/>
          </a:xfrm>
          <a:prstGeom prst="rect">
            <a:avLst/>
          </a:prstGeom>
          <a:solidFill>
            <a:srgbClr val="FFFFFF"/>
          </a:solidFill>
          <a:ln w="12700">
            <a:solidFill>
              <a:srgbClr val="1F9970"/>
            </a:solidFill>
            <a:prstDash val="solid"/>
          </a:ln>
        </p:spPr>
      </p:sp>
      <p:pic>
        <p:nvPicPr>
          <p:cNvPr id="45" name="Image 12" descr="preencoded.png">    </p:cNvPr>
          <p:cNvPicPr>
            <a:picLocks noChangeAspect="1"/>
          </p:cNvPicPr>
          <p:nvPr/>
        </p:nvPicPr>
        <p:blipFill>
          <a:blip r:embed="rId13"/>
          <a:stretch>
            <a:fillRect/>
          </a:stretch>
        </p:blipFill>
        <p:spPr>
          <a:xfrm>
            <a:off x="584200" y="3619500"/>
            <a:ext cx="355600" cy="355600"/>
          </a:xfrm>
          <a:prstGeom prst="rect">
            <a:avLst/>
          </a:prstGeom>
        </p:spPr>
      </p:pic>
      <p:sp>
        <p:nvSpPr>
          <p:cNvPr id="46" name="Text 31"/>
          <p:cNvSpPr txBox="1"/>
          <p:nvPr/>
        </p:nvSpPr>
        <p:spPr>
          <a:xfrm>
            <a:off x="1117600" y="3454400"/>
            <a:ext cx="7493000" cy="685800"/>
          </a:xfrm>
          <a:prstGeom prst="rect">
            <a:avLst/>
          </a:prstGeom>
          <a:noFill/>
          <a:ln/>
        </p:spPr>
        <p:txBody>
          <a:bodyPr wrap="square" lIns="0" tIns="0" rIns="0" bIns="0" rtlCol="0" anchor="ctr"/>
          <a:lstStyle/>
          <a:p>
            <a:pPr indent="0" marL="0">
              <a:lnSpc>
                <a:spcPct val="125000"/>
              </a:lnSpc>
              <a:buNone/>
            </a:pPr>
            <a:r>
              <a:rPr lang="en-US" sz="1000" b="1" dirty="0">
                <a:solidFill>
                  <a:srgbClr val="444444"/>
                </a:solidFill>
                <a:latin typeface="Noto Sans JP" pitchFamily="34" charset="0"/>
                <a:ea typeface="Noto Sans JP" pitchFamily="34" charset="-122"/>
                <a:cs typeface="Noto Sans JP" pitchFamily="34" charset="-120"/>
              </a:rPr>
              <a:t>森未来はコーディネートと流通を担い、実作業は地域の事業者へ発注します。</a:t>
            </a:r>
            <a:endParaRPr lang="en-US" sz="1000" dirty="0"/>
          </a:p>
          <a:p>
            <a:pPr indent="0" marL="0">
              <a:lnSpc>
                <a:spcPct val="125000"/>
              </a:lnSpc>
              <a:buNone/>
            </a:pPr>
            <a:r>
              <a:rPr lang="en-US" sz="1000" dirty="0">
                <a:solidFill>
                  <a:srgbClr val="444444"/>
                </a:solidFill>
                <a:latin typeface="Noto Sans JP" pitchFamily="34" charset="0"/>
                <a:ea typeface="Noto Sans JP" pitchFamily="34" charset="-122"/>
                <a:cs typeface="Noto Sans JP" pitchFamily="34" charset="-120"/>
              </a:rPr>
              <a:t>単発の寄付で終わらせず、木材販売・体験プログラムの継続により、地域の仕事として根付く仕組みを目指します。</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F9970"/>
        </a:solidFill>
      </p:bgPr>
    </p:bg>
    <p:spTree>
      <p:nvGrpSpPr>
        <p:cNvPr id="1" name=""/>
        <p:cNvGrpSpPr/>
        <p:nvPr/>
      </p:nvGrpSpPr>
      <p:grpSpPr>
        <a:xfrm>
          <a:off x="0" y="0"/>
          <a:ext cx="0" cy="0"/>
          <a:chOff x="0" y="0"/>
          <a:chExt cx="0" cy="0"/>
        </a:xfrm>
      </p:grpSpPr>
      <p:sp>
        <p:nvSpPr>
          <p:cNvPr id="2" name="Shape 0"/>
          <p:cNvSpPr/>
          <p:nvPr/>
        </p:nvSpPr>
        <p:spPr>
          <a:xfrm>
            <a:off x="342900" y="342900"/>
            <a:ext cx="8458200" cy="4457700"/>
          </a:xfrm>
          <a:prstGeom prst="rect">
            <a:avLst/>
          </a:prstGeom>
          <a:ln w="12700">
            <a:solidFill>
              <a:srgbClr val="FFFFFF"/>
            </a:solidFill>
            <a:prstDash val="solid"/>
          </a:ln>
        </p:spPr>
      </p:sp>
      <p:sp>
        <p:nvSpPr>
          <p:cNvPr id="3" name="Text 1"/>
          <p:cNvSpPr txBox="1"/>
          <p:nvPr/>
        </p:nvSpPr>
        <p:spPr>
          <a:xfrm>
            <a:off x="762000" y="1778000"/>
            <a:ext cx="7620000" cy="1524000"/>
          </a:xfrm>
          <a:prstGeom prst="rect">
            <a:avLst/>
          </a:prstGeom>
          <a:noFill/>
          <a:ln/>
        </p:spPr>
        <p:txBody>
          <a:bodyPr wrap="square" lIns="0" tIns="0" rIns="0" bIns="0" rtlCol="0" anchor="ctr"/>
          <a:lstStyle/>
          <a:p>
            <a:pPr algn="ctr" indent="0" marL="0">
              <a:buNone/>
            </a:pPr>
            <a:r>
              <a:rPr lang="en-US" sz="2600" b="1" dirty="0">
                <a:solidFill>
                  <a:srgbClr val="FFFFFF"/>
                </a:solidFill>
                <a:latin typeface="Noto Sans JP" pitchFamily="34" charset="0"/>
                <a:ea typeface="Noto Sans JP" pitchFamily="34" charset="-122"/>
                <a:cs typeface="Noto Sans JP" pitchFamily="34" charset="-120"/>
              </a:rPr>
              <a:t>超概算</a:t>
            </a:r>
            <a:endParaRPr lang="en-US" sz="2600" dirty="0"/>
          </a:p>
        </p:txBody>
      </p:sp>
      <p:sp>
        <p:nvSpPr>
          <p:cNvPr id="4" name="Shape 2"/>
          <p:cNvSpPr/>
          <p:nvPr/>
        </p:nvSpPr>
        <p:spPr>
          <a:xfrm>
            <a:off x="88900" y="4876800"/>
            <a:ext cx="723900" cy="165100"/>
          </a:xfrm>
          <a:prstGeom prst="rect">
            <a:avLst/>
          </a:prstGeom>
          <a:solidFill>
            <a:srgbClr val="FFFFFF"/>
          </a:solidFill>
          <a:ln w="6350">
            <a:solidFill>
              <a:srgbClr val="B2B2B2"/>
            </a:solidFill>
            <a:prstDash val="solid"/>
          </a:ln>
        </p:spPr>
      </p:sp>
      <p:sp>
        <p:nvSpPr>
          <p:cNvPr id="5" name="Text 3"/>
          <p:cNvSpPr txBox="1"/>
          <p:nvPr/>
        </p:nvSpPr>
        <p:spPr>
          <a:xfrm>
            <a:off x="88900" y="4876800"/>
            <a:ext cx="723900" cy="165100"/>
          </a:xfrm>
          <a:prstGeom prst="rect">
            <a:avLst/>
          </a:prstGeom>
          <a:noFill/>
          <a:ln/>
        </p:spPr>
        <p:txBody>
          <a:bodyPr wrap="square" lIns="0" tIns="0" rIns="0" bIns="0" rtlCol="0" anchor="ctr"/>
          <a:lstStyle/>
          <a:p>
            <a:pPr algn="ctr" indent="0" marL="0">
              <a:buNone/>
            </a:pPr>
            <a:r>
              <a:rPr lang="en-US" sz="700" dirty="0">
                <a:solidFill>
                  <a:srgbClr val="757575"/>
                </a:solidFill>
                <a:latin typeface="Arial" pitchFamily="34" charset="0"/>
                <a:ea typeface="Arial" pitchFamily="34" charset="-122"/>
                <a:cs typeface="Arial" pitchFamily="34" charset="-120"/>
              </a:rPr>
              <a:t>confidential</a:t>
            </a:r>
            <a:endParaRPr lang="en-US" sz="7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pic>
        <p:nvPicPr>
          <p:cNvPr id="2" name="Image 0" descr="/tmp/claude-0/-home-user--/135b95b8-9a7c-5e2e-abb3-3369b8f4d943/scratchpad/assets/logo_dark.png">    </p:cNvPr>
          <p:cNvPicPr>
            <a:picLocks noChangeAspect="1"/>
          </p:cNvPicPr>
          <p:nvPr/>
        </p:nvPicPr>
        <p:blipFill>
          <a:blip r:embed="rId1"/>
          <a:stretch>
            <a:fillRect/>
          </a:stretch>
        </p:blipFill>
        <p:spPr>
          <a:xfrm>
            <a:off x="355600" y="160020"/>
            <a:ext cx="558800" cy="254000"/>
          </a:xfrm>
          <a:prstGeom prst="rect">
            <a:avLst/>
          </a:prstGeom>
        </p:spPr>
      </p:pic>
      <p:sp>
        <p:nvSpPr>
          <p:cNvPr id="3" name="Text 0"/>
          <p:cNvSpPr txBox="1"/>
          <p:nvPr/>
        </p:nvSpPr>
        <p:spPr>
          <a:xfrm>
            <a:off x="1397000" y="127000"/>
            <a:ext cx="6350000" cy="304800"/>
          </a:xfrm>
          <a:prstGeom prst="rect">
            <a:avLst/>
          </a:prstGeom>
          <a:noFill/>
          <a:ln/>
        </p:spPr>
        <p:txBody>
          <a:bodyPr wrap="square" lIns="0" tIns="0" rIns="0" bIns="0" rtlCol="0" anchor="ctr"/>
          <a:lstStyle/>
          <a:p>
            <a:pPr algn="ctr" indent="0" marL="0">
              <a:buNone/>
            </a:pPr>
            <a:r>
              <a:rPr lang="en-US" sz="1500" b="1" dirty="0">
                <a:solidFill>
                  <a:srgbClr val="222222"/>
                </a:solidFill>
                <a:latin typeface="Noto Sans JP" pitchFamily="34" charset="0"/>
                <a:ea typeface="Noto Sans JP" pitchFamily="34" charset="-122"/>
                <a:cs typeface="Noto Sans JP" pitchFamily="34" charset="-120"/>
              </a:rPr>
              <a:t>超概算（パイロット：対象20ha・3か年）</a:t>
            </a:r>
            <a:endParaRPr lang="en-US" sz="1500" dirty="0"/>
          </a:p>
        </p:txBody>
      </p:sp>
      <p:sp>
        <p:nvSpPr>
          <p:cNvPr id="4" name="Shape 1"/>
          <p:cNvSpPr/>
          <p:nvPr/>
        </p:nvSpPr>
        <p:spPr>
          <a:xfrm>
            <a:off x="0" y="539750"/>
            <a:ext cx="9144000" cy="0"/>
          </a:xfrm>
          <a:prstGeom prst="line">
            <a:avLst/>
          </a:prstGeom>
          <a:noFill/>
          <a:ln w="9525">
            <a:solidFill>
              <a:srgbClr val="999999"/>
            </a:solidFill>
            <a:prstDash val="solid"/>
          </a:ln>
        </p:spPr>
      </p:sp>
      <p:sp>
        <p:nvSpPr>
          <p:cNvPr id="5" name="Shape 2"/>
          <p:cNvSpPr/>
          <p:nvPr/>
        </p:nvSpPr>
        <p:spPr>
          <a:xfrm>
            <a:off x="88900" y="4876800"/>
            <a:ext cx="723900" cy="165100"/>
          </a:xfrm>
          <a:prstGeom prst="rect">
            <a:avLst/>
          </a:prstGeom>
          <a:solidFill>
            <a:srgbClr val="FFFFFF"/>
          </a:solidFill>
          <a:ln w="6350">
            <a:solidFill>
              <a:srgbClr val="B2B2B2"/>
            </a:solidFill>
            <a:prstDash val="solid"/>
          </a:ln>
        </p:spPr>
      </p:sp>
      <p:sp>
        <p:nvSpPr>
          <p:cNvPr id="6" name="Text 3"/>
          <p:cNvSpPr txBox="1"/>
          <p:nvPr/>
        </p:nvSpPr>
        <p:spPr>
          <a:xfrm>
            <a:off x="88900" y="4876800"/>
            <a:ext cx="723900" cy="165100"/>
          </a:xfrm>
          <a:prstGeom prst="rect">
            <a:avLst/>
          </a:prstGeom>
          <a:noFill/>
          <a:ln/>
        </p:spPr>
        <p:txBody>
          <a:bodyPr wrap="square" lIns="0" tIns="0" rIns="0" bIns="0" rtlCol="0" anchor="ctr"/>
          <a:lstStyle/>
          <a:p>
            <a:pPr algn="ctr" indent="0" marL="0">
              <a:buNone/>
            </a:pPr>
            <a:r>
              <a:rPr lang="en-US" sz="700" dirty="0">
                <a:solidFill>
                  <a:srgbClr val="757575"/>
                </a:solidFill>
                <a:latin typeface="Arial" pitchFamily="34" charset="0"/>
                <a:ea typeface="Arial" pitchFamily="34" charset="-122"/>
                <a:cs typeface="Arial" pitchFamily="34" charset="-120"/>
              </a:rPr>
              <a:t>confidential</a:t>
            </a:r>
            <a:endParaRPr lang="en-US" sz="700" dirty="0"/>
          </a:p>
        </p:txBody>
      </p:sp>
      <p:sp>
        <p:nvSpPr>
          <p:cNvPr id="7" name="Text 4"/>
          <p:cNvSpPr txBox="1"/>
          <p:nvPr/>
        </p:nvSpPr>
        <p:spPr>
          <a:xfrm>
            <a:off x="8509000" y="4826000"/>
            <a:ext cx="533400" cy="203200"/>
          </a:xfrm>
          <a:prstGeom prst="rect">
            <a:avLst/>
          </a:prstGeom>
          <a:noFill/>
          <a:ln/>
        </p:spPr>
        <p:txBody>
          <a:bodyPr wrap="square" lIns="0" tIns="0" rIns="0" bIns="0" rtlCol="0" anchor="t"/>
          <a:lstStyle/>
          <a:p>
            <a:pPr algn="r" indent="0" marL="0">
              <a:buNone/>
            </a:pPr>
            <a:r>
              <a:rPr lang="en-US" sz="1100" dirty="0">
                <a:solidFill>
                  <a:srgbClr val="757575"/>
                </a:solidFill>
                <a:latin typeface="Noto Sans JP" pitchFamily="34" charset="0"/>
                <a:ea typeface="Noto Sans JP" pitchFamily="34" charset="-122"/>
                <a:cs typeface="Noto Sans JP" pitchFamily="34" charset="-120"/>
              </a:rPr>
              <a:t>29</a:t>
            </a:r>
            <a:endParaRPr lang="en-US" sz="11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381000" y="660400"/>
          <a:ext cx="5588000" cy="914400"/>
        </p:xfrm>
        <a:graphic>
          <a:graphicData uri="http://schemas.openxmlformats.org/drawingml/2006/table">
            <a:tbl>
              <a:tblPr/>
              <a:tblGrid>
                <a:gridCol w="508000"/>
                <a:gridCol w="2667000"/>
                <a:gridCol w="889000"/>
                <a:gridCol w="635000"/>
                <a:gridCol w="889000"/>
              </a:tblGrid>
              <a:tr h="304800">
                <a:tc>
                  <a:txBody>
                    <a:bodyPr/>
                    <a:lstStyle/>
                    <a:p>
                      <a:pPr algn="ctr" indent="0" marL="0">
                        <a:buNone/>
                      </a:pPr>
                      <a:r>
                        <a:rPr lang="en-US" sz="900" b="1" dirty="0">
                          <a:solidFill>
                            <a:srgbClr val="FFFFFF"/>
                          </a:solidFill>
                          <a:latin typeface="Noto Sans JP" pitchFamily="34" charset="0"/>
                          <a:ea typeface="Noto Sans JP" pitchFamily="34" charset="-122"/>
                          <a:cs typeface="Noto Sans JP" pitchFamily="34" charset="-120"/>
                        </a:rPr>
                        <a:t>区分</a:t>
                      </a:r>
                      <a:endParaRPr lang="en-US" sz="900" dirty="0">
                        <a:latin typeface="Noto Sans JP" charset="0"/>
                        <a:ea typeface="Noto Sans JP" charset="0"/>
                        <a:cs typeface="Noto Sans JP" charset="0"/>
                      </a:endParaRPr>
                    </a:p>
                  </a:txBody>
                  <a:tcPr marL="64008" marR="64008" marT="18288" marB="18288" anchor="ct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solidFill>
                      <a:srgbClr val="1F9970"/>
                    </a:solidFill>
                  </a:tcPr>
                </a:tc>
                <a:tc>
                  <a:txBody>
                    <a:bodyPr/>
                    <a:lstStyle/>
                    <a:p>
                      <a:pPr algn="ctr" indent="0" marL="0">
                        <a:buNone/>
                      </a:pPr>
                      <a:r>
                        <a:rPr lang="en-US" sz="900" b="1" dirty="0">
                          <a:solidFill>
                            <a:srgbClr val="FFFFFF"/>
                          </a:solidFill>
                          <a:latin typeface="Noto Sans JP" pitchFamily="34" charset="0"/>
                          <a:ea typeface="Noto Sans JP" pitchFamily="34" charset="-122"/>
                          <a:cs typeface="Noto Sans JP" pitchFamily="34" charset="-120"/>
                        </a:rPr>
                        <a:t>項目</a:t>
                      </a:r>
                      <a:endParaRPr lang="en-US" sz="900" dirty="0">
                        <a:latin typeface="Noto Sans JP" charset="0"/>
                        <a:ea typeface="Noto Sans JP" charset="0"/>
                        <a:cs typeface="Noto Sans JP" charset="0"/>
                      </a:endParaRPr>
                    </a:p>
                  </a:txBody>
                  <a:tcPr marL="64008" marR="64008" marT="18288" marB="18288" anchor="ct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solidFill>
                      <a:srgbClr val="1F9970"/>
                    </a:solidFill>
                  </a:tcPr>
                </a:tc>
                <a:tc>
                  <a:txBody>
                    <a:bodyPr/>
                    <a:lstStyle/>
                    <a:p>
                      <a:pPr algn="ctr" indent="0" marL="0">
                        <a:buNone/>
                      </a:pPr>
                      <a:r>
                        <a:rPr lang="en-US" sz="900" b="1" dirty="0">
                          <a:solidFill>
                            <a:srgbClr val="FFFFFF"/>
                          </a:solidFill>
                          <a:latin typeface="Noto Sans JP" pitchFamily="34" charset="0"/>
                          <a:ea typeface="Noto Sans JP" pitchFamily="34" charset="-122"/>
                          <a:cs typeface="Noto Sans JP" pitchFamily="34" charset="-120"/>
                        </a:rPr>
                        <a:t>単価</a:t>
                      </a:r>
                      <a:endParaRPr lang="en-US" sz="900" dirty="0">
                        <a:latin typeface="Noto Sans JP" charset="0"/>
                        <a:ea typeface="Noto Sans JP" charset="0"/>
                        <a:cs typeface="Noto Sans JP" charset="0"/>
                      </a:endParaRPr>
                    </a:p>
                  </a:txBody>
                  <a:tcPr marL="64008" marR="64008" marT="18288" marB="18288" anchor="ct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solidFill>
                      <a:srgbClr val="1F9970"/>
                    </a:solidFill>
                  </a:tcPr>
                </a:tc>
                <a:tc>
                  <a:txBody>
                    <a:bodyPr/>
                    <a:lstStyle/>
                    <a:p>
                      <a:pPr algn="ctr" indent="0" marL="0">
                        <a:buNone/>
                      </a:pPr>
                      <a:r>
                        <a:rPr lang="en-US" sz="900" b="1" dirty="0">
                          <a:solidFill>
                            <a:srgbClr val="FFFFFF"/>
                          </a:solidFill>
                          <a:latin typeface="Noto Sans JP" pitchFamily="34" charset="0"/>
                          <a:ea typeface="Noto Sans JP" pitchFamily="34" charset="-122"/>
                          <a:cs typeface="Noto Sans JP" pitchFamily="34" charset="-120"/>
                        </a:rPr>
                        <a:t>数量</a:t>
                      </a:r>
                      <a:endParaRPr lang="en-US" sz="900" dirty="0">
                        <a:latin typeface="Noto Sans JP" charset="0"/>
                        <a:ea typeface="Noto Sans JP" charset="0"/>
                        <a:cs typeface="Noto Sans JP" charset="0"/>
                      </a:endParaRPr>
                    </a:p>
                  </a:txBody>
                  <a:tcPr marL="64008" marR="64008" marT="18288" marB="18288" anchor="ct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solidFill>
                      <a:srgbClr val="1F9970"/>
                    </a:solidFill>
                  </a:tcPr>
                </a:tc>
                <a:tc>
                  <a:txBody>
                    <a:bodyPr/>
                    <a:lstStyle/>
                    <a:p>
                      <a:pPr algn="ctr" indent="0" marL="0">
                        <a:buNone/>
                      </a:pPr>
                      <a:r>
                        <a:rPr lang="en-US" sz="900" b="1" dirty="0">
                          <a:solidFill>
                            <a:srgbClr val="FFFFFF"/>
                          </a:solidFill>
                          <a:latin typeface="Noto Sans JP" pitchFamily="34" charset="0"/>
                          <a:ea typeface="Noto Sans JP" pitchFamily="34" charset="-122"/>
                          <a:cs typeface="Noto Sans JP" pitchFamily="34" charset="-120"/>
                        </a:rPr>
                        <a:t>金額（万円）</a:t>
                      </a:r>
                      <a:endParaRPr lang="en-US" sz="900" dirty="0">
                        <a:latin typeface="Noto Sans JP" charset="0"/>
                        <a:ea typeface="Noto Sans JP" charset="0"/>
                        <a:cs typeface="Noto Sans JP" charset="0"/>
                      </a:endParaRPr>
                    </a:p>
                  </a:txBody>
                  <a:tcPr marL="64008" marR="64008" marT="18288" marB="18288" anchor="ct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solidFill>
                      <a:srgbClr val="1F9970"/>
                    </a:solidFill>
                  </a:tcPr>
                </a:tc>
              </a:tr>
              <a:tr h="304800">
                <a:tc>
                  <a:txBody>
                    <a:bodyPr/>
                    <a:lstStyle/>
                    <a:p>
                      <a:pPr indent="0" marL="0">
                        <a:buNone/>
                      </a:pPr>
                      <a:r>
                        <a:rPr lang="en-US" sz="850" b="1" dirty="0">
                          <a:solidFill>
                            <a:srgbClr val="16816D"/>
                          </a:solidFill>
                          <a:latin typeface="Noto Sans JP" pitchFamily="34" charset="0"/>
                          <a:ea typeface="Noto Sans JP" pitchFamily="34" charset="-122"/>
                          <a:cs typeface="Noto Sans JP" pitchFamily="34" charset="-120"/>
                        </a:rPr>
                        <a:t>集約化</a:t>
                      </a:r>
                      <a:endParaRPr lang="en-US" sz="850" dirty="0">
                        <a:latin typeface="Noto Sans JP" charset="0"/>
                        <a:ea typeface="Noto Sans JP" charset="0"/>
                        <a:cs typeface="Noto Sans JP" charset="0"/>
                      </a:endParaRPr>
                    </a:p>
                  </a:txBody>
                  <a:tcPr marL="64008" marR="64008" marT="18288" marB="18288" anchor="ct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tcPr>
                </a:tc>
                <a:tc>
                  <a:txBody>
                    <a:bodyPr/>
                    <a:lstStyle/>
                    <a:p>
                      <a:pPr indent="0" marL="0">
                        <a:buNone/>
                      </a:pPr>
                      <a:r>
                        <a:rPr lang="en-US" sz="850" dirty="0">
                          <a:solidFill>
                            <a:srgbClr val="444444"/>
                          </a:solidFill>
                          <a:latin typeface="Noto Sans JP" pitchFamily="34" charset="0"/>
                          <a:ea typeface="Noto Sans JP" pitchFamily="34" charset="-122"/>
                          <a:cs typeface="Noto Sans JP" pitchFamily="34" charset="-120"/>
                        </a:rPr>
                        <a:t>対象エリア調査・所有者探索</a:t>
                      </a:r>
                      <a:endParaRPr lang="en-US" sz="850" dirty="0">
                        <a:latin typeface="Noto Sans JP" charset="0"/>
                        <a:ea typeface="Noto Sans JP" charset="0"/>
                        <a:cs typeface="Noto Sans JP" charset="0"/>
                      </a:endParaRPr>
                    </a:p>
                  </a:txBody>
                  <a:tcPr marL="64008" marR="64008" marT="18288" marB="18288" anchor="ct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tcPr>
                </a:tc>
                <a:tc>
                  <a:txBody>
                    <a:bodyPr/>
                    <a:lstStyle/>
                    <a:p>
                      <a:pPr algn="ctr" indent="0" marL="0">
                        <a:buNone/>
                      </a:pPr>
                      <a:r>
                        <a:rPr lang="en-US" sz="850" dirty="0">
                          <a:solidFill>
                            <a:srgbClr val="444444"/>
                          </a:solidFill>
                          <a:latin typeface="Noto Sans JP" pitchFamily="34" charset="0"/>
                          <a:ea typeface="Noto Sans JP" pitchFamily="34" charset="-122"/>
                          <a:cs typeface="Noto Sans JP" pitchFamily="34" charset="-120"/>
                        </a:rPr>
                        <a:t>一式</a:t>
                      </a:r>
                      <a:endParaRPr lang="en-US" sz="850" dirty="0">
                        <a:latin typeface="Noto Sans JP" charset="0"/>
                        <a:ea typeface="Noto Sans JP" charset="0"/>
                        <a:cs typeface="Noto Sans JP" charset="0"/>
                      </a:endParaRPr>
                    </a:p>
                  </a:txBody>
                  <a:tcPr marL="64008" marR="64008" marT="18288" marB="18288" anchor="ct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tcPr>
                </a:tc>
                <a:tc>
                  <a:txBody>
                    <a:bodyPr/>
                    <a:lstStyle/>
                    <a:p>
                      <a:pPr algn="ctr" indent="0" marL="0">
                        <a:buNone/>
                      </a:pPr>
                      <a:endParaRPr lang="en-US" sz="850" dirty="0">
                        <a:latin typeface="Noto Sans JP" charset="0"/>
                        <a:ea typeface="Noto Sans JP" charset="0"/>
                        <a:cs typeface="Noto Sans JP" charset="0"/>
                      </a:endParaRPr>
                    </a:p>
                  </a:txBody>
                  <a:tcPr marL="64008" marR="64008" marT="18288" marB="18288" anchor="ct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tcPr>
                </a:tc>
                <a:tc>
                  <a:txBody>
                    <a:bodyPr/>
                    <a:lstStyle/>
                    <a:p>
                      <a:pPr algn="r" indent="0" marL="0">
                        <a:buNone/>
                      </a:pPr>
                      <a:r>
                        <a:rPr lang="en-US" sz="850" dirty="0">
                          <a:solidFill>
                            <a:srgbClr val="444444"/>
                          </a:solidFill>
                          <a:latin typeface="Noto Sans JP" pitchFamily="34" charset="0"/>
                          <a:ea typeface="Noto Sans JP" pitchFamily="34" charset="-122"/>
                          <a:cs typeface="Noto Sans JP" pitchFamily="34" charset="-120"/>
                        </a:rPr>
                        <a:t>200</a:t>
                      </a:r>
                      <a:endParaRPr lang="en-US" sz="850" dirty="0">
                        <a:latin typeface="Noto Sans JP" charset="0"/>
                        <a:ea typeface="Noto Sans JP" charset="0"/>
                        <a:cs typeface="Noto Sans JP" charset="0"/>
                      </a:endParaRPr>
                    </a:p>
                  </a:txBody>
                  <a:tcPr marL="64008" marR="64008" marT="18288" marB="18288" anchor="ct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tcPr>
                </a:tc>
              </a:tr>
              <a:tr h="304800">
                <a:tc>
                  <a:txBody>
                    <a:bodyPr/>
                    <a:lstStyle/>
                    <a:p>
                      <a:pPr indent="0" marL="0">
                        <a:buNone/>
                      </a:pPr>
                      <a:endParaRPr lang="en-US" sz="850" dirty="0">
                        <a:latin typeface="Noto Sans JP" charset="0"/>
                        <a:ea typeface="Noto Sans JP" charset="0"/>
                        <a:cs typeface="Noto Sans JP" charset="0"/>
                      </a:endParaRPr>
                    </a:p>
                  </a:txBody>
                  <a:tcPr marL="64008" marR="64008" marT="18288" marB="18288" anchor="ct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tcPr>
                </a:tc>
                <a:tc>
                  <a:txBody>
                    <a:bodyPr/>
                    <a:lstStyle/>
                    <a:p>
                      <a:pPr indent="0" marL="0">
                        <a:buNone/>
                      </a:pPr>
                      <a:r>
                        <a:rPr lang="en-US" sz="850" dirty="0">
                          <a:solidFill>
                            <a:srgbClr val="444444"/>
                          </a:solidFill>
                          <a:latin typeface="Noto Sans JP" pitchFamily="34" charset="0"/>
                          <a:ea typeface="Noto Sans JP" pitchFamily="34" charset="-122"/>
                          <a:cs typeface="Noto Sans JP" pitchFamily="34" charset="-120"/>
                        </a:rPr>
                        <a:t>境界明確化（立会い・簡易測量）</a:t>
                      </a:r>
                      <a:endParaRPr lang="en-US" sz="850" dirty="0">
                        <a:latin typeface="Noto Sans JP" charset="0"/>
                        <a:ea typeface="Noto Sans JP" charset="0"/>
                        <a:cs typeface="Noto Sans JP" charset="0"/>
                      </a:endParaRPr>
                    </a:p>
                  </a:txBody>
                  <a:tcPr marL="64008" marR="64008" marT="18288" marB="18288" anchor="ct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tcPr>
                </a:tc>
                <a:tc>
                  <a:txBody>
                    <a:bodyPr/>
                    <a:lstStyle/>
                    <a:p>
                      <a:pPr algn="ctr" indent="0" marL="0">
                        <a:buNone/>
                      </a:pPr>
                      <a:r>
                        <a:rPr lang="en-US" sz="850" dirty="0">
                          <a:solidFill>
                            <a:srgbClr val="444444"/>
                          </a:solidFill>
                          <a:latin typeface="Noto Sans JP" pitchFamily="34" charset="0"/>
                          <a:ea typeface="Noto Sans JP" pitchFamily="34" charset="-122"/>
                          <a:cs typeface="Noto Sans JP" pitchFamily="34" charset="-120"/>
                        </a:rPr>
                        <a:t>10万円/ha</a:t>
                      </a:r>
                      <a:endParaRPr lang="en-US" sz="850" dirty="0">
                        <a:latin typeface="Noto Sans JP" charset="0"/>
                        <a:ea typeface="Noto Sans JP" charset="0"/>
                        <a:cs typeface="Noto Sans JP" charset="0"/>
                      </a:endParaRPr>
                    </a:p>
                  </a:txBody>
                  <a:tcPr marL="64008" marR="64008" marT="18288" marB="18288" anchor="ct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tcPr>
                </a:tc>
                <a:tc>
                  <a:txBody>
                    <a:bodyPr/>
                    <a:lstStyle/>
                    <a:p>
                      <a:pPr algn="ctr" indent="0" marL="0">
                        <a:buNone/>
                      </a:pPr>
                      <a:r>
                        <a:rPr lang="en-US" sz="850" dirty="0">
                          <a:solidFill>
                            <a:srgbClr val="444444"/>
                          </a:solidFill>
                          <a:latin typeface="Noto Sans JP" pitchFamily="34" charset="0"/>
                          <a:ea typeface="Noto Sans JP" pitchFamily="34" charset="-122"/>
                          <a:cs typeface="Noto Sans JP" pitchFamily="34" charset="-120"/>
                        </a:rPr>
                        <a:t>20ha</a:t>
                      </a:r>
                      <a:endParaRPr lang="en-US" sz="850" dirty="0">
                        <a:latin typeface="Noto Sans JP" charset="0"/>
                        <a:ea typeface="Noto Sans JP" charset="0"/>
                        <a:cs typeface="Noto Sans JP" charset="0"/>
                      </a:endParaRPr>
                    </a:p>
                  </a:txBody>
                  <a:tcPr marL="64008" marR="64008" marT="18288" marB="18288" anchor="ct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tcPr>
                </a:tc>
                <a:tc>
                  <a:txBody>
                    <a:bodyPr/>
                    <a:lstStyle/>
                    <a:p>
                      <a:pPr algn="r" indent="0" marL="0">
                        <a:buNone/>
                      </a:pPr>
                      <a:r>
                        <a:rPr lang="en-US" sz="850" dirty="0">
                          <a:solidFill>
                            <a:srgbClr val="444444"/>
                          </a:solidFill>
                          <a:latin typeface="Noto Sans JP" pitchFamily="34" charset="0"/>
                          <a:ea typeface="Noto Sans JP" pitchFamily="34" charset="-122"/>
                          <a:cs typeface="Noto Sans JP" pitchFamily="34" charset="-120"/>
                        </a:rPr>
                        <a:t>200</a:t>
                      </a:r>
                      <a:endParaRPr lang="en-US" sz="850" dirty="0">
                        <a:latin typeface="Noto Sans JP" charset="0"/>
                        <a:ea typeface="Noto Sans JP" charset="0"/>
                        <a:cs typeface="Noto Sans JP" charset="0"/>
                      </a:endParaRPr>
                    </a:p>
                  </a:txBody>
                  <a:tcPr marL="64008" marR="64008" marT="18288" marB="18288" anchor="ct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tcPr>
                </a:tc>
              </a:tr>
              <a:tr h="304800">
                <a:tc>
                  <a:txBody>
                    <a:bodyPr/>
                    <a:lstStyle/>
                    <a:p>
                      <a:pPr indent="0" marL="0">
                        <a:buNone/>
                      </a:pPr>
                      <a:endParaRPr lang="en-US" sz="850" dirty="0">
                        <a:latin typeface="Noto Sans JP" charset="0"/>
                        <a:ea typeface="Noto Sans JP" charset="0"/>
                        <a:cs typeface="Noto Sans JP" charset="0"/>
                      </a:endParaRPr>
                    </a:p>
                  </a:txBody>
                  <a:tcPr marL="64008" marR="64008" marT="18288" marB="18288" anchor="ct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tcPr>
                </a:tc>
                <a:tc>
                  <a:txBody>
                    <a:bodyPr/>
                    <a:lstStyle/>
                    <a:p>
                      <a:pPr indent="0" marL="0">
                        <a:buNone/>
                      </a:pPr>
                      <a:r>
                        <a:rPr lang="en-US" sz="850" dirty="0">
                          <a:solidFill>
                            <a:srgbClr val="444444"/>
                          </a:solidFill>
                          <a:latin typeface="Noto Sans JP" pitchFamily="34" charset="0"/>
                          <a:ea typeface="Noto Sans JP" pitchFamily="34" charset="-122"/>
                          <a:cs typeface="Noto Sans JP" pitchFamily="34" charset="-120"/>
                        </a:rPr>
                        <a:t>集積計画・森林経営計画の策定支援</a:t>
                      </a:r>
                      <a:endParaRPr lang="en-US" sz="850" dirty="0">
                        <a:latin typeface="Noto Sans JP" charset="0"/>
                        <a:ea typeface="Noto Sans JP" charset="0"/>
                        <a:cs typeface="Noto Sans JP" charset="0"/>
                      </a:endParaRPr>
                    </a:p>
                  </a:txBody>
                  <a:tcPr marL="64008" marR="64008" marT="18288" marB="18288" anchor="ct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tcPr>
                </a:tc>
                <a:tc>
                  <a:txBody>
                    <a:bodyPr/>
                    <a:lstStyle/>
                    <a:p>
                      <a:pPr algn="ctr" indent="0" marL="0">
                        <a:buNone/>
                      </a:pPr>
                      <a:r>
                        <a:rPr lang="en-US" sz="850" dirty="0">
                          <a:solidFill>
                            <a:srgbClr val="444444"/>
                          </a:solidFill>
                          <a:latin typeface="Noto Sans JP" pitchFamily="34" charset="0"/>
                          <a:ea typeface="Noto Sans JP" pitchFamily="34" charset="-122"/>
                          <a:cs typeface="Noto Sans JP" pitchFamily="34" charset="-120"/>
                        </a:rPr>
                        <a:t>一式</a:t>
                      </a:r>
                      <a:endParaRPr lang="en-US" sz="850" dirty="0">
                        <a:latin typeface="Noto Sans JP" charset="0"/>
                        <a:ea typeface="Noto Sans JP" charset="0"/>
                        <a:cs typeface="Noto Sans JP" charset="0"/>
                      </a:endParaRPr>
                    </a:p>
                  </a:txBody>
                  <a:tcPr marL="64008" marR="64008" marT="18288" marB="18288" anchor="ct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tcPr>
                </a:tc>
                <a:tc>
                  <a:txBody>
                    <a:bodyPr/>
                    <a:lstStyle/>
                    <a:p>
                      <a:pPr algn="ctr" indent="0" marL="0">
                        <a:buNone/>
                      </a:pPr>
                      <a:endParaRPr lang="en-US" sz="850" dirty="0">
                        <a:latin typeface="Noto Sans JP" charset="0"/>
                        <a:ea typeface="Noto Sans JP" charset="0"/>
                        <a:cs typeface="Noto Sans JP" charset="0"/>
                      </a:endParaRPr>
                    </a:p>
                  </a:txBody>
                  <a:tcPr marL="64008" marR="64008" marT="18288" marB="18288" anchor="ct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tcPr>
                </a:tc>
                <a:tc>
                  <a:txBody>
                    <a:bodyPr/>
                    <a:lstStyle/>
                    <a:p>
                      <a:pPr algn="r" indent="0" marL="0">
                        <a:buNone/>
                      </a:pPr>
                      <a:r>
                        <a:rPr lang="en-US" sz="850" dirty="0">
                          <a:solidFill>
                            <a:srgbClr val="444444"/>
                          </a:solidFill>
                          <a:latin typeface="Noto Sans JP" pitchFamily="34" charset="0"/>
                          <a:ea typeface="Noto Sans JP" pitchFamily="34" charset="-122"/>
                          <a:cs typeface="Noto Sans JP" pitchFamily="34" charset="-120"/>
                        </a:rPr>
                        <a:t>300</a:t>
                      </a:r>
                      <a:endParaRPr lang="en-US" sz="850" dirty="0">
                        <a:latin typeface="Noto Sans JP" charset="0"/>
                        <a:ea typeface="Noto Sans JP" charset="0"/>
                        <a:cs typeface="Noto Sans JP" charset="0"/>
                      </a:endParaRPr>
                    </a:p>
                  </a:txBody>
                  <a:tcPr marL="64008" marR="64008" marT="18288" marB="18288" anchor="ct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tcPr>
                </a:tc>
              </a:tr>
              <a:tr h="304800">
                <a:tc>
                  <a:txBody>
                    <a:bodyPr/>
                    <a:lstStyle/>
                    <a:p>
                      <a:pPr indent="0" marL="0">
                        <a:buNone/>
                      </a:pPr>
                      <a:r>
                        <a:rPr lang="en-US" sz="850" b="1" dirty="0">
                          <a:solidFill>
                            <a:srgbClr val="16816D"/>
                          </a:solidFill>
                          <a:latin typeface="Noto Sans JP" pitchFamily="34" charset="0"/>
                          <a:ea typeface="Noto Sans JP" pitchFamily="34" charset="-122"/>
                          <a:cs typeface="Noto Sans JP" pitchFamily="34" charset="-120"/>
                        </a:rPr>
                        <a:t>施業</a:t>
                      </a:r>
                      <a:endParaRPr lang="en-US" sz="850" dirty="0">
                        <a:latin typeface="Noto Sans JP" charset="0"/>
                        <a:ea typeface="Noto Sans JP" charset="0"/>
                        <a:cs typeface="Noto Sans JP" charset="0"/>
                      </a:endParaRPr>
                    </a:p>
                  </a:txBody>
                  <a:tcPr marL="64008" marR="64008" marT="18288" marB="18288" anchor="ct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tcPr>
                </a:tc>
                <a:tc>
                  <a:txBody>
                    <a:bodyPr/>
                    <a:lstStyle/>
                    <a:p>
                      <a:pPr indent="0" marL="0">
                        <a:buNone/>
                      </a:pPr>
                      <a:r>
                        <a:rPr lang="en-US" sz="850" dirty="0">
                          <a:solidFill>
                            <a:srgbClr val="444444"/>
                          </a:solidFill>
                          <a:latin typeface="Noto Sans JP" pitchFamily="34" charset="0"/>
                          <a:ea typeface="Noto Sans JP" pitchFamily="34" charset="-122"/>
                          <a:cs typeface="Noto Sans JP" pitchFamily="34" charset="-120"/>
                        </a:rPr>
                        <a:t>森林作業道の開設</a:t>
                      </a:r>
                      <a:endParaRPr lang="en-US" sz="850" dirty="0">
                        <a:latin typeface="Noto Sans JP" charset="0"/>
                        <a:ea typeface="Noto Sans JP" charset="0"/>
                        <a:cs typeface="Noto Sans JP" charset="0"/>
                      </a:endParaRPr>
                    </a:p>
                  </a:txBody>
                  <a:tcPr marL="64008" marR="64008" marT="18288" marB="18288" anchor="ct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tcPr>
                </a:tc>
                <a:tc>
                  <a:txBody>
                    <a:bodyPr/>
                    <a:lstStyle/>
                    <a:p>
                      <a:pPr algn="ctr" indent="0" marL="0">
                        <a:buNone/>
                      </a:pPr>
                      <a:r>
                        <a:rPr lang="en-US" sz="850" dirty="0">
                          <a:solidFill>
                            <a:srgbClr val="444444"/>
                          </a:solidFill>
                          <a:latin typeface="Noto Sans JP" pitchFamily="34" charset="0"/>
                          <a:ea typeface="Noto Sans JP" pitchFamily="34" charset="-122"/>
                          <a:cs typeface="Noto Sans JP" pitchFamily="34" charset="-120"/>
                        </a:rPr>
                        <a:t>1.5万円/m</a:t>
                      </a:r>
                      <a:endParaRPr lang="en-US" sz="850" dirty="0">
                        <a:latin typeface="Noto Sans JP" charset="0"/>
                        <a:ea typeface="Noto Sans JP" charset="0"/>
                        <a:cs typeface="Noto Sans JP" charset="0"/>
                      </a:endParaRPr>
                    </a:p>
                  </a:txBody>
                  <a:tcPr marL="64008" marR="64008" marT="18288" marB="18288" anchor="ct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tcPr>
                </a:tc>
                <a:tc>
                  <a:txBody>
                    <a:bodyPr/>
                    <a:lstStyle/>
                    <a:p>
                      <a:pPr algn="ctr" indent="0" marL="0">
                        <a:buNone/>
                      </a:pPr>
                      <a:r>
                        <a:rPr lang="en-US" sz="850" dirty="0">
                          <a:solidFill>
                            <a:srgbClr val="444444"/>
                          </a:solidFill>
                          <a:latin typeface="Noto Sans JP" pitchFamily="34" charset="0"/>
                          <a:ea typeface="Noto Sans JP" pitchFamily="34" charset="-122"/>
                          <a:cs typeface="Noto Sans JP" pitchFamily="34" charset="-120"/>
                        </a:rPr>
                        <a:t>800m</a:t>
                      </a:r>
                      <a:endParaRPr lang="en-US" sz="850" dirty="0">
                        <a:latin typeface="Noto Sans JP" charset="0"/>
                        <a:ea typeface="Noto Sans JP" charset="0"/>
                        <a:cs typeface="Noto Sans JP" charset="0"/>
                      </a:endParaRPr>
                    </a:p>
                  </a:txBody>
                  <a:tcPr marL="64008" marR="64008" marT="18288" marB="18288" anchor="ct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tcPr>
                </a:tc>
                <a:tc>
                  <a:txBody>
                    <a:bodyPr/>
                    <a:lstStyle/>
                    <a:p>
                      <a:pPr algn="r" indent="0" marL="0">
                        <a:buNone/>
                      </a:pPr>
                      <a:r>
                        <a:rPr lang="en-US" sz="850" dirty="0">
                          <a:solidFill>
                            <a:srgbClr val="444444"/>
                          </a:solidFill>
                          <a:latin typeface="Noto Sans JP" pitchFamily="34" charset="0"/>
                          <a:ea typeface="Noto Sans JP" pitchFamily="34" charset="-122"/>
                          <a:cs typeface="Noto Sans JP" pitchFamily="34" charset="-120"/>
                        </a:rPr>
                        <a:t>1,200</a:t>
                      </a:r>
                      <a:endParaRPr lang="en-US" sz="850" dirty="0">
                        <a:latin typeface="Noto Sans JP" charset="0"/>
                        <a:ea typeface="Noto Sans JP" charset="0"/>
                        <a:cs typeface="Noto Sans JP" charset="0"/>
                      </a:endParaRPr>
                    </a:p>
                  </a:txBody>
                  <a:tcPr marL="64008" marR="64008" marT="18288" marB="18288" anchor="ct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tcPr>
                </a:tc>
              </a:tr>
              <a:tr h="304800">
                <a:tc>
                  <a:txBody>
                    <a:bodyPr/>
                    <a:lstStyle/>
                    <a:p>
                      <a:pPr indent="0" marL="0">
                        <a:buNone/>
                      </a:pPr>
                      <a:endParaRPr lang="en-US" sz="850" dirty="0">
                        <a:latin typeface="Noto Sans JP" charset="0"/>
                        <a:ea typeface="Noto Sans JP" charset="0"/>
                        <a:cs typeface="Noto Sans JP" charset="0"/>
                      </a:endParaRPr>
                    </a:p>
                  </a:txBody>
                  <a:tcPr marL="64008" marR="64008" marT="18288" marB="18288" anchor="ct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tcPr>
                </a:tc>
                <a:tc>
                  <a:txBody>
                    <a:bodyPr/>
                    <a:lstStyle/>
                    <a:p>
                      <a:pPr indent="0" marL="0">
                        <a:buNone/>
                      </a:pPr>
                      <a:r>
                        <a:rPr lang="en-US" sz="850" dirty="0">
                          <a:solidFill>
                            <a:srgbClr val="444444"/>
                          </a:solidFill>
                          <a:latin typeface="Noto Sans JP" pitchFamily="34" charset="0"/>
                          <a:ea typeface="Noto Sans JP" pitchFamily="34" charset="-122"/>
                          <a:cs typeface="Noto Sans JP" pitchFamily="34" charset="-120"/>
                        </a:rPr>
                        <a:t>搬出間伐</a:t>
                      </a:r>
                      <a:endParaRPr lang="en-US" sz="850" dirty="0">
                        <a:latin typeface="Noto Sans JP" charset="0"/>
                        <a:ea typeface="Noto Sans JP" charset="0"/>
                        <a:cs typeface="Noto Sans JP" charset="0"/>
                      </a:endParaRPr>
                    </a:p>
                  </a:txBody>
                  <a:tcPr marL="64008" marR="64008" marT="18288" marB="18288" anchor="ct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tcPr>
                </a:tc>
                <a:tc>
                  <a:txBody>
                    <a:bodyPr/>
                    <a:lstStyle/>
                    <a:p>
                      <a:pPr algn="ctr" indent="0" marL="0">
                        <a:buNone/>
                      </a:pPr>
                      <a:r>
                        <a:rPr lang="en-US" sz="850" dirty="0">
                          <a:solidFill>
                            <a:srgbClr val="444444"/>
                          </a:solidFill>
                          <a:latin typeface="Noto Sans JP" pitchFamily="34" charset="0"/>
                          <a:ea typeface="Noto Sans JP" pitchFamily="34" charset="-122"/>
                          <a:cs typeface="Noto Sans JP" pitchFamily="34" charset="-120"/>
                        </a:rPr>
                        <a:t>70万円/ha</a:t>
                      </a:r>
                      <a:endParaRPr lang="en-US" sz="850" dirty="0">
                        <a:latin typeface="Noto Sans JP" charset="0"/>
                        <a:ea typeface="Noto Sans JP" charset="0"/>
                        <a:cs typeface="Noto Sans JP" charset="0"/>
                      </a:endParaRPr>
                    </a:p>
                  </a:txBody>
                  <a:tcPr marL="64008" marR="64008" marT="18288" marB="18288" anchor="ct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tcPr>
                </a:tc>
                <a:tc>
                  <a:txBody>
                    <a:bodyPr/>
                    <a:lstStyle/>
                    <a:p>
                      <a:pPr algn="ctr" indent="0" marL="0">
                        <a:buNone/>
                      </a:pPr>
                      <a:r>
                        <a:rPr lang="en-US" sz="850" dirty="0">
                          <a:solidFill>
                            <a:srgbClr val="444444"/>
                          </a:solidFill>
                          <a:latin typeface="Noto Sans JP" pitchFamily="34" charset="0"/>
                          <a:ea typeface="Noto Sans JP" pitchFamily="34" charset="-122"/>
                          <a:cs typeface="Noto Sans JP" pitchFamily="34" charset="-120"/>
                        </a:rPr>
                        <a:t>20ha</a:t>
                      </a:r>
                      <a:endParaRPr lang="en-US" sz="850" dirty="0">
                        <a:latin typeface="Noto Sans JP" charset="0"/>
                        <a:ea typeface="Noto Sans JP" charset="0"/>
                        <a:cs typeface="Noto Sans JP" charset="0"/>
                      </a:endParaRPr>
                    </a:p>
                  </a:txBody>
                  <a:tcPr marL="64008" marR="64008" marT="18288" marB="18288" anchor="ct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tcPr>
                </a:tc>
                <a:tc>
                  <a:txBody>
                    <a:bodyPr/>
                    <a:lstStyle/>
                    <a:p>
                      <a:pPr algn="r" indent="0" marL="0">
                        <a:buNone/>
                      </a:pPr>
                      <a:r>
                        <a:rPr lang="en-US" sz="850" dirty="0">
                          <a:solidFill>
                            <a:srgbClr val="444444"/>
                          </a:solidFill>
                          <a:latin typeface="Noto Sans JP" pitchFamily="34" charset="0"/>
                          <a:ea typeface="Noto Sans JP" pitchFamily="34" charset="-122"/>
                          <a:cs typeface="Noto Sans JP" pitchFamily="34" charset="-120"/>
                        </a:rPr>
                        <a:t>1,400</a:t>
                      </a:r>
                      <a:endParaRPr lang="en-US" sz="850" dirty="0">
                        <a:latin typeface="Noto Sans JP" charset="0"/>
                        <a:ea typeface="Noto Sans JP" charset="0"/>
                        <a:cs typeface="Noto Sans JP" charset="0"/>
                      </a:endParaRPr>
                    </a:p>
                  </a:txBody>
                  <a:tcPr marL="64008" marR="64008" marT="18288" marB="18288" anchor="ct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tcPr>
                </a:tc>
              </a:tr>
              <a:tr h="304800">
                <a:tc>
                  <a:txBody>
                    <a:bodyPr/>
                    <a:lstStyle/>
                    <a:p>
                      <a:pPr indent="0" marL="0">
                        <a:buNone/>
                      </a:pPr>
                      <a:r>
                        <a:rPr lang="en-US" sz="850" b="1" dirty="0">
                          <a:solidFill>
                            <a:srgbClr val="16816D"/>
                          </a:solidFill>
                          <a:latin typeface="Noto Sans JP" pitchFamily="34" charset="0"/>
                          <a:ea typeface="Noto Sans JP" pitchFamily="34" charset="-122"/>
                          <a:cs typeface="Noto Sans JP" pitchFamily="34" charset="-120"/>
                        </a:rPr>
                        <a:t>造林</a:t>
                      </a:r>
                      <a:endParaRPr lang="en-US" sz="850" dirty="0">
                        <a:latin typeface="Noto Sans JP" charset="0"/>
                        <a:ea typeface="Noto Sans JP" charset="0"/>
                        <a:cs typeface="Noto Sans JP" charset="0"/>
                      </a:endParaRPr>
                    </a:p>
                  </a:txBody>
                  <a:tcPr marL="64008" marR="64008" marT="18288" marB="18288" anchor="ct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tcPr>
                </a:tc>
                <a:tc>
                  <a:txBody>
                    <a:bodyPr/>
                    <a:lstStyle/>
                    <a:p>
                      <a:pPr indent="0" marL="0">
                        <a:buNone/>
                      </a:pPr>
                      <a:r>
                        <a:rPr lang="en-US" sz="850" dirty="0">
                          <a:solidFill>
                            <a:srgbClr val="444444"/>
                          </a:solidFill>
                          <a:latin typeface="Noto Sans JP" pitchFamily="34" charset="0"/>
                          <a:ea typeface="Noto Sans JP" pitchFamily="34" charset="-122"/>
                          <a:cs typeface="Noto Sans JP" pitchFamily="34" charset="-120"/>
                        </a:rPr>
                        <a:t>植栽・下刈り（皆伐跡・崩壊地等）</a:t>
                      </a:r>
                      <a:endParaRPr lang="en-US" sz="850" dirty="0">
                        <a:latin typeface="Noto Sans JP" charset="0"/>
                        <a:ea typeface="Noto Sans JP" charset="0"/>
                        <a:cs typeface="Noto Sans JP" charset="0"/>
                      </a:endParaRPr>
                    </a:p>
                  </a:txBody>
                  <a:tcPr marL="64008" marR="64008" marT="18288" marB="18288" anchor="ct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tcPr>
                </a:tc>
                <a:tc>
                  <a:txBody>
                    <a:bodyPr/>
                    <a:lstStyle/>
                    <a:p>
                      <a:pPr algn="ctr" indent="0" marL="0">
                        <a:buNone/>
                      </a:pPr>
                      <a:r>
                        <a:rPr lang="en-US" sz="850" dirty="0">
                          <a:solidFill>
                            <a:srgbClr val="444444"/>
                          </a:solidFill>
                          <a:latin typeface="Noto Sans JP" pitchFamily="34" charset="0"/>
                          <a:ea typeface="Noto Sans JP" pitchFamily="34" charset="-122"/>
                          <a:cs typeface="Noto Sans JP" pitchFamily="34" charset="-120"/>
                        </a:rPr>
                        <a:t>250万円/ha</a:t>
                      </a:r>
                      <a:endParaRPr lang="en-US" sz="850" dirty="0">
                        <a:latin typeface="Noto Sans JP" charset="0"/>
                        <a:ea typeface="Noto Sans JP" charset="0"/>
                        <a:cs typeface="Noto Sans JP" charset="0"/>
                      </a:endParaRPr>
                    </a:p>
                  </a:txBody>
                  <a:tcPr marL="64008" marR="64008" marT="18288" marB="18288" anchor="ct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tcPr>
                </a:tc>
                <a:tc>
                  <a:txBody>
                    <a:bodyPr/>
                    <a:lstStyle/>
                    <a:p>
                      <a:pPr algn="ctr" indent="0" marL="0">
                        <a:buNone/>
                      </a:pPr>
                      <a:r>
                        <a:rPr lang="en-US" sz="850" dirty="0">
                          <a:solidFill>
                            <a:srgbClr val="444444"/>
                          </a:solidFill>
                          <a:latin typeface="Noto Sans JP" pitchFamily="34" charset="0"/>
                          <a:ea typeface="Noto Sans JP" pitchFamily="34" charset="-122"/>
                          <a:cs typeface="Noto Sans JP" pitchFamily="34" charset="-120"/>
                        </a:rPr>
                        <a:t>2ha</a:t>
                      </a:r>
                      <a:endParaRPr lang="en-US" sz="850" dirty="0">
                        <a:latin typeface="Noto Sans JP" charset="0"/>
                        <a:ea typeface="Noto Sans JP" charset="0"/>
                        <a:cs typeface="Noto Sans JP" charset="0"/>
                      </a:endParaRPr>
                    </a:p>
                  </a:txBody>
                  <a:tcPr marL="64008" marR="64008" marT="18288" marB="18288" anchor="ct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tcPr>
                </a:tc>
                <a:tc>
                  <a:txBody>
                    <a:bodyPr/>
                    <a:lstStyle/>
                    <a:p>
                      <a:pPr algn="r" indent="0" marL="0">
                        <a:buNone/>
                      </a:pPr>
                      <a:r>
                        <a:rPr lang="en-US" sz="850" dirty="0">
                          <a:solidFill>
                            <a:srgbClr val="444444"/>
                          </a:solidFill>
                          <a:latin typeface="Noto Sans JP" pitchFamily="34" charset="0"/>
                          <a:ea typeface="Noto Sans JP" pitchFamily="34" charset="-122"/>
                          <a:cs typeface="Noto Sans JP" pitchFamily="34" charset="-120"/>
                        </a:rPr>
                        <a:t>500</a:t>
                      </a:r>
                      <a:endParaRPr lang="en-US" sz="850" dirty="0">
                        <a:latin typeface="Noto Sans JP" charset="0"/>
                        <a:ea typeface="Noto Sans JP" charset="0"/>
                        <a:cs typeface="Noto Sans JP" charset="0"/>
                      </a:endParaRPr>
                    </a:p>
                  </a:txBody>
                  <a:tcPr marL="64008" marR="64008" marT="18288" marB="18288" anchor="ct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tcPr>
                </a:tc>
              </a:tr>
              <a:tr h="304800">
                <a:tc>
                  <a:txBody>
                    <a:bodyPr/>
                    <a:lstStyle/>
                    <a:p>
                      <a:pPr indent="0" marL="0">
                        <a:buNone/>
                      </a:pPr>
                      <a:r>
                        <a:rPr lang="en-US" sz="850" b="1" dirty="0">
                          <a:solidFill>
                            <a:srgbClr val="16816D"/>
                          </a:solidFill>
                          <a:latin typeface="Noto Sans JP" pitchFamily="34" charset="0"/>
                          <a:ea typeface="Noto Sans JP" pitchFamily="34" charset="-122"/>
                          <a:cs typeface="Noto Sans JP" pitchFamily="34" charset="-120"/>
                        </a:rPr>
                        <a:t>利用</a:t>
                      </a:r>
                      <a:endParaRPr lang="en-US" sz="850" dirty="0">
                        <a:latin typeface="Noto Sans JP" charset="0"/>
                        <a:ea typeface="Noto Sans JP" charset="0"/>
                        <a:cs typeface="Noto Sans JP" charset="0"/>
                      </a:endParaRPr>
                    </a:p>
                  </a:txBody>
                  <a:tcPr marL="64008" marR="64008" marT="18288" marB="18288" anchor="ct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tcPr>
                </a:tc>
                <a:tc>
                  <a:txBody>
                    <a:bodyPr/>
                    <a:lstStyle/>
                    <a:p>
                      <a:pPr indent="0" marL="0">
                        <a:buNone/>
                      </a:pPr>
                      <a:r>
                        <a:rPr lang="en-US" sz="850" dirty="0">
                          <a:solidFill>
                            <a:srgbClr val="444444"/>
                          </a:solidFill>
                          <a:latin typeface="Noto Sans JP" pitchFamily="34" charset="0"/>
                          <a:ea typeface="Noto Sans JP" pitchFamily="34" charset="-122"/>
                          <a:cs typeface="Noto Sans JP" pitchFamily="34" charset="-120"/>
                        </a:rPr>
                        <a:t>木材の製品化・流通（トレーサビリティ含む）</a:t>
                      </a:r>
                      <a:endParaRPr lang="en-US" sz="850" dirty="0">
                        <a:latin typeface="Noto Sans JP" charset="0"/>
                        <a:ea typeface="Noto Sans JP" charset="0"/>
                        <a:cs typeface="Noto Sans JP" charset="0"/>
                      </a:endParaRPr>
                    </a:p>
                  </a:txBody>
                  <a:tcPr marL="64008" marR="64008" marT="18288" marB="18288" anchor="ct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tcPr>
                </a:tc>
                <a:tc>
                  <a:txBody>
                    <a:bodyPr/>
                    <a:lstStyle/>
                    <a:p>
                      <a:pPr algn="ctr" indent="0" marL="0">
                        <a:buNone/>
                      </a:pPr>
                      <a:r>
                        <a:rPr lang="en-US" sz="850" dirty="0">
                          <a:solidFill>
                            <a:srgbClr val="444444"/>
                          </a:solidFill>
                          <a:latin typeface="Noto Sans JP" pitchFamily="34" charset="0"/>
                          <a:ea typeface="Noto Sans JP" pitchFamily="34" charset="-122"/>
                          <a:cs typeface="Noto Sans JP" pitchFamily="34" charset="-120"/>
                        </a:rPr>
                        <a:t>一式</a:t>
                      </a:r>
                      <a:endParaRPr lang="en-US" sz="850" dirty="0">
                        <a:latin typeface="Noto Sans JP" charset="0"/>
                        <a:ea typeface="Noto Sans JP" charset="0"/>
                        <a:cs typeface="Noto Sans JP" charset="0"/>
                      </a:endParaRPr>
                    </a:p>
                  </a:txBody>
                  <a:tcPr marL="64008" marR="64008" marT="18288" marB="18288" anchor="ct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tcPr>
                </a:tc>
                <a:tc>
                  <a:txBody>
                    <a:bodyPr/>
                    <a:lstStyle/>
                    <a:p>
                      <a:pPr algn="ctr" indent="0" marL="0">
                        <a:buNone/>
                      </a:pPr>
                      <a:endParaRPr lang="en-US" sz="850" dirty="0">
                        <a:latin typeface="Noto Sans JP" charset="0"/>
                        <a:ea typeface="Noto Sans JP" charset="0"/>
                        <a:cs typeface="Noto Sans JP" charset="0"/>
                      </a:endParaRPr>
                    </a:p>
                  </a:txBody>
                  <a:tcPr marL="64008" marR="64008" marT="18288" marB="18288" anchor="ct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tcPr>
                </a:tc>
                <a:tc>
                  <a:txBody>
                    <a:bodyPr/>
                    <a:lstStyle/>
                    <a:p>
                      <a:pPr algn="r" indent="0" marL="0">
                        <a:buNone/>
                      </a:pPr>
                      <a:r>
                        <a:rPr lang="en-US" sz="850" dirty="0">
                          <a:solidFill>
                            <a:srgbClr val="444444"/>
                          </a:solidFill>
                          <a:latin typeface="Noto Sans JP" pitchFamily="34" charset="0"/>
                          <a:ea typeface="Noto Sans JP" pitchFamily="34" charset="-122"/>
                          <a:cs typeface="Noto Sans JP" pitchFamily="34" charset="-120"/>
                        </a:rPr>
                        <a:t>300</a:t>
                      </a:r>
                      <a:endParaRPr lang="en-US" sz="850" dirty="0">
                        <a:latin typeface="Noto Sans JP" charset="0"/>
                        <a:ea typeface="Noto Sans JP" charset="0"/>
                        <a:cs typeface="Noto Sans JP" charset="0"/>
                      </a:endParaRPr>
                    </a:p>
                  </a:txBody>
                  <a:tcPr marL="64008" marR="64008" marT="18288" marB="18288" anchor="ct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tcPr>
                </a:tc>
              </a:tr>
              <a:tr h="304800">
                <a:tc>
                  <a:txBody>
                    <a:bodyPr/>
                    <a:lstStyle/>
                    <a:p>
                      <a:pPr indent="0" marL="0">
                        <a:buNone/>
                      </a:pPr>
                      <a:endParaRPr lang="en-US" sz="850" dirty="0">
                        <a:latin typeface="Noto Sans JP" charset="0"/>
                        <a:ea typeface="Noto Sans JP" charset="0"/>
                        <a:cs typeface="Noto Sans JP" charset="0"/>
                      </a:endParaRPr>
                    </a:p>
                  </a:txBody>
                  <a:tcPr marL="64008" marR="64008" marT="18288" marB="18288" anchor="ct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tcPr>
                </a:tc>
                <a:tc>
                  <a:txBody>
                    <a:bodyPr/>
                    <a:lstStyle/>
                    <a:p>
                      <a:pPr indent="0" marL="0">
                        <a:buNone/>
                      </a:pPr>
                      <a:r>
                        <a:rPr lang="en-US" sz="850" dirty="0">
                          <a:solidFill>
                            <a:srgbClr val="444444"/>
                          </a:solidFill>
                          <a:latin typeface="Noto Sans JP" pitchFamily="34" charset="0"/>
                          <a:ea typeface="Noto Sans JP" pitchFamily="34" charset="-122"/>
                          <a:cs typeface="Noto Sans JP" pitchFamily="34" charset="-120"/>
                        </a:rPr>
                        <a:t>森林体験プログラム</a:t>
                      </a:r>
                      <a:endParaRPr lang="en-US" sz="850" dirty="0">
                        <a:latin typeface="Noto Sans JP" charset="0"/>
                        <a:ea typeface="Noto Sans JP" charset="0"/>
                        <a:cs typeface="Noto Sans JP" charset="0"/>
                      </a:endParaRPr>
                    </a:p>
                  </a:txBody>
                  <a:tcPr marL="64008" marR="64008" marT="18288" marB="18288" anchor="ct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tcPr>
                </a:tc>
                <a:tc>
                  <a:txBody>
                    <a:bodyPr/>
                    <a:lstStyle/>
                    <a:p>
                      <a:pPr algn="ctr" indent="0" marL="0">
                        <a:buNone/>
                      </a:pPr>
                      <a:r>
                        <a:rPr lang="en-US" sz="850" dirty="0">
                          <a:solidFill>
                            <a:srgbClr val="444444"/>
                          </a:solidFill>
                          <a:latin typeface="Noto Sans JP" pitchFamily="34" charset="0"/>
                          <a:ea typeface="Noto Sans JP" pitchFamily="34" charset="-122"/>
                          <a:cs typeface="Noto Sans JP" pitchFamily="34" charset="-120"/>
                        </a:rPr>
                        <a:t>100万円/回</a:t>
                      </a:r>
                      <a:endParaRPr lang="en-US" sz="850" dirty="0">
                        <a:latin typeface="Noto Sans JP" charset="0"/>
                        <a:ea typeface="Noto Sans JP" charset="0"/>
                        <a:cs typeface="Noto Sans JP" charset="0"/>
                      </a:endParaRPr>
                    </a:p>
                  </a:txBody>
                  <a:tcPr marL="64008" marR="64008" marT="18288" marB="18288" anchor="ct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tcPr>
                </a:tc>
                <a:tc>
                  <a:txBody>
                    <a:bodyPr/>
                    <a:lstStyle/>
                    <a:p>
                      <a:pPr algn="ctr" indent="0" marL="0">
                        <a:buNone/>
                      </a:pPr>
                      <a:r>
                        <a:rPr lang="en-US" sz="850" dirty="0">
                          <a:solidFill>
                            <a:srgbClr val="444444"/>
                          </a:solidFill>
                          <a:latin typeface="Noto Sans JP" pitchFamily="34" charset="0"/>
                          <a:ea typeface="Noto Sans JP" pitchFamily="34" charset="-122"/>
                          <a:cs typeface="Noto Sans JP" pitchFamily="34" charset="-120"/>
                        </a:rPr>
                        <a:t>4回</a:t>
                      </a:r>
                      <a:endParaRPr lang="en-US" sz="850" dirty="0">
                        <a:latin typeface="Noto Sans JP" charset="0"/>
                        <a:ea typeface="Noto Sans JP" charset="0"/>
                        <a:cs typeface="Noto Sans JP" charset="0"/>
                      </a:endParaRPr>
                    </a:p>
                  </a:txBody>
                  <a:tcPr marL="64008" marR="64008" marT="18288" marB="18288" anchor="ct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tcPr>
                </a:tc>
                <a:tc>
                  <a:txBody>
                    <a:bodyPr/>
                    <a:lstStyle/>
                    <a:p>
                      <a:pPr algn="r" indent="0" marL="0">
                        <a:buNone/>
                      </a:pPr>
                      <a:r>
                        <a:rPr lang="en-US" sz="850" dirty="0">
                          <a:solidFill>
                            <a:srgbClr val="444444"/>
                          </a:solidFill>
                          <a:latin typeface="Noto Sans JP" pitchFamily="34" charset="0"/>
                          <a:ea typeface="Noto Sans JP" pitchFamily="34" charset="-122"/>
                          <a:cs typeface="Noto Sans JP" pitchFamily="34" charset="-120"/>
                        </a:rPr>
                        <a:t>400</a:t>
                      </a:r>
                      <a:endParaRPr lang="en-US" sz="850" dirty="0">
                        <a:latin typeface="Noto Sans JP" charset="0"/>
                        <a:ea typeface="Noto Sans JP" charset="0"/>
                        <a:cs typeface="Noto Sans JP" charset="0"/>
                      </a:endParaRPr>
                    </a:p>
                  </a:txBody>
                  <a:tcPr marL="64008" marR="64008" marT="18288" marB="18288" anchor="ct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tcPr>
                </a:tc>
              </a:tr>
              <a:tr h="304800">
                <a:tc>
                  <a:txBody>
                    <a:bodyPr/>
                    <a:lstStyle/>
                    <a:p>
                      <a:pPr indent="0" marL="0">
                        <a:buNone/>
                      </a:pPr>
                      <a:endParaRPr lang="en-US" sz="850" dirty="0">
                        <a:latin typeface="Noto Sans JP" charset="0"/>
                        <a:ea typeface="Noto Sans JP" charset="0"/>
                        <a:cs typeface="Noto Sans JP" charset="0"/>
                      </a:endParaRPr>
                    </a:p>
                  </a:txBody>
                  <a:tcPr marL="64008" marR="64008" marT="18288" marB="18288" anchor="ct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tcPr>
                </a:tc>
                <a:tc>
                  <a:txBody>
                    <a:bodyPr/>
                    <a:lstStyle/>
                    <a:p>
                      <a:pPr indent="0" marL="0">
                        <a:buNone/>
                      </a:pPr>
                      <a:r>
                        <a:rPr lang="en-US" sz="850" dirty="0">
                          <a:solidFill>
                            <a:srgbClr val="444444"/>
                          </a:solidFill>
                          <a:latin typeface="Noto Sans JP" pitchFamily="34" charset="0"/>
                          <a:ea typeface="Noto Sans JP" pitchFamily="34" charset="-122"/>
                          <a:cs typeface="Noto Sans JP" pitchFamily="34" charset="-120"/>
                        </a:rPr>
                        <a:t>木材ワークショップ</a:t>
                      </a:r>
                      <a:endParaRPr lang="en-US" sz="850" dirty="0">
                        <a:latin typeface="Noto Sans JP" charset="0"/>
                        <a:ea typeface="Noto Sans JP" charset="0"/>
                        <a:cs typeface="Noto Sans JP" charset="0"/>
                      </a:endParaRPr>
                    </a:p>
                  </a:txBody>
                  <a:tcPr marL="64008" marR="64008" marT="18288" marB="18288" anchor="ct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tcPr>
                </a:tc>
                <a:tc>
                  <a:txBody>
                    <a:bodyPr/>
                    <a:lstStyle/>
                    <a:p>
                      <a:pPr algn="ctr" indent="0" marL="0">
                        <a:buNone/>
                      </a:pPr>
                      <a:r>
                        <a:rPr lang="en-US" sz="850" dirty="0">
                          <a:solidFill>
                            <a:srgbClr val="444444"/>
                          </a:solidFill>
                          <a:latin typeface="Noto Sans JP" pitchFamily="34" charset="0"/>
                          <a:ea typeface="Noto Sans JP" pitchFamily="34" charset="-122"/>
                          <a:cs typeface="Noto Sans JP" pitchFamily="34" charset="-120"/>
                        </a:rPr>
                        <a:t>50万円/回</a:t>
                      </a:r>
                      <a:endParaRPr lang="en-US" sz="850" dirty="0">
                        <a:latin typeface="Noto Sans JP" charset="0"/>
                        <a:ea typeface="Noto Sans JP" charset="0"/>
                        <a:cs typeface="Noto Sans JP" charset="0"/>
                      </a:endParaRPr>
                    </a:p>
                  </a:txBody>
                  <a:tcPr marL="64008" marR="64008" marT="18288" marB="18288" anchor="ct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tcPr>
                </a:tc>
                <a:tc>
                  <a:txBody>
                    <a:bodyPr/>
                    <a:lstStyle/>
                    <a:p>
                      <a:pPr algn="ctr" indent="0" marL="0">
                        <a:buNone/>
                      </a:pPr>
                      <a:r>
                        <a:rPr lang="en-US" sz="850" dirty="0">
                          <a:solidFill>
                            <a:srgbClr val="444444"/>
                          </a:solidFill>
                          <a:latin typeface="Noto Sans JP" pitchFamily="34" charset="0"/>
                          <a:ea typeface="Noto Sans JP" pitchFamily="34" charset="-122"/>
                          <a:cs typeface="Noto Sans JP" pitchFamily="34" charset="-120"/>
                        </a:rPr>
                        <a:t>4回</a:t>
                      </a:r>
                      <a:endParaRPr lang="en-US" sz="850" dirty="0">
                        <a:latin typeface="Noto Sans JP" charset="0"/>
                        <a:ea typeface="Noto Sans JP" charset="0"/>
                        <a:cs typeface="Noto Sans JP" charset="0"/>
                      </a:endParaRPr>
                    </a:p>
                  </a:txBody>
                  <a:tcPr marL="64008" marR="64008" marT="18288" marB="18288" anchor="ct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tcPr>
                </a:tc>
                <a:tc>
                  <a:txBody>
                    <a:bodyPr/>
                    <a:lstStyle/>
                    <a:p>
                      <a:pPr algn="r" indent="0" marL="0">
                        <a:buNone/>
                      </a:pPr>
                      <a:r>
                        <a:rPr lang="en-US" sz="850" dirty="0">
                          <a:solidFill>
                            <a:srgbClr val="444444"/>
                          </a:solidFill>
                          <a:latin typeface="Noto Sans JP" pitchFamily="34" charset="0"/>
                          <a:ea typeface="Noto Sans JP" pitchFamily="34" charset="-122"/>
                          <a:cs typeface="Noto Sans JP" pitchFamily="34" charset="-120"/>
                        </a:rPr>
                        <a:t>200</a:t>
                      </a:r>
                      <a:endParaRPr lang="en-US" sz="850" dirty="0">
                        <a:latin typeface="Noto Sans JP" charset="0"/>
                        <a:ea typeface="Noto Sans JP" charset="0"/>
                        <a:cs typeface="Noto Sans JP" charset="0"/>
                      </a:endParaRPr>
                    </a:p>
                  </a:txBody>
                  <a:tcPr marL="64008" marR="64008" marT="18288" marB="18288" anchor="ct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tcPr>
                </a:tc>
              </a:tr>
              <a:tr h="304800">
                <a:tc>
                  <a:txBody>
                    <a:bodyPr/>
                    <a:lstStyle/>
                    <a:p>
                      <a:pPr indent="0" marL="0">
                        <a:buNone/>
                      </a:pPr>
                      <a:r>
                        <a:rPr lang="en-US" sz="850" b="1" dirty="0">
                          <a:solidFill>
                            <a:srgbClr val="16816D"/>
                          </a:solidFill>
                          <a:latin typeface="Noto Sans JP" pitchFamily="34" charset="0"/>
                          <a:ea typeface="Noto Sans JP" pitchFamily="34" charset="-122"/>
                          <a:cs typeface="Noto Sans JP" pitchFamily="34" charset="-120"/>
                        </a:rPr>
                        <a:t>管理</a:t>
                      </a:r>
                      <a:endParaRPr lang="en-US" sz="850" dirty="0">
                        <a:latin typeface="Noto Sans JP" charset="0"/>
                        <a:ea typeface="Noto Sans JP" charset="0"/>
                        <a:cs typeface="Noto Sans JP" charset="0"/>
                      </a:endParaRPr>
                    </a:p>
                  </a:txBody>
                  <a:tcPr marL="64008" marR="64008" marT="18288" marB="18288" anchor="ct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tcPr>
                </a:tc>
                <a:tc>
                  <a:txBody>
                    <a:bodyPr/>
                    <a:lstStyle/>
                    <a:p>
                      <a:pPr indent="0" marL="0">
                        <a:buNone/>
                      </a:pPr>
                      <a:r>
                        <a:rPr lang="en-US" sz="850" dirty="0">
                          <a:solidFill>
                            <a:srgbClr val="444444"/>
                          </a:solidFill>
                          <a:latin typeface="Noto Sans JP" pitchFamily="34" charset="0"/>
                          <a:ea typeface="Noto Sans JP" pitchFamily="34" charset="-122"/>
                          <a:cs typeface="Noto Sans JP" pitchFamily="34" charset="-120"/>
                        </a:rPr>
                        <a:t>モニタリング・成果レポート（TNFD開示支援）</a:t>
                      </a:r>
                      <a:endParaRPr lang="en-US" sz="850" dirty="0">
                        <a:latin typeface="Noto Sans JP" charset="0"/>
                        <a:ea typeface="Noto Sans JP" charset="0"/>
                        <a:cs typeface="Noto Sans JP" charset="0"/>
                      </a:endParaRPr>
                    </a:p>
                  </a:txBody>
                  <a:tcPr marL="64008" marR="64008" marT="18288" marB="18288" anchor="ct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tcPr>
                </a:tc>
                <a:tc>
                  <a:txBody>
                    <a:bodyPr/>
                    <a:lstStyle/>
                    <a:p>
                      <a:pPr algn="ctr" indent="0" marL="0">
                        <a:buNone/>
                      </a:pPr>
                      <a:r>
                        <a:rPr lang="en-US" sz="850" dirty="0">
                          <a:solidFill>
                            <a:srgbClr val="444444"/>
                          </a:solidFill>
                          <a:latin typeface="Noto Sans JP" pitchFamily="34" charset="0"/>
                          <a:ea typeface="Noto Sans JP" pitchFamily="34" charset="-122"/>
                          <a:cs typeface="Noto Sans JP" pitchFamily="34" charset="-120"/>
                        </a:rPr>
                        <a:t>一式</a:t>
                      </a:r>
                      <a:endParaRPr lang="en-US" sz="850" dirty="0">
                        <a:latin typeface="Noto Sans JP" charset="0"/>
                        <a:ea typeface="Noto Sans JP" charset="0"/>
                        <a:cs typeface="Noto Sans JP" charset="0"/>
                      </a:endParaRPr>
                    </a:p>
                  </a:txBody>
                  <a:tcPr marL="64008" marR="64008" marT="18288" marB="18288" anchor="ct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tcPr>
                </a:tc>
                <a:tc>
                  <a:txBody>
                    <a:bodyPr/>
                    <a:lstStyle/>
                    <a:p>
                      <a:pPr algn="ctr" indent="0" marL="0">
                        <a:buNone/>
                      </a:pPr>
                      <a:endParaRPr lang="en-US" sz="850" dirty="0">
                        <a:latin typeface="Noto Sans JP" charset="0"/>
                        <a:ea typeface="Noto Sans JP" charset="0"/>
                        <a:cs typeface="Noto Sans JP" charset="0"/>
                      </a:endParaRPr>
                    </a:p>
                  </a:txBody>
                  <a:tcPr marL="64008" marR="64008" marT="18288" marB="18288" anchor="ct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tcPr>
                </a:tc>
                <a:tc>
                  <a:txBody>
                    <a:bodyPr/>
                    <a:lstStyle/>
                    <a:p>
                      <a:pPr algn="r" indent="0" marL="0">
                        <a:buNone/>
                      </a:pPr>
                      <a:r>
                        <a:rPr lang="en-US" sz="850" dirty="0">
                          <a:solidFill>
                            <a:srgbClr val="444444"/>
                          </a:solidFill>
                          <a:latin typeface="Noto Sans JP" pitchFamily="34" charset="0"/>
                          <a:ea typeface="Noto Sans JP" pitchFamily="34" charset="-122"/>
                          <a:cs typeface="Noto Sans JP" pitchFamily="34" charset="-120"/>
                        </a:rPr>
                        <a:t>300</a:t>
                      </a:r>
                      <a:endParaRPr lang="en-US" sz="850" dirty="0">
                        <a:latin typeface="Noto Sans JP" charset="0"/>
                        <a:ea typeface="Noto Sans JP" charset="0"/>
                        <a:cs typeface="Noto Sans JP" charset="0"/>
                      </a:endParaRPr>
                    </a:p>
                  </a:txBody>
                  <a:tcPr marL="64008" marR="64008" marT="18288" marB="18288" anchor="ct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tcPr>
                </a:tc>
              </a:tr>
              <a:tr h="304800">
                <a:tc>
                  <a:txBody>
                    <a:bodyPr/>
                    <a:lstStyle/>
                    <a:p>
                      <a:pPr indent="0" marL="0">
                        <a:buNone/>
                      </a:pPr>
                      <a:endParaRPr lang="en-US" sz="850" dirty="0">
                        <a:latin typeface="Noto Sans JP" charset="0"/>
                        <a:ea typeface="Noto Sans JP" charset="0"/>
                        <a:cs typeface="Noto Sans JP" charset="0"/>
                      </a:endParaRPr>
                    </a:p>
                  </a:txBody>
                  <a:tcPr marL="64008" marR="64008" marT="18288" marB="18288" anchor="ct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tcPr>
                </a:tc>
                <a:tc>
                  <a:txBody>
                    <a:bodyPr/>
                    <a:lstStyle/>
                    <a:p>
                      <a:pPr indent="0" marL="0">
                        <a:buNone/>
                      </a:pPr>
                      <a:r>
                        <a:rPr lang="en-US" sz="850" dirty="0">
                          <a:solidFill>
                            <a:srgbClr val="444444"/>
                          </a:solidFill>
                          <a:latin typeface="Noto Sans JP" pitchFamily="34" charset="0"/>
                          <a:ea typeface="Noto Sans JP" pitchFamily="34" charset="-122"/>
                          <a:cs typeface="Noto Sans JP" pitchFamily="34" charset="-120"/>
                        </a:rPr>
                        <a:t>プロジェクトマネジメント</a:t>
                      </a:r>
                      <a:endParaRPr lang="en-US" sz="850" dirty="0">
                        <a:latin typeface="Noto Sans JP" charset="0"/>
                        <a:ea typeface="Noto Sans JP" charset="0"/>
                        <a:cs typeface="Noto Sans JP" charset="0"/>
                      </a:endParaRPr>
                    </a:p>
                  </a:txBody>
                  <a:tcPr marL="64008" marR="64008" marT="18288" marB="18288" anchor="ct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tcPr>
                </a:tc>
                <a:tc>
                  <a:txBody>
                    <a:bodyPr/>
                    <a:lstStyle/>
                    <a:p>
                      <a:pPr algn="ctr" indent="0" marL="0">
                        <a:buNone/>
                      </a:pPr>
                      <a:r>
                        <a:rPr lang="en-US" sz="850" dirty="0">
                          <a:solidFill>
                            <a:srgbClr val="444444"/>
                          </a:solidFill>
                          <a:latin typeface="Noto Sans JP" pitchFamily="34" charset="0"/>
                          <a:ea typeface="Noto Sans JP" pitchFamily="34" charset="-122"/>
                          <a:cs typeface="Noto Sans JP" pitchFamily="34" charset="-120"/>
                        </a:rPr>
                        <a:t>一式</a:t>
                      </a:r>
                      <a:endParaRPr lang="en-US" sz="850" dirty="0">
                        <a:latin typeface="Noto Sans JP" charset="0"/>
                        <a:ea typeface="Noto Sans JP" charset="0"/>
                        <a:cs typeface="Noto Sans JP" charset="0"/>
                      </a:endParaRPr>
                    </a:p>
                  </a:txBody>
                  <a:tcPr marL="64008" marR="64008" marT="18288" marB="18288" anchor="ct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tcPr>
                </a:tc>
                <a:tc>
                  <a:txBody>
                    <a:bodyPr/>
                    <a:lstStyle/>
                    <a:p>
                      <a:pPr algn="ctr" indent="0" marL="0">
                        <a:buNone/>
                      </a:pPr>
                      <a:endParaRPr lang="en-US" sz="850" dirty="0">
                        <a:latin typeface="Noto Sans JP" charset="0"/>
                        <a:ea typeface="Noto Sans JP" charset="0"/>
                        <a:cs typeface="Noto Sans JP" charset="0"/>
                      </a:endParaRPr>
                    </a:p>
                  </a:txBody>
                  <a:tcPr marL="64008" marR="64008" marT="18288" marB="18288" anchor="ct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tcPr>
                </a:tc>
                <a:tc>
                  <a:txBody>
                    <a:bodyPr/>
                    <a:lstStyle/>
                    <a:p>
                      <a:pPr algn="r" indent="0" marL="0">
                        <a:buNone/>
                      </a:pPr>
                      <a:r>
                        <a:rPr lang="en-US" sz="850" dirty="0">
                          <a:solidFill>
                            <a:srgbClr val="444444"/>
                          </a:solidFill>
                          <a:latin typeface="Noto Sans JP" pitchFamily="34" charset="0"/>
                          <a:ea typeface="Noto Sans JP" pitchFamily="34" charset="-122"/>
                          <a:cs typeface="Noto Sans JP" pitchFamily="34" charset="-120"/>
                        </a:rPr>
                        <a:t>500</a:t>
                      </a:r>
                      <a:endParaRPr lang="en-US" sz="850" dirty="0">
                        <a:latin typeface="Noto Sans JP" charset="0"/>
                        <a:ea typeface="Noto Sans JP" charset="0"/>
                        <a:cs typeface="Noto Sans JP" charset="0"/>
                      </a:endParaRPr>
                    </a:p>
                  </a:txBody>
                  <a:tcPr marL="64008" marR="64008" marT="18288" marB="18288" anchor="ct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tcPr>
                </a:tc>
              </a:tr>
              <a:tr h="304800">
                <a:tc>
                  <a:txBody>
                    <a:bodyPr/>
                    <a:lstStyle/>
                    <a:p>
                      <a:pPr indent="0" marL="0">
                        <a:buNone/>
                      </a:pPr>
                      <a:r>
                        <a:rPr lang="en-US" sz="850" b="1" dirty="0">
                          <a:solidFill>
                            <a:srgbClr val="FFFFFF"/>
                          </a:solidFill>
                          <a:latin typeface="Noto Sans JP" pitchFamily="34" charset="0"/>
                          <a:ea typeface="Noto Sans JP" pitchFamily="34" charset="-122"/>
                          <a:cs typeface="Noto Sans JP" pitchFamily="34" charset="-120"/>
                        </a:rPr>
                        <a:t>合計</a:t>
                      </a:r>
                      <a:endParaRPr lang="en-US" sz="850" dirty="0">
                        <a:latin typeface="Noto Sans JP" charset="0"/>
                        <a:ea typeface="Noto Sans JP" charset="0"/>
                        <a:cs typeface="Noto Sans JP" charset="0"/>
                      </a:endParaRPr>
                    </a:p>
                  </a:txBody>
                  <a:tcPr marL="64008" marR="64008" marT="18288" marB="18288" anchor="ct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solidFill>
                      <a:srgbClr val="16816D"/>
                    </a:solidFill>
                  </a:tcPr>
                </a:tc>
                <a:tc>
                  <a:txBody>
                    <a:bodyPr/>
                    <a:lstStyle/>
                    <a:p>
                      <a:pPr indent="0" marL="0">
                        <a:buNone/>
                      </a:pPr>
                      <a:endParaRPr lang="en-US" sz="850" dirty="0">
                        <a:latin typeface="Noto Sans JP" charset="0"/>
                        <a:ea typeface="Noto Sans JP" charset="0"/>
                        <a:cs typeface="Noto Sans JP" charset="0"/>
                      </a:endParaRPr>
                    </a:p>
                  </a:txBody>
                  <a:tcPr marL="64008" marR="64008" marT="18288" marB="18288" anchor="ct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solidFill>
                      <a:srgbClr val="16816D"/>
                    </a:solidFill>
                  </a:tcPr>
                </a:tc>
                <a:tc>
                  <a:txBody>
                    <a:bodyPr/>
                    <a:lstStyle/>
                    <a:p>
                      <a:pPr indent="0" marL="0">
                        <a:buNone/>
                      </a:pPr>
                      <a:endParaRPr lang="en-US" sz="850" dirty="0">
                        <a:latin typeface="Noto Sans JP" charset="0"/>
                        <a:ea typeface="Noto Sans JP" charset="0"/>
                        <a:cs typeface="Noto Sans JP" charset="0"/>
                      </a:endParaRPr>
                    </a:p>
                  </a:txBody>
                  <a:tcPr marL="64008" marR="64008" marT="18288" marB="18288" anchor="ct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solidFill>
                      <a:srgbClr val="16816D"/>
                    </a:solidFill>
                  </a:tcPr>
                </a:tc>
                <a:tc>
                  <a:txBody>
                    <a:bodyPr/>
                    <a:lstStyle/>
                    <a:p>
                      <a:pPr indent="0" marL="0">
                        <a:buNone/>
                      </a:pPr>
                      <a:endParaRPr lang="en-US" sz="850" dirty="0">
                        <a:latin typeface="Noto Sans JP" charset="0"/>
                        <a:ea typeface="Noto Sans JP" charset="0"/>
                        <a:cs typeface="Noto Sans JP" charset="0"/>
                      </a:endParaRPr>
                    </a:p>
                  </a:txBody>
                  <a:tcPr marL="64008" marR="64008" marT="18288" marB="18288" anchor="ct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solidFill>
                      <a:srgbClr val="16816D"/>
                    </a:solidFill>
                  </a:tcPr>
                </a:tc>
                <a:tc>
                  <a:txBody>
                    <a:bodyPr/>
                    <a:lstStyle/>
                    <a:p>
                      <a:pPr algn="r" indent="0" marL="0">
                        <a:buNone/>
                      </a:pPr>
                      <a:r>
                        <a:rPr lang="en-US" sz="850" b="1" dirty="0">
                          <a:solidFill>
                            <a:srgbClr val="FFFFFF"/>
                          </a:solidFill>
                          <a:latin typeface="Noto Sans JP" pitchFamily="34" charset="0"/>
                          <a:ea typeface="Noto Sans JP" pitchFamily="34" charset="-122"/>
                          <a:cs typeface="Noto Sans JP" pitchFamily="34" charset="-120"/>
                        </a:rPr>
                        <a:t>約5,500</a:t>
                      </a:r>
                      <a:endParaRPr lang="en-US" sz="850" dirty="0">
                        <a:latin typeface="Noto Sans JP" charset="0"/>
                        <a:ea typeface="Noto Sans JP" charset="0"/>
                        <a:cs typeface="Noto Sans JP" charset="0"/>
                      </a:endParaRPr>
                    </a:p>
                  </a:txBody>
                  <a:tcPr marL="64008" marR="64008" marT="18288" marB="18288" anchor="ctr">
                    <a:lnL w="6350" cap="flat" cmpd="sng" algn="ctr">
                      <a:solidFill>
                        <a:srgbClr val="D6D6D6"/>
                      </a:solidFill>
                      <a:prstDash val="solid"/>
                      <a:round/>
                      <a:headEnd type="none" w="med" len="med"/>
                      <a:tailEnd type="none" w="med" len="med"/>
                    </a:lnL>
                    <a:lnR w="6350" cap="flat" cmpd="sng" algn="ctr">
                      <a:solidFill>
                        <a:srgbClr val="D6D6D6"/>
                      </a:solidFill>
                      <a:prstDash val="solid"/>
                      <a:round/>
                      <a:headEnd type="none" w="med" len="med"/>
                      <a:tailEnd type="none" w="med" len="med"/>
                    </a:lnR>
                    <a:lnT w="6350" cap="flat" cmpd="sng" algn="ctr">
                      <a:solidFill>
                        <a:srgbClr val="D6D6D6"/>
                      </a:solidFill>
                      <a:prstDash val="solid"/>
                      <a:round/>
                      <a:headEnd type="none" w="med" len="med"/>
                      <a:tailEnd type="none" w="med" len="med"/>
                    </a:lnT>
                    <a:lnB w="6350" cap="flat" cmpd="sng" algn="ctr">
                      <a:solidFill>
                        <a:srgbClr val="D6D6D6"/>
                      </a:solidFill>
                      <a:prstDash val="solid"/>
                      <a:round/>
                      <a:headEnd type="none" w="med" len="med"/>
                      <a:tailEnd type="none" w="med" len="med"/>
                    </a:lnB>
                    <a:solidFill>
                      <a:srgbClr val="16816D"/>
                    </a:solidFill>
                  </a:tcPr>
                </a:tc>
              </a:tr>
            </a:tbl>
          </a:graphicData>
        </a:graphic>
      </p:graphicFrame>
      <p:sp>
        <p:nvSpPr>
          <p:cNvPr id="9" name="Shape 5"/>
          <p:cNvSpPr/>
          <p:nvPr/>
        </p:nvSpPr>
        <p:spPr>
          <a:xfrm>
            <a:off x="6172200" y="660400"/>
            <a:ext cx="2616200" cy="1219200"/>
          </a:xfrm>
          <a:prstGeom prst="rect">
            <a:avLst/>
          </a:prstGeom>
          <a:solidFill>
            <a:srgbClr val="E8F5EF"/>
          </a:solidFill>
          <a:ln/>
        </p:spPr>
      </p:sp>
      <p:sp>
        <p:nvSpPr>
          <p:cNvPr id="10" name="Text 6"/>
          <p:cNvSpPr txBox="1"/>
          <p:nvPr/>
        </p:nvSpPr>
        <p:spPr>
          <a:xfrm>
            <a:off x="6324600" y="762000"/>
            <a:ext cx="2336800" cy="203200"/>
          </a:xfrm>
          <a:prstGeom prst="rect">
            <a:avLst/>
          </a:prstGeom>
          <a:noFill/>
          <a:ln/>
        </p:spPr>
        <p:txBody>
          <a:bodyPr wrap="square" lIns="0" tIns="0" rIns="0" bIns="0" rtlCol="0" anchor="t"/>
          <a:lstStyle/>
          <a:p>
            <a:pPr indent="0" marL="0">
              <a:buNone/>
            </a:pPr>
            <a:r>
              <a:rPr lang="en-US" sz="1000" dirty="0">
                <a:solidFill>
                  <a:srgbClr val="444444"/>
                </a:solidFill>
                <a:latin typeface="Noto Sans JP" pitchFamily="34" charset="0"/>
                <a:ea typeface="Noto Sans JP" pitchFamily="34" charset="-122"/>
                <a:cs typeface="Noto Sans JP" pitchFamily="34" charset="-120"/>
              </a:rPr>
              <a:t>総事業費（3か年）</a:t>
            </a:r>
            <a:endParaRPr lang="en-US" sz="1000" dirty="0"/>
          </a:p>
        </p:txBody>
      </p:sp>
      <p:sp>
        <p:nvSpPr>
          <p:cNvPr id="11" name="Text 7"/>
          <p:cNvSpPr txBox="1"/>
          <p:nvPr/>
        </p:nvSpPr>
        <p:spPr>
          <a:xfrm>
            <a:off x="6324600" y="990600"/>
            <a:ext cx="2336800" cy="457200"/>
          </a:xfrm>
          <a:prstGeom prst="rect">
            <a:avLst/>
          </a:prstGeom>
          <a:noFill/>
          <a:ln/>
        </p:spPr>
        <p:txBody>
          <a:bodyPr wrap="square" lIns="0" tIns="0" rIns="0" bIns="0" rtlCol="0" anchor="ctr"/>
          <a:lstStyle/>
          <a:p>
            <a:pPr indent="0" marL="0">
              <a:buNone/>
            </a:pPr>
            <a:r>
              <a:rPr lang="en-US" sz="2400" b="1" dirty="0">
                <a:solidFill>
                  <a:srgbClr val="16816D"/>
                </a:solidFill>
                <a:latin typeface="Noto Sans JP" pitchFamily="34" charset="0"/>
                <a:ea typeface="Noto Sans JP" pitchFamily="34" charset="-122"/>
                <a:cs typeface="Noto Sans JP" pitchFamily="34" charset="-120"/>
              </a:rPr>
              <a:t>約5,500万円</a:t>
            </a:r>
            <a:endParaRPr lang="en-US" sz="2400" dirty="0"/>
          </a:p>
        </p:txBody>
      </p:sp>
      <p:sp>
        <p:nvSpPr>
          <p:cNvPr id="12" name="Text 8"/>
          <p:cNvSpPr txBox="1"/>
          <p:nvPr/>
        </p:nvSpPr>
        <p:spPr>
          <a:xfrm>
            <a:off x="6324600" y="1524000"/>
            <a:ext cx="2336800" cy="203200"/>
          </a:xfrm>
          <a:prstGeom prst="rect">
            <a:avLst/>
          </a:prstGeom>
          <a:noFill/>
          <a:ln/>
        </p:spPr>
        <p:txBody>
          <a:bodyPr wrap="square" lIns="0" tIns="0" rIns="0" bIns="0" rtlCol="0" anchor="t"/>
          <a:lstStyle/>
          <a:p>
            <a:pPr indent="0" marL="0">
              <a:buNone/>
            </a:pPr>
            <a:r>
              <a:rPr lang="en-US" sz="1000" dirty="0">
                <a:solidFill>
                  <a:srgbClr val="444444"/>
                </a:solidFill>
                <a:latin typeface="Noto Sans JP" pitchFamily="34" charset="0"/>
                <a:ea typeface="Noto Sans JP" pitchFamily="34" charset="-122"/>
                <a:cs typeface="Noto Sans JP" pitchFamily="34" charset="-120"/>
              </a:rPr>
              <a:t>年あたり 約1,833万円</a:t>
            </a:r>
            <a:endParaRPr lang="en-US" sz="1000" dirty="0"/>
          </a:p>
        </p:txBody>
      </p:sp>
      <p:graphicFrame>
        <p:nvGraphicFramePr>
          <p:cNvPr id="13" name="Chart 0" descr=""/>
          <p:cNvGraphicFramePr/>
          <p:nvPr/>
        </p:nvGraphicFramePr>
        <p:xfrm>
          <a:off x="6172200" y="1930400"/>
          <a:ext cx="2616200" cy="1549400"/>
        </p:xfrm>
        <a:graphic xmlns:a="http://schemas.openxmlformats.org/drawingml/2006/main">
          <a:graphicData uri="http://schemas.openxmlformats.org/drawingml/2006/chart">
            <c:chart xmlns:c="http://schemas.openxmlformats.org/drawingml/2006/chart" r:id="rId2"/>
          </a:graphicData>
        </a:graphic>
      </p:graphicFrame>
      <p:sp>
        <p:nvSpPr>
          <p:cNvPr id="14" name="Text 9"/>
          <p:cNvSpPr txBox="1"/>
          <p:nvPr/>
        </p:nvSpPr>
        <p:spPr>
          <a:xfrm>
            <a:off x="6172200" y="3556000"/>
            <a:ext cx="2616200" cy="965200"/>
          </a:xfrm>
          <a:prstGeom prst="rect">
            <a:avLst/>
          </a:prstGeom>
          <a:noFill/>
          <a:ln/>
        </p:spPr>
        <p:txBody>
          <a:bodyPr wrap="square" lIns="0" tIns="0" rIns="0" bIns="0" rtlCol="0" anchor="t"/>
          <a:lstStyle/>
          <a:p>
            <a:pPr marL="139700" indent="-139700">
              <a:lnSpc>
                <a:spcPct val="115000"/>
              </a:lnSpc>
              <a:spcAft>
                <a:spcPts val="400"/>
              </a:spcAft>
              <a:buSzPct val="100000"/>
              <a:buChar char="•"/>
            </a:pPr>
            <a:r>
              <a:rPr lang="en-US" sz="800" dirty="0">
                <a:solidFill>
                  <a:srgbClr val="444444"/>
                </a:solidFill>
                <a:latin typeface="Noto Sans JP" pitchFamily="34" charset="0"/>
                <a:ea typeface="Noto Sans JP" pitchFamily="34" charset="-122"/>
                <a:cs typeface="Noto Sans JP" pitchFamily="34" charset="-120"/>
              </a:rPr>
              <a:t>前提：スギ・ヒノキ人工林、搬出間伐主体。地形・路網・材価で大きく変動します</a:t>
            </a:r>
            <a:endParaRPr lang="en-US" sz="800" dirty="0"/>
          </a:p>
          <a:p>
            <a:pPr marL="139700" indent="-139700">
              <a:lnSpc>
                <a:spcPct val="115000"/>
              </a:lnSpc>
              <a:spcAft>
                <a:spcPts val="400"/>
              </a:spcAft>
              <a:buSzPct val="100000"/>
              <a:buChar char="•"/>
            </a:pPr>
            <a:r>
              <a:rPr lang="en-US" sz="800" dirty="0">
                <a:solidFill>
                  <a:srgbClr val="444444"/>
                </a:solidFill>
                <a:latin typeface="Noto Sans JP" pitchFamily="34" charset="0"/>
                <a:ea typeface="Noto Sans JP" pitchFamily="34" charset="-122"/>
                <a:cs typeface="Noto Sans JP" pitchFamily="34" charset="-120"/>
              </a:rPr>
              <a:t>都・国の森林整備補助金、木材販売収入の充当で貴社ご負担の圧縮を検討します</a:t>
            </a:r>
            <a:endParaRPr lang="en-US" sz="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Image 0" descr="/tmp/claude-0/-home-user--/135b95b8-9a7c-5e2e-abb3-3369b8f4d943/scratchpad/assets/end.jpg">    </p:cNvPr>
          <p:cNvPicPr>
            <a:picLocks noChangeAspect="1"/>
          </p:cNvPicPr>
          <p:nvPr/>
        </p:nvPicPr>
        <p:blipFill>
          <a:blip r:embed="rId1"/>
          <a:srcRect l="0" r="0" t="0" b="0"/>
          <a:stretch/>
        </p:blipFill>
        <p:spPr>
          <a:xfrm>
            <a:off x="0" y="0"/>
            <a:ext cx="9144000" cy="5143500"/>
          </a:xfrm>
          <a:prstGeom prst="rect">
            <a:avLst/>
          </a:prstGeom>
        </p:spPr>
      </p:pic>
      <p:sp>
        <p:nvSpPr>
          <p:cNvPr id="3" name="Shape 0"/>
          <p:cNvSpPr/>
          <p:nvPr/>
        </p:nvSpPr>
        <p:spPr>
          <a:xfrm>
            <a:off x="0" y="1270000"/>
            <a:ext cx="9144000" cy="1905000"/>
          </a:xfrm>
          <a:prstGeom prst="rect">
            <a:avLst/>
          </a:prstGeom>
          <a:solidFill>
            <a:srgbClr val="000000">
              <a:alpha val="45000"/>
            </a:srgbClr>
          </a:solidFill>
          <a:ln/>
        </p:spPr>
      </p:sp>
      <p:pic>
        <p:nvPicPr>
          <p:cNvPr id="4" name="Image 1" descr="/tmp/claude-0/-home-user--/135b95b8-9a7c-5e2e-abb3-3369b8f4d943/scratchpad/assets/logo_white.png">    </p:cNvPr>
          <p:cNvPicPr>
            <a:picLocks noChangeAspect="1"/>
          </p:cNvPicPr>
          <p:nvPr/>
        </p:nvPicPr>
        <p:blipFill>
          <a:blip r:embed="rId2"/>
          <a:stretch>
            <a:fillRect/>
          </a:stretch>
        </p:blipFill>
        <p:spPr>
          <a:xfrm>
            <a:off x="4254500" y="1422400"/>
            <a:ext cx="635000" cy="292100"/>
          </a:xfrm>
          <a:prstGeom prst="rect">
            <a:avLst/>
          </a:prstGeom>
        </p:spPr>
      </p:pic>
      <p:sp>
        <p:nvSpPr>
          <p:cNvPr id="5" name="Text 1"/>
          <p:cNvSpPr txBox="1"/>
          <p:nvPr/>
        </p:nvSpPr>
        <p:spPr>
          <a:xfrm>
            <a:off x="1828800" y="1803400"/>
            <a:ext cx="5486400" cy="1270000"/>
          </a:xfrm>
          <a:prstGeom prst="rect">
            <a:avLst/>
          </a:prstGeom>
          <a:noFill/>
          <a:ln/>
        </p:spPr>
        <p:txBody>
          <a:bodyPr wrap="square" lIns="0" tIns="0" rIns="0" bIns="0" rtlCol="0" anchor="t"/>
          <a:lstStyle/>
          <a:p>
            <a:pPr algn="ctr" indent="0" marL="0">
              <a:lnSpc>
                <a:spcPct val="130000"/>
              </a:lnSpc>
              <a:buNone/>
            </a:pPr>
            <a:r>
              <a:rPr lang="en-US" sz="1200" b="1" dirty="0">
                <a:solidFill>
                  <a:srgbClr val="FFFFFF"/>
                </a:solidFill>
                <a:latin typeface="Noto Sans JP" pitchFamily="34" charset="0"/>
                <a:ea typeface="Noto Sans JP" pitchFamily="34" charset="-122"/>
                <a:cs typeface="Noto Sans JP" pitchFamily="34" charset="-120"/>
              </a:rPr>
              <a:t>株式会社森未来</a:t>
            </a:r>
            <a:endParaRPr lang="en-US" sz="1000" dirty="0"/>
          </a:p>
          <a:p>
            <a:pPr algn="ctr" indent="0" marL="0">
              <a:lnSpc>
                <a:spcPct val="130000"/>
              </a:lnSpc>
              <a:buNone/>
            </a:pPr>
            <a:r>
              <a:rPr lang="en-US" sz="1000" dirty="0">
                <a:solidFill>
                  <a:srgbClr val="FFFFFF"/>
                </a:solidFill>
                <a:latin typeface="Noto Sans JP" pitchFamily="34" charset="0"/>
                <a:ea typeface="Noto Sans JP" pitchFamily="34" charset="-122"/>
                <a:cs typeface="Noto Sans JP" pitchFamily="34" charset="-120"/>
              </a:rPr>
              <a:t>〒108-0014 東京都港区芝5-27-6 泉田町ビル6F</a:t>
            </a:r>
            <a:endParaRPr lang="en-US" sz="1000" dirty="0"/>
          </a:p>
          <a:p>
            <a:pPr algn="ctr" indent="0" marL="0">
              <a:lnSpc>
                <a:spcPct val="130000"/>
              </a:lnSpc>
              <a:buNone/>
            </a:pPr>
            <a:r>
              <a:rPr lang="en-US" sz="1000" dirty="0">
                <a:solidFill>
                  <a:srgbClr val="FFFFFF"/>
                </a:solidFill>
                <a:latin typeface="Noto Sans JP" pitchFamily="34" charset="0"/>
                <a:ea typeface="Noto Sans JP" pitchFamily="34" charset="-122"/>
                <a:cs typeface="Noto Sans JP" pitchFamily="34" charset="-120"/>
              </a:rPr>
              <a:t>TEL 03-6453-9234</a:t>
            </a:r>
            <a:endParaRPr lang="en-US" sz="1000" dirty="0"/>
          </a:p>
          <a:p>
            <a:pPr algn="ctr" indent="0" marL="0">
              <a:lnSpc>
                <a:spcPct val="130000"/>
              </a:lnSpc>
              <a:buNone/>
            </a:pPr>
            <a:r>
              <a:rPr lang="en-US" sz="1000" dirty="0">
                <a:solidFill>
                  <a:srgbClr val="FFFFFF"/>
                </a:solidFill>
                <a:latin typeface="Noto Sans JP" pitchFamily="34" charset="0"/>
                <a:ea typeface="Noto Sans JP" pitchFamily="34" charset="-122"/>
                <a:cs typeface="Noto Sans JP" pitchFamily="34" charset="-120"/>
              </a:rPr>
              <a:t>MAIL info@shin-mirai.co.jp</a:t>
            </a:r>
            <a:endParaRPr lang="en-US" sz="1000" dirty="0"/>
          </a:p>
          <a:p>
            <a:pPr algn="ctr" indent="0" marL="0">
              <a:lnSpc>
                <a:spcPct val="130000"/>
              </a:lnSpc>
              <a:buNone/>
            </a:pPr>
            <a:r>
              <a:rPr lang="en-US" sz="1000" dirty="0">
                <a:solidFill>
                  <a:srgbClr val="FFFFFF"/>
                </a:solidFill>
                <a:latin typeface="Noto Sans JP" pitchFamily="34" charset="0"/>
                <a:ea typeface="Noto Sans JP" pitchFamily="34" charset="-122"/>
                <a:cs typeface="Noto Sans JP" pitchFamily="34" charset="-120"/>
              </a:rPr>
              <a:t>WEB https://www.etree.jp</a:t>
            </a:r>
            <a:endParaRPr lang="en-US" sz="1000" dirty="0"/>
          </a:p>
        </p:txBody>
      </p:sp>
      <p:sp>
        <p:nvSpPr>
          <p:cNvPr id="6" name="Shape 2"/>
          <p:cNvSpPr/>
          <p:nvPr/>
        </p:nvSpPr>
        <p:spPr>
          <a:xfrm>
            <a:off x="88900" y="4876800"/>
            <a:ext cx="723900" cy="165100"/>
          </a:xfrm>
          <a:prstGeom prst="rect">
            <a:avLst/>
          </a:prstGeom>
          <a:solidFill>
            <a:srgbClr val="FFFFFF"/>
          </a:solidFill>
          <a:ln w="6350">
            <a:solidFill>
              <a:srgbClr val="B2B2B2"/>
            </a:solidFill>
            <a:prstDash val="solid"/>
          </a:ln>
        </p:spPr>
      </p:sp>
      <p:sp>
        <p:nvSpPr>
          <p:cNvPr id="7" name="Text 3"/>
          <p:cNvSpPr txBox="1"/>
          <p:nvPr/>
        </p:nvSpPr>
        <p:spPr>
          <a:xfrm>
            <a:off x="88900" y="4876800"/>
            <a:ext cx="723900" cy="165100"/>
          </a:xfrm>
          <a:prstGeom prst="rect">
            <a:avLst/>
          </a:prstGeom>
          <a:noFill/>
          <a:ln/>
        </p:spPr>
        <p:txBody>
          <a:bodyPr wrap="square" lIns="0" tIns="0" rIns="0" bIns="0" rtlCol="0" anchor="ctr"/>
          <a:lstStyle/>
          <a:p>
            <a:pPr algn="ctr" indent="0" marL="0">
              <a:buNone/>
            </a:pPr>
            <a:r>
              <a:rPr lang="en-US" sz="700" dirty="0">
                <a:solidFill>
                  <a:srgbClr val="757575"/>
                </a:solidFill>
                <a:latin typeface="Arial" pitchFamily="34" charset="0"/>
                <a:ea typeface="Arial" pitchFamily="34" charset="-122"/>
                <a:cs typeface="Arial" pitchFamily="34" charset="-120"/>
              </a:rPr>
              <a:t>confidential</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JP"/>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JP"/>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三井不動産様_ご提案資料_ver.3</dc:title>
  <dc:subject>PptxGenJS Presentation</dc:subject>
  <dc:creator>PptxGenJS</dc:creator>
  <cp:lastModifiedBy>PptxGenJS</cp:lastModifiedBy>
  <cp:revision>1</cp:revision>
  <dcterms:created xsi:type="dcterms:W3CDTF">2026-09-23T00:56:46Z</dcterms:created>
  <dcterms:modified xsi:type="dcterms:W3CDTF">2026-09-23T00:56:46Z</dcterms:modified>
</cp:coreProperties>
</file>