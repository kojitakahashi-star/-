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開発本部長様への打診用。冒頭は「先日 藤原様・権瓶様にお時間をいただいた件の続き」として位置づける。目的は受注ではなく、恵比寿エリアで発生する樹木の情報連携と、施設木質化の検討機会をいただくこと。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この1枚で全体を伝える。数字目標や見積の話はせず、まず情報連携の入口をつくることを主眼に。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認識ずれがあればこの場で訂正いただく前提で提示する。相手の言葉（ひらめきが生まれるまち／デザイン性が入口）をそのまま使うのがポイント。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「御社が悪い」という論調にしない。業界構造の問題として提示し、当社が入ることで解ける、という流れにする。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A（樹木活用）は話題性・ストーリー、B（木質化）は本業の収益に直結。どちらから入っても構わない、という提示の仕方にする。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最重要スライド。「伐採前に相談いただければ価値が変わる」という一点を持ち帰っていただく。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Bは御社の本業（賃料・稼働）に直結する話。「デザインが先、環境は後からついてくる」という御社の考え方に沿って説明する。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御社のように複数物件を継続的に開発される事業者との相性がよい形。単発の記念品ではなく、仕組みとして回せることを伝える。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クロージング。決裁者に対しては「まず情報連携」というハードルの低い依頼にとどめ、部署紹介の依頼も明示的に行う。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524"/>
        </a:solidFill>
      </p:bgPr>
    </p:bg>
    <p:spTree>
      <p:nvGrpSpPr>
        <p:cNvPr id="1" name=""/>
        <p:cNvGrpSpPr/>
        <p:nvPr/>
      </p:nvGrpSpPr>
      <p:grpSpPr>
        <a:xfrm>
          <a:off x="0" y="0"/>
          <a:ext cx="0" cy="0"/>
          <a:chOff x="0" y="0"/>
          <a:chExt cx="0" cy="0"/>
        </a:xfrm>
      </p:grpSpPr>
      <p:sp>
        <p:nvSpPr>
          <p:cNvPr id="2" name="Shape 0"/>
          <p:cNvSpPr/>
          <p:nvPr/>
        </p:nvSpPr>
        <p:spPr>
          <a:xfrm>
            <a:off x="9052560" y="-1051560"/>
            <a:ext cx="4480560" cy="4480560"/>
          </a:xfrm>
          <a:prstGeom prst="ellipse">
            <a:avLst/>
          </a:prstGeom>
          <a:solidFill>
            <a:srgbClr val="2C5F2D"/>
          </a:solidFill>
          <a:ln w="12700">
            <a:solidFill>
              <a:srgbClr val="333333"/>
            </a:solidFill>
            <a:prstDash val="solid"/>
          </a:ln>
        </p:spPr>
      </p:sp>
      <p:sp>
        <p:nvSpPr>
          <p:cNvPr id="3" name="Shape 1"/>
          <p:cNvSpPr/>
          <p:nvPr/>
        </p:nvSpPr>
        <p:spPr>
          <a:xfrm>
            <a:off x="10241280" y="3200400"/>
            <a:ext cx="2651760" cy="2651760"/>
          </a:xfrm>
          <a:prstGeom prst="ellipse">
            <a:avLst/>
          </a:prstGeom>
          <a:solidFill>
            <a:srgbClr val="C4707F"/>
          </a:solidFill>
          <a:ln w="12700">
            <a:solidFill>
              <a:srgbClr val="333333"/>
            </a:solidFill>
            <a:prstDash val="solid"/>
          </a:ln>
        </p:spPr>
      </p:sp>
      <p:sp>
        <p:nvSpPr>
          <p:cNvPr id="4" name="Shape 2"/>
          <p:cNvSpPr/>
          <p:nvPr/>
        </p:nvSpPr>
        <p:spPr>
          <a:xfrm>
            <a:off x="8138160" y="4480560"/>
            <a:ext cx="1371600" cy="1371600"/>
          </a:xfrm>
          <a:prstGeom prst="ellipse">
            <a:avLst/>
          </a:prstGeom>
          <a:solidFill>
            <a:srgbClr val="97BC62"/>
          </a:solidFill>
          <a:ln w="12700">
            <a:solidFill>
              <a:srgbClr val="333333"/>
            </a:solidFill>
            <a:prstDash val="solid"/>
          </a:ln>
        </p:spPr>
      </p:sp>
      <p:sp>
        <p:nvSpPr>
          <p:cNvPr id="5" name="Text 3"/>
          <p:cNvSpPr/>
          <p:nvPr/>
        </p:nvSpPr>
        <p:spPr>
          <a:xfrm>
            <a:off x="822960" y="1371600"/>
            <a:ext cx="7863840" cy="320040"/>
          </a:xfrm>
          <a:prstGeom prst="rect">
            <a:avLst/>
          </a:prstGeom>
          <a:noFill/>
          <a:ln/>
        </p:spPr>
        <p:txBody>
          <a:bodyPr wrap="square" lIns="0" tIns="0" rIns="0" bIns="0" rtlCol="0" anchor="ctr"/>
          <a:lstStyle/>
          <a:p>
            <a:pPr indent="0" marL="0">
              <a:buNone/>
            </a:pPr>
            <a:r>
              <a:rPr lang="en-US" sz="1200" b="1" spc="200" kern="0" dirty="0">
                <a:solidFill>
                  <a:srgbClr val="97BC62"/>
                </a:solidFill>
                <a:latin typeface="Meiryo" pitchFamily="34" charset="0"/>
                <a:ea typeface="Meiryo" pitchFamily="34" charset="-122"/>
                <a:cs typeface="Meiryo" pitchFamily="34" charset="-120"/>
              </a:rPr>
              <a:t>EBISU / WOOD UTILIZATION PROPOSAL</a:t>
            </a:r>
            <a:endParaRPr lang="en-US" sz="1200" dirty="0"/>
          </a:p>
        </p:txBody>
      </p:sp>
      <p:sp>
        <p:nvSpPr>
          <p:cNvPr id="6" name="Text 4"/>
          <p:cNvSpPr/>
          <p:nvPr/>
        </p:nvSpPr>
        <p:spPr>
          <a:xfrm>
            <a:off x="822960" y="1874520"/>
            <a:ext cx="8138160" cy="1600200"/>
          </a:xfrm>
          <a:prstGeom prst="rect">
            <a:avLst/>
          </a:prstGeom>
          <a:noFill/>
          <a:ln/>
        </p:spPr>
        <p:txBody>
          <a:bodyPr wrap="square" lIns="0" tIns="0" rIns="0" bIns="0" rtlCol="0" anchor="ctr"/>
          <a:lstStyle/>
          <a:p>
            <a:pPr indent="0" marL="0">
              <a:lnSpc>
                <a:spcPts val="4600"/>
              </a:lnSpc>
              <a:buNone/>
            </a:pPr>
            <a:r>
              <a:rPr lang="en-US" sz="3600" b="1" dirty="0">
                <a:solidFill>
                  <a:srgbClr val="FFFFFF"/>
                </a:solidFill>
                <a:latin typeface="Meiryo" pitchFamily="34" charset="0"/>
                <a:ea typeface="Meiryo" pitchFamily="34" charset="-122"/>
                <a:cs typeface="Meiryo" pitchFamily="34" charset="-120"/>
              </a:rPr>
              <a:t>恵比寿の「まちの木」を、</a:t>
            </a:r>
            <a:endParaRPr lang="en-US" sz="3600" dirty="0"/>
          </a:p>
          <a:p>
            <a:pPr indent="0" marL="0">
              <a:lnSpc>
                <a:spcPts val="4600"/>
              </a:lnSpc>
              <a:buNone/>
            </a:pPr>
            <a:r>
              <a:rPr lang="en-US" sz="3600" b="1" dirty="0">
                <a:solidFill>
                  <a:srgbClr val="FFFFFF"/>
                </a:solidFill>
                <a:latin typeface="Meiryo" pitchFamily="34" charset="0"/>
                <a:ea typeface="Meiryo" pitchFamily="34" charset="-122"/>
                <a:cs typeface="Meiryo" pitchFamily="34" charset="-120"/>
              </a:rPr>
              <a:t>資産に変える</a:t>
            </a:r>
            <a:endParaRPr lang="en-US" sz="3600" dirty="0"/>
          </a:p>
        </p:txBody>
      </p:sp>
      <p:sp>
        <p:nvSpPr>
          <p:cNvPr id="7" name="Text 5"/>
          <p:cNvSpPr/>
          <p:nvPr/>
        </p:nvSpPr>
        <p:spPr>
          <a:xfrm>
            <a:off x="822960" y="3611880"/>
            <a:ext cx="7863840" cy="365760"/>
          </a:xfrm>
          <a:prstGeom prst="rect">
            <a:avLst/>
          </a:prstGeom>
          <a:noFill/>
          <a:ln/>
        </p:spPr>
        <p:txBody>
          <a:bodyPr wrap="square" lIns="0" tIns="0" rIns="0" bIns="0" rtlCol="0" anchor="ctr"/>
          <a:lstStyle/>
          <a:p>
            <a:pPr indent="0" marL="0">
              <a:buNone/>
            </a:pPr>
            <a:r>
              <a:rPr lang="en-US" sz="1500" dirty="0">
                <a:solidFill>
                  <a:srgbClr val="97BC62"/>
                </a:solidFill>
                <a:latin typeface="Meiryo" pitchFamily="34" charset="0"/>
                <a:ea typeface="Meiryo" pitchFamily="34" charset="-122"/>
                <a:cs typeface="Meiryo" pitchFamily="34" charset="-120"/>
              </a:rPr>
              <a:t>エリア内で発生する樹木の利活用と、施設での木材利用のご提案</a:t>
            </a:r>
            <a:endParaRPr lang="en-US" sz="1500" dirty="0"/>
          </a:p>
        </p:txBody>
      </p:sp>
      <p:sp>
        <p:nvSpPr>
          <p:cNvPr id="8" name="Shape 6"/>
          <p:cNvSpPr/>
          <p:nvPr/>
        </p:nvSpPr>
        <p:spPr>
          <a:xfrm>
            <a:off x="822960" y="4434840"/>
            <a:ext cx="5943600" cy="1143000"/>
          </a:xfrm>
          <a:prstGeom prst="roundRect">
            <a:avLst>
              <a:gd name="adj" fmla="val 6400"/>
            </a:avLst>
          </a:prstGeom>
          <a:solidFill>
            <a:srgbClr val="2A4630"/>
          </a:solidFill>
          <a:ln w="12700">
            <a:solidFill>
              <a:srgbClr val="97BC62"/>
            </a:solidFill>
            <a:prstDash val="solid"/>
          </a:ln>
        </p:spPr>
      </p:sp>
      <p:sp>
        <p:nvSpPr>
          <p:cNvPr id="9" name="Text 7"/>
          <p:cNvSpPr/>
          <p:nvPr/>
        </p:nvSpPr>
        <p:spPr>
          <a:xfrm>
            <a:off x="1051560" y="4572000"/>
            <a:ext cx="5577840" cy="86868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サッポロ不動産開発株式会社　開発本部長 様</a:t>
            </a:r>
            <a:endParaRPr lang="en-US" sz="1500" dirty="0"/>
          </a:p>
          <a:p>
            <a:pPr indent="0" marL="0">
              <a:buNone/>
            </a:pPr>
            <a:r>
              <a:rPr lang="en-US" sz="1200" dirty="0">
                <a:solidFill>
                  <a:srgbClr val="97BC62"/>
                </a:solidFill>
                <a:latin typeface="Meiryo" pitchFamily="34" charset="0"/>
                <a:ea typeface="Meiryo" pitchFamily="34" charset="-122"/>
                <a:cs typeface="Meiryo" pitchFamily="34" charset="-120"/>
              </a:rPr>
              <a:t>2026年8月　株式会社森未来</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2C5F2D"/>
                </a:solidFill>
                <a:latin typeface="Meiryo" pitchFamily="34" charset="0"/>
                <a:ea typeface="Meiryo" pitchFamily="34" charset="-122"/>
                <a:cs typeface="Meiryo" pitchFamily="34" charset="-120"/>
              </a:rPr>
              <a:t>SUMMARY</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本日ご相談したいこと</a:t>
            </a:r>
            <a:endParaRPr lang="en-US" sz="2800" dirty="0"/>
          </a:p>
        </p:txBody>
      </p:sp>
      <p:sp>
        <p:nvSpPr>
          <p:cNvPr id="4" name="Text 2"/>
          <p:cNvSpPr/>
          <p:nvPr/>
        </p:nvSpPr>
        <p:spPr>
          <a:xfrm>
            <a:off x="640080" y="1481328"/>
            <a:ext cx="10881360" cy="365760"/>
          </a:xfrm>
          <a:prstGeom prst="rect">
            <a:avLst/>
          </a:prstGeom>
          <a:noFill/>
          <a:ln/>
        </p:spPr>
        <p:txBody>
          <a:bodyPr wrap="square" lIns="0" tIns="0" rIns="0" bIns="0" rtlCol="0" anchor="ctr"/>
          <a:lstStyle/>
          <a:p>
            <a:pPr indent="0" marL="0">
              <a:buNone/>
            </a:pPr>
            <a:r>
              <a:rPr lang="en-US" sz="1300" dirty="0">
                <a:solidFill>
                  <a:srgbClr val="6E7266"/>
                </a:solidFill>
                <a:latin typeface="Meiryo" pitchFamily="34" charset="0"/>
                <a:ea typeface="Meiryo" pitchFamily="34" charset="-122"/>
                <a:cs typeface="Meiryo" pitchFamily="34" charset="-120"/>
              </a:rPr>
              <a:t>恵比寿エリアで「これから発生する樹木」と「これからつくる施設」の2つの接点から、御社のエリア価値向上にお役立ていただけると考えております。</a:t>
            </a:r>
            <a:endParaRPr lang="en-US" sz="1300" dirty="0"/>
          </a:p>
        </p:txBody>
      </p:sp>
      <p:sp>
        <p:nvSpPr>
          <p:cNvPr id="5" name="Shape 3"/>
          <p:cNvSpPr/>
          <p:nvPr/>
        </p:nvSpPr>
        <p:spPr>
          <a:xfrm>
            <a:off x="640080" y="2057400"/>
            <a:ext cx="3429000" cy="3200400"/>
          </a:xfrm>
          <a:prstGeom prst="roundRect">
            <a:avLst>
              <a:gd name="adj" fmla="val 2286"/>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6" name="Shape 4"/>
          <p:cNvSpPr/>
          <p:nvPr/>
        </p:nvSpPr>
        <p:spPr>
          <a:xfrm>
            <a:off x="960120" y="2377440"/>
            <a:ext cx="566928" cy="566928"/>
          </a:xfrm>
          <a:prstGeom prst="ellipse">
            <a:avLst/>
          </a:prstGeom>
          <a:solidFill>
            <a:srgbClr val="2C5F2D"/>
          </a:solidFill>
          <a:ln w="12700">
            <a:solidFill>
              <a:srgbClr val="2C5F2D"/>
            </a:solidFill>
            <a:prstDash val="solid"/>
          </a:ln>
        </p:spPr>
      </p:sp>
      <p:sp>
        <p:nvSpPr>
          <p:cNvPr id="7" name="Text 5"/>
          <p:cNvSpPr/>
          <p:nvPr/>
        </p:nvSpPr>
        <p:spPr>
          <a:xfrm>
            <a:off x="960120" y="23774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01</a:t>
            </a:r>
            <a:endParaRPr lang="en-US" sz="1600" dirty="0"/>
          </a:p>
        </p:txBody>
      </p:sp>
      <p:sp>
        <p:nvSpPr>
          <p:cNvPr id="8" name="Text 6"/>
          <p:cNvSpPr/>
          <p:nvPr/>
        </p:nvSpPr>
        <p:spPr>
          <a:xfrm>
            <a:off x="960120" y="3127248"/>
            <a:ext cx="2788920" cy="868680"/>
          </a:xfrm>
          <a:prstGeom prst="rect">
            <a:avLst/>
          </a:prstGeom>
          <a:noFill/>
          <a:ln/>
        </p:spPr>
        <p:txBody>
          <a:bodyPr wrap="square" lIns="0" tIns="0" rIns="0" bIns="0" rtlCol="0" anchor="ctr"/>
          <a:lstStyle/>
          <a:p>
            <a:pPr indent="0" marL="0">
              <a:lnSpc>
                <a:spcPts val="2600"/>
              </a:lnSpc>
              <a:buNone/>
            </a:pPr>
            <a:r>
              <a:rPr lang="en-US" sz="1700" b="1" dirty="0">
                <a:solidFill>
                  <a:srgbClr val="2C5F2D"/>
                </a:solidFill>
                <a:latin typeface="Meiryo" pitchFamily="34" charset="0"/>
                <a:ea typeface="Meiryo" pitchFamily="34" charset="-122"/>
                <a:cs typeface="Meiryo" pitchFamily="34" charset="-120"/>
              </a:rPr>
              <a:t>樹木を「処分」から</a:t>
            </a:r>
            <a:endParaRPr lang="en-US" sz="1700" dirty="0"/>
          </a:p>
          <a:p>
            <a:pPr indent="0" marL="0">
              <a:lnSpc>
                <a:spcPts val="2600"/>
              </a:lnSpc>
              <a:buNone/>
            </a:pPr>
            <a:r>
              <a:rPr lang="en-US" sz="1700" b="1" dirty="0">
                <a:solidFill>
                  <a:srgbClr val="2C5F2D"/>
                </a:solidFill>
                <a:latin typeface="Meiryo" pitchFamily="34" charset="0"/>
                <a:ea typeface="Meiryo" pitchFamily="34" charset="-122"/>
                <a:cs typeface="Meiryo" pitchFamily="34" charset="-120"/>
              </a:rPr>
              <a:t>「資産」へ</a:t>
            </a:r>
            <a:endParaRPr lang="en-US" sz="1700" dirty="0"/>
          </a:p>
        </p:txBody>
      </p:sp>
      <p:sp>
        <p:nvSpPr>
          <p:cNvPr id="9" name="Text 7"/>
          <p:cNvSpPr/>
          <p:nvPr/>
        </p:nvSpPr>
        <p:spPr>
          <a:xfrm>
            <a:off x="960120" y="3977640"/>
            <a:ext cx="2788920" cy="1463040"/>
          </a:xfrm>
          <a:prstGeom prst="rect">
            <a:avLst/>
          </a:prstGeom>
          <a:noFill/>
          <a:ln/>
        </p:spPr>
        <p:txBody>
          <a:bodyPr wrap="square" lIns="0" tIns="0" rIns="0" bIns="0" rtlCol="0" anchor="ctr"/>
          <a:lstStyle/>
          <a:p>
            <a:pPr indent="0" marL="0">
              <a:lnSpc>
                <a:spcPts val="2000"/>
              </a:lnSpc>
              <a:buNone/>
            </a:pPr>
            <a:r>
              <a:rPr lang="en-US" sz="1200" dirty="0">
                <a:solidFill>
                  <a:srgbClr val="2E332C"/>
                </a:solidFill>
                <a:latin typeface="Meiryo" pitchFamily="34" charset="0"/>
                <a:ea typeface="Meiryo" pitchFamily="34" charset="-122"/>
                <a:cs typeface="Meiryo" pitchFamily="34" charset="-120"/>
              </a:rPr>
              <a:t>開発・改修・公園管理で発生する伐採木や剪定枝を、内装材・家具・アートに転換。処分費が掛かっていた木を、エリアの物語を語る素材に変えます。</a:t>
            </a:r>
            <a:endParaRPr lang="en-US" sz="1200" dirty="0"/>
          </a:p>
        </p:txBody>
      </p:sp>
      <p:sp>
        <p:nvSpPr>
          <p:cNvPr id="10" name="Shape 8"/>
          <p:cNvSpPr/>
          <p:nvPr/>
        </p:nvSpPr>
        <p:spPr>
          <a:xfrm>
            <a:off x="4343400" y="2057400"/>
            <a:ext cx="3429000" cy="3200400"/>
          </a:xfrm>
          <a:prstGeom prst="roundRect">
            <a:avLst>
              <a:gd name="adj" fmla="val 2286"/>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11" name="Shape 9"/>
          <p:cNvSpPr/>
          <p:nvPr/>
        </p:nvSpPr>
        <p:spPr>
          <a:xfrm>
            <a:off x="4663440" y="2377440"/>
            <a:ext cx="566928" cy="566928"/>
          </a:xfrm>
          <a:prstGeom prst="ellipse">
            <a:avLst/>
          </a:prstGeom>
          <a:solidFill>
            <a:srgbClr val="2C5F2D"/>
          </a:solidFill>
          <a:ln w="12700">
            <a:solidFill>
              <a:srgbClr val="2C5F2D"/>
            </a:solidFill>
            <a:prstDash val="solid"/>
          </a:ln>
        </p:spPr>
      </p:sp>
      <p:sp>
        <p:nvSpPr>
          <p:cNvPr id="12" name="Text 10"/>
          <p:cNvSpPr/>
          <p:nvPr/>
        </p:nvSpPr>
        <p:spPr>
          <a:xfrm>
            <a:off x="4663440" y="23774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02</a:t>
            </a:r>
            <a:endParaRPr lang="en-US" sz="1600" dirty="0"/>
          </a:p>
        </p:txBody>
      </p:sp>
      <p:sp>
        <p:nvSpPr>
          <p:cNvPr id="13" name="Text 11"/>
          <p:cNvSpPr/>
          <p:nvPr/>
        </p:nvSpPr>
        <p:spPr>
          <a:xfrm>
            <a:off x="4663440" y="3127248"/>
            <a:ext cx="2788920" cy="868680"/>
          </a:xfrm>
          <a:prstGeom prst="rect">
            <a:avLst/>
          </a:prstGeom>
          <a:noFill/>
          <a:ln/>
        </p:spPr>
        <p:txBody>
          <a:bodyPr wrap="square" lIns="0" tIns="0" rIns="0" bIns="0" rtlCol="0" anchor="ctr"/>
          <a:lstStyle/>
          <a:p>
            <a:pPr indent="0" marL="0">
              <a:lnSpc>
                <a:spcPts val="2600"/>
              </a:lnSpc>
              <a:buNone/>
            </a:pPr>
            <a:r>
              <a:rPr lang="en-US" sz="1700" b="1" dirty="0">
                <a:solidFill>
                  <a:srgbClr val="2C5F2D"/>
                </a:solidFill>
                <a:latin typeface="Meiryo" pitchFamily="34" charset="0"/>
                <a:ea typeface="Meiryo" pitchFamily="34" charset="-122"/>
                <a:cs typeface="Meiryo" pitchFamily="34" charset="-120"/>
              </a:rPr>
              <a:t>施設の木質化を</a:t>
            </a:r>
            <a:endParaRPr lang="en-US" sz="1700" dirty="0"/>
          </a:p>
          <a:p>
            <a:pPr indent="0" marL="0">
              <a:lnSpc>
                <a:spcPts val="2600"/>
              </a:lnSpc>
              <a:buNone/>
            </a:pPr>
            <a:r>
              <a:rPr lang="en-US" sz="1700" b="1" dirty="0">
                <a:solidFill>
                  <a:srgbClr val="2C5F2D"/>
                </a:solidFill>
                <a:latin typeface="Meiryo" pitchFamily="34" charset="0"/>
                <a:ea typeface="Meiryo" pitchFamily="34" charset="-122"/>
                <a:cs typeface="Meiryo" pitchFamily="34" charset="-120"/>
              </a:rPr>
              <a:t>デザイン起点で</a:t>
            </a:r>
            <a:endParaRPr lang="en-US" sz="1700" dirty="0"/>
          </a:p>
        </p:txBody>
      </p:sp>
      <p:sp>
        <p:nvSpPr>
          <p:cNvPr id="14" name="Text 12"/>
          <p:cNvSpPr/>
          <p:nvPr/>
        </p:nvSpPr>
        <p:spPr>
          <a:xfrm>
            <a:off x="4663440" y="3977640"/>
            <a:ext cx="2788920" cy="1463040"/>
          </a:xfrm>
          <a:prstGeom prst="rect">
            <a:avLst/>
          </a:prstGeom>
          <a:noFill/>
          <a:ln/>
        </p:spPr>
        <p:txBody>
          <a:bodyPr wrap="square" lIns="0" tIns="0" rIns="0" bIns="0" rtlCol="0" anchor="ctr"/>
          <a:lstStyle/>
          <a:p>
            <a:pPr indent="0" marL="0">
              <a:lnSpc>
                <a:spcPts val="2000"/>
              </a:lnSpc>
              <a:buNone/>
            </a:pPr>
            <a:r>
              <a:rPr lang="en-US" sz="1200" dirty="0">
                <a:solidFill>
                  <a:srgbClr val="2E332C"/>
                </a:solidFill>
                <a:latin typeface="Meiryo" pitchFamily="34" charset="0"/>
                <a:ea typeface="Meiryo" pitchFamily="34" charset="-122"/>
                <a:cs typeface="Meiryo" pitchFamily="34" charset="-120"/>
              </a:rPr>
              <a:t>セットアップオフィスや共用部で、まず“ワンポイント”から。デザイン性で差別化し、賃料・テナント訴求につなげる使い方をご提案します。</a:t>
            </a:r>
            <a:endParaRPr lang="en-US" sz="1200" dirty="0"/>
          </a:p>
        </p:txBody>
      </p:sp>
      <p:sp>
        <p:nvSpPr>
          <p:cNvPr id="15" name="Shape 13"/>
          <p:cNvSpPr/>
          <p:nvPr/>
        </p:nvSpPr>
        <p:spPr>
          <a:xfrm>
            <a:off x="8046720" y="2057400"/>
            <a:ext cx="3429000" cy="3200400"/>
          </a:xfrm>
          <a:prstGeom prst="roundRect">
            <a:avLst>
              <a:gd name="adj" fmla="val 2286"/>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16" name="Shape 14"/>
          <p:cNvSpPr/>
          <p:nvPr/>
        </p:nvSpPr>
        <p:spPr>
          <a:xfrm>
            <a:off x="8366760" y="2377440"/>
            <a:ext cx="566928" cy="566928"/>
          </a:xfrm>
          <a:prstGeom prst="ellipse">
            <a:avLst/>
          </a:prstGeom>
          <a:solidFill>
            <a:srgbClr val="2C5F2D"/>
          </a:solidFill>
          <a:ln w="12700">
            <a:solidFill>
              <a:srgbClr val="2C5F2D"/>
            </a:solidFill>
            <a:prstDash val="solid"/>
          </a:ln>
        </p:spPr>
      </p:sp>
      <p:sp>
        <p:nvSpPr>
          <p:cNvPr id="17" name="Text 15"/>
          <p:cNvSpPr/>
          <p:nvPr/>
        </p:nvSpPr>
        <p:spPr>
          <a:xfrm>
            <a:off x="8366760" y="23774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03</a:t>
            </a:r>
            <a:endParaRPr lang="en-US" sz="1600" dirty="0"/>
          </a:p>
        </p:txBody>
      </p:sp>
      <p:sp>
        <p:nvSpPr>
          <p:cNvPr id="18" name="Text 16"/>
          <p:cNvSpPr/>
          <p:nvPr/>
        </p:nvSpPr>
        <p:spPr>
          <a:xfrm>
            <a:off x="8366760" y="3127248"/>
            <a:ext cx="2788920" cy="868680"/>
          </a:xfrm>
          <a:prstGeom prst="rect">
            <a:avLst/>
          </a:prstGeom>
          <a:noFill/>
          <a:ln/>
        </p:spPr>
        <p:txBody>
          <a:bodyPr wrap="square" lIns="0" tIns="0" rIns="0" bIns="0" rtlCol="0" anchor="ctr"/>
          <a:lstStyle/>
          <a:p>
            <a:pPr indent="0" marL="0">
              <a:lnSpc>
                <a:spcPts val="2600"/>
              </a:lnSpc>
              <a:buNone/>
            </a:pPr>
            <a:r>
              <a:rPr lang="en-US" sz="1700" b="1" dirty="0">
                <a:solidFill>
                  <a:srgbClr val="2C5F2D"/>
                </a:solidFill>
                <a:latin typeface="Meiryo" pitchFamily="34" charset="0"/>
                <a:ea typeface="Meiryo" pitchFamily="34" charset="-122"/>
                <a:cs typeface="Meiryo" pitchFamily="34" charset="-120"/>
              </a:rPr>
              <a:t>まずは情報連携から</a:t>
            </a:r>
            <a:endParaRPr lang="en-US" sz="1700" dirty="0"/>
          </a:p>
          <a:p>
            <a:pPr indent="0" marL="0">
              <a:lnSpc>
                <a:spcPts val="2600"/>
              </a:lnSpc>
              <a:buNone/>
            </a:pPr>
            <a:r>
              <a:rPr lang="en-US" sz="1700" b="1" dirty="0">
                <a:solidFill>
                  <a:srgbClr val="2C5F2D"/>
                </a:solidFill>
                <a:latin typeface="Meiryo" pitchFamily="34" charset="0"/>
                <a:ea typeface="Meiryo" pitchFamily="34" charset="-122"/>
                <a:cs typeface="Meiryo" pitchFamily="34" charset="-120"/>
              </a:rPr>
              <a:t>ご一緒したい</a:t>
            </a:r>
            <a:endParaRPr lang="en-US" sz="1700" dirty="0"/>
          </a:p>
        </p:txBody>
      </p:sp>
      <p:sp>
        <p:nvSpPr>
          <p:cNvPr id="19" name="Text 17"/>
          <p:cNvSpPr/>
          <p:nvPr/>
        </p:nvSpPr>
        <p:spPr>
          <a:xfrm>
            <a:off x="8366760" y="3977640"/>
            <a:ext cx="2788920" cy="1463040"/>
          </a:xfrm>
          <a:prstGeom prst="rect">
            <a:avLst/>
          </a:prstGeom>
          <a:noFill/>
          <a:ln/>
        </p:spPr>
        <p:txBody>
          <a:bodyPr wrap="square" lIns="0" tIns="0" rIns="0" bIns="0" rtlCol="0" anchor="ctr"/>
          <a:lstStyle/>
          <a:p>
            <a:pPr indent="0" marL="0">
              <a:lnSpc>
                <a:spcPts val="2000"/>
              </a:lnSpc>
              <a:buNone/>
            </a:pPr>
            <a:r>
              <a:rPr lang="en-US" sz="1200" dirty="0">
                <a:solidFill>
                  <a:srgbClr val="2E332C"/>
                </a:solidFill>
                <a:latin typeface="Meiryo" pitchFamily="34" charset="0"/>
                <a:ea typeface="Meiryo" pitchFamily="34" charset="-122"/>
                <a:cs typeface="Meiryo" pitchFamily="34" charset="-120"/>
              </a:rPr>
              <a:t>伐採・剪定のご予定を早い段階で共有いただければ、活用の選択肢が広がります。30分のお打ち合わせをお願いできませんでしょうか。</a:t>
            </a:r>
            <a:endParaRPr lang="en-US" sz="1200" dirty="0"/>
          </a:p>
        </p:txBody>
      </p:sp>
      <p:sp>
        <p:nvSpPr>
          <p:cNvPr id="20" name="Text 18"/>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21" name="Text 19"/>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2C5F2D"/>
                </a:solidFill>
                <a:latin typeface="Meiryo" pitchFamily="34" charset="0"/>
                <a:ea typeface="Meiryo" pitchFamily="34" charset="-122"/>
                <a:cs typeface="Meiryo" pitchFamily="34" charset="-120"/>
              </a:rPr>
              <a:t>UNDERSTANDING</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御社の取り組みへの理解</a:t>
            </a:r>
            <a:endParaRPr lang="en-US" sz="28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300" dirty="0">
                <a:solidFill>
                  <a:srgbClr val="6E7266"/>
                </a:solidFill>
                <a:latin typeface="Meiryo" pitchFamily="34" charset="0"/>
                <a:ea typeface="Meiryo" pitchFamily="34" charset="-122"/>
                <a:cs typeface="Meiryo" pitchFamily="34" charset="-120"/>
              </a:rPr>
              <a:t>これまでのお打ち合わせと公開情報から、以下のように理解しております。</a:t>
            </a:r>
            <a:endParaRPr lang="en-US" sz="1300" dirty="0"/>
          </a:p>
        </p:txBody>
      </p:sp>
      <p:sp>
        <p:nvSpPr>
          <p:cNvPr id="5" name="Shape 3"/>
          <p:cNvSpPr/>
          <p:nvPr/>
        </p:nvSpPr>
        <p:spPr>
          <a:xfrm>
            <a:off x="640080" y="2057400"/>
            <a:ext cx="5349240" cy="1691640"/>
          </a:xfrm>
          <a:prstGeom prst="roundRect">
            <a:avLst>
              <a:gd name="adj" fmla="val 4324"/>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6" name="Shape 4"/>
          <p:cNvSpPr/>
          <p:nvPr/>
        </p:nvSpPr>
        <p:spPr>
          <a:xfrm>
            <a:off x="960120" y="2441448"/>
            <a:ext cx="146304" cy="146304"/>
          </a:xfrm>
          <a:prstGeom prst="ellipse">
            <a:avLst/>
          </a:prstGeom>
          <a:solidFill>
            <a:srgbClr val="C4707F"/>
          </a:solidFill>
          <a:ln w="12700">
            <a:solidFill>
              <a:srgbClr val="333333"/>
            </a:solidFill>
            <a:prstDash val="solid"/>
          </a:ln>
        </p:spPr>
      </p:sp>
      <p:sp>
        <p:nvSpPr>
          <p:cNvPr id="7" name="Text 5"/>
          <p:cNvSpPr/>
          <p:nvPr/>
        </p:nvSpPr>
        <p:spPr>
          <a:xfrm>
            <a:off x="1207008" y="2331720"/>
            <a:ext cx="4526280" cy="365760"/>
          </a:xfrm>
          <a:prstGeom prst="rect">
            <a:avLst/>
          </a:prstGeom>
          <a:noFill/>
          <a:ln/>
        </p:spPr>
        <p:txBody>
          <a:bodyPr wrap="square" lIns="0" tIns="0" rIns="0" bIns="0" rtlCol="0" anchor="ctr"/>
          <a:lstStyle/>
          <a:p>
            <a:pPr indent="0" marL="0">
              <a:buNone/>
            </a:pPr>
            <a:r>
              <a:rPr lang="en-US" sz="1500" b="1" dirty="0">
                <a:solidFill>
                  <a:srgbClr val="2C5F2D"/>
                </a:solidFill>
                <a:latin typeface="Meiryo" pitchFamily="34" charset="0"/>
                <a:ea typeface="Meiryo" pitchFamily="34" charset="-122"/>
                <a:cs typeface="Meiryo" pitchFamily="34" charset="-120"/>
              </a:rPr>
              <a:t>「ひらめきが生まれるまち」</a:t>
            </a:r>
            <a:endParaRPr lang="en-US" sz="1500" dirty="0"/>
          </a:p>
        </p:txBody>
      </p:sp>
      <p:sp>
        <p:nvSpPr>
          <p:cNvPr id="8" name="Text 6"/>
          <p:cNvSpPr/>
          <p:nvPr/>
        </p:nvSpPr>
        <p:spPr>
          <a:xfrm>
            <a:off x="1207008" y="2770632"/>
            <a:ext cx="4526280" cy="822960"/>
          </a:xfrm>
          <a:prstGeom prst="rect">
            <a:avLst/>
          </a:prstGeom>
          <a:noFill/>
          <a:ln/>
        </p:spPr>
        <p:txBody>
          <a:bodyPr wrap="square" lIns="0" tIns="0" rIns="0" bIns="0" rtlCol="0" anchor="ctr"/>
          <a:lstStyle/>
          <a:p>
            <a:pPr indent="0" marL="0">
              <a:lnSpc>
                <a:spcPts val="1900"/>
              </a:lnSpc>
              <a:buNone/>
            </a:pPr>
            <a:r>
              <a:rPr lang="en-US" sz="1150" dirty="0">
                <a:solidFill>
                  <a:srgbClr val="2E332C"/>
                </a:solidFill>
                <a:latin typeface="Meiryo" pitchFamily="34" charset="0"/>
                <a:ea typeface="Meiryo" pitchFamily="34" charset="-122"/>
                <a:cs typeface="Meiryo" pitchFamily="34" charset="-120"/>
              </a:rPr>
              <a:t>働く・遊ぶ・住むが混在し、刺激とゆとりが共存する環境づくり。緑や余白が新しい発見を生み、恵比寿のブランド価値を高めていく。</a:t>
            </a:r>
            <a:endParaRPr lang="en-US" sz="1150" dirty="0"/>
          </a:p>
        </p:txBody>
      </p:sp>
      <p:sp>
        <p:nvSpPr>
          <p:cNvPr id="9" name="Shape 7"/>
          <p:cNvSpPr/>
          <p:nvPr/>
        </p:nvSpPr>
        <p:spPr>
          <a:xfrm>
            <a:off x="6263640" y="2057400"/>
            <a:ext cx="5349240" cy="1691640"/>
          </a:xfrm>
          <a:prstGeom prst="roundRect">
            <a:avLst>
              <a:gd name="adj" fmla="val 4324"/>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10" name="Shape 8"/>
          <p:cNvSpPr/>
          <p:nvPr/>
        </p:nvSpPr>
        <p:spPr>
          <a:xfrm>
            <a:off x="6583680" y="2441448"/>
            <a:ext cx="146304" cy="146304"/>
          </a:xfrm>
          <a:prstGeom prst="ellipse">
            <a:avLst/>
          </a:prstGeom>
          <a:solidFill>
            <a:srgbClr val="C4707F"/>
          </a:solidFill>
          <a:ln w="12700">
            <a:solidFill>
              <a:srgbClr val="333333"/>
            </a:solidFill>
            <a:prstDash val="solid"/>
          </a:ln>
        </p:spPr>
      </p:sp>
      <p:sp>
        <p:nvSpPr>
          <p:cNvPr id="11" name="Text 9"/>
          <p:cNvSpPr/>
          <p:nvPr/>
        </p:nvSpPr>
        <p:spPr>
          <a:xfrm>
            <a:off x="6830568" y="2331720"/>
            <a:ext cx="4526280" cy="365760"/>
          </a:xfrm>
          <a:prstGeom prst="rect">
            <a:avLst/>
          </a:prstGeom>
          <a:noFill/>
          <a:ln/>
        </p:spPr>
        <p:txBody>
          <a:bodyPr wrap="square" lIns="0" tIns="0" rIns="0" bIns="0" rtlCol="0" anchor="ctr"/>
          <a:lstStyle/>
          <a:p>
            <a:pPr indent="0" marL="0">
              <a:buNone/>
            </a:pPr>
            <a:r>
              <a:rPr lang="en-US" sz="1500" b="1" dirty="0">
                <a:solidFill>
                  <a:srgbClr val="2C5F2D"/>
                </a:solidFill>
                <a:latin typeface="Meiryo" pitchFamily="34" charset="0"/>
                <a:ea typeface="Meiryo" pitchFamily="34" charset="-122"/>
                <a:cs typeface="Meiryo" pitchFamily="34" charset="-120"/>
              </a:rPr>
              <a:t>エリアに根ざした開発</a:t>
            </a:r>
            <a:endParaRPr lang="en-US" sz="1500" dirty="0"/>
          </a:p>
        </p:txBody>
      </p:sp>
      <p:sp>
        <p:nvSpPr>
          <p:cNvPr id="12" name="Text 10"/>
          <p:cNvSpPr/>
          <p:nvPr/>
        </p:nvSpPr>
        <p:spPr>
          <a:xfrm>
            <a:off x="6830568" y="2770632"/>
            <a:ext cx="4526280" cy="822960"/>
          </a:xfrm>
          <a:prstGeom prst="rect">
            <a:avLst/>
          </a:prstGeom>
          <a:noFill/>
          <a:ln/>
        </p:spPr>
        <p:txBody>
          <a:bodyPr wrap="square" lIns="0" tIns="0" rIns="0" bIns="0" rtlCol="0" anchor="ctr"/>
          <a:lstStyle/>
          <a:p>
            <a:pPr indent="0" marL="0">
              <a:lnSpc>
                <a:spcPts val="1900"/>
              </a:lnSpc>
              <a:buNone/>
            </a:pPr>
            <a:r>
              <a:rPr lang="en-US" sz="1150" dirty="0">
                <a:solidFill>
                  <a:srgbClr val="2E332C"/>
                </a:solidFill>
                <a:latin typeface="Meiryo" pitchFamily="34" charset="0"/>
                <a:ea typeface="Meiryo" pitchFamily="34" charset="-122"/>
                <a:cs typeface="Meiryo" pitchFamily="34" charset="-120"/>
              </a:rPr>
              <a:t>恵比寿・銀座・札幌というゆかりの地を軸に、オフィス／商業／レジデンスを開発・運営。跡地活用や小規模ビルのリノベーションも積極的に展開。</a:t>
            </a:r>
            <a:endParaRPr lang="en-US" sz="1150" dirty="0"/>
          </a:p>
        </p:txBody>
      </p:sp>
      <p:sp>
        <p:nvSpPr>
          <p:cNvPr id="13" name="Shape 11"/>
          <p:cNvSpPr/>
          <p:nvPr/>
        </p:nvSpPr>
        <p:spPr>
          <a:xfrm>
            <a:off x="640080" y="3977640"/>
            <a:ext cx="5349240" cy="1691640"/>
          </a:xfrm>
          <a:prstGeom prst="roundRect">
            <a:avLst>
              <a:gd name="adj" fmla="val 4324"/>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14" name="Shape 12"/>
          <p:cNvSpPr/>
          <p:nvPr/>
        </p:nvSpPr>
        <p:spPr>
          <a:xfrm>
            <a:off x="960120" y="4361688"/>
            <a:ext cx="146304" cy="146304"/>
          </a:xfrm>
          <a:prstGeom prst="ellipse">
            <a:avLst/>
          </a:prstGeom>
          <a:solidFill>
            <a:srgbClr val="C4707F"/>
          </a:solidFill>
          <a:ln w="12700">
            <a:solidFill>
              <a:srgbClr val="333333"/>
            </a:solidFill>
            <a:prstDash val="solid"/>
          </a:ln>
        </p:spPr>
      </p:sp>
      <p:sp>
        <p:nvSpPr>
          <p:cNvPr id="15" name="Text 13"/>
          <p:cNvSpPr/>
          <p:nvPr/>
        </p:nvSpPr>
        <p:spPr>
          <a:xfrm>
            <a:off x="1207008" y="4251960"/>
            <a:ext cx="4526280" cy="365760"/>
          </a:xfrm>
          <a:prstGeom prst="rect">
            <a:avLst/>
          </a:prstGeom>
          <a:noFill/>
          <a:ln/>
        </p:spPr>
        <p:txBody>
          <a:bodyPr wrap="square" lIns="0" tIns="0" rIns="0" bIns="0" rtlCol="0" anchor="ctr"/>
          <a:lstStyle/>
          <a:p>
            <a:pPr indent="0" marL="0">
              <a:buNone/>
            </a:pPr>
            <a:r>
              <a:rPr lang="en-US" sz="1500" b="1" dirty="0">
                <a:solidFill>
                  <a:srgbClr val="2C5F2D"/>
                </a:solidFill>
                <a:latin typeface="Meiryo" pitchFamily="34" charset="0"/>
                <a:ea typeface="Meiryo" pitchFamily="34" charset="-122"/>
                <a:cs typeface="Meiryo" pitchFamily="34" charset="-120"/>
              </a:rPr>
              <a:t>デザイン性による差別化</a:t>
            </a:r>
            <a:endParaRPr lang="en-US" sz="1500" dirty="0"/>
          </a:p>
        </p:txBody>
      </p:sp>
      <p:sp>
        <p:nvSpPr>
          <p:cNvPr id="16" name="Text 14"/>
          <p:cNvSpPr/>
          <p:nvPr/>
        </p:nvSpPr>
        <p:spPr>
          <a:xfrm>
            <a:off x="1207008" y="4690872"/>
            <a:ext cx="4526280" cy="822960"/>
          </a:xfrm>
          <a:prstGeom prst="rect">
            <a:avLst/>
          </a:prstGeom>
          <a:noFill/>
          <a:ln/>
        </p:spPr>
        <p:txBody>
          <a:bodyPr wrap="square" lIns="0" tIns="0" rIns="0" bIns="0" rtlCol="0" anchor="ctr"/>
          <a:lstStyle/>
          <a:p>
            <a:pPr indent="0" marL="0">
              <a:lnSpc>
                <a:spcPts val="1900"/>
              </a:lnSpc>
              <a:buNone/>
            </a:pPr>
            <a:r>
              <a:rPr lang="en-US" sz="1150" dirty="0">
                <a:solidFill>
                  <a:srgbClr val="2E332C"/>
                </a:solidFill>
                <a:latin typeface="Meiryo" pitchFamily="34" charset="0"/>
                <a:ea typeface="Meiryo" pitchFamily="34" charset="-122"/>
                <a:cs typeface="Meiryo" pitchFamily="34" charset="-120"/>
              </a:rPr>
              <a:t>セットアップオフィスでは家具什器・内装に木を使ったデザインを採用。デザイン性を入口に、賃料やテナント満足度の向上を図られている。</a:t>
            </a:r>
            <a:endParaRPr lang="en-US" sz="1150" dirty="0"/>
          </a:p>
        </p:txBody>
      </p:sp>
      <p:sp>
        <p:nvSpPr>
          <p:cNvPr id="17" name="Shape 15"/>
          <p:cNvSpPr/>
          <p:nvPr/>
        </p:nvSpPr>
        <p:spPr>
          <a:xfrm>
            <a:off x="6263640" y="3977640"/>
            <a:ext cx="5349240" cy="1691640"/>
          </a:xfrm>
          <a:prstGeom prst="roundRect">
            <a:avLst>
              <a:gd name="adj" fmla="val 4324"/>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18" name="Shape 16"/>
          <p:cNvSpPr/>
          <p:nvPr/>
        </p:nvSpPr>
        <p:spPr>
          <a:xfrm>
            <a:off x="6583680" y="4361688"/>
            <a:ext cx="146304" cy="146304"/>
          </a:xfrm>
          <a:prstGeom prst="ellipse">
            <a:avLst/>
          </a:prstGeom>
          <a:solidFill>
            <a:srgbClr val="C4707F"/>
          </a:solidFill>
          <a:ln w="12700">
            <a:solidFill>
              <a:srgbClr val="333333"/>
            </a:solidFill>
            <a:prstDash val="solid"/>
          </a:ln>
        </p:spPr>
      </p:sp>
      <p:sp>
        <p:nvSpPr>
          <p:cNvPr id="19" name="Text 17"/>
          <p:cNvSpPr/>
          <p:nvPr/>
        </p:nvSpPr>
        <p:spPr>
          <a:xfrm>
            <a:off x="6830568" y="4251960"/>
            <a:ext cx="4526280" cy="365760"/>
          </a:xfrm>
          <a:prstGeom prst="rect">
            <a:avLst/>
          </a:prstGeom>
          <a:noFill/>
          <a:ln/>
        </p:spPr>
        <p:txBody>
          <a:bodyPr wrap="square" lIns="0" tIns="0" rIns="0" bIns="0" rtlCol="0" anchor="ctr"/>
          <a:lstStyle/>
          <a:p>
            <a:pPr indent="0" marL="0">
              <a:buNone/>
            </a:pPr>
            <a:r>
              <a:rPr lang="en-US" sz="1500" b="1" dirty="0">
                <a:solidFill>
                  <a:srgbClr val="2C5F2D"/>
                </a:solidFill>
                <a:latin typeface="Meiryo" pitchFamily="34" charset="0"/>
                <a:ea typeface="Meiryo" pitchFamily="34" charset="-122"/>
                <a:cs typeface="Meiryo" pitchFamily="34" charset="-120"/>
              </a:rPr>
              <a:t>環境・地域への取り組み</a:t>
            </a:r>
            <a:endParaRPr lang="en-US" sz="1500" dirty="0"/>
          </a:p>
        </p:txBody>
      </p:sp>
      <p:sp>
        <p:nvSpPr>
          <p:cNvPr id="20" name="Text 18"/>
          <p:cNvSpPr/>
          <p:nvPr/>
        </p:nvSpPr>
        <p:spPr>
          <a:xfrm>
            <a:off x="6830568" y="4690872"/>
            <a:ext cx="4526280" cy="822960"/>
          </a:xfrm>
          <a:prstGeom prst="rect">
            <a:avLst/>
          </a:prstGeom>
          <a:noFill/>
          <a:ln/>
        </p:spPr>
        <p:txBody>
          <a:bodyPr wrap="square" lIns="0" tIns="0" rIns="0" bIns="0" rtlCol="0" anchor="ctr"/>
          <a:lstStyle/>
          <a:p>
            <a:pPr indent="0" marL="0">
              <a:lnSpc>
                <a:spcPts val="1900"/>
              </a:lnSpc>
              <a:buNone/>
            </a:pPr>
            <a:r>
              <a:rPr lang="en-US" sz="1150" dirty="0">
                <a:solidFill>
                  <a:srgbClr val="2E332C"/>
                </a:solidFill>
                <a:latin typeface="Meiryo" pitchFamily="34" charset="0"/>
                <a:ea typeface="Meiryo" pitchFamily="34" charset="-122"/>
                <a:cs typeface="Meiryo" pitchFamily="34" charset="-120"/>
              </a:rPr>
              <a:t>DBJ Green Building認証の最高評価取得、恵比寿ガーデンプレイスの緑地の自然共生サイト登録、恵比寿南一公園の指定管理など。</a:t>
            </a:r>
            <a:endParaRPr lang="en-US" sz="1150" dirty="0"/>
          </a:p>
        </p:txBody>
      </p:sp>
      <p:sp>
        <p:nvSpPr>
          <p:cNvPr id="21" name="Text 19"/>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22" name="Text 20"/>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2C5F2D"/>
                </a:solidFill>
                <a:latin typeface="Meiryo" pitchFamily="34" charset="0"/>
                <a:ea typeface="Meiryo" pitchFamily="34" charset="-122"/>
                <a:cs typeface="Meiryo" pitchFamily="34" charset="-120"/>
              </a:rPr>
              <a:t>ISSUES</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私たちが感じている「もったいなさ」</a:t>
            </a:r>
            <a:endParaRPr lang="en-US" sz="2800" dirty="0"/>
          </a:p>
        </p:txBody>
      </p:sp>
      <p:sp>
        <p:nvSpPr>
          <p:cNvPr id="4" name="Shape 2"/>
          <p:cNvSpPr/>
          <p:nvPr/>
        </p:nvSpPr>
        <p:spPr>
          <a:xfrm>
            <a:off x="640080" y="1691640"/>
            <a:ext cx="10881360" cy="1298448"/>
          </a:xfrm>
          <a:prstGeom prst="roundRect">
            <a:avLst>
              <a:gd name="adj" fmla="val 5634"/>
            </a:avLst>
          </a:prstGeom>
          <a:solidFill>
            <a:srgbClr val="F0F4EC"/>
          </a:solidFill>
          <a:ln w="12700">
            <a:solidFill>
              <a:srgbClr val="F0F4EC"/>
            </a:solidFill>
            <a:prstDash val="solid"/>
          </a:ln>
          <a:effectLst>
            <a:outerShdw sx="100000" sy="100000" kx="0" ky="0" algn="bl" rotWithShape="0" blurRad="127000" dist="25400" dir="5400000">
              <a:srgbClr val="1E3524">
                <a:alpha val="10000"/>
              </a:srgbClr>
            </a:outerShdw>
          </a:effectLst>
        </p:spPr>
      </p:sp>
      <p:sp>
        <p:nvSpPr>
          <p:cNvPr id="5" name="Shape 3"/>
          <p:cNvSpPr/>
          <p:nvPr/>
        </p:nvSpPr>
        <p:spPr>
          <a:xfrm>
            <a:off x="960120" y="2075688"/>
            <a:ext cx="530352" cy="530352"/>
          </a:xfrm>
          <a:prstGeom prst="ellipse">
            <a:avLst/>
          </a:prstGeom>
          <a:solidFill>
            <a:srgbClr val="C4707F"/>
          </a:solidFill>
          <a:ln w="12700">
            <a:solidFill>
              <a:srgbClr val="C4707F"/>
            </a:solidFill>
            <a:prstDash val="solid"/>
          </a:ln>
        </p:spPr>
      </p:sp>
      <p:sp>
        <p:nvSpPr>
          <p:cNvPr id="6" name="Text 4"/>
          <p:cNvSpPr/>
          <p:nvPr/>
        </p:nvSpPr>
        <p:spPr>
          <a:xfrm>
            <a:off x="960120" y="2075688"/>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7" name="Text 5"/>
          <p:cNvSpPr/>
          <p:nvPr/>
        </p:nvSpPr>
        <p:spPr>
          <a:xfrm>
            <a:off x="1691640" y="1892808"/>
            <a:ext cx="9509760" cy="365760"/>
          </a:xfrm>
          <a:prstGeom prst="rect">
            <a:avLst/>
          </a:prstGeom>
          <a:noFill/>
          <a:ln/>
        </p:spPr>
        <p:txBody>
          <a:bodyPr wrap="square" lIns="0" tIns="0" rIns="0" bIns="0" rtlCol="0" anchor="ctr"/>
          <a:lstStyle/>
          <a:p>
            <a:pPr indent="0" marL="0">
              <a:buNone/>
            </a:pPr>
            <a:r>
              <a:rPr lang="en-US" sz="1600" b="1" dirty="0">
                <a:solidFill>
                  <a:srgbClr val="2E332C"/>
                </a:solidFill>
                <a:latin typeface="Meiryo" pitchFamily="34" charset="0"/>
                <a:ea typeface="Meiryo" pitchFamily="34" charset="-122"/>
                <a:cs typeface="Meiryo" pitchFamily="34" charset="-120"/>
              </a:rPr>
              <a:t>伐採・剪定で出た木が、費用をかけて廃棄されている</a:t>
            </a:r>
            <a:endParaRPr lang="en-US" sz="1600" dirty="0"/>
          </a:p>
        </p:txBody>
      </p:sp>
      <p:sp>
        <p:nvSpPr>
          <p:cNvPr id="8" name="Text 6"/>
          <p:cNvSpPr/>
          <p:nvPr/>
        </p:nvSpPr>
        <p:spPr>
          <a:xfrm>
            <a:off x="1691640" y="2313432"/>
            <a:ext cx="9509760" cy="548640"/>
          </a:xfrm>
          <a:prstGeom prst="rect">
            <a:avLst/>
          </a:prstGeom>
          <a:noFill/>
          <a:ln/>
        </p:spPr>
        <p:txBody>
          <a:bodyPr wrap="square" lIns="0" tIns="0" rIns="0" bIns="0" rtlCol="0" anchor="ctr"/>
          <a:lstStyle/>
          <a:p>
            <a:pPr indent="0" marL="0">
              <a:lnSpc>
                <a:spcPts val="1900"/>
              </a:lnSpc>
              <a:buNone/>
            </a:pPr>
            <a:r>
              <a:rPr lang="en-US" sz="1200" dirty="0">
                <a:solidFill>
                  <a:srgbClr val="6E7266"/>
                </a:solidFill>
                <a:latin typeface="Meiryo" pitchFamily="34" charset="0"/>
                <a:ea typeface="Meiryo" pitchFamily="34" charset="-122"/>
                <a:cs typeface="Meiryo" pitchFamily="34" charset="-120"/>
              </a:rPr>
              <a:t>恵比寿南一公園の桜のように、まちの記憶を持つ木が処分されてしまう。活用を前提に段取りできれば、処分費の一部を素材費に振り替えられます。</a:t>
            </a:r>
            <a:endParaRPr lang="en-US" sz="1200" dirty="0"/>
          </a:p>
        </p:txBody>
      </p:sp>
      <p:sp>
        <p:nvSpPr>
          <p:cNvPr id="9" name="Shape 7"/>
          <p:cNvSpPr/>
          <p:nvPr/>
        </p:nvSpPr>
        <p:spPr>
          <a:xfrm>
            <a:off x="640080" y="3172968"/>
            <a:ext cx="10881360" cy="1298448"/>
          </a:xfrm>
          <a:prstGeom prst="roundRect">
            <a:avLst>
              <a:gd name="adj" fmla="val 5634"/>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10" name="Shape 8"/>
          <p:cNvSpPr/>
          <p:nvPr/>
        </p:nvSpPr>
        <p:spPr>
          <a:xfrm>
            <a:off x="960120" y="3557016"/>
            <a:ext cx="530352" cy="530352"/>
          </a:xfrm>
          <a:prstGeom prst="ellipse">
            <a:avLst/>
          </a:prstGeom>
          <a:solidFill>
            <a:srgbClr val="2C5F2D"/>
          </a:solidFill>
          <a:ln w="12700">
            <a:solidFill>
              <a:srgbClr val="2C5F2D"/>
            </a:solidFill>
            <a:prstDash val="solid"/>
          </a:ln>
        </p:spPr>
      </p:sp>
      <p:sp>
        <p:nvSpPr>
          <p:cNvPr id="11" name="Text 9"/>
          <p:cNvSpPr/>
          <p:nvPr/>
        </p:nvSpPr>
        <p:spPr>
          <a:xfrm>
            <a:off x="960120" y="3557016"/>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2" name="Text 10"/>
          <p:cNvSpPr/>
          <p:nvPr/>
        </p:nvSpPr>
        <p:spPr>
          <a:xfrm>
            <a:off x="1691640" y="3374136"/>
            <a:ext cx="9509760" cy="365760"/>
          </a:xfrm>
          <a:prstGeom prst="rect">
            <a:avLst/>
          </a:prstGeom>
          <a:noFill/>
          <a:ln/>
        </p:spPr>
        <p:txBody>
          <a:bodyPr wrap="square" lIns="0" tIns="0" rIns="0" bIns="0" rtlCol="0" anchor="ctr"/>
          <a:lstStyle/>
          <a:p>
            <a:pPr indent="0" marL="0">
              <a:buNone/>
            </a:pPr>
            <a:r>
              <a:rPr lang="en-US" sz="1600" b="1" dirty="0">
                <a:solidFill>
                  <a:srgbClr val="2E332C"/>
                </a:solidFill>
                <a:latin typeface="Meiryo" pitchFamily="34" charset="0"/>
                <a:ea typeface="Meiryo" pitchFamily="34" charset="-122"/>
                <a:cs typeface="Meiryo" pitchFamily="34" charset="-120"/>
              </a:rPr>
              <a:t>木材は「高い・手間がかかる」印象が残っている</a:t>
            </a:r>
            <a:endParaRPr lang="en-US" sz="1600" dirty="0"/>
          </a:p>
        </p:txBody>
      </p:sp>
      <p:sp>
        <p:nvSpPr>
          <p:cNvPr id="13" name="Text 11"/>
          <p:cNvSpPr/>
          <p:nvPr/>
        </p:nvSpPr>
        <p:spPr>
          <a:xfrm>
            <a:off x="1691640" y="3794760"/>
            <a:ext cx="9509760" cy="548640"/>
          </a:xfrm>
          <a:prstGeom prst="rect">
            <a:avLst/>
          </a:prstGeom>
          <a:noFill/>
          <a:ln/>
        </p:spPr>
        <p:txBody>
          <a:bodyPr wrap="square" lIns="0" tIns="0" rIns="0" bIns="0" rtlCol="0" anchor="ctr"/>
          <a:lstStyle/>
          <a:p>
            <a:pPr indent="0" marL="0">
              <a:lnSpc>
                <a:spcPts val="1900"/>
              </a:lnSpc>
              <a:buNone/>
            </a:pPr>
            <a:r>
              <a:rPr lang="en-US" sz="1200" dirty="0">
                <a:solidFill>
                  <a:srgbClr val="6E7266"/>
                </a:solidFill>
                <a:latin typeface="Meiryo" pitchFamily="34" charset="0"/>
                <a:ea typeface="Meiryo" pitchFamily="34" charset="-122"/>
                <a:cs typeface="Meiryo" pitchFamily="34" charset="-120"/>
              </a:rPr>
              <a:t>従来の商流では相談が何社も経由し、都度バッファが積まれて価格が膨らみます。結果として「木は諦める」判断になりがちです。</a:t>
            </a:r>
            <a:endParaRPr lang="en-US" sz="1200" dirty="0"/>
          </a:p>
        </p:txBody>
      </p:sp>
      <p:sp>
        <p:nvSpPr>
          <p:cNvPr id="14" name="Shape 12"/>
          <p:cNvSpPr/>
          <p:nvPr/>
        </p:nvSpPr>
        <p:spPr>
          <a:xfrm>
            <a:off x="640080" y="4654296"/>
            <a:ext cx="10881360" cy="1298448"/>
          </a:xfrm>
          <a:prstGeom prst="roundRect">
            <a:avLst>
              <a:gd name="adj" fmla="val 5634"/>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15" name="Shape 13"/>
          <p:cNvSpPr/>
          <p:nvPr/>
        </p:nvSpPr>
        <p:spPr>
          <a:xfrm>
            <a:off x="960120" y="5038344"/>
            <a:ext cx="530352" cy="530352"/>
          </a:xfrm>
          <a:prstGeom prst="ellipse">
            <a:avLst/>
          </a:prstGeom>
          <a:solidFill>
            <a:srgbClr val="2C5F2D"/>
          </a:solidFill>
          <a:ln w="12700">
            <a:solidFill>
              <a:srgbClr val="2C5F2D"/>
            </a:solidFill>
            <a:prstDash val="solid"/>
          </a:ln>
        </p:spPr>
      </p:sp>
      <p:sp>
        <p:nvSpPr>
          <p:cNvPr id="16" name="Text 14"/>
          <p:cNvSpPr/>
          <p:nvPr/>
        </p:nvSpPr>
        <p:spPr>
          <a:xfrm>
            <a:off x="960120" y="5038344"/>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7" name="Text 15"/>
          <p:cNvSpPr/>
          <p:nvPr/>
        </p:nvSpPr>
        <p:spPr>
          <a:xfrm>
            <a:off x="1691640" y="4855464"/>
            <a:ext cx="9509760" cy="365760"/>
          </a:xfrm>
          <a:prstGeom prst="rect">
            <a:avLst/>
          </a:prstGeom>
          <a:noFill/>
          <a:ln/>
        </p:spPr>
        <p:txBody>
          <a:bodyPr wrap="square" lIns="0" tIns="0" rIns="0" bIns="0" rtlCol="0" anchor="ctr"/>
          <a:lstStyle/>
          <a:p>
            <a:pPr indent="0" marL="0">
              <a:buNone/>
            </a:pPr>
            <a:r>
              <a:rPr lang="en-US" sz="1600" b="1" dirty="0">
                <a:solidFill>
                  <a:srgbClr val="2E332C"/>
                </a:solidFill>
                <a:latin typeface="Meiryo" pitchFamily="34" charset="0"/>
                <a:ea typeface="Meiryo" pitchFamily="34" charset="-122"/>
                <a:cs typeface="Meiryo" pitchFamily="34" charset="-120"/>
              </a:rPr>
              <a:t>サステナビリティの説明素材が、後付けになりやすい</a:t>
            </a:r>
            <a:endParaRPr lang="en-US" sz="1600" dirty="0"/>
          </a:p>
        </p:txBody>
      </p:sp>
      <p:sp>
        <p:nvSpPr>
          <p:cNvPr id="18" name="Text 16"/>
          <p:cNvSpPr/>
          <p:nvPr/>
        </p:nvSpPr>
        <p:spPr>
          <a:xfrm>
            <a:off x="1691640" y="5276088"/>
            <a:ext cx="9509760" cy="548640"/>
          </a:xfrm>
          <a:prstGeom prst="rect">
            <a:avLst/>
          </a:prstGeom>
          <a:noFill/>
          <a:ln/>
        </p:spPr>
        <p:txBody>
          <a:bodyPr wrap="square" lIns="0" tIns="0" rIns="0" bIns="0" rtlCol="0" anchor="ctr"/>
          <a:lstStyle/>
          <a:p>
            <a:pPr indent="0" marL="0">
              <a:lnSpc>
                <a:spcPts val="1900"/>
              </a:lnSpc>
              <a:buNone/>
            </a:pPr>
            <a:r>
              <a:rPr lang="en-US" sz="1200" dirty="0">
                <a:solidFill>
                  <a:srgbClr val="6E7266"/>
                </a:solidFill>
                <a:latin typeface="Meiryo" pitchFamily="34" charset="0"/>
                <a:ea typeface="Meiryo" pitchFamily="34" charset="-122"/>
                <a:cs typeface="Meiryo" pitchFamily="34" charset="-120"/>
              </a:rPr>
              <a:t>デザインが先、環境価値は後からついてくる。だからこそ“地域の木を使った”という事実は、後付けでない説明材料になります。</a:t>
            </a:r>
            <a:endParaRPr lang="en-US" sz="1200" dirty="0"/>
          </a:p>
        </p:txBody>
      </p:sp>
      <p:sp>
        <p:nvSpPr>
          <p:cNvPr id="19" name="Text 17"/>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20" name="Text 18"/>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2C5F2D"/>
                </a:solidFill>
                <a:latin typeface="Meiryo" pitchFamily="34" charset="0"/>
                <a:ea typeface="Meiryo" pitchFamily="34" charset="-122"/>
                <a:cs typeface="Meiryo" pitchFamily="34" charset="-120"/>
              </a:rPr>
              <a:t>PROPOSAL</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ご提案の全体像：2つの入口</a:t>
            </a:r>
            <a:endParaRPr lang="en-US" sz="2800" dirty="0"/>
          </a:p>
        </p:txBody>
      </p:sp>
      <p:sp>
        <p:nvSpPr>
          <p:cNvPr id="4" name="Shape 2"/>
          <p:cNvSpPr/>
          <p:nvPr/>
        </p:nvSpPr>
        <p:spPr>
          <a:xfrm>
            <a:off x="640080" y="1645920"/>
            <a:ext cx="5349240" cy="2651760"/>
          </a:xfrm>
          <a:prstGeom prst="roundRect">
            <a:avLst>
              <a:gd name="adj" fmla="val 2759"/>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5" name="Shape 3"/>
          <p:cNvSpPr/>
          <p:nvPr/>
        </p:nvSpPr>
        <p:spPr>
          <a:xfrm>
            <a:off x="960120" y="1920240"/>
            <a:ext cx="475488" cy="475488"/>
          </a:xfrm>
          <a:prstGeom prst="roundRect">
            <a:avLst>
              <a:gd name="adj" fmla="val 19231"/>
            </a:avLst>
          </a:prstGeom>
          <a:solidFill>
            <a:srgbClr val="C4707F"/>
          </a:solidFill>
          <a:ln w="12700">
            <a:solidFill>
              <a:srgbClr val="333333"/>
            </a:solidFill>
            <a:prstDash val="solid"/>
          </a:ln>
        </p:spPr>
      </p:sp>
      <p:sp>
        <p:nvSpPr>
          <p:cNvPr id="6" name="Text 4"/>
          <p:cNvSpPr/>
          <p:nvPr/>
        </p:nvSpPr>
        <p:spPr>
          <a:xfrm>
            <a:off x="960120" y="192024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A</a:t>
            </a:r>
            <a:endParaRPr lang="en-US" sz="1800" dirty="0"/>
          </a:p>
        </p:txBody>
      </p:sp>
      <p:sp>
        <p:nvSpPr>
          <p:cNvPr id="7" name="Text 5"/>
          <p:cNvSpPr/>
          <p:nvPr/>
        </p:nvSpPr>
        <p:spPr>
          <a:xfrm>
            <a:off x="1572768" y="1901952"/>
            <a:ext cx="4114800" cy="329184"/>
          </a:xfrm>
          <a:prstGeom prst="rect">
            <a:avLst/>
          </a:prstGeom>
          <a:noFill/>
          <a:ln/>
        </p:spPr>
        <p:txBody>
          <a:bodyPr wrap="square" lIns="0" tIns="0" rIns="0" bIns="0" rtlCol="0" anchor="ctr"/>
          <a:lstStyle/>
          <a:p>
            <a:pPr indent="0" marL="0">
              <a:buNone/>
            </a:pPr>
            <a:r>
              <a:rPr lang="en-US" sz="1800" b="1" dirty="0">
                <a:solidFill>
                  <a:srgbClr val="2E332C"/>
                </a:solidFill>
                <a:latin typeface="Meiryo" pitchFamily="34" charset="0"/>
                <a:ea typeface="Meiryo" pitchFamily="34" charset="-122"/>
                <a:cs typeface="Meiryo" pitchFamily="34" charset="-120"/>
              </a:rPr>
              <a:t>まちの樹木の資産化</a:t>
            </a:r>
            <a:endParaRPr lang="en-US" sz="1800" dirty="0"/>
          </a:p>
        </p:txBody>
      </p:sp>
      <p:sp>
        <p:nvSpPr>
          <p:cNvPr id="8" name="Text 6"/>
          <p:cNvSpPr/>
          <p:nvPr/>
        </p:nvSpPr>
        <p:spPr>
          <a:xfrm>
            <a:off x="1572768" y="2231136"/>
            <a:ext cx="4114800" cy="274320"/>
          </a:xfrm>
          <a:prstGeom prst="rect">
            <a:avLst/>
          </a:prstGeom>
          <a:noFill/>
          <a:ln/>
        </p:spPr>
        <p:txBody>
          <a:bodyPr wrap="square" lIns="0" tIns="0" rIns="0" bIns="0" rtlCol="0" anchor="ctr"/>
          <a:lstStyle/>
          <a:p>
            <a:pPr indent="0" marL="0">
              <a:buNone/>
            </a:pPr>
            <a:r>
              <a:rPr lang="en-US" sz="1150" dirty="0">
                <a:solidFill>
                  <a:srgbClr val="6E7266"/>
                </a:solidFill>
                <a:latin typeface="Meiryo" pitchFamily="34" charset="0"/>
                <a:ea typeface="Meiryo" pitchFamily="34" charset="-122"/>
                <a:cs typeface="Meiryo" pitchFamily="34" charset="-120"/>
              </a:rPr>
              <a:t>エリア内で発生する木を使い切る</a:t>
            </a:r>
            <a:endParaRPr lang="en-US" sz="1150" dirty="0"/>
          </a:p>
        </p:txBody>
      </p:sp>
      <p:sp>
        <p:nvSpPr>
          <p:cNvPr id="9" name="Text 7"/>
          <p:cNvSpPr/>
          <p:nvPr/>
        </p:nvSpPr>
        <p:spPr>
          <a:xfrm>
            <a:off x="1024128" y="2697480"/>
            <a:ext cx="4617720" cy="16916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00" dirty="0">
                <a:solidFill>
                  <a:srgbClr val="2E332C"/>
                </a:solidFill>
                <a:latin typeface="Meiryo" pitchFamily="34" charset="0"/>
                <a:ea typeface="Meiryo" pitchFamily="34" charset="-122"/>
                <a:cs typeface="Meiryo" pitchFamily="34" charset="-120"/>
              </a:rPr>
              <a:t>開発・改修時の既存樹、公園・緑地の剪定伐採材を活用</a:t>
            </a:r>
            <a:endParaRPr lang="en-US" sz="1200" dirty="0"/>
          </a:p>
          <a:p>
            <a:pPr marL="342900" indent="-342900">
              <a:lnSpc>
                <a:spcPts val="1900"/>
              </a:lnSpc>
              <a:spcAft>
                <a:spcPts val="800"/>
              </a:spcAft>
              <a:buSzPct val="100000"/>
              <a:buChar char="•"/>
            </a:pPr>
            <a:r>
              <a:rPr lang="en-US" sz="1200" dirty="0">
                <a:solidFill>
                  <a:srgbClr val="2E332C"/>
                </a:solidFill>
                <a:latin typeface="Meiryo" pitchFamily="34" charset="0"/>
                <a:ea typeface="Meiryo" pitchFamily="34" charset="-122"/>
                <a:cs typeface="Meiryo" pitchFamily="34" charset="-120"/>
              </a:rPr>
              <a:t>内装材・家具・アートパネル・ノベルティへ転換</a:t>
            </a:r>
            <a:endParaRPr lang="en-US" sz="1200" dirty="0"/>
          </a:p>
          <a:p>
            <a:pPr marL="342900" indent="-342900">
              <a:lnSpc>
                <a:spcPts val="1900"/>
              </a:lnSpc>
              <a:spcAft>
                <a:spcPts val="800"/>
              </a:spcAft>
              <a:buSzPct val="100000"/>
              <a:buChar char="•"/>
            </a:pPr>
            <a:r>
              <a:rPr lang="en-US" sz="1200" dirty="0">
                <a:solidFill>
                  <a:srgbClr val="2E332C"/>
                </a:solidFill>
                <a:latin typeface="Meiryo" pitchFamily="34" charset="0"/>
                <a:ea typeface="Meiryo" pitchFamily="34" charset="-122"/>
                <a:cs typeface="Meiryo" pitchFamily="34" charset="-120"/>
              </a:rPr>
              <a:t>「この場所に生えていた木」という物語がそのまま資産になる</a:t>
            </a:r>
            <a:endParaRPr lang="en-US" sz="1200" dirty="0"/>
          </a:p>
        </p:txBody>
      </p:sp>
      <p:sp>
        <p:nvSpPr>
          <p:cNvPr id="10" name="Shape 8"/>
          <p:cNvSpPr/>
          <p:nvPr/>
        </p:nvSpPr>
        <p:spPr>
          <a:xfrm>
            <a:off x="6263640" y="1645920"/>
            <a:ext cx="5349240" cy="2651760"/>
          </a:xfrm>
          <a:prstGeom prst="roundRect">
            <a:avLst>
              <a:gd name="adj" fmla="val 2759"/>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11" name="Shape 9"/>
          <p:cNvSpPr/>
          <p:nvPr/>
        </p:nvSpPr>
        <p:spPr>
          <a:xfrm>
            <a:off x="6583680" y="1920240"/>
            <a:ext cx="475488" cy="475488"/>
          </a:xfrm>
          <a:prstGeom prst="roundRect">
            <a:avLst>
              <a:gd name="adj" fmla="val 19231"/>
            </a:avLst>
          </a:prstGeom>
          <a:solidFill>
            <a:srgbClr val="2C5F2D"/>
          </a:solidFill>
          <a:ln w="12700">
            <a:solidFill>
              <a:srgbClr val="333333"/>
            </a:solidFill>
            <a:prstDash val="solid"/>
          </a:ln>
        </p:spPr>
      </p:sp>
      <p:sp>
        <p:nvSpPr>
          <p:cNvPr id="12" name="Text 10"/>
          <p:cNvSpPr/>
          <p:nvPr/>
        </p:nvSpPr>
        <p:spPr>
          <a:xfrm>
            <a:off x="6583680" y="192024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B</a:t>
            </a:r>
            <a:endParaRPr lang="en-US" sz="1800" dirty="0"/>
          </a:p>
        </p:txBody>
      </p:sp>
      <p:sp>
        <p:nvSpPr>
          <p:cNvPr id="13" name="Text 11"/>
          <p:cNvSpPr/>
          <p:nvPr/>
        </p:nvSpPr>
        <p:spPr>
          <a:xfrm>
            <a:off x="7196328" y="1901952"/>
            <a:ext cx="4114800" cy="329184"/>
          </a:xfrm>
          <a:prstGeom prst="rect">
            <a:avLst/>
          </a:prstGeom>
          <a:noFill/>
          <a:ln/>
        </p:spPr>
        <p:txBody>
          <a:bodyPr wrap="square" lIns="0" tIns="0" rIns="0" bIns="0" rtlCol="0" anchor="ctr"/>
          <a:lstStyle/>
          <a:p>
            <a:pPr indent="0" marL="0">
              <a:buNone/>
            </a:pPr>
            <a:r>
              <a:rPr lang="en-US" sz="1800" b="1" dirty="0">
                <a:solidFill>
                  <a:srgbClr val="2E332C"/>
                </a:solidFill>
                <a:latin typeface="Meiryo" pitchFamily="34" charset="0"/>
                <a:ea typeface="Meiryo" pitchFamily="34" charset="-122"/>
                <a:cs typeface="Meiryo" pitchFamily="34" charset="-120"/>
              </a:rPr>
              <a:t>施設での木材利用</a:t>
            </a:r>
            <a:endParaRPr lang="en-US" sz="1800" dirty="0"/>
          </a:p>
        </p:txBody>
      </p:sp>
      <p:sp>
        <p:nvSpPr>
          <p:cNvPr id="14" name="Text 12"/>
          <p:cNvSpPr/>
          <p:nvPr/>
        </p:nvSpPr>
        <p:spPr>
          <a:xfrm>
            <a:off x="7196328" y="2231136"/>
            <a:ext cx="4114800" cy="274320"/>
          </a:xfrm>
          <a:prstGeom prst="rect">
            <a:avLst/>
          </a:prstGeom>
          <a:noFill/>
          <a:ln/>
        </p:spPr>
        <p:txBody>
          <a:bodyPr wrap="square" lIns="0" tIns="0" rIns="0" bIns="0" rtlCol="0" anchor="ctr"/>
          <a:lstStyle/>
          <a:p>
            <a:pPr indent="0" marL="0">
              <a:buNone/>
            </a:pPr>
            <a:r>
              <a:rPr lang="en-US" sz="1150" dirty="0">
                <a:solidFill>
                  <a:srgbClr val="6E7266"/>
                </a:solidFill>
                <a:latin typeface="Meiryo" pitchFamily="34" charset="0"/>
                <a:ea typeface="Meiryo" pitchFamily="34" charset="-122"/>
                <a:cs typeface="Meiryo" pitchFamily="34" charset="-120"/>
              </a:rPr>
              <a:t>デザイン起点の木質化</a:t>
            </a:r>
            <a:endParaRPr lang="en-US" sz="1150" dirty="0"/>
          </a:p>
        </p:txBody>
      </p:sp>
      <p:sp>
        <p:nvSpPr>
          <p:cNvPr id="15" name="Text 13"/>
          <p:cNvSpPr/>
          <p:nvPr/>
        </p:nvSpPr>
        <p:spPr>
          <a:xfrm>
            <a:off x="6647688" y="2697480"/>
            <a:ext cx="4617720" cy="16916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00" dirty="0">
                <a:solidFill>
                  <a:srgbClr val="2E332C"/>
                </a:solidFill>
                <a:latin typeface="Meiryo" pitchFamily="34" charset="0"/>
                <a:ea typeface="Meiryo" pitchFamily="34" charset="-122"/>
                <a:cs typeface="Meiryo" pitchFamily="34" charset="-120"/>
              </a:rPr>
              <a:t>セットアップオフィス・共用部・ラウンジの木質化</a:t>
            </a:r>
            <a:endParaRPr lang="en-US" sz="1200" dirty="0"/>
          </a:p>
          <a:p>
            <a:pPr marL="342900" indent="-342900">
              <a:lnSpc>
                <a:spcPts val="1900"/>
              </a:lnSpc>
              <a:spcAft>
                <a:spcPts val="800"/>
              </a:spcAft>
              <a:buSzPct val="100000"/>
              <a:buChar char="•"/>
            </a:pPr>
            <a:r>
              <a:rPr lang="en-US" sz="1200" dirty="0">
                <a:solidFill>
                  <a:srgbClr val="2E332C"/>
                </a:solidFill>
                <a:latin typeface="Meiryo" pitchFamily="34" charset="0"/>
                <a:ea typeface="Meiryo" pitchFamily="34" charset="-122"/>
                <a:cs typeface="Meiryo" pitchFamily="34" charset="-120"/>
              </a:rPr>
              <a:t>地域材・認証材・不燃突板など用途に応じた調達</a:t>
            </a:r>
            <a:endParaRPr lang="en-US" sz="1200" dirty="0"/>
          </a:p>
          <a:p>
            <a:pPr marL="342900" indent="-342900">
              <a:lnSpc>
                <a:spcPts val="1900"/>
              </a:lnSpc>
              <a:spcAft>
                <a:spcPts val="800"/>
              </a:spcAft>
              <a:buSzPct val="100000"/>
              <a:buChar char="•"/>
            </a:pPr>
            <a:r>
              <a:rPr lang="en-US" sz="1200" dirty="0">
                <a:solidFill>
                  <a:srgbClr val="2E332C"/>
                </a:solidFill>
                <a:latin typeface="Meiryo" pitchFamily="34" charset="0"/>
                <a:ea typeface="Meiryo" pitchFamily="34" charset="-122"/>
                <a:cs typeface="Meiryo" pitchFamily="34" charset="-120"/>
              </a:rPr>
              <a:t>設計段階からの相談で、コストと納まりの両立を図る</a:t>
            </a:r>
            <a:endParaRPr lang="en-US" sz="1200" dirty="0"/>
          </a:p>
        </p:txBody>
      </p:sp>
      <p:sp>
        <p:nvSpPr>
          <p:cNvPr id="16" name="Shape 14"/>
          <p:cNvSpPr/>
          <p:nvPr/>
        </p:nvSpPr>
        <p:spPr>
          <a:xfrm>
            <a:off x="640080" y="4617720"/>
            <a:ext cx="10881360" cy="1234440"/>
          </a:xfrm>
          <a:prstGeom prst="roundRect">
            <a:avLst>
              <a:gd name="adj" fmla="val 5926"/>
            </a:avLst>
          </a:prstGeom>
          <a:solidFill>
            <a:srgbClr val="1E3524"/>
          </a:solidFill>
          <a:ln w="12700">
            <a:solidFill>
              <a:srgbClr val="1E3524"/>
            </a:solidFill>
            <a:prstDash val="solid"/>
          </a:ln>
          <a:effectLst>
            <a:outerShdw sx="100000" sy="100000" kx="0" ky="0" algn="bl" rotWithShape="0" blurRad="127000" dist="25400" dir="5400000">
              <a:srgbClr val="1E3524">
                <a:alpha val="10000"/>
              </a:srgbClr>
            </a:outerShdw>
          </a:effectLst>
        </p:spPr>
      </p:sp>
      <p:sp>
        <p:nvSpPr>
          <p:cNvPr id="17" name="Text 15"/>
          <p:cNvSpPr/>
          <p:nvPr/>
        </p:nvSpPr>
        <p:spPr>
          <a:xfrm>
            <a:off x="960120" y="4800600"/>
            <a:ext cx="5029200" cy="292608"/>
          </a:xfrm>
          <a:prstGeom prst="rect">
            <a:avLst/>
          </a:prstGeom>
          <a:noFill/>
          <a:ln/>
        </p:spPr>
        <p:txBody>
          <a:bodyPr wrap="square" lIns="0" tIns="0" rIns="0" bIns="0" rtlCol="0" anchor="ctr"/>
          <a:lstStyle/>
          <a:p>
            <a:pPr indent="0" marL="0">
              <a:buNone/>
            </a:pPr>
            <a:r>
              <a:rPr lang="en-US" sz="1400" b="1" dirty="0">
                <a:solidFill>
                  <a:srgbClr val="97BC62"/>
                </a:solidFill>
                <a:latin typeface="Meiryo" pitchFamily="34" charset="0"/>
                <a:ea typeface="Meiryo" pitchFamily="34" charset="-122"/>
                <a:cs typeface="Meiryo" pitchFamily="34" charset="-120"/>
              </a:rPr>
              <a:t>共通の基盤：森未来の木材コーディネート</a:t>
            </a:r>
            <a:endParaRPr lang="en-US" sz="1400" dirty="0"/>
          </a:p>
        </p:txBody>
      </p:sp>
      <p:sp>
        <p:nvSpPr>
          <p:cNvPr id="18" name="Text 16"/>
          <p:cNvSpPr/>
          <p:nvPr/>
        </p:nvSpPr>
        <p:spPr>
          <a:xfrm>
            <a:off x="960120" y="5138928"/>
            <a:ext cx="10241280" cy="566928"/>
          </a:xfrm>
          <a:prstGeom prst="rect">
            <a:avLst/>
          </a:prstGeom>
          <a:noFill/>
          <a:ln/>
        </p:spPr>
        <p:txBody>
          <a:bodyPr wrap="square" lIns="0" tIns="0" rIns="0" bIns="0" rtlCol="0" anchor="ctr"/>
          <a:lstStyle/>
          <a:p>
            <a:pPr indent="0" marL="0">
              <a:lnSpc>
                <a:spcPts val="1800"/>
              </a:lnSpc>
              <a:buNone/>
            </a:pPr>
            <a:r>
              <a:rPr lang="en-US" sz="1150" dirty="0">
                <a:solidFill>
                  <a:srgbClr val="FFFFFF"/>
                </a:solidFill>
                <a:latin typeface="Meiryo" pitchFamily="34" charset="0"/>
                <a:ea typeface="Meiryo" pitchFamily="34" charset="-122"/>
                <a:cs typeface="Meiryo" pitchFamily="34" charset="-120"/>
              </a:rPr>
              <a:t>木材ECプラットフォーム「eTREE」／全国の林業家・製材所・材木屋とのネットワーク／独自のデューデリジェンス（合法性確認）／FSC®・PEFC認証材の調達／伐採〜製材・乾燥〜加工〜施工までの一括コーディネート</a:t>
            </a:r>
            <a:endParaRPr lang="en-US" sz="1150" dirty="0"/>
          </a:p>
        </p:txBody>
      </p:sp>
      <p:sp>
        <p:nvSpPr>
          <p:cNvPr id="19" name="Text 17"/>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20" name="Text 18"/>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C4707F"/>
                </a:solidFill>
                <a:latin typeface="Meiryo" pitchFamily="34" charset="0"/>
                <a:ea typeface="Meiryo" pitchFamily="34" charset="-122"/>
                <a:cs typeface="Meiryo" pitchFamily="34" charset="-120"/>
              </a:rPr>
              <a:t>APPROACH A</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まちの樹木の資産化：段取りが価値を決める</a:t>
            </a:r>
            <a:endParaRPr lang="en-US" sz="28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300" dirty="0">
                <a:solidFill>
                  <a:srgbClr val="6E7266"/>
                </a:solidFill>
                <a:latin typeface="Meiryo" pitchFamily="34" charset="0"/>
                <a:ea typeface="Meiryo" pitchFamily="34" charset="-122"/>
                <a:cs typeface="Meiryo" pitchFamily="34" charset="-120"/>
              </a:rPr>
              <a:t>木は伐ってからでは選択肢が狭まります。伐採前に用途を決めておくことで、価値の高い部位を残せます。</a:t>
            </a:r>
            <a:endParaRPr lang="en-US" sz="1300" dirty="0"/>
          </a:p>
        </p:txBody>
      </p:sp>
      <p:sp>
        <p:nvSpPr>
          <p:cNvPr id="5" name="Shape 3"/>
          <p:cNvSpPr/>
          <p:nvPr/>
        </p:nvSpPr>
        <p:spPr>
          <a:xfrm>
            <a:off x="640080" y="2103120"/>
            <a:ext cx="2029968" cy="2286000"/>
          </a:xfrm>
          <a:prstGeom prst="roundRect">
            <a:avLst>
              <a:gd name="adj" fmla="val 3604"/>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6" name="Shape 4"/>
          <p:cNvSpPr/>
          <p:nvPr/>
        </p:nvSpPr>
        <p:spPr>
          <a:xfrm>
            <a:off x="1417320" y="2359152"/>
            <a:ext cx="475488" cy="475488"/>
          </a:xfrm>
          <a:prstGeom prst="ellipse">
            <a:avLst/>
          </a:prstGeom>
          <a:solidFill>
            <a:srgbClr val="C4707F"/>
          </a:solidFill>
          <a:ln w="12700">
            <a:solidFill>
              <a:srgbClr val="C4707F"/>
            </a:solidFill>
            <a:prstDash val="solid"/>
          </a:ln>
        </p:spPr>
      </p:sp>
      <p:sp>
        <p:nvSpPr>
          <p:cNvPr id="7" name="Text 5"/>
          <p:cNvSpPr/>
          <p:nvPr/>
        </p:nvSpPr>
        <p:spPr>
          <a:xfrm>
            <a:off x="1417320" y="235915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8" name="Text 6"/>
          <p:cNvSpPr/>
          <p:nvPr/>
        </p:nvSpPr>
        <p:spPr>
          <a:xfrm>
            <a:off x="749808" y="2971800"/>
            <a:ext cx="1810512" cy="292608"/>
          </a:xfrm>
          <a:prstGeom prst="rect">
            <a:avLst/>
          </a:prstGeom>
          <a:noFill/>
          <a:ln/>
        </p:spPr>
        <p:txBody>
          <a:bodyPr wrap="square" lIns="0" tIns="0" rIns="0" bIns="0" rtlCol="0" anchor="ctr"/>
          <a:lstStyle/>
          <a:p>
            <a:pPr algn="ctr" indent="0" marL="0">
              <a:buNone/>
            </a:pPr>
            <a:r>
              <a:rPr lang="en-US" sz="1400" b="1" dirty="0">
                <a:solidFill>
                  <a:srgbClr val="2C5F2D"/>
                </a:solidFill>
                <a:latin typeface="Meiryo" pitchFamily="34" charset="0"/>
                <a:ea typeface="Meiryo" pitchFamily="34" charset="-122"/>
                <a:cs typeface="Meiryo" pitchFamily="34" charset="-120"/>
              </a:rPr>
              <a:t>情報共有</a:t>
            </a:r>
            <a:endParaRPr lang="en-US" sz="1400" dirty="0"/>
          </a:p>
        </p:txBody>
      </p:sp>
      <p:sp>
        <p:nvSpPr>
          <p:cNvPr id="9" name="Text 7"/>
          <p:cNvSpPr/>
          <p:nvPr/>
        </p:nvSpPr>
        <p:spPr>
          <a:xfrm>
            <a:off x="804672" y="3310128"/>
            <a:ext cx="1700784" cy="914400"/>
          </a:xfrm>
          <a:prstGeom prst="rect">
            <a:avLst/>
          </a:prstGeom>
          <a:noFill/>
          <a:ln/>
        </p:spPr>
        <p:txBody>
          <a:bodyPr wrap="square" lIns="0" tIns="0" rIns="0" bIns="0" rtlCol="0" anchor="ctr"/>
          <a:lstStyle/>
          <a:p>
            <a:pPr algn="ctr" indent="0" marL="0">
              <a:lnSpc>
                <a:spcPts val="1700"/>
              </a:lnSpc>
              <a:buNone/>
            </a:pPr>
            <a:r>
              <a:rPr lang="en-US" sz="1050" dirty="0">
                <a:solidFill>
                  <a:srgbClr val="2E332C"/>
                </a:solidFill>
                <a:latin typeface="Meiryo" pitchFamily="34" charset="0"/>
                <a:ea typeface="Meiryo" pitchFamily="34" charset="-122"/>
                <a:cs typeface="Meiryo" pitchFamily="34" charset="-120"/>
              </a:rPr>
              <a:t>伐採・剪定の予定を事前に共有</a:t>
            </a:r>
            <a:endParaRPr lang="en-US" sz="1050" dirty="0"/>
          </a:p>
        </p:txBody>
      </p:sp>
      <p:sp>
        <p:nvSpPr>
          <p:cNvPr id="10" name="Text 8"/>
          <p:cNvSpPr/>
          <p:nvPr/>
        </p:nvSpPr>
        <p:spPr>
          <a:xfrm>
            <a:off x="2642616" y="2999232"/>
            <a:ext cx="237744" cy="292608"/>
          </a:xfrm>
          <a:prstGeom prst="rect">
            <a:avLst/>
          </a:prstGeom>
          <a:noFill/>
          <a:ln/>
        </p:spPr>
        <p:txBody>
          <a:bodyPr wrap="square" lIns="0" tIns="0" rIns="0" bIns="0" rtlCol="0" anchor="ctr"/>
          <a:lstStyle/>
          <a:p>
            <a:pPr algn="ctr" indent="0" marL="0">
              <a:buNone/>
            </a:pPr>
            <a:r>
              <a:rPr lang="en-US" sz="1100" dirty="0">
                <a:solidFill>
                  <a:srgbClr val="97BC62"/>
                </a:solidFill>
                <a:latin typeface="Meiryo" pitchFamily="34" charset="0"/>
                <a:ea typeface="Meiryo" pitchFamily="34" charset="-122"/>
                <a:cs typeface="Meiryo" pitchFamily="34" charset="-120"/>
              </a:rPr>
              <a:t>▶</a:t>
            </a:r>
            <a:endParaRPr lang="en-US" sz="1100" dirty="0"/>
          </a:p>
        </p:txBody>
      </p:sp>
      <p:sp>
        <p:nvSpPr>
          <p:cNvPr id="11" name="Shape 9"/>
          <p:cNvSpPr/>
          <p:nvPr/>
        </p:nvSpPr>
        <p:spPr>
          <a:xfrm>
            <a:off x="2852928" y="2103120"/>
            <a:ext cx="2029968" cy="2286000"/>
          </a:xfrm>
          <a:prstGeom prst="roundRect">
            <a:avLst>
              <a:gd name="adj" fmla="val 3604"/>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12" name="Shape 10"/>
          <p:cNvSpPr/>
          <p:nvPr/>
        </p:nvSpPr>
        <p:spPr>
          <a:xfrm>
            <a:off x="3630168" y="2359152"/>
            <a:ext cx="475488" cy="475488"/>
          </a:xfrm>
          <a:prstGeom prst="ellipse">
            <a:avLst/>
          </a:prstGeom>
          <a:solidFill>
            <a:srgbClr val="C4707F"/>
          </a:solidFill>
          <a:ln w="12700">
            <a:solidFill>
              <a:srgbClr val="C4707F"/>
            </a:solidFill>
            <a:prstDash val="solid"/>
          </a:ln>
        </p:spPr>
      </p:sp>
      <p:sp>
        <p:nvSpPr>
          <p:cNvPr id="13" name="Text 11"/>
          <p:cNvSpPr/>
          <p:nvPr/>
        </p:nvSpPr>
        <p:spPr>
          <a:xfrm>
            <a:off x="3630168" y="235915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4" name="Text 12"/>
          <p:cNvSpPr/>
          <p:nvPr/>
        </p:nvSpPr>
        <p:spPr>
          <a:xfrm>
            <a:off x="2962656" y="2971800"/>
            <a:ext cx="1810512" cy="292608"/>
          </a:xfrm>
          <a:prstGeom prst="rect">
            <a:avLst/>
          </a:prstGeom>
          <a:noFill/>
          <a:ln/>
        </p:spPr>
        <p:txBody>
          <a:bodyPr wrap="square" lIns="0" tIns="0" rIns="0" bIns="0" rtlCol="0" anchor="ctr"/>
          <a:lstStyle/>
          <a:p>
            <a:pPr algn="ctr" indent="0" marL="0">
              <a:buNone/>
            </a:pPr>
            <a:r>
              <a:rPr lang="en-US" sz="1400" b="1" dirty="0">
                <a:solidFill>
                  <a:srgbClr val="2C5F2D"/>
                </a:solidFill>
                <a:latin typeface="Meiryo" pitchFamily="34" charset="0"/>
                <a:ea typeface="Meiryo" pitchFamily="34" charset="-122"/>
                <a:cs typeface="Meiryo" pitchFamily="34" charset="-120"/>
              </a:rPr>
              <a:t>現物確認</a:t>
            </a:r>
            <a:endParaRPr lang="en-US" sz="1400" dirty="0"/>
          </a:p>
        </p:txBody>
      </p:sp>
      <p:sp>
        <p:nvSpPr>
          <p:cNvPr id="15" name="Text 13"/>
          <p:cNvSpPr/>
          <p:nvPr/>
        </p:nvSpPr>
        <p:spPr>
          <a:xfrm>
            <a:off x="3017520" y="3310128"/>
            <a:ext cx="1700784" cy="914400"/>
          </a:xfrm>
          <a:prstGeom prst="rect">
            <a:avLst/>
          </a:prstGeom>
          <a:noFill/>
          <a:ln/>
        </p:spPr>
        <p:txBody>
          <a:bodyPr wrap="square" lIns="0" tIns="0" rIns="0" bIns="0" rtlCol="0" anchor="ctr"/>
          <a:lstStyle/>
          <a:p>
            <a:pPr algn="ctr" indent="0" marL="0">
              <a:lnSpc>
                <a:spcPts val="1700"/>
              </a:lnSpc>
              <a:buNone/>
            </a:pPr>
            <a:r>
              <a:rPr lang="en-US" sz="1050" dirty="0">
                <a:solidFill>
                  <a:srgbClr val="2E332C"/>
                </a:solidFill>
                <a:latin typeface="Meiryo" pitchFamily="34" charset="0"/>
                <a:ea typeface="Meiryo" pitchFamily="34" charset="-122"/>
                <a:cs typeface="Meiryo" pitchFamily="34" charset="-120"/>
              </a:rPr>
              <a:t>樹種・径・状態を現地で確認し用途を判断</a:t>
            </a:r>
            <a:endParaRPr lang="en-US" sz="1050" dirty="0"/>
          </a:p>
        </p:txBody>
      </p:sp>
      <p:sp>
        <p:nvSpPr>
          <p:cNvPr id="16" name="Text 14"/>
          <p:cNvSpPr/>
          <p:nvPr/>
        </p:nvSpPr>
        <p:spPr>
          <a:xfrm>
            <a:off x="4855464" y="2999232"/>
            <a:ext cx="237744" cy="292608"/>
          </a:xfrm>
          <a:prstGeom prst="rect">
            <a:avLst/>
          </a:prstGeom>
          <a:noFill/>
          <a:ln/>
        </p:spPr>
        <p:txBody>
          <a:bodyPr wrap="square" lIns="0" tIns="0" rIns="0" bIns="0" rtlCol="0" anchor="ctr"/>
          <a:lstStyle/>
          <a:p>
            <a:pPr algn="ctr" indent="0" marL="0">
              <a:buNone/>
            </a:pPr>
            <a:r>
              <a:rPr lang="en-US" sz="1100" dirty="0">
                <a:solidFill>
                  <a:srgbClr val="97BC62"/>
                </a:solidFill>
                <a:latin typeface="Meiryo" pitchFamily="34" charset="0"/>
                <a:ea typeface="Meiryo" pitchFamily="34" charset="-122"/>
                <a:cs typeface="Meiryo" pitchFamily="34" charset="-120"/>
              </a:rPr>
              <a:t>▶</a:t>
            </a:r>
            <a:endParaRPr lang="en-US" sz="1100" dirty="0"/>
          </a:p>
        </p:txBody>
      </p:sp>
      <p:sp>
        <p:nvSpPr>
          <p:cNvPr id="17" name="Shape 15"/>
          <p:cNvSpPr/>
          <p:nvPr/>
        </p:nvSpPr>
        <p:spPr>
          <a:xfrm>
            <a:off x="5065776" y="2103120"/>
            <a:ext cx="2029968" cy="2286000"/>
          </a:xfrm>
          <a:prstGeom prst="roundRect">
            <a:avLst>
              <a:gd name="adj" fmla="val 3604"/>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18" name="Shape 16"/>
          <p:cNvSpPr/>
          <p:nvPr/>
        </p:nvSpPr>
        <p:spPr>
          <a:xfrm>
            <a:off x="5843016" y="2359152"/>
            <a:ext cx="475488" cy="475488"/>
          </a:xfrm>
          <a:prstGeom prst="ellipse">
            <a:avLst/>
          </a:prstGeom>
          <a:solidFill>
            <a:srgbClr val="C4707F"/>
          </a:solidFill>
          <a:ln w="12700">
            <a:solidFill>
              <a:srgbClr val="C4707F"/>
            </a:solidFill>
            <a:prstDash val="solid"/>
          </a:ln>
        </p:spPr>
      </p:sp>
      <p:sp>
        <p:nvSpPr>
          <p:cNvPr id="19" name="Text 17"/>
          <p:cNvSpPr/>
          <p:nvPr/>
        </p:nvSpPr>
        <p:spPr>
          <a:xfrm>
            <a:off x="5843016" y="235915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20" name="Text 18"/>
          <p:cNvSpPr/>
          <p:nvPr/>
        </p:nvSpPr>
        <p:spPr>
          <a:xfrm>
            <a:off x="5175504" y="2971800"/>
            <a:ext cx="1810512" cy="292608"/>
          </a:xfrm>
          <a:prstGeom prst="rect">
            <a:avLst/>
          </a:prstGeom>
          <a:noFill/>
          <a:ln/>
        </p:spPr>
        <p:txBody>
          <a:bodyPr wrap="square" lIns="0" tIns="0" rIns="0" bIns="0" rtlCol="0" anchor="ctr"/>
          <a:lstStyle/>
          <a:p>
            <a:pPr algn="ctr" indent="0" marL="0">
              <a:buNone/>
            </a:pPr>
            <a:r>
              <a:rPr lang="en-US" sz="1400" b="1" dirty="0">
                <a:solidFill>
                  <a:srgbClr val="2C5F2D"/>
                </a:solidFill>
                <a:latin typeface="Meiryo" pitchFamily="34" charset="0"/>
                <a:ea typeface="Meiryo" pitchFamily="34" charset="-122"/>
                <a:cs typeface="Meiryo" pitchFamily="34" charset="-120"/>
              </a:rPr>
              <a:t>伐採・搬出</a:t>
            </a:r>
            <a:endParaRPr lang="en-US" sz="1400" dirty="0"/>
          </a:p>
        </p:txBody>
      </p:sp>
      <p:sp>
        <p:nvSpPr>
          <p:cNvPr id="21" name="Text 19"/>
          <p:cNvSpPr/>
          <p:nvPr/>
        </p:nvSpPr>
        <p:spPr>
          <a:xfrm>
            <a:off x="5230368" y="3310128"/>
            <a:ext cx="1700784" cy="914400"/>
          </a:xfrm>
          <a:prstGeom prst="rect">
            <a:avLst/>
          </a:prstGeom>
          <a:noFill/>
          <a:ln/>
        </p:spPr>
        <p:txBody>
          <a:bodyPr wrap="square" lIns="0" tIns="0" rIns="0" bIns="0" rtlCol="0" anchor="ctr"/>
          <a:lstStyle/>
          <a:p>
            <a:pPr algn="ctr" indent="0" marL="0">
              <a:lnSpc>
                <a:spcPts val="1700"/>
              </a:lnSpc>
              <a:buNone/>
            </a:pPr>
            <a:r>
              <a:rPr lang="en-US" sz="1050" dirty="0">
                <a:solidFill>
                  <a:srgbClr val="2E332C"/>
                </a:solidFill>
                <a:latin typeface="Meiryo" pitchFamily="34" charset="0"/>
                <a:ea typeface="Meiryo" pitchFamily="34" charset="-122"/>
                <a:cs typeface="Meiryo" pitchFamily="34" charset="-120"/>
              </a:rPr>
              <a:t>用途に合わせた玉切り・搬出の段取り</a:t>
            </a:r>
            <a:endParaRPr lang="en-US" sz="1050" dirty="0"/>
          </a:p>
        </p:txBody>
      </p:sp>
      <p:sp>
        <p:nvSpPr>
          <p:cNvPr id="22" name="Text 20"/>
          <p:cNvSpPr/>
          <p:nvPr/>
        </p:nvSpPr>
        <p:spPr>
          <a:xfrm>
            <a:off x="7068312" y="2999232"/>
            <a:ext cx="237744" cy="292608"/>
          </a:xfrm>
          <a:prstGeom prst="rect">
            <a:avLst/>
          </a:prstGeom>
          <a:noFill/>
          <a:ln/>
        </p:spPr>
        <p:txBody>
          <a:bodyPr wrap="square" lIns="0" tIns="0" rIns="0" bIns="0" rtlCol="0" anchor="ctr"/>
          <a:lstStyle/>
          <a:p>
            <a:pPr algn="ctr" indent="0" marL="0">
              <a:buNone/>
            </a:pPr>
            <a:r>
              <a:rPr lang="en-US" sz="1100" dirty="0">
                <a:solidFill>
                  <a:srgbClr val="97BC62"/>
                </a:solidFill>
                <a:latin typeface="Meiryo" pitchFamily="34" charset="0"/>
                <a:ea typeface="Meiryo" pitchFamily="34" charset="-122"/>
                <a:cs typeface="Meiryo" pitchFamily="34" charset="-120"/>
              </a:rPr>
              <a:t>▶</a:t>
            </a:r>
            <a:endParaRPr lang="en-US" sz="1100" dirty="0"/>
          </a:p>
        </p:txBody>
      </p:sp>
      <p:sp>
        <p:nvSpPr>
          <p:cNvPr id="23" name="Shape 21"/>
          <p:cNvSpPr/>
          <p:nvPr/>
        </p:nvSpPr>
        <p:spPr>
          <a:xfrm>
            <a:off x="7278624" y="2103120"/>
            <a:ext cx="2029968" cy="2286000"/>
          </a:xfrm>
          <a:prstGeom prst="roundRect">
            <a:avLst>
              <a:gd name="adj" fmla="val 3604"/>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24" name="Shape 22"/>
          <p:cNvSpPr/>
          <p:nvPr/>
        </p:nvSpPr>
        <p:spPr>
          <a:xfrm>
            <a:off x="8055864" y="2359152"/>
            <a:ext cx="475488" cy="475488"/>
          </a:xfrm>
          <a:prstGeom prst="ellipse">
            <a:avLst/>
          </a:prstGeom>
          <a:solidFill>
            <a:srgbClr val="C4707F"/>
          </a:solidFill>
          <a:ln w="12700">
            <a:solidFill>
              <a:srgbClr val="C4707F"/>
            </a:solidFill>
            <a:prstDash val="solid"/>
          </a:ln>
        </p:spPr>
      </p:sp>
      <p:sp>
        <p:nvSpPr>
          <p:cNvPr id="25" name="Text 23"/>
          <p:cNvSpPr/>
          <p:nvPr/>
        </p:nvSpPr>
        <p:spPr>
          <a:xfrm>
            <a:off x="8055864" y="235915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26" name="Text 24"/>
          <p:cNvSpPr/>
          <p:nvPr/>
        </p:nvSpPr>
        <p:spPr>
          <a:xfrm>
            <a:off x="7388352" y="2971800"/>
            <a:ext cx="1810512" cy="292608"/>
          </a:xfrm>
          <a:prstGeom prst="rect">
            <a:avLst/>
          </a:prstGeom>
          <a:noFill/>
          <a:ln/>
        </p:spPr>
        <p:txBody>
          <a:bodyPr wrap="square" lIns="0" tIns="0" rIns="0" bIns="0" rtlCol="0" anchor="ctr"/>
          <a:lstStyle/>
          <a:p>
            <a:pPr algn="ctr" indent="0" marL="0">
              <a:buNone/>
            </a:pPr>
            <a:r>
              <a:rPr lang="en-US" sz="1400" b="1" dirty="0">
                <a:solidFill>
                  <a:srgbClr val="2C5F2D"/>
                </a:solidFill>
                <a:latin typeface="Meiryo" pitchFamily="34" charset="0"/>
                <a:ea typeface="Meiryo" pitchFamily="34" charset="-122"/>
                <a:cs typeface="Meiryo" pitchFamily="34" charset="-120"/>
              </a:rPr>
              <a:t>製材・乾燥</a:t>
            </a:r>
            <a:endParaRPr lang="en-US" sz="1400" dirty="0"/>
          </a:p>
        </p:txBody>
      </p:sp>
      <p:sp>
        <p:nvSpPr>
          <p:cNvPr id="27" name="Text 25"/>
          <p:cNvSpPr/>
          <p:nvPr/>
        </p:nvSpPr>
        <p:spPr>
          <a:xfrm>
            <a:off x="7443216" y="3310128"/>
            <a:ext cx="1700784" cy="914400"/>
          </a:xfrm>
          <a:prstGeom prst="rect">
            <a:avLst/>
          </a:prstGeom>
          <a:noFill/>
          <a:ln/>
        </p:spPr>
        <p:txBody>
          <a:bodyPr wrap="square" lIns="0" tIns="0" rIns="0" bIns="0" rtlCol="0" anchor="ctr"/>
          <a:lstStyle/>
          <a:p>
            <a:pPr algn="ctr" indent="0" marL="0">
              <a:lnSpc>
                <a:spcPts val="1700"/>
              </a:lnSpc>
              <a:buNone/>
            </a:pPr>
            <a:r>
              <a:rPr lang="en-US" sz="1050" dirty="0">
                <a:solidFill>
                  <a:srgbClr val="2E332C"/>
                </a:solidFill>
                <a:latin typeface="Meiryo" pitchFamily="34" charset="0"/>
                <a:ea typeface="Meiryo" pitchFamily="34" charset="-122"/>
                <a:cs typeface="Meiryo" pitchFamily="34" charset="-120"/>
              </a:rPr>
              <a:t>提携製材所で製材・乾燥（数ヶ月〜）</a:t>
            </a:r>
            <a:endParaRPr lang="en-US" sz="1050" dirty="0"/>
          </a:p>
        </p:txBody>
      </p:sp>
      <p:sp>
        <p:nvSpPr>
          <p:cNvPr id="28" name="Text 26"/>
          <p:cNvSpPr/>
          <p:nvPr/>
        </p:nvSpPr>
        <p:spPr>
          <a:xfrm>
            <a:off x="9281160" y="2999232"/>
            <a:ext cx="237744" cy="292608"/>
          </a:xfrm>
          <a:prstGeom prst="rect">
            <a:avLst/>
          </a:prstGeom>
          <a:noFill/>
          <a:ln/>
        </p:spPr>
        <p:txBody>
          <a:bodyPr wrap="square" lIns="0" tIns="0" rIns="0" bIns="0" rtlCol="0" anchor="ctr"/>
          <a:lstStyle/>
          <a:p>
            <a:pPr algn="ctr" indent="0" marL="0">
              <a:buNone/>
            </a:pPr>
            <a:r>
              <a:rPr lang="en-US" sz="1100" dirty="0">
                <a:solidFill>
                  <a:srgbClr val="97BC62"/>
                </a:solidFill>
                <a:latin typeface="Meiryo" pitchFamily="34" charset="0"/>
                <a:ea typeface="Meiryo" pitchFamily="34" charset="-122"/>
                <a:cs typeface="Meiryo" pitchFamily="34" charset="-120"/>
              </a:rPr>
              <a:t>▶</a:t>
            </a:r>
            <a:endParaRPr lang="en-US" sz="1100" dirty="0"/>
          </a:p>
        </p:txBody>
      </p:sp>
      <p:sp>
        <p:nvSpPr>
          <p:cNvPr id="29" name="Shape 27"/>
          <p:cNvSpPr/>
          <p:nvPr/>
        </p:nvSpPr>
        <p:spPr>
          <a:xfrm>
            <a:off x="9491472" y="2103120"/>
            <a:ext cx="2029968" cy="2286000"/>
          </a:xfrm>
          <a:prstGeom prst="roundRect">
            <a:avLst>
              <a:gd name="adj" fmla="val 3604"/>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30" name="Shape 28"/>
          <p:cNvSpPr/>
          <p:nvPr/>
        </p:nvSpPr>
        <p:spPr>
          <a:xfrm>
            <a:off x="10268712" y="2359152"/>
            <a:ext cx="475488" cy="475488"/>
          </a:xfrm>
          <a:prstGeom prst="ellipse">
            <a:avLst/>
          </a:prstGeom>
          <a:solidFill>
            <a:srgbClr val="C4707F"/>
          </a:solidFill>
          <a:ln w="12700">
            <a:solidFill>
              <a:srgbClr val="C4707F"/>
            </a:solidFill>
            <a:prstDash val="solid"/>
          </a:ln>
        </p:spPr>
      </p:sp>
      <p:sp>
        <p:nvSpPr>
          <p:cNvPr id="31" name="Text 29"/>
          <p:cNvSpPr/>
          <p:nvPr/>
        </p:nvSpPr>
        <p:spPr>
          <a:xfrm>
            <a:off x="10268712" y="235915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32" name="Text 30"/>
          <p:cNvSpPr/>
          <p:nvPr/>
        </p:nvSpPr>
        <p:spPr>
          <a:xfrm>
            <a:off x="9601200" y="2971800"/>
            <a:ext cx="1810512" cy="292608"/>
          </a:xfrm>
          <a:prstGeom prst="rect">
            <a:avLst/>
          </a:prstGeom>
          <a:noFill/>
          <a:ln/>
        </p:spPr>
        <p:txBody>
          <a:bodyPr wrap="square" lIns="0" tIns="0" rIns="0" bIns="0" rtlCol="0" anchor="ctr"/>
          <a:lstStyle/>
          <a:p>
            <a:pPr algn="ctr" indent="0" marL="0">
              <a:buNone/>
            </a:pPr>
            <a:r>
              <a:rPr lang="en-US" sz="1400" b="1" dirty="0">
                <a:solidFill>
                  <a:srgbClr val="2C5F2D"/>
                </a:solidFill>
                <a:latin typeface="Meiryo" pitchFamily="34" charset="0"/>
                <a:ea typeface="Meiryo" pitchFamily="34" charset="-122"/>
                <a:cs typeface="Meiryo" pitchFamily="34" charset="-120"/>
              </a:rPr>
              <a:t>加工・設置</a:t>
            </a:r>
            <a:endParaRPr lang="en-US" sz="1400" dirty="0"/>
          </a:p>
        </p:txBody>
      </p:sp>
      <p:sp>
        <p:nvSpPr>
          <p:cNvPr id="33" name="Text 31"/>
          <p:cNvSpPr/>
          <p:nvPr/>
        </p:nvSpPr>
        <p:spPr>
          <a:xfrm>
            <a:off x="9656064" y="3310128"/>
            <a:ext cx="1700784" cy="914400"/>
          </a:xfrm>
          <a:prstGeom prst="rect">
            <a:avLst/>
          </a:prstGeom>
          <a:noFill/>
          <a:ln/>
        </p:spPr>
        <p:txBody>
          <a:bodyPr wrap="square" lIns="0" tIns="0" rIns="0" bIns="0" rtlCol="0" anchor="ctr"/>
          <a:lstStyle/>
          <a:p>
            <a:pPr algn="ctr" indent="0" marL="0">
              <a:lnSpc>
                <a:spcPts val="1700"/>
              </a:lnSpc>
              <a:buNone/>
            </a:pPr>
            <a:r>
              <a:rPr lang="en-US" sz="1050" dirty="0">
                <a:solidFill>
                  <a:srgbClr val="2E332C"/>
                </a:solidFill>
                <a:latin typeface="Meiryo" pitchFamily="34" charset="0"/>
                <a:ea typeface="Meiryo" pitchFamily="34" charset="-122"/>
                <a:cs typeface="Meiryo" pitchFamily="34" charset="-120"/>
              </a:rPr>
              <a:t>家具・内装材・アートとして施設へ</a:t>
            </a:r>
            <a:endParaRPr lang="en-US" sz="1050" dirty="0"/>
          </a:p>
        </p:txBody>
      </p:sp>
      <p:sp>
        <p:nvSpPr>
          <p:cNvPr id="34" name="Shape 32"/>
          <p:cNvSpPr/>
          <p:nvPr/>
        </p:nvSpPr>
        <p:spPr>
          <a:xfrm>
            <a:off x="640080" y="4617720"/>
            <a:ext cx="5349240" cy="1371600"/>
          </a:xfrm>
          <a:prstGeom prst="roundRect">
            <a:avLst>
              <a:gd name="adj" fmla="val 5333"/>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35" name="Text 33"/>
          <p:cNvSpPr/>
          <p:nvPr/>
        </p:nvSpPr>
        <p:spPr>
          <a:xfrm>
            <a:off x="960120" y="4800600"/>
            <a:ext cx="4709160" cy="292608"/>
          </a:xfrm>
          <a:prstGeom prst="rect">
            <a:avLst/>
          </a:prstGeom>
          <a:noFill/>
          <a:ln/>
        </p:spPr>
        <p:txBody>
          <a:bodyPr wrap="square" lIns="0" tIns="0" rIns="0" bIns="0" rtlCol="0" anchor="ctr"/>
          <a:lstStyle/>
          <a:p>
            <a:pPr indent="0" marL="0">
              <a:buNone/>
            </a:pPr>
            <a:r>
              <a:rPr lang="en-US" sz="1400" b="1" dirty="0">
                <a:solidFill>
                  <a:srgbClr val="2E332C"/>
                </a:solidFill>
                <a:latin typeface="Meiryo" pitchFamily="34" charset="0"/>
                <a:ea typeface="Meiryo" pitchFamily="34" charset="-122"/>
                <a:cs typeface="Meiryo" pitchFamily="34" charset="-120"/>
              </a:rPr>
              <a:t>複数年プロジェクトにも対応します</a:t>
            </a:r>
            <a:endParaRPr lang="en-US" sz="1400" dirty="0"/>
          </a:p>
        </p:txBody>
      </p:sp>
      <p:sp>
        <p:nvSpPr>
          <p:cNvPr id="36" name="Text 34"/>
          <p:cNvSpPr/>
          <p:nvPr/>
        </p:nvSpPr>
        <p:spPr>
          <a:xfrm>
            <a:off x="960120" y="5138928"/>
            <a:ext cx="4709160" cy="685800"/>
          </a:xfrm>
          <a:prstGeom prst="rect">
            <a:avLst/>
          </a:prstGeom>
          <a:noFill/>
          <a:ln/>
        </p:spPr>
        <p:txBody>
          <a:bodyPr wrap="square" lIns="0" tIns="0" rIns="0" bIns="0" rtlCol="0" anchor="ctr"/>
          <a:lstStyle/>
          <a:p>
            <a:pPr indent="0" marL="0">
              <a:lnSpc>
                <a:spcPts val="1800"/>
              </a:lnSpc>
              <a:buNone/>
            </a:pPr>
            <a:r>
              <a:rPr lang="en-US" sz="1150" dirty="0">
                <a:solidFill>
                  <a:srgbClr val="6E7266"/>
                </a:solidFill>
                <a:latin typeface="Meiryo" pitchFamily="34" charset="0"/>
                <a:ea typeface="Meiryo" pitchFamily="34" charset="-122"/>
                <a:cs typeface="Meiryo" pitchFamily="34" charset="-120"/>
              </a:rPr>
              <a:t>伐採から竣工までが数年にわたる場合も、木材の保管スペースを確保してプロジェクトを進めた実績があります（三井不動産レジデンシャル様「土地の記憶」）。</a:t>
            </a:r>
            <a:endParaRPr lang="en-US" sz="1150" dirty="0"/>
          </a:p>
        </p:txBody>
      </p:sp>
      <p:sp>
        <p:nvSpPr>
          <p:cNvPr id="37" name="Shape 35"/>
          <p:cNvSpPr/>
          <p:nvPr/>
        </p:nvSpPr>
        <p:spPr>
          <a:xfrm>
            <a:off x="6172200" y="4617720"/>
            <a:ext cx="5349240" cy="1371600"/>
          </a:xfrm>
          <a:prstGeom prst="roundRect">
            <a:avLst>
              <a:gd name="adj" fmla="val 5333"/>
            </a:avLst>
          </a:prstGeom>
          <a:solidFill>
            <a:srgbClr val="F0F4EC"/>
          </a:solidFill>
          <a:ln w="12700">
            <a:solidFill>
              <a:srgbClr val="F0F4EC"/>
            </a:solidFill>
            <a:prstDash val="solid"/>
          </a:ln>
          <a:effectLst>
            <a:outerShdw sx="100000" sy="100000" kx="0" ky="0" algn="bl" rotWithShape="0" blurRad="127000" dist="25400" dir="5400000">
              <a:srgbClr val="1E3524">
                <a:alpha val="10000"/>
              </a:srgbClr>
            </a:outerShdw>
          </a:effectLst>
        </p:spPr>
      </p:sp>
      <p:sp>
        <p:nvSpPr>
          <p:cNvPr id="38" name="Text 36"/>
          <p:cNvSpPr/>
          <p:nvPr/>
        </p:nvSpPr>
        <p:spPr>
          <a:xfrm>
            <a:off x="6492240" y="4800600"/>
            <a:ext cx="4709160" cy="292608"/>
          </a:xfrm>
          <a:prstGeom prst="rect">
            <a:avLst/>
          </a:prstGeom>
          <a:noFill/>
          <a:ln/>
        </p:spPr>
        <p:txBody>
          <a:bodyPr wrap="square" lIns="0" tIns="0" rIns="0" bIns="0" rtlCol="0" anchor="ctr"/>
          <a:lstStyle/>
          <a:p>
            <a:pPr indent="0" marL="0">
              <a:buNone/>
            </a:pPr>
            <a:r>
              <a:rPr lang="en-US" sz="1400" b="1" dirty="0">
                <a:solidFill>
                  <a:srgbClr val="2E332C"/>
                </a:solidFill>
                <a:latin typeface="Meiryo" pitchFamily="34" charset="0"/>
                <a:ea typeface="Meiryo" pitchFamily="34" charset="-122"/>
                <a:cs typeface="Meiryo" pitchFamily="34" charset="-120"/>
              </a:rPr>
              <a:t>恵比寿南一公園の桜を、最初の一本に</a:t>
            </a:r>
            <a:endParaRPr lang="en-US" sz="1400" dirty="0"/>
          </a:p>
        </p:txBody>
      </p:sp>
      <p:sp>
        <p:nvSpPr>
          <p:cNvPr id="39" name="Text 37"/>
          <p:cNvSpPr/>
          <p:nvPr/>
        </p:nvSpPr>
        <p:spPr>
          <a:xfrm>
            <a:off x="6492240" y="5138928"/>
            <a:ext cx="4709160" cy="685800"/>
          </a:xfrm>
          <a:prstGeom prst="rect">
            <a:avLst/>
          </a:prstGeom>
          <a:noFill/>
          <a:ln/>
        </p:spPr>
        <p:txBody>
          <a:bodyPr wrap="square" lIns="0" tIns="0" rIns="0" bIns="0" rtlCol="0" anchor="ctr"/>
          <a:lstStyle/>
          <a:p>
            <a:pPr indent="0" marL="0">
              <a:lnSpc>
                <a:spcPts val="1800"/>
              </a:lnSpc>
              <a:buNone/>
            </a:pPr>
            <a:r>
              <a:rPr lang="en-US" sz="1150" dirty="0">
                <a:solidFill>
                  <a:srgbClr val="6E7266"/>
                </a:solidFill>
                <a:latin typeface="Meiryo" pitchFamily="34" charset="0"/>
                <a:ea typeface="Meiryo" pitchFamily="34" charset="-122"/>
                <a:cs typeface="Meiryo" pitchFamily="34" charset="-120"/>
              </a:rPr>
              <a:t>先般お伺いした伐採後の桜が残っていれば、状態確認からご一緒させてください。残っていない場合も、今後の剪定・伐採の予定から始められます。</a:t>
            </a:r>
            <a:endParaRPr lang="en-US" sz="1150" dirty="0"/>
          </a:p>
        </p:txBody>
      </p:sp>
      <p:sp>
        <p:nvSpPr>
          <p:cNvPr id="40" name="Text 38"/>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41" name="Text 39"/>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C4707F"/>
                </a:solidFill>
                <a:latin typeface="Meiryo" pitchFamily="34" charset="0"/>
                <a:ea typeface="Meiryo" pitchFamily="34" charset="-122"/>
                <a:cs typeface="Meiryo" pitchFamily="34" charset="-120"/>
              </a:rPr>
              <a:t>APPROACH A</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樹木の使い方：規模と状態に合わせて選べます</a:t>
            </a:r>
            <a:endParaRPr lang="en-US" sz="2800" dirty="0"/>
          </a:p>
        </p:txBody>
      </p:sp>
      <p:sp>
        <p:nvSpPr>
          <p:cNvPr id="4" name="Shape 2"/>
          <p:cNvSpPr/>
          <p:nvPr/>
        </p:nvSpPr>
        <p:spPr>
          <a:xfrm>
            <a:off x="640080" y="1691640"/>
            <a:ext cx="3429000" cy="2606040"/>
          </a:xfrm>
          <a:prstGeom prst="roundRect">
            <a:avLst>
              <a:gd name="adj" fmla="val 2807"/>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5" name="Text 3"/>
          <p:cNvSpPr/>
          <p:nvPr/>
        </p:nvSpPr>
        <p:spPr>
          <a:xfrm>
            <a:off x="960120" y="1938528"/>
            <a:ext cx="2788920" cy="256032"/>
          </a:xfrm>
          <a:prstGeom prst="rect">
            <a:avLst/>
          </a:prstGeom>
          <a:noFill/>
          <a:ln/>
        </p:spPr>
        <p:txBody>
          <a:bodyPr wrap="square" lIns="0" tIns="0" rIns="0" bIns="0" rtlCol="0" anchor="ctr"/>
          <a:lstStyle/>
          <a:p>
            <a:pPr indent="0" marL="0">
              <a:buNone/>
            </a:pPr>
            <a:r>
              <a:rPr lang="en-US" sz="1050" b="1" spc="100" kern="0" dirty="0">
                <a:solidFill>
                  <a:srgbClr val="C4707F"/>
                </a:solidFill>
                <a:latin typeface="Meiryo" pitchFamily="34" charset="0"/>
                <a:ea typeface="Meiryo" pitchFamily="34" charset="-122"/>
                <a:cs typeface="Meiryo" pitchFamily="34" charset="-120"/>
              </a:rPr>
              <a:t>資産として残す</a:t>
            </a:r>
            <a:endParaRPr lang="en-US" sz="1050" dirty="0"/>
          </a:p>
        </p:txBody>
      </p:sp>
      <p:sp>
        <p:nvSpPr>
          <p:cNvPr id="6" name="Text 4"/>
          <p:cNvSpPr/>
          <p:nvPr/>
        </p:nvSpPr>
        <p:spPr>
          <a:xfrm>
            <a:off x="960120" y="2240280"/>
            <a:ext cx="2788920" cy="347472"/>
          </a:xfrm>
          <a:prstGeom prst="rect">
            <a:avLst/>
          </a:prstGeom>
          <a:noFill/>
          <a:ln/>
        </p:spPr>
        <p:txBody>
          <a:bodyPr wrap="square" lIns="0" tIns="0" rIns="0" bIns="0" rtlCol="0" anchor="ctr"/>
          <a:lstStyle/>
          <a:p>
            <a:pPr indent="0" marL="0">
              <a:buNone/>
            </a:pPr>
            <a:r>
              <a:rPr lang="en-US" sz="1800" b="1" dirty="0">
                <a:solidFill>
                  <a:srgbClr val="2C5F2D"/>
                </a:solidFill>
                <a:latin typeface="Meiryo" pitchFamily="34" charset="0"/>
                <a:ea typeface="Meiryo" pitchFamily="34" charset="-122"/>
                <a:cs typeface="Meiryo" pitchFamily="34" charset="-120"/>
              </a:rPr>
              <a:t>内装材・家具</a:t>
            </a:r>
            <a:endParaRPr lang="en-US" sz="1800" dirty="0"/>
          </a:p>
        </p:txBody>
      </p:sp>
      <p:sp>
        <p:nvSpPr>
          <p:cNvPr id="7" name="Text 5"/>
          <p:cNvSpPr/>
          <p:nvPr/>
        </p:nvSpPr>
        <p:spPr>
          <a:xfrm>
            <a:off x="960120" y="2697480"/>
            <a:ext cx="2788920" cy="1371600"/>
          </a:xfrm>
          <a:prstGeom prst="rect">
            <a:avLst/>
          </a:prstGeom>
          <a:noFill/>
          <a:ln/>
        </p:spPr>
        <p:txBody>
          <a:bodyPr wrap="square" lIns="0" tIns="0" rIns="0" bIns="0" rtlCol="0" anchor="ctr"/>
          <a:lstStyle/>
          <a:p>
            <a:pPr indent="0" marL="0">
              <a:lnSpc>
                <a:spcPts val="1900"/>
              </a:lnSpc>
              <a:buNone/>
            </a:pPr>
            <a:r>
              <a:rPr lang="en-US" sz="1200" dirty="0">
                <a:solidFill>
                  <a:srgbClr val="2E332C"/>
                </a:solidFill>
                <a:latin typeface="Meiryo" pitchFamily="34" charset="0"/>
                <a:ea typeface="Meiryo" pitchFamily="34" charset="-122"/>
                <a:cs typeface="Meiryo" pitchFamily="34" charset="-120"/>
              </a:rPr>
              <a:t>カウンター、テーブル、ベンチ、不燃突板、フロアサイン。共用部やラウンジの主役として、長く使われる形で残します。</a:t>
            </a:r>
            <a:endParaRPr lang="en-US" sz="1200" dirty="0"/>
          </a:p>
        </p:txBody>
      </p:sp>
      <p:sp>
        <p:nvSpPr>
          <p:cNvPr id="8" name="Shape 6"/>
          <p:cNvSpPr/>
          <p:nvPr/>
        </p:nvSpPr>
        <p:spPr>
          <a:xfrm>
            <a:off x="4343400" y="1691640"/>
            <a:ext cx="3429000" cy="2606040"/>
          </a:xfrm>
          <a:prstGeom prst="roundRect">
            <a:avLst>
              <a:gd name="adj" fmla="val 2807"/>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9" name="Text 7"/>
          <p:cNvSpPr/>
          <p:nvPr/>
        </p:nvSpPr>
        <p:spPr>
          <a:xfrm>
            <a:off x="4663440" y="1938528"/>
            <a:ext cx="2788920" cy="256032"/>
          </a:xfrm>
          <a:prstGeom prst="rect">
            <a:avLst/>
          </a:prstGeom>
          <a:noFill/>
          <a:ln/>
        </p:spPr>
        <p:txBody>
          <a:bodyPr wrap="square" lIns="0" tIns="0" rIns="0" bIns="0" rtlCol="0" anchor="ctr"/>
          <a:lstStyle/>
          <a:p>
            <a:pPr indent="0" marL="0">
              <a:buNone/>
            </a:pPr>
            <a:r>
              <a:rPr lang="en-US" sz="1050" b="1" spc="100" kern="0" dirty="0">
                <a:solidFill>
                  <a:srgbClr val="C4707F"/>
                </a:solidFill>
                <a:latin typeface="Meiryo" pitchFamily="34" charset="0"/>
                <a:ea typeface="Meiryo" pitchFamily="34" charset="-122"/>
                <a:cs typeface="Meiryo" pitchFamily="34" charset="-120"/>
              </a:rPr>
              <a:t>象徴をつくる</a:t>
            </a:r>
            <a:endParaRPr lang="en-US" sz="1050" dirty="0"/>
          </a:p>
        </p:txBody>
      </p:sp>
      <p:sp>
        <p:nvSpPr>
          <p:cNvPr id="10" name="Text 8"/>
          <p:cNvSpPr/>
          <p:nvPr/>
        </p:nvSpPr>
        <p:spPr>
          <a:xfrm>
            <a:off x="4663440" y="2240280"/>
            <a:ext cx="2788920" cy="347472"/>
          </a:xfrm>
          <a:prstGeom prst="rect">
            <a:avLst/>
          </a:prstGeom>
          <a:noFill/>
          <a:ln/>
        </p:spPr>
        <p:txBody>
          <a:bodyPr wrap="square" lIns="0" tIns="0" rIns="0" bIns="0" rtlCol="0" anchor="ctr"/>
          <a:lstStyle/>
          <a:p>
            <a:pPr indent="0" marL="0">
              <a:buNone/>
            </a:pPr>
            <a:r>
              <a:rPr lang="en-US" sz="1800" b="1" dirty="0">
                <a:solidFill>
                  <a:srgbClr val="2C5F2D"/>
                </a:solidFill>
                <a:latin typeface="Meiryo" pitchFamily="34" charset="0"/>
                <a:ea typeface="Meiryo" pitchFamily="34" charset="-122"/>
                <a:cs typeface="Meiryo" pitchFamily="34" charset="-120"/>
              </a:rPr>
              <a:t>アート・オブジェ</a:t>
            </a:r>
            <a:endParaRPr lang="en-US" sz="1800" dirty="0"/>
          </a:p>
        </p:txBody>
      </p:sp>
      <p:sp>
        <p:nvSpPr>
          <p:cNvPr id="11" name="Text 9"/>
          <p:cNvSpPr/>
          <p:nvPr/>
        </p:nvSpPr>
        <p:spPr>
          <a:xfrm>
            <a:off x="4663440" y="2697480"/>
            <a:ext cx="2788920" cy="1371600"/>
          </a:xfrm>
          <a:prstGeom prst="rect">
            <a:avLst/>
          </a:prstGeom>
          <a:noFill/>
          <a:ln/>
        </p:spPr>
        <p:txBody>
          <a:bodyPr wrap="square" lIns="0" tIns="0" rIns="0" bIns="0" rtlCol="0" anchor="ctr"/>
          <a:lstStyle/>
          <a:p>
            <a:pPr indent="0" marL="0">
              <a:lnSpc>
                <a:spcPts val="1900"/>
              </a:lnSpc>
              <a:buNone/>
            </a:pPr>
            <a:r>
              <a:rPr lang="en-US" sz="1200" dirty="0">
                <a:solidFill>
                  <a:srgbClr val="2E332C"/>
                </a:solidFill>
                <a:latin typeface="Meiryo" pitchFamily="34" charset="0"/>
                <a:ea typeface="Meiryo" pitchFamily="34" charset="-122"/>
                <a:cs typeface="Meiryo" pitchFamily="34" charset="-120"/>
              </a:rPr>
              <a:t>幹は木工作家と連携しアート作品に。細い枝は輪切りにして集積し、「土地の記憶」を象徴する壁面パネルにも。</a:t>
            </a:r>
            <a:endParaRPr lang="en-US" sz="1200" dirty="0"/>
          </a:p>
        </p:txBody>
      </p:sp>
      <p:sp>
        <p:nvSpPr>
          <p:cNvPr id="12" name="Shape 10"/>
          <p:cNvSpPr/>
          <p:nvPr/>
        </p:nvSpPr>
        <p:spPr>
          <a:xfrm>
            <a:off x="8046720" y="1691640"/>
            <a:ext cx="3429000" cy="2606040"/>
          </a:xfrm>
          <a:prstGeom prst="roundRect">
            <a:avLst>
              <a:gd name="adj" fmla="val 2807"/>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13" name="Text 11"/>
          <p:cNvSpPr/>
          <p:nvPr/>
        </p:nvSpPr>
        <p:spPr>
          <a:xfrm>
            <a:off x="8366760" y="1938528"/>
            <a:ext cx="2788920" cy="256032"/>
          </a:xfrm>
          <a:prstGeom prst="rect">
            <a:avLst/>
          </a:prstGeom>
          <a:noFill/>
          <a:ln/>
        </p:spPr>
        <p:txBody>
          <a:bodyPr wrap="square" lIns="0" tIns="0" rIns="0" bIns="0" rtlCol="0" anchor="ctr"/>
          <a:lstStyle/>
          <a:p>
            <a:pPr indent="0" marL="0">
              <a:buNone/>
            </a:pPr>
            <a:r>
              <a:rPr lang="en-US" sz="1050" b="1" spc="100" kern="0" dirty="0">
                <a:solidFill>
                  <a:srgbClr val="C4707F"/>
                </a:solidFill>
                <a:latin typeface="Meiryo" pitchFamily="34" charset="0"/>
                <a:ea typeface="Meiryo" pitchFamily="34" charset="-122"/>
                <a:cs typeface="Meiryo" pitchFamily="34" charset="-120"/>
              </a:rPr>
              <a:t>接点をつくる</a:t>
            </a:r>
            <a:endParaRPr lang="en-US" sz="1050" dirty="0"/>
          </a:p>
        </p:txBody>
      </p:sp>
      <p:sp>
        <p:nvSpPr>
          <p:cNvPr id="14" name="Text 12"/>
          <p:cNvSpPr/>
          <p:nvPr/>
        </p:nvSpPr>
        <p:spPr>
          <a:xfrm>
            <a:off x="8366760" y="2240280"/>
            <a:ext cx="2788920" cy="347472"/>
          </a:xfrm>
          <a:prstGeom prst="rect">
            <a:avLst/>
          </a:prstGeom>
          <a:noFill/>
          <a:ln/>
        </p:spPr>
        <p:txBody>
          <a:bodyPr wrap="square" lIns="0" tIns="0" rIns="0" bIns="0" rtlCol="0" anchor="ctr"/>
          <a:lstStyle/>
          <a:p>
            <a:pPr indent="0" marL="0">
              <a:buNone/>
            </a:pPr>
            <a:r>
              <a:rPr lang="en-US" sz="1800" b="1" dirty="0">
                <a:solidFill>
                  <a:srgbClr val="2C5F2D"/>
                </a:solidFill>
                <a:latin typeface="Meiryo" pitchFamily="34" charset="0"/>
                <a:ea typeface="Meiryo" pitchFamily="34" charset="-122"/>
                <a:cs typeface="Meiryo" pitchFamily="34" charset="-120"/>
              </a:rPr>
              <a:t>ノベルティ・WS</a:t>
            </a:r>
            <a:endParaRPr lang="en-US" sz="1800" dirty="0"/>
          </a:p>
        </p:txBody>
      </p:sp>
      <p:sp>
        <p:nvSpPr>
          <p:cNvPr id="15" name="Text 13"/>
          <p:cNvSpPr/>
          <p:nvPr/>
        </p:nvSpPr>
        <p:spPr>
          <a:xfrm>
            <a:off x="8366760" y="2697480"/>
            <a:ext cx="2788920" cy="1371600"/>
          </a:xfrm>
          <a:prstGeom prst="rect">
            <a:avLst/>
          </a:prstGeom>
          <a:noFill/>
          <a:ln/>
        </p:spPr>
        <p:txBody>
          <a:bodyPr wrap="square" lIns="0" tIns="0" rIns="0" bIns="0" rtlCol="0" anchor="ctr"/>
          <a:lstStyle/>
          <a:p>
            <a:pPr indent="0" marL="0">
              <a:lnSpc>
                <a:spcPts val="1900"/>
              </a:lnSpc>
              <a:buNone/>
            </a:pPr>
            <a:r>
              <a:rPr lang="en-US" sz="1200" dirty="0">
                <a:solidFill>
                  <a:srgbClr val="2E332C"/>
                </a:solidFill>
                <a:latin typeface="Meiryo" pitchFamily="34" charset="0"/>
                <a:ea typeface="Meiryo" pitchFamily="34" charset="-122"/>
                <a:cs typeface="Meiryo" pitchFamily="34" charset="-120"/>
              </a:rPr>
              <a:t>コースター、一輪挿し、靴ベラ、ペンなど。テナント様・地域向けのワークショップや記念品として配布できます。</a:t>
            </a:r>
            <a:endParaRPr lang="en-US" sz="1200" dirty="0"/>
          </a:p>
        </p:txBody>
      </p:sp>
      <p:sp>
        <p:nvSpPr>
          <p:cNvPr id="16" name="Shape 14"/>
          <p:cNvSpPr/>
          <p:nvPr/>
        </p:nvSpPr>
        <p:spPr>
          <a:xfrm>
            <a:off x="640080" y="4526280"/>
            <a:ext cx="10881360" cy="1463040"/>
          </a:xfrm>
          <a:prstGeom prst="roundRect">
            <a:avLst>
              <a:gd name="adj" fmla="val 5000"/>
            </a:avLst>
          </a:prstGeom>
          <a:solidFill>
            <a:srgbClr val="1E3524"/>
          </a:solidFill>
          <a:ln w="12700">
            <a:solidFill>
              <a:srgbClr val="1E3524"/>
            </a:solidFill>
            <a:prstDash val="solid"/>
          </a:ln>
          <a:effectLst>
            <a:outerShdw sx="100000" sy="100000" kx="0" ky="0" algn="bl" rotWithShape="0" blurRad="127000" dist="25400" dir="5400000">
              <a:srgbClr val="1E3524">
                <a:alpha val="10000"/>
              </a:srgbClr>
            </a:outerShdw>
          </a:effectLst>
        </p:spPr>
      </p:sp>
      <p:sp>
        <p:nvSpPr>
          <p:cNvPr id="17" name="Text 15"/>
          <p:cNvSpPr/>
          <p:nvPr/>
        </p:nvSpPr>
        <p:spPr>
          <a:xfrm>
            <a:off x="960120" y="4709160"/>
            <a:ext cx="3657600" cy="310896"/>
          </a:xfrm>
          <a:prstGeom prst="rect">
            <a:avLst/>
          </a:prstGeom>
          <a:noFill/>
          <a:ln/>
        </p:spPr>
        <p:txBody>
          <a:bodyPr wrap="square" lIns="0" tIns="0" rIns="0" bIns="0" rtlCol="0" anchor="ctr"/>
          <a:lstStyle/>
          <a:p>
            <a:pPr indent="0" marL="0">
              <a:buNone/>
            </a:pPr>
            <a:r>
              <a:rPr lang="en-US" sz="1500" b="1" dirty="0">
                <a:solidFill>
                  <a:srgbClr val="97BC62"/>
                </a:solidFill>
                <a:latin typeface="Meiryo" pitchFamily="34" charset="0"/>
                <a:ea typeface="Meiryo" pitchFamily="34" charset="-122"/>
                <a:cs typeface="Meiryo" pitchFamily="34" charset="-120"/>
              </a:rPr>
              <a:t>すべてを無駄にしない</a:t>
            </a:r>
            <a:endParaRPr lang="en-US" sz="1500" dirty="0"/>
          </a:p>
        </p:txBody>
      </p:sp>
      <p:sp>
        <p:nvSpPr>
          <p:cNvPr id="18" name="Text 16"/>
          <p:cNvSpPr/>
          <p:nvPr/>
        </p:nvSpPr>
        <p:spPr>
          <a:xfrm>
            <a:off x="960120" y="5074920"/>
            <a:ext cx="10241280" cy="731520"/>
          </a:xfrm>
          <a:prstGeom prst="rect">
            <a:avLst/>
          </a:prstGeom>
          <a:noFill/>
          <a:ln/>
        </p:spPr>
        <p:txBody>
          <a:bodyPr wrap="square" lIns="0" tIns="0" rIns="0" bIns="0" rtlCol="0" anchor="ctr"/>
          <a:lstStyle/>
          <a:p>
            <a:pPr indent="0" marL="0">
              <a:lnSpc>
                <a:spcPts val="1900"/>
              </a:lnSpc>
              <a:buNone/>
            </a:pPr>
            <a:r>
              <a:rPr lang="en-US" sz="1200" dirty="0">
                <a:solidFill>
                  <a:srgbClr val="FFFFFF"/>
                </a:solidFill>
                <a:latin typeface="Meiryo" pitchFamily="34" charset="0"/>
                <a:ea typeface="Meiryo" pitchFamily="34" charset="-122"/>
                <a:cs typeface="Meiryo" pitchFamily="34" charset="-120"/>
              </a:rPr>
              <a:t>無垢のまま使えない枝や根も、チップ・木粉にして建材メーカーと連携し、樹脂と混合したウッドデッキとして製作した事例があります（品川区東五反田五丁目計画）。一本の木を、部位ごとに使い切る設計が可能です。</a:t>
            </a:r>
            <a:endParaRPr lang="en-US" sz="1200" dirty="0"/>
          </a:p>
        </p:txBody>
      </p:sp>
      <p:sp>
        <p:nvSpPr>
          <p:cNvPr id="19" name="Text 17"/>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20" name="Text 18"/>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2C5F2D"/>
                </a:solidFill>
                <a:latin typeface="Meiryo" pitchFamily="34" charset="0"/>
                <a:ea typeface="Meiryo" pitchFamily="34" charset="-122"/>
                <a:cs typeface="Meiryo" pitchFamily="34" charset="-120"/>
              </a:rPr>
              <a:t>APPROACH B</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施設での木材利用：デザインを入口に</a:t>
            </a:r>
            <a:endParaRPr lang="en-US" sz="2800" dirty="0"/>
          </a:p>
        </p:txBody>
      </p:sp>
      <p:sp>
        <p:nvSpPr>
          <p:cNvPr id="4" name="Shape 2"/>
          <p:cNvSpPr/>
          <p:nvPr/>
        </p:nvSpPr>
        <p:spPr>
          <a:xfrm>
            <a:off x="640080" y="1691640"/>
            <a:ext cx="6720840" cy="1170432"/>
          </a:xfrm>
          <a:prstGeom prst="roundRect">
            <a:avLst>
              <a:gd name="adj" fmla="val 6250"/>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5" name="Shape 3"/>
          <p:cNvSpPr/>
          <p:nvPr/>
        </p:nvSpPr>
        <p:spPr>
          <a:xfrm>
            <a:off x="960120" y="2075688"/>
            <a:ext cx="384048" cy="384048"/>
          </a:xfrm>
          <a:prstGeom prst="roundRect">
            <a:avLst>
              <a:gd name="adj" fmla="val 23810"/>
            </a:avLst>
          </a:prstGeom>
          <a:solidFill>
            <a:srgbClr val="2C5F2D"/>
          </a:solidFill>
          <a:ln w="12700">
            <a:solidFill>
              <a:srgbClr val="333333"/>
            </a:solidFill>
            <a:prstDash val="solid"/>
          </a:ln>
        </p:spPr>
      </p:sp>
      <p:sp>
        <p:nvSpPr>
          <p:cNvPr id="6" name="Text 4"/>
          <p:cNvSpPr/>
          <p:nvPr/>
        </p:nvSpPr>
        <p:spPr>
          <a:xfrm>
            <a:off x="960120" y="20756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7" name="Text 5"/>
          <p:cNvSpPr/>
          <p:nvPr/>
        </p:nvSpPr>
        <p:spPr>
          <a:xfrm>
            <a:off x="1481328" y="1892808"/>
            <a:ext cx="5669280" cy="310896"/>
          </a:xfrm>
          <a:prstGeom prst="rect">
            <a:avLst/>
          </a:prstGeom>
          <a:noFill/>
          <a:ln/>
        </p:spPr>
        <p:txBody>
          <a:bodyPr wrap="square" lIns="0" tIns="0" rIns="0" bIns="0" rtlCol="0" anchor="ctr"/>
          <a:lstStyle/>
          <a:p>
            <a:pPr indent="0" marL="0">
              <a:buNone/>
            </a:pPr>
            <a:r>
              <a:rPr lang="en-US" sz="1500" b="1" dirty="0">
                <a:solidFill>
                  <a:srgbClr val="2E332C"/>
                </a:solidFill>
                <a:latin typeface="Meiryo" pitchFamily="34" charset="0"/>
                <a:ea typeface="Meiryo" pitchFamily="34" charset="-122"/>
                <a:cs typeface="Meiryo" pitchFamily="34" charset="-120"/>
              </a:rPr>
              <a:t>セットアップオフィス</a:t>
            </a:r>
            <a:endParaRPr lang="en-US" sz="1500" dirty="0"/>
          </a:p>
        </p:txBody>
      </p:sp>
      <p:sp>
        <p:nvSpPr>
          <p:cNvPr id="8" name="Text 6"/>
          <p:cNvSpPr/>
          <p:nvPr/>
        </p:nvSpPr>
        <p:spPr>
          <a:xfrm>
            <a:off x="1481328" y="2240280"/>
            <a:ext cx="5669280" cy="530352"/>
          </a:xfrm>
          <a:prstGeom prst="rect">
            <a:avLst/>
          </a:prstGeom>
          <a:noFill/>
          <a:ln/>
        </p:spPr>
        <p:txBody>
          <a:bodyPr wrap="square" lIns="0" tIns="0" rIns="0" bIns="0" rtlCol="0" anchor="ctr"/>
          <a:lstStyle/>
          <a:p>
            <a:pPr indent="0" marL="0">
              <a:lnSpc>
                <a:spcPts val="1800"/>
              </a:lnSpc>
              <a:buNone/>
            </a:pPr>
            <a:r>
              <a:rPr lang="en-US" sz="1150" dirty="0">
                <a:solidFill>
                  <a:srgbClr val="6E7266"/>
                </a:solidFill>
                <a:latin typeface="Meiryo" pitchFamily="34" charset="0"/>
                <a:ea typeface="Meiryo" pitchFamily="34" charset="-122"/>
                <a:cs typeface="Meiryo" pitchFamily="34" charset="-120"/>
              </a:rPr>
              <a:t>スタートアップ向け小規模オフィスの家具什器・ワンポイントの木使い。入退去のしやすさを保ちながら、内見時の印象を変えます。</a:t>
            </a:r>
            <a:endParaRPr lang="en-US" sz="1150" dirty="0"/>
          </a:p>
        </p:txBody>
      </p:sp>
      <p:sp>
        <p:nvSpPr>
          <p:cNvPr id="9" name="Shape 7"/>
          <p:cNvSpPr/>
          <p:nvPr/>
        </p:nvSpPr>
        <p:spPr>
          <a:xfrm>
            <a:off x="640080" y="3017520"/>
            <a:ext cx="6720840" cy="1170432"/>
          </a:xfrm>
          <a:prstGeom prst="roundRect">
            <a:avLst>
              <a:gd name="adj" fmla="val 6250"/>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10" name="Shape 8"/>
          <p:cNvSpPr/>
          <p:nvPr/>
        </p:nvSpPr>
        <p:spPr>
          <a:xfrm>
            <a:off x="960120" y="3401568"/>
            <a:ext cx="384048" cy="384048"/>
          </a:xfrm>
          <a:prstGeom prst="roundRect">
            <a:avLst>
              <a:gd name="adj" fmla="val 23810"/>
            </a:avLst>
          </a:prstGeom>
          <a:solidFill>
            <a:srgbClr val="2C5F2D"/>
          </a:solidFill>
          <a:ln w="12700">
            <a:solidFill>
              <a:srgbClr val="333333"/>
            </a:solidFill>
            <a:prstDash val="solid"/>
          </a:ln>
        </p:spPr>
      </p:sp>
      <p:sp>
        <p:nvSpPr>
          <p:cNvPr id="11" name="Text 9"/>
          <p:cNvSpPr/>
          <p:nvPr/>
        </p:nvSpPr>
        <p:spPr>
          <a:xfrm>
            <a:off x="960120" y="3401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2" name="Text 10"/>
          <p:cNvSpPr/>
          <p:nvPr/>
        </p:nvSpPr>
        <p:spPr>
          <a:xfrm>
            <a:off x="1481328" y="3218688"/>
            <a:ext cx="5669280" cy="310896"/>
          </a:xfrm>
          <a:prstGeom prst="rect">
            <a:avLst/>
          </a:prstGeom>
          <a:noFill/>
          <a:ln/>
        </p:spPr>
        <p:txBody>
          <a:bodyPr wrap="square" lIns="0" tIns="0" rIns="0" bIns="0" rtlCol="0" anchor="ctr"/>
          <a:lstStyle/>
          <a:p>
            <a:pPr indent="0" marL="0">
              <a:buNone/>
            </a:pPr>
            <a:r>
              <a:rPr lang="en-US" sz="1500" b="1" dirty="0">
                <a:solidFill>
                  <a:srgbClr val="2E332C"/>
                </a:solidFill>
                <a:latin typeface="Meiryo" pitchFamily="34" charset="0"/>
                <a:ea typeface="Meiryo" pitchFamily="34" charset="-122"/>
                <a:cs typeface="Meiryo" pitchFamily="34" charset="-120"/>
              </a:rPr>
              <a:t>共用部・ラウンジ・エントランス</a:t>
            </a:r>
            <a:endParaRPr lang="en-US" sz="1500" dirty="0"/>
          </a:p>
        </p:txBody>
      </p:sp>
      <p:sp>
        <p:nvSpPr>
          <p:cNvPr id="13" name="Text 11"/>
          <p:cNvSpPr/>
          <p:nvPr/>
        </p:nvSpPr>
        <p:spPr>
          <a:xfrm>
            <a:off x="1481328" y="3566160"/>
            <a:ext cx="5669280" cy="530352"/>
          </a:xfrm>
          <a:prstGeom prst="rect">
            <a:avLst/>
          </a:prstGeom>
          <a:noFill/>
          <a:ln/>
        </p:spPr>
        <p:txBody>
          <a:bodyPr wrap="square" lIns="0" tIns="0" rIns="0" bIns="0" rtlCol="0" anchor="ctr"/>
          <a:lstStyle/>
          <a:p>
            <a:pPr indent="0" marL="0">
              <a:lnSpc>
                <a:spcPts val="1800"/>
              </a:lnSpc>
              <a:buNone/>
            </a:pPr>
            <a:r>
              <a:rPr lang="en-US" sz="1150" dirty="0">
                <a:solidFill>
                  <a:srgbClr val="6E7266"/>
                </a:solidFill>
                <a:latin typeface="Meiryo" pitchFamily="34" charset="0"/>
                <a:ea typeface="Meiryo" pitchFamily="34" charset="-122"/>
                <a:cs typeface="Meiryo" pitchFamily="34" charset="-120"/>
              </a:rPr>
              <a:t>受付カウンター、ベンチ、壁面パネル、サイン。まとまった面積が取れる場所は、地域材や既存樹の見せ場になります。</a:t>
            </a:r>
            <a:endParaRPr lang="en-US" sz="1150" dirty="0"/>
          </a:p>
        </p:txBody>
      </p:sp>
      <p:sp>
        <p:nvSpPr>
          <p:cNvPr id="14" name="Shape 12"/>
          <p:cNvSpPr/>
          <p:nvPr/>
        </p:nvSpPr>
        <p:spPr>
          <a:xfrm>
            <a:off x="640080" y="4343400"/>
            <a:ext cx="6720840" cy="1170432"/>
          </a:xfrm>
          <a:prstGeom prst="roundRect">
            <a:avLst>
              <a:gd name="adj" fmla="val 6250"/>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15" name="Shape 13"/>
          <p:cNvSpPr/>
          <p:nvPr/>
        </p:nvSpPr>
        <p:spPr>
          <a:xfrm>
            <a:off x="960120" y="4727448"/>
            <a:ext cx="384048" cy="384048"/>
          </a:xfrm>
          <a:prstGeom prst="roundRect">
            <a:avLst>
              <a:gd name="adj" fmla="val 23810"/>
            </a:avLst>
          </a:prstGeom>
          <a:solidFill>
            <a:srgbClr val="2C5F2D"/>
          </a:solidFill>
          <a:ln w="12700">
            <a:solidFill>
              <a:srgbClr val="333333"/>
            </a:solidFill>
            <a:prstDash val="solid"/>
          </a:ln>
        </p:spPr>
      </p:sp>
      <p:sp>
        <p:nvSpPr>
          <p:cNvPr id="16" name="Text 14"/>
          <p:cNvSpPr/>
          <p:nvPr/>
        </p:nvSpPr>
        <p:spPr>
          <a:xfrm>
            <a:off x="960120" y="4727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7" name="Text 15"/>
          <p:cNvSpPr/>
          <p:nvPr/>
        </p:nvSpPr>
        <p:spPr>
          <a:xfrm>
            <a:off x="1481328" y="4544568"/>
            <a:ext cx="5669280" cy="310896"/>
          </a:xfrm>
          <a:prstGeom prst="rect">
            <a:avLst/>
          </a:prstGeom>
          <a:noFill/>
          <a:ln/>
        </p:spPr>
        <p:txBody>
          <a:bodyPr wrap="square" lIns="0" tIns="0" rIns="0" bIns="0" rtlCol="0" anchor="ctr"/>
          <a:lstStyle/>
          <a:p>
            <a:pPr indent="0" marL="0">
              <a:buNone/>
            </a:pPr>
            <a:r>
              <a:rPr lang="en-US" sz="1500" b="1" dirty="0">
                <a:solidFill>
                  <a:srgbClr val="2E332C"/>
                </a:solidFill>
                <a:latin typeface="Meiryo" pitchFamily="34" charset="0"/>
                <a:ea typeface="Meiryo" pitchFamily="34" charset="-122"/>
                <a:cs typeface="Meiryo" pitchFamily="34" charset="-120"/>
              </a:rPr>
              <a:t>改修・リノベーション</a:t>
            </a:r>
            <a:endParaRPr lang="en-US" sz="1500" dirty="0"/>
          </a:p>
        </p:txBody>
      </p:sp>
      <p:sp>
        <p:nvSpPr>
          <p:cNvPr id="18" name="Text 16"/>
          <p:cNvSpPr/>
          <p:nvPr/>
        </p:nvSpPr>
        <p:spPr>
          <a:xfrm>
            <a:off x="1481328" y="4892040"/>
            <a:ext cx="5669280" cy="530352"/>
          </a:xfrm>
          <a:prstGeom prst="rect">
            <a:avLst/>
          </a:prstGeom>
          <a:noFill/>
          <a:ln/>
        </p:spPr>
        <p:txBody>
          <a:bodyPr wrap="square" lIns="0" tIns="0" rIns="0" bIns="0" rtlCol="0" anchor="ctr"/>
          <a:lstStyle/>
          <a:p>
            <a:pPr indent="0" marL="0">
              <a:lnSpc>
                <a:spcPts val="1800"/>
              </a:lnSpc>
              <a:buNone/>
            </a:pPr>
            <a:r>
              <a:rPr lang="en-US" sz="1150" dirty="0">
                <a:solidFill>
                  <a:srgbClr val="6E7266"/>
                </a:solidFill>
                <a:latin typeface="Meiryo" pitchFamily="34" charset="0"/>
                <a:ea typeface="Meiryo" pitchFamily="34" charset="-122"/>
                <a:cs typeface="Meiryo" pitchFamily="34" charset="-120"/>
              </a:rPr>
              <a:t>小規模ビルのリノベに合わせた木質化。既存解体材や敷地内の樹木と組み合わせると、コストと物語を両立できます。</a:t>
            </a:r>
            <a:endParaRPr lang="en-US" sz="1150" dirty="0"/>
          </a:p>
        </p:txBody>
      </p:sp>
      <p:sp>
        <p:nvSpPr>
          <p:cNvPr id="19" name="Shape 17"/>
          <p:cNvSpPr/>
          <p:nvPr/>
        </p:nvSpPr>
        <p:spPr>
          <a:xfrm>
            <a:off x="7543800" y="1691640"/>
            <a:ext cx="3977640" cy="3977640"/>
          </a:xfrm>
          <a:prstGeom prst="roundRect">
            <a:avLst>
              <a:gd name="adj" fmla="val 1839"/>
            </a:avLst>
          </a:prstGeom>
          <a:solidFill>
            <a:srgbClr val="F0F4EC"/>
          </a:solidFill>
          <a:ln w="12700">
            <a:solidFill>
              <a:srgbClr val="F0F4EC"/>
            </a:solidFill>
            <a:prstDash val="solid"/>
          </a:ln>
          <a:effectLst>
            <a:outerShdw sx="100000" sy="100000" kx="0" ky="0" algn="bl" rotWithShape="0" blurRad="127000" dist="25400" dir="5400000">
              <a:srgbClr val="1E3524">
                <a:alpha val="10000"/>
              </a:srgbClr>
            </a:outerShdw>
          </a:effectLst>
        </p:spPr>
      </p:sp>
      <p:sp>
        <p:nvSpPr>
          <p:cNvPr id="20" name="Text 18"/>
          <p:cNvSpPr/>
          <p:nvPr/>
        </p:nvSpPr>
        <p:spPr>
          <a:xfrm>
            <a:off x="7863840" y="1938528"/>
            <a:ext cx="3337560" cy="310896"/>
          </a:xfrm>
          <a:prstGeom prst="rect">
            <a:avLst/>
          </a:prstGeom>
          <a:noFill/>
          <a:ln/>
        </p:spPr>
        <p:txBody>
          <a:bodyPr wrap="square" lIns="0" tIns="0" rIns="0" bIns="0" rtlCol="0" anchor="ctr"/>
          <a:lstStyle/>
          <a:p>
            <a:pPr indent="0" marL="0">
              <a:buNone/>
            </a:pPr>
            <a:r>
              <a:rPr lang="en-US" sz="1500" b="1" dirty="0">
                <a:solidFill>
                  <a:srgbClr val="2C5F2D"/>
                </a:solidFill>
                <a:latin typeface="Meiryo" pitchFamily="34" charset="0"/>
                <a:ea typeface="Meiryo" pitchFamily="34" charset="-122"/>
                <a:cs typeface="Meiryo" pitchFamily="34" charset="-120"/>
              </a:rPr>
              <a:t>森未来が入ると何が変わるか</a:t>
            </a:r>
            <a:endParaRPr lang="en-US" sz="1500" dirty="0"/>
          </a:p>
        </p:txBody>
      </p:sp>
      <p:sp>
        <p:nvSpPr>
          <p:cNvPr id="21" name="Text 19"/>
          <p:cNvSpPr/>
          <p:nvPr/>
        </p:nvSpPr>
        <p:spPr>
          <a:xfrm>
            <a:off x="7936992" y="2395728"/>
            <a:ext cx="3310128" cy="306324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150" dirty="0">
                <a:solidFill>
                  <a:srgbClr val="2E332C"/>
                </a:solidFill>
                <a:latin typeface="Meiryo" pitchFamily="34" charset="0"/>
                <a:ea typeface="Meiryo" pitchFamily="34" charset="-122"/>
                <a:cs typeface="Meiryo" pitchFamily="34" charset="-120"/>
              </a:rPr>
              <a:t>複数の材木屋・製材所から、仕様ごとに複数案の見積を並べて比較できる</a:t>
            </a:r>
            <a:endParaRPr lang="en-US" sz="1150" dirty="0"/>
          </a:p>
          <a:p>
            <a:pPr marL="342900" indent="-342900">
              <a:lnSpc>
                <a:spcPts val="1800"/>
              </a:lnSpc>
              <a:spcAft>
                <a:spcPts val="1000"/>
              </a:spcAft>
              <a:buSzPct val="100000"/>
              <a:buChar char="•"/>
            </a:pPr>
            <a:r>
              <a:rPr lang="en-US" sz="1150" dirty="0">
                <a:solidFill>
                  <a:srgbClr val="2E332C"/>
                </a:solidFill>
                <a:latin typeface="Meiryo" pitchFamily="34" charset="0"/>
                <a:ea typeface="Meiryo" pitchFamily="34" charset="-122"/>
                <a:cs typeface="Meiryo" pitchFamily="34" charset="-120"/>
              </a:rPr>
              <a:t>一枚板・特殊寸法・長尺なども、全国の在庫データ連携から探索できる</a:t>
            </a:r>
            <a:endParaRPr lang="en-US" sz="1150" dirty="0"/>
          </a:p>
          <a:p>
            <a:pPr marL="342900" indent="-342900">
              <a:lnSpc>
                <a:spcPts val="1800"/>
              </a:lnSpc>
              <a:spcAft>
                <a:spcPts val="1000"/>
              </a:spcAft>
              <a:buSzPct val="100000"/>
              <a:buChar char="•"/>
            </a:pPr>
            <a:r>
              <a:rPr lang="en-US" sz="1150" dirty="0">
                <a:solidFill>
                  <a:srgbClr val="2E332C"/>
                </a:solidFill>
                <a:latin typeface="Meiryo" pitchFamily="34" charset="0"/>
                <a:ea typeface="Meiryo" pitchFamily="34" charset="-122"/>
                <a:cs typeface="Meiryo" pitchFamily="34" charset="-120"/>
              </a:rPr>
              <a:t>商流を短くすることで、都度積まれるバッファを抑えられる</a:t>
            </a:r>
            <a:endParaRPr lang="en-US" sz="1150" dirty="0"/>
          </a:p>
          <a:p>
            <a:pPr marL="342900" indent="-342900">
              <a:lnSpc>
                <a:spcPts val="1800"/>
              </a:lnSpc>
              <a:spcAft>
                <a:spcPts val="1000"/>
              </a:spcAft>
              <a:buSzPct val="100000"/>
              <a:buChar char="•"/>
            </a:pPr>
            <a:r>
              <a:rPr lang="en-US" sz="1150" dirty="0">
                <a:solidFill>
                  <a:srgbClr val="2E332C"/>
                </a:solidFill>
                <a:latin typeface="Meiryo" pitchFamily="34" charset="0"/>
                <a:ea typeface="Meiryo" pitchFamily="34" charset="-122"/>
                <a:cs typeface="Meiryo" pitchFamily="34" charset="-120"/>
              </a:rPr>
              <a:t>カビ・割れ・反りなどのリスクは、事前にご説明と対策を協議</a:t>
            </a:r>
            <a:endParaRPr lang="en-US" sz="1150" dirty="0"/>
          </a:p>
          <a:p>
            <a:pPr marL="342900" indent="-342900">
              <a:lnSpc>
                <a:spcPts val="1800"/>
              </a:lnSpc>
              <a:spcAft>
                <a:spcPts val="1000"/>
              </a:spcAft>
              <a:buSzPct val="100000"/>
              <a:buChar char="•"/>
            </a:pPr>
            <a:r>
              <a:rPr lang="en-US" sz="1150" dirty="0">
                <a:solidFill>
                  <a:srgbClr val="2E332C"/>
                </a:solidFill>
                <a:latin typeface="Meiryo" pitchFamily="34" charset="0"/>
                <a:ea typeface="Meiryo" pitchFamily="34" charset="-122"/>
                <a:cs typeface="Meiryo" pitchFamily="34" charset="-120"/>
              </a:rPr>
              <a:t>調達から加工・施工まで一括で対応（設計段階からのご相談も歓迎）</a:t>
            </a:r>
            <a:endParaRPr lang="en-US" sz="1150" dirty="0"/>
          </a:p>
        </p:txBody>
      </p:sp>
      <p:sp>
        <p:nvSpPr>
          <p:cNvPr id="22" name="Text 20"/>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23" name="Text 21"/>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2C5F2D"/>
                </a:solidFill>
                <a:latin typeface="Meiryo" pitchFamily="34" charset="0"/>
                <a:ea typeface="Meiryo" pitchFamily="34" charset="-122"/>
                <a:cs typeface="Meiryo" pitchFamily="34" charset="-120"/>
              </a:rPr>
              <a:t>CASE STUDY 01</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その土地の木を、施設に残した事例</a:t>
            </a:r>
            <a:endParaRPr lang="en-US" sz="2800" dirty="0"/>
          </a:p>
        </p:txBody>
      </p:sp>
      <p:sp>
        <p:nvSpPr>
          <p:cNvPr id="4" name="Shape 2"/>
          <p:cNvSpPr/>
          <p:nvPr/>
        </p:nvSpPr>
        <p:spPr>
          <a:xfrm>
            <a:off x="640080" y="1600200"/>
            <a:ext cx="5349240" cy="3611880"/>
          </a:xfrm>
          <a:prstGeom prst="roundRect">
            <a:avLst>
              <a:gd name="adj" fmla="val 2025"/>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5" name="Text 3"/>
          <p:cNvSpPr/>
          <p:nvPr/>
        </p:nvSpPr>
        <p:spPr>
          <a:xfrm>
            <a:off x="1005840" y="1874520"/>
            <a:ext cx="4617720" cy="365760"/>
          </a:xfrm>
          <a:prstGeom prst="rect">
            <a:avLst/>
          </a:prstGeom>
          <a:noFill/>
          <a:ln/>
        </p:spPr>
        <p:txBody>
          <a:bodyPr wrap="square" lIns="0" tIns="0" rIns="0" bIns="0" rtlCol="0" anchor="ctr"/>
          <a:lstStyle/>
          <a:p>
            <a:pPr indent="0" marL="0">
              <a:buNone/>
            </a:pPr>
            <a:r>
              <a:rPr lang="en-US" sz="1900" b="1" dirty="0">
                <a:solidFill>
                  <a:srgbClr val="2C5F2D"/>
                </a:solidFill>
                <a:latin typeface="Meiryo" pitchFamily="34" charset="0"/>
                <a:ea typeface="Meiryo" pitchFamily="34" charset="-122"/>
                <a:cs typeface="Meiryo" pitchFamily="34" charset="-120"/>
              </a:rPr>
              <a:t>多摩市立図書館</a:t>
            </a:r>
            <a:endParaRPr lang="en-US" sz="1900" dirty="0"/>
          </a:p>
        </p:txBody>
      </p:sp>
      <p:sp>
        <p:nvSpPr>
          <p:cNvPr id="6" name="Text 4"/>
          <p:cNvSpPr/>
          <p:nvPr/>
        </p:nvSpPr>
        <p:spPr>
          <a:xfrm>
            <a:off x="1005840" y="2304288"/>
            <a:ext cx="4617720" cy="566928"/>
          </a:xfrm>
          <a:prstGeom prst="rect">
            <a:avLst/>
          </a:prstGeom>
          <a:noFill/>
          <a:ln/>
        </p:spPr>
        <p:txBody>
          <a:bodyPr wrap="square" lIns="0" tIns="0" rIns="0" bIns="0" rtlCol="0" anchor="ctr"/>
          <a:lstStyle/>
          <a:p>
            <a:pPr indent="0" marL="0">
              <a:lnSpc>
                <a:spcPts val="1900"/>
              </a:lnSpc>
              <a:buNone/>
            </a:pPr>
            <a:r>
              <a:rPr lang="en-US" sz="1250" b="1" dirty="0">
                <a:solidFill>
                  <a:srgbClr val="C4707F"/>
                </a:solidFill>
                <a:latin typeface="Meiryo" pitchFamily="34" charset="0"/>
                <a:ea typeface="Meiryo" pitchFamily="34" charset="-122"/>
                <a:cs typeface="Meiryo" pitchFamily="34" charset="-120"/>
              </a:rPr>
              <a:t>公園の既存樹（クスノキ）→ キッズコーナーのテーブル</a:t>
            </a:r>
            <a:endParaRPr lang="en-US" sz="1250" dirty="0"/>
          </a:p>
        </p:txBody>
      </p:sp>
      <p:sp>
        <p:nvSpPr>
          <p:cNvPr id="7" name="Text 5"/>
          <p:cNvSpPr/>
          <p:nvPr/>
        </p:nvSpPr>
        <p:spPr>
          <a:xfrm>
            <a:off x="1005840" y="2999232"/>
            <a:ext cx="4617720" cy="2011680"/>
          </a:xfrm>
          <a:prstGeom prst="rect">
            <a:avLst/>
          </a:prstGeom>
          <a:noFill/>
          <a:ln/>
        </p:spPr>
        <p:txBody>
          <a:bodyPr wrap="square" lIns="0" tIns="0" rIns="0" bIns="0" rtlCol="0" anchor="ctr"/>
          <a:lstStyle/>
          <a:p>
            <a:pPr indent="0" marL="0">
              <a:lnSpc>
                <a:spcPts val="2000"/>
              </a:lnSpc>
              <a:buNone/>
            </a:pPr>
            <a:r>
              <a:rPr lang="en-US" sz="1200" dirty="0">
                <a:solidFill>
                  <a:srgbClr val="2E332C"/>
                </a:solidFill>
                <a:latin typeface="Meiryo" pitchFamily="34" charset="0"/>
                <a:ea typeface="Meiryo" pitchFamily="34" charset="-122"/>
                <a:cs typeface="Meiryo" pitchFamily="34" charset="-120"/>
              </a:rPr>
              <a:t>建設地の多摩中央公園に元々植生していた既存樹を使ってほしいというオーダー。家具用材としては樹齢も幅も十分ではない木でしたが、特徴を生かし、不揃いでも温かみのあるテーブルに仕上げました。</a:t>
            </a:r>
            <a:endParaRPr lang="en-US" sz="1200" dirty="0"/>
          </a:p>
        </p:txBody>
      </p:sp>
      <p:sp>
        <p:nvSpPr>
          <p:cNvPr id="8" name="Text 6"/>
          <p:cNvSpPr/>
          <p:nvPr/>
        </p:nvSpPr>
        <p:spPr>
          <a:xfrm>
            <a:off x="1005840" y="4617720"/>
            <a:ext cx="4617720" cy="274320"/>
          </a:xfrm>
          <a:prstGeom prst="rect">
            <a:avLst/>
          </a:prstGeom>
          <a:noFill/>
          <a:ln/>
        </p:spPr>
        <p:txBody>
          <a:bodyPr wrap="square" lIns="0" tIns="0" rIns="0" bIns="0" rtlCol="0" anchor="ctr"/>
          <a:lstStyle/>
          <a:p>
            <a:pPr indent="0" marL="0">
              <a:buNone/>
            </a:pPr>
            <a:r>
              <a:rPr lang="en-US" sz="1050" dirty="0">
                <a:solidFill>
                  <a:srgbClr val="6E7266"/>
                </a:solidFill>
                <a:latin typeface="Meiryo" pitchFamily="34" charset="0"/>
                <a:ea typeface="Meiryo" pitchFamily="34" charset="-122"/>
                <a:cs typeface="Meiryo" pitchFamily="34" charset="-120"/>
              </a:rPr>
              <a:t>#公共施設　#既存樹活用　#オーダーメイド</a:t>
            </a:r>
            <a:endParaRPr lang="en-US" sz="1050" dirty="0"/>
          </a:p>
        </p:txBody>
      </p:sp>
      <p:sp>
        <p:nvSpPr>
          <p:cNvPr id="9" name="Shape 7"/>
          <p:cNvSpPr/>
          <p:nvPr/>
        </p:nvSpPr>
        <p:spPr>
          <a:xfrm>
            <a:off x="6263640" y="1600200"/>
            <a:ext cx="5349240" cy="3611880"/>
          </a:xfrm>
          <a:prstGeom prst="roundRect">
            <a:avLst>
              <a:gd name="adj" fmla="val 2025"/>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10" name="Text 8"/>
          <p:cNvSpPr/>
          <p:nvPr/>
        </p:nvSpPr>
        <p:spPr>
          <a:xfrm>
            <a:off x="6629400" y="1874520"/>
            <a:ext cx="4617720" cy="365760"/>
          </a:xfrm>
          <a:prstGeom prst="rect">
            <a:avLst/>
          </a:prstGeom>
          <a:noFill/>
          <a:ln/>
        </p:spPr>
        <p:txBody>
          <a:bodyPr wrap="square" lIns="0" tIns="0" rIns="0" bIns="0" rtlCol="0" anchor="ctr"/>
          <a:lstStyle/>
          <a:p>
            <a:pPr indent="0" marL="0">
              <a:buNone/>
            </a:pPr>
            <a:r>
              <a:rPr lang="en-US" sz="1900" b="1" dirty="0">
                <a:solidFill>
                  <a:srgbClr val="2C5F2D"/>
                </a:solidFill>
                <a:latin typeface="Meiryo" pitchFamily="34" charset="0"/>
                <a:ea typeface="Meiryo" pitchFamily="34" charset="-122"/>
                <a:cs typeface="Meiryo" pitchFamily="34" charset="-120"/>
              </a:rPr>
              <a:t>パークホームズ上板橋</a:t>
            </a:r>
            <a:endParaRPr lang="en-US" sz="1900" dirty="0"/>
          </a:p>
        </p:txBody>
      </p:sp>
      <p:sp>
        <p:nvSpPr>
          <p:cNvPr id="11" name="Text 9"/>
          <p:cNvSpPr/>
          <p:nvPr/>
        </p:nvSpPr>
        <p:spPr>
          <a:xfrm>
            <a:off x="6629400" y="2304288"/>
            <a:ext cx="4617720" cy="566928"/>
          </a:xfrm>
          <a:prstGeom prst="rect">
            <a:avLst/>
          </a:prstGeom>
          <a:noFill/>
          <a:ln/>
        </p:spPr>
        <p:txBody>
          <a:bodyPr wrap="square" lIns="0" tIns="0" rIns="0" bIns="0" rtlCol="0" anchor="ctr"/>
          <a:lstStyle/>
          <a:p>
            <a:pPr indent="0" marL="0">
              <a:lnSpc>
                <a:spcPts val="1900"/>
              </a:lnSpc>
              <a:buNone/>
            </a:pPr>
            <a:r>
              <a:rPr lang="en-US" sz="1250" b="1" dirty="0">
                <a:solidFill>
                  <a:srgbClr val="C4707F"/>
                </a:solidFill>
                <a:latin typeface="Meiryo" pitchFamily="34" charset="0"/>
                <a:ea typeface="Meiryo" pitchFamily="34" charset="-122"/>
                <a:cs typeface="Meiryo" pitchFamily="34" charset="-120"/>
              </a:rPr>
              <a:t>敷地内のケヤキ＋古家の大黒柱 → 家具・不燃突板・アートパネル</a:t>
            </a:r>
            <a:endParaRPr lang="en-US" sz="1250" dirty="0"/>
          </a:p>
        </p:txBody>
      </p:sp>
      <p:sp>
        <p:nvSpPr>
          <p:cNvPr id="12" name="Text 10"/>
          <p:cNvSpPr/>
          <p:nvPr/>
        </p:nvSpPr>
        <p:spPr>
          <a:xfrm>
            <a:off x="6629400" y="2999232"/>
            <a:ext cx="4617720" cy="2011680"/>
          </a:xfrm>
          <a:prstGeom prst="rect">
            <a:avLst/>
          </a:prstGeom>
          <a:noFill/>
          <a:ln/>
        </p:spPr>
        <p:txBody>
          <a:bodyPr wrap="square" lIns="0" tIns="0" rIns="0" bIns="0" rtlCol="0" anchor="ctr"/>
          <a:lstStyle/>
          <a:p>
            <a:pPr indent="0" marL="0">
              <a:lnSpc>
                <a:spcPts val="2000"/>
              </a:lnSpc>
              <a:buNone/>
            </a:pPr>
            <a:r>
              <a:rPr lang="en-US" sz="1200" dirty="0">
                <a:solidFill>
                  <a:srgbClr val="2E332C"/>
                </a:solidFill>
                <a:latin typeface="Meiryo" pitchFamily="34" charset="0"/>
                <a:ea typeface="Meiryo" pitchFamily="34" charset="-122"/>
                <a:cs typeface="Meiryo" pitchFamily="34" charset="-120"/>
              </a:rPr>
              <a:t>敷地内の樹木を活用し、古家から大黒柱を回収。大黒柱は木工作家により椅子へ生まれ変わり地主様へ寄贈。共用部家具、不燃突板、フロアサイン、細い樹木を輪切りにして集積したアートパネルにも展開しました。</a:t>
            </a:r>
            <a:endParaRPr lang="en-US" sz="1200" dirty="0"/>
          </a:p>
        </p:txBody>
      </p:sp>
      <p:sp>
        <p:nvSpPr>
          <p:cNvPr id="13" name="Text 11"/>
          <p:cNvSpPr/>
          <p:nvPr/>
        </p:nvSpPr>
        <p:spPr>
          <a:xfrm>
            <a:off x="6629400" y="4617720"/>
            <a:ext cx="4617720" cy="274320"/>
          </a:xfrm>
          <a:prstGeom prst="rect">
            <a:avLst/>
          </a:prstGeom>
          <a:noFill/>
          <a:ln/>
        </p:spPr>
        <p:txBody>
          <a:bodyPr wrap="square" lIns="0" tIns="0" rIns="0" bIns="0" rtlCol="0" anchor="ctr"/>
          <a:lstStyle/>
          <a:p>
            <a:pPr indent="0" marL="0">
              <a:buNone/>
            </a:pPr>
            <a:r>
              <a:rPr lang="en-US" sz="1050" dirty="0">
                <a:solidFill>
                  <a:srgbClr val="6E7266"/>
                </a:solidFill>
                <a:latin typeface="Meiryo" pitchFamily="34" charset="0"/>
                <a:ea typeface="Meiryo" pitchFamily="34" charset="-122"/>
                <a:cs typeface="Meiryo" pitchFamily="34" charset="-120"/>
              </a:rPr>
              <a:t>#土地の記憶　#共用部　#アップサイクル</a:t>
            </a:r>
            <a:endParaRPr lang="en-US" sz="1050" dirty="0"/>
          </a:p>
        </p:txBody>
      </p:sp>
      <p:sp>
        <p:nvSpPr>
          <p:cNvPr id="14" name="Text 12"/>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15" name="Text 13"/>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2C5F2D"/>
                </a:solidFill>
                <a:latin typeface="Meiryo" pitchFamily="34" charset="0"/>
                <a:ea typeface="Meiryo" pitchFamily="34" charset="-122"/>
                <a:cs typeface="Meiryo" pitchFamily="34" charset="-120"/>
              </a:rPr>
              <a:t>CASE STUDY 02</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一本を使い切る／複数年で続ける事例</a:t>
            </a:r>
            <a:endParaRPr lang="en-US" sz="2800" dirty="0"/>
          </a:p>
        </p:txBody>
      </p:sp>
      <p:sp>
        <p:nvSpPr>
          <p:cNvPr id="4" name="Shape 2"/>
          <p:cNvSpPr/>
          <p:nvPr/>
        </p:nvSpPr>
        <p:spPr>
          <a:xfrm>
            <a:off x="640080" y="1600200"/>
            <a:ext cx="10881360" cy="1965960"/>
          </a:xfrm>
          <a:prstGeom prst="roundRect">
            <a:avLst>
              <a:gd name="adj" fmla="val 3721"/>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5" name="Text 3"/>
          <p:cNvSpPr/>
          <p:nvPr/>
        </p:nvSpPr>
        <p:spPr>
          <a:xfrm>
            <a:off x="960120" y="1828800"/>
            <a:ext cx="4572000" cy="329184"/>
          </a:xfrm>
          <a:prstGeom prst="rect">
            <a:avLst/>
          </a:prstGeom>
          <a:noFill/>
          <a:ln/>
        </p:spPr>
        <p:txBody>
          <a:bodyPr wrap="square" lIns="0" tIns="0" rIns="0" bIns="0" rtlCol="0" anchor="ctr"/>
          <a:lstStyle/>
          <a:p>
            <a:pPr indent="0" marL="0">
              <a:buNone/>
            </a:pPr>
            <a:r>
              <a:rPr lang="en-US" sz="1800" b="1" dirty="0">
                <a:solidFill>
                  <a:srgbClr val="2C5F2D"/>
                </a:solidFill>
                <a:latin typeface="Meiryo" pitchFamily="34" charset="0"/>
                <a:ea typeface="Meiryo" pitchFamily="34" charset="-122"/>
                <a:cs typeface="Meiryo" pitchFamily="34" charset="-120"/>
              </a:rPr>
              <a:t>（仮称）品川区東五反田五丁目計画</a:t>
            </a:r>
            <a:endParaRPr lang="en-US" sz="1800" dirty="0"/>
          </a:p>
        </p:txBody>
      </p:sp>
      <p:sp>
        <p:nvSpPr>
          <p:cNvPr id="6" name="Text 4"/>
          <p:cNvSpPr/>
          <p:nvPr/>
        </p:nvSpPr>
        <p:spPr>
          <a:xfrm>
            <a:off x="960120" y="2212848"/>
            <a:ext cx="4846320" cy="566928"/>
          </a:xfrm>
          <a:prstGeom prst="rect">
            <a:avLst/>
          </a:prstGeom>
          <a:noFill/>
          <a:ln/>
        </p:spPr>
        <p:txBody>
          <a:bodyPr wrap="square" lIns="0" tIns="0" rIns="0" bIns="0" rtlCol="0" anchor="ctr"/>
          <a:lstStyle/>
          <a:p>
            <a:pPr indent="0" marL="0">
              <a:lnSpc>
                <a:spcPts val="1900"/>
              </a:lnSpc>
              <a:buNone/>
            </a:pPr>
            <a:r>
              <a:rPr lang="en-US" sz="1250" b="1" dirty="0">
                <a:solidFill>
                  <a:srgbClr val="C4707F"/>
                </a:solidFill>
                <a:latin typeface="Meiryo" pitchFamily="34" charset="0"/>
                <a:ea typeface="Meiryo" pitchFamily="34" charset="-122"/>
                <a:cs typeface="Meiryo" pitchFamily="34" charset="-120"/>
              </a:rPr>
              <a:t>地域に愛されたクスノキの大木 → 建材・アート・ウッドデッキ</a:t>
            </a:r>
            <a:endParaRPr lang="en-US" sz="1250" dirty="0"/>
          </a:p>
        </p:txBody>
      </p:sp>
      <p:sp>
        <p:nvSpPr>
          <p:cNvPr id="7" name="Text 5"/>
          <p:cNvSpPr/>
          <p:nvPr/>
        </p:nvSpPr>
        <p:spPr>
          <a:xfrm>
            <a:off x="6035040" y="1847088"/>
            <a:ext cx="5166360" cy="1463040"/>
          </a:xfrm>
          <a:prstGeom prst="rect">
            <a:avLst/>
          </a:prstGeom>
          <a:noFill/>
          <a:ln/>
        </p:spPr>
        <p:txBody>
          <a:bodyPr wrap="square" lIns="0" tIns="0" rIns="0" bIns="0" rtlCol="0" anchor="ctr"/>
          <a:lstStyle/>
          <a:p>
            <a:pPr indent="0" marL="0">
              <a:lnSpc>
                <a:spcPts val="2000"/>
              </a:lnSpc>
              <a:buNone/>
            </a:pPr>
            <a:r>
              <a:rPr lang="en-US" sz="1200" dirty="0">
                <a:solidFill>
                  <a:srgbClr val="2E332C"/>
                </a:solidFill>
                <a:latin typeface="Meiryo" pitchFamily="34" charset="0"/>
                <a:ea typeface="Meiryo" pitchFamily="34" charset="-122"/>
                <a:cs typeface="Meiryo" pitchFamily="34" charset="-120"/>
              </a:rPr>
              <a:t>幹は木工作家と連携してアート作品に。「すべて無駄にしない」というコンセプトのもと、無垢のまま使用できない枝や根はチップ・木粉にし、建材メーカーと連携して樹脂と混合したウッドデッキを製作しました。</a:t>
            </a:r>
            <a:endParaRPr lang="en-US" sz="1200" dirty="0"/>
          </a:p>
        </p:txBody>
      </p:sp>
      <p:sp>
        <p:nvSpPr>
          <p:cNvPr id="8" name="Shape 6"/>
          <p:cNvSpPr/>
          <p:nvPr/>
        </p:nvSpPr>
        <p:spPr>
          <a:xfrm>
            <a:off x="640080" y="3749040"/>
            <a:ext cx="10881360" cy="1965960"/>
          </a:xfrm>
          <a:prstGeom prst="roundRect">
            <a:avLst>
              <a:gd name="adj" fmla="val 3721"/>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9" name="Text 7"/>
          <p:cNvSpPr/>
          <p:nvPr/>
        </p:nvSpPr>
        <p:spPr>
          <a:xfrm>
            <a:off x="960120" y="3977640"/>
            <a:ext cx="4846320" cy="329184"/>
          </a:xfrm>
          <a:prstGeom prst="rect">
            <a:avLst/>
          </a:prstGeom>
          <a:noFill/>
          <a:ln/>
        </p:spPr>
        <p:txBody>
          <a:bodyPr wrap="square" lIns="0" tIns="0" rIns="0" bIns="0" rtlCol="0" anchor="ctr"/>
          <a:lstStyle/>
          <a:p>
            <a:pPr indent="0" marL="0">
              <a:buNone/>
            </a:pPr>
            <a:r>
              <a:rPr lang="en-US" sz="1800" b="1" dirty="0">
                <a:solidFill>
                  <a:srgbClr val="2C5F2D"/>
                </a:solidFill>
                <a:latin typeface="Meiryo" pitchFamily="34" charset="0"/>
                <a:ea typeface="Meiryo" pitchFamily="34" charset="-122"/>
                <a:cs typeface="Meiryo" pitchFamily="34" charset="-120"/>
              </a:rPr>
              <a:t>三井不動産レジデンシャル様「土地の記憶」</a:t>
            </a:r>
            <a:endParaRPr lang="en-US" sz="1800" dirty="0"/>
          </a:p>
        </p:txBody>
      </p:sp>
      <p:sp>
        <p:nvSpPr>
          <p:cNvPr id="10" name="Text 8"/>
          <p:cNvSpPr/>
          <p:nvPr/>
        </p:nvSpPr>
        <p:spPr>
          <a:xfrm>
            <a:off x="960120" y="4361688"/>
            <a:ext cx="4846320" cy="566928"/>
          </a:xfrm>
          <a:prstGeom prst="rect">
            <a:avLst/>
          </a:prstGeom>
          <a:noFill/>
          <a:ln/>
        </p:spPr>
        <p:txBody>
          <a:bodyPr wrap="square" lIns="0" tIns="0" rIns="0" bIns="0" rtlCol="0" anchor="ctr"/>
          <a:lstStyle/>
          <a:p>
            <a:pPr indent="0" marL="0">
              <a:lnSpc>
                <a:spcPts val="1900"/>
              </a:lnSpc>
              <a:buNone/>
            </a:pPr>
            <a:r>
              <a:rPr lang="en-US" sz="1250" b="1" dirty="0">
                <a:solidFill>
                  <a:srgbClr val="C4707F"/>
                </a:solidFill>
                <a:latin typeface="Meiryo" pitchFamily="34" charset="0"/>
                <a:ea typeface="Meiryo" pitchFamily="34" charset="-122"/>
                <a:cs typeface="Meiryo" pitchFamily="34" charset="-120"/>
              </a:rPr>
              <a:t>アップサイクルで土地固有の記憶を未来へつなぐ取り組み</a:t>
            </a:r>
            <a:endParaRPr lang="en-US" sz="1250" dirty="0"/>
          </a:p>
        </p:txBody>
      </p:sp>
      <p:sp>
        <p:nvSpPr>
          <p:cNvPr id="11" name="Text 9"/>
          <p:cNvSpPr/>
          <p:nvPr/>
        </p:nvSpPr>
        <p:spPr>
          <a:xfrm>
            <a:off x="6035040" y="3995928"/>
            <a:ext cx="5166360" cy="1463040"/>
          </a:xfrm>
          <a:prstGeom prst="rect">
            <a:avLst/>
          </a:prstGeom>
          <a:noFill/>
          <a:ln/>
        </p:spPr>
        <p:txBody>
          <a:bodyPr wrap="square" lIns="0" tIns="0" rIns="0" bIns="0" rtlCol="0" anchor="ctr"/>
          <a:lstStyle/>
          <a:p>
            <a:pPr indent="0" marL="0">
              <a:lnSpc>
                <a:spcPts val="2000"/>
              </a:lnSpc>
              <a:buNone/>
            </a:pPr>
            <a:r>
              <a:rPr lang="en-US" sz="1200" dirty="0">
                <a:solidFill>
                  <a:srgbClr val="2E332C"/>
                </a:solidFill>
                <a:latin typeface="Meiryo" pitchFamily="34" charset="0"/>
                <a:ea typeface="Meiryo" pitchFamily="34" charset="-122"/>
                <a:cs typeface="Meiryo" pitchFamily="34" charset="-120"/>
              </a:rPr>
              <a:t>「元々土地に植わっていた樹木を、建築する物件に使えないか」というご相談から始まったプロジェクト。伐採から竣工まで複数年にわたるため、木材の保管スペースを確保して開始し、現在は複数の物件が同時進行しています。</a:t>
            </a:r>
            <a:endParaRPr lang="en-US" sz="1200" dirty="0"/>
          </a:p>
        </p:txBody>
      </p:sp>
      <p:sp>
        <p:nvSpPr>
          <p:cNvPr id="12" name="Text 10"/>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13" name="Text 11"/>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2C5F2D"/>
                </a:solidFill>
                <a:latin typeface="Meiryo" pitchFamily="34" charset="0"/>
                <a:ea typeface="Meiryo" pitchFamily="34" charset="-122"/>
                <a:cs typeface="Meiryo" pitchFamily="34" charset="-120"/>
              </a:rPr>
              <a:t>CASE STUDY 03</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デザイン性で選ばれた事例と、恵比寿での実績</a:t>
            </a:r>
            <a:endParaRPr lang="en-US" sz="2800" dirty="0"/>
          </a:p>
        </p:txBody>
      </p:sp>
      <p:sp>
        <p:nvSpPr>
          <p:cNvPr id="4" name="Shape 2"/>
          <p:cNvSpPr/>
          <p:nvPr/>
        </p:nvSpPr>
        <p:spPr>
          <a:xfrm>
            <a:off x="640080" y="1645920"/>
            <a:ext cx="3429000" cy="3474720"/>
          </a:xfrm>
          <a:prstGeom prst="roundRect">
            <a:avLst>
              <a:gd name="adj" fmla="val 2133"/>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5" name="Text 3"/>
          <p:cNvSpPr/>
          <p:nvPr/>
        </p:nvSpPr>
        <p:spPr>
          <a:xfrm>
            <a:off x="960120" y="1901952"/>
            <a:ext cx="2788920" cy="640080"/>
          </a:xfrm>
          <a:prstGeom prst="rect">
            <a:avLst/>
          </a:prstGeom>
          <a:noFill/>
          <a:ln/>
        </p:spPr>
        <p:txBody>
          <a:bodyPr wrap="square" lIns="0" tIns="0" rIns="0" bIns="0" rtlCol="0" anchor="ctr"/>
          <a:lstStyle/>
          <a:p>
            <a:pPr indent="0" marL="0">
              <a:lnSpc>
                <a:spcPts val="2400"/>
              </a:lnSpc>
              <a:buNone/>
            </a:pPr>
            <a:r>
              <a:rPr lang="en-US" sz="1600" b="1" dirty="0">
                <a:solidFill>
                  <a:srgbClr val="2C5F2D"/>
                </a:solidFill>
                <a:latin typeface="Meiryo" pitchFamily="34" charset="0"/>
                <a:ea typeface="Meiryo" pitchFamily="34" charset="-122"/>
                <a:cs typeface="Meiryo" pitchFamily="34" charset="-120"/>
              </a:rPr>
              <a:t>白樺の内装ディスプレイ</a:t>
            </a:r>
            <a:endParaRPr lang="en-US" sz="1600" dirty="0"/>
          </a:p>
        </p:txBody>
      </p:sp>
      <p:sp>
        <p:nvSpPr>
          <p:cNvPr id="6" name="Text 4"/>
          <p:cNvSpPr/>
          <p:nvPr/>
        </p:nvSpPr>
        <p:spPr>
          <a:xfrm>
            <a:off x="960120" y="2606040"/>
            <a:ext cx="2788920" cy="548640"/>
          </a:xfrm>
          <a:prstGeom prst="rect">
            <a:avLst/>
          </a:prstGeom>
          <a:noFill/>
          <a:ln/>
        </p:spPr>
        <p:txBody>
          <a:bodyPr wrap="square" lIns="0" tIns="0" rIns="0" bIns="0" rtlCol="0" anchor="ctr"/>
          <a:lstStyle/>
          <a:p>
            <a:pPr indent="0" marL="0">
              <a:lnSpc>
                <a:spcPts val="1800"/>
              </a:lnSpc>
              <a:buNone/>
            </a:pPr>
            <a:r>
              <a:rPr lang="en-US" sz="1150" b="1" dirty="0">
                <a:solidFill>
                  <a:srgbClr val="C4707F"/>
                </a:solidFill>
                <a:latin typeface="Meiryo" pitchFamily="34" charset="0"/>
                <a:ea typeface="Meiryo" pitchFamily="34" charset="-122"/>
                <a:cs typeface="Meiryo" pitchFamily="34" charset="-120"/>
              </a:rPr>
              <a:t>ウッドデザイン賞（2020年度）受賞</a:t>
            </a:r>
            <a:endParaRPr lang="en-US" sz="1150" dirty="0"/>
          </a:p>
        </p:txBody>
      </p:sp>
      <p:sp>
        <p:nvSpPr>
          <p:cNvPr id="7" name="Text 5"/>
          <p:cNvSpPr/>
          <p:nvPr/>
        </p:nvSpPr>
        <p:spPr>
          <a:xfrm>
            <a:off x="960120" y="3246120"/>
            <a:ext cx="2788920" cy="1874520"/>
          </a:xfrm>
          <a:prstGeom prst="rect">
            <a:avLst/>
          </a:prstGeom>
          <a:noFill/>
          <a:ln/>
        </p:spPr>
        <p:txBody>
          <a:bodyPr wrap="square" lIns="0" tIns="0" rIns="0" bIns="0" rtlCol="0" anchor="ctr"/>
          <a:lstStyle/>
          <a:p>
            <a:pPr indent="0" marL="0">
              <a:lnSpc>
                <a:spcPts val="1900"/>
              </a:lnSpc>
              <a:buNone/>
            </a:pPr>
            <a:r>
              <a:rPr lang="en-US" sz="1150" dirty="0">
                <a:solidFill>
                  <a:srgbClr val="2E332C"/>
                </a:solidFill>
                <a:latin typeface="Meiryo" pitchFamily="34" charset="0"/>
                <a:ea typeface="Meiryo" pitchFamily="34" charset="-122"/>
                <a:cs typeface="Meiryo" pitchFamily="34" charset="-120"/>
              </a:rPr>
              <a:t>「白樺の森」をコンセプトに、長尺・枝付きの白樺丸太を調達。皮の剥がれやカビのリスクは事前にご説明と対策を協議。従来パルプ等の低付加価値で扱われる白樺に新しい用途をつくりました。</a:t>
            </a:r>
            <a:endParaRPr lang="en-US" sz="1150" dirty="0"/>
          </a:p>
        </p:txBody>
      </p:sp>
      <p:sp>
        <p:nvSpPr>
          <p:cNvPr id="8" name="Shape 6"/>
          <p:cNvSpPr/>
          <p:nvPr/>
        </p:nvSpPr>
        <p:spPr>
          <a:xfrm>
            <a:off x="4343400" y="1645920"/>
            <a:ext cx="3429000" cy="3474720"/>
          </a:xfrm>
          <a:prstGeom prst="roundRect">
            <a:avLst>
              <a:gd name="adj" fmla="val 2133"/>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9" name="Text 7"/>
          <p:cNvSpPr/>
          <p:nvPr/>
        </p:nvSpPr>
        <p:spPr>
          <a:xfrm>
            <a:off x="4663440" y="1901952"/>
            <a:ext cx="2788920" cy="640080"/>
          </a:xfrm>
          <a:prstGeom prst="rect">
            <a:avLst/>
          </a:prstGeom>
          <a:noFill/>
          <a:ln/>
        </p:spPr>
        <p:txBody>
          <a:bodyPr wrap="square" lIns="0" tIns="0" rIns="0" bIns="0" rtlCol="0" anchor="ctr"/>
          <a:lstStyle/>
          <a:p>
            <a:pPr indent="0" marL="0">
              <a:lnSpc>
                <a:spcPts val="2400"/>
              </a:lnSpc>
              <a:buNone/>
            </a:pPr>
            <a:r>
              <a:rPr lang="en-US" sz="1600" b="1" dirty="0">
                <a:solidFill>
                  <a:srgbClr val="2C5F2D"/>
                </a:solidFill>
                <a:latin typeface="Meiryo" pitchFamily="34" charset="0"/>
                <a:ea typeface="Meiryo" pitchFamily="34" charset="-122"/>
                <a:cs typeface="Meiryo" pitchFamily="34" charset="-120"/>
              </a:rPr>
              <a:t>TXアベニュー八潮</a:t>
            </a:r>
            <a:endParaRPr lang="en-US" sz="1600" dirty="0"/>
          </a:p>
        </p:txBody>
      </p:sp>
      <p:sp>
        <p:nvSpPr>
          <p:cNvPr id="10" name="Text 8"/>
          <p:cNvSpPr/>
          <p:nvPr/>
        </p:nvSpPr>
        <p:spPr>
          <a:xfrm>
            <a:off x="4663440" y="2606040"/>
            <a:ext cx="2788920" cy="548640"/>
          </a:xfrm>
          <a:prstGeom prst="rect">
            <a:avLst/>
          </a:prstGeom>
          <a:noFill/>
          <a:ln/>
        </p:spPr>
        <p:txBody>
          <a:bodyPr wrap="square" lIns="0" tIns="0" rIns="0" bIns="0" rtlCol="0" anchor="ctr"/>
          <a:lstStyle/>
          <a:p>
            <a:pPr indent="0" marL="0">
              <a:lnSpc>
                <a:spcPts val="1800"/>
              </a:lnSpc>
              <a:buNone/>
            </a:pPr>
            <a:r>
              <a:rPr lang="en-US" sz="1150" b="1" dirty="0">
                <a:solidFill>
                  <a:srgbClr val="C4707F"/>
                </a:solidFill>
                <a:latin typeface="Meiryo" pitchFamily="34" charset="0"/>
                <a:ea typeface="Meiryo" pitchFamily="34" charset="-122"/>
                <a:cs typeface="Meiryo" pitchFamily="34" charset="-120"/>
              </a:rPr>
              <a:t>森林ツアー＋家具・内装材の一括対応</a:t>
            </a:r>
            <a:endParaRPr lang="en-US" sz="1150" dirty="0"/>
          </a:p>
        </p:txBody>
      </p:sp>
      <p:sp>
        <p:nvSpPr>
          <p:cNvPr id="11" name="Text 9"/>
          <p:cNvSpPr/>
          <p:nvPr/>
        </p:nvSpPr>
        <p:spPr>
          <a:xfrm>
            <a:off x="4663440" y="3246120"/>
            <a:ext cx="2788920" cy="1874520"/>
          </a:xfrm>
          <a:prstGeom prst="rect">
            <a:avLst/>
          </a:prstGeom>
          <a:noFill/>
          <a:ln/>
        </p:spPr>
        <p:txBody>
          <a:bodyPr wrap="square" lIns="0" tIns="0" rIns="0" bIns="0" rtlCol="0" anchor="ctr"/>
          <a:lstStyle/>
          <a:p>
            <a:pPr indent="0" marL="0">
              <a:lnSpc>
                <a:spcPts val="1900"/>
              </a:lnSpc>
              <a:buNone/>
            </a:pPr>
            <a:r>
              <a:rPr lang="en-US" sz="1150" dirty="0">
                <a:solidFill>
                  <a:srgbClr val="2E332C"/>
                </a:solidFill>
                <a:latin typeface="Meiryo" pitchFamily="34" charset="0"/>
                <a:ea typeface="Meiryo" pitchFamily="34" charset="-122"/>
                <a:cs typeface="Meiryo" pitchFamily="34" charset="-120"/>
              </a:rPr>
              <a:t>丸太の手配から加工・納品、CO2排出を抑える流通ルートのコーディネート、PRポイントのアドバイス、森林ツアーの企画までを担当しました。</a:t>
            </a:r>
            <a:endParaRPr lang="en-US" sz="1150" dirty="0"/>
          </a:p>
        </p:txBody>
      </p:sp>
      <p:sp>
        <p:nvSpPr>
          <p:cNvPr id="12" name="Shape 10"/>
          <p:cNvSpPr/>
          <p:nvPr/>
        </p:nvSpPr>
        <p:spPr>
          <a:xfrm>
            <a:off x="8046720" y="1645920"/>
            <a:ext cx="3429000" cy="3474720"/>
          </a:xfrm>
          <a:prstGeom prst="roundRect">
            <a:avLst>
              <a:gd name="adj" fmla="val 2133"/>
            </a:avLst>
          </a:prstGeom>
          <a:solidFill>
            <a:srgbClr val="F0F4EC"/>
          </a:solidFill>
          <a:ln w="12700">
            <a:solidFill>
              <a:srgbClr val="F0F4EC"/>
            </a:solidFill>
            <a:prstDash val="solid"/>
          </a:ln>
          <a:effectLst>
            <a:outerShdw sx="100000" sy="100000" kx="0" ky="0" algn="bl" rotWithShape="0" blurRad="127000" dist="25400" dir="5400000">
              <a:srgbClr val="1E3524">
                <a:alpha val="10000"/>
              </a:srgbClr>
            </a:outerShdw>
          </a:effectLst>
        </p:spPr>
      </p:sp>
      <p:sp>
        <p:nvSpPr>
          <p:cNvPr id="13" name="Text 11"/>
          <p:cNvSpPr/>
          <p:nvPr/>
        </p:nvSpPr>
        <p:spPr>
          <a:xfrm>
            <a:off x="8366760" y="1901952"/>
            <a:ext cx="2788920" cy="640080"/>
          </a:xfrm>
          <a:prstGeom prst="rect">
            <a:avLst/>
          </a:prstGeom>
          <a:noFill/>
          <a:ln/>
        </p:spPr>
        <p:txBody>
          <a:bodyPr wrap="square" lIns="0" tIns="0" rIns="0" bIns="0" rtlCol="0" anchor="ctr"/>
          <a:lstStyle/>
          <a:p>
            <a:pPr indent="0" marL="0">
              <a:lnSpc>
                <a:spcPts val="2400"/>
              </a:lnSpc>
              <a:buNone/>
            </a:pPr>
            <a:r>
              <a:rPr lang="en-US" sz="1600" b="1" dirty="0">
                <a:solidFill>
                  <a:srgbClr val="2C5F2D"/>
                </a:solidFill>
                <a:latin typeface="Meiryo" pitchFamily="34" charset="0"/>
                <a:ea typeface="Meiryo" pitchFamily="34" charset="-122"/>
                <a:cs typeface="Meiryo" pitchFamily="34" charset="-120"/>
              </a:rPr>
              <a:t>恵比寿エリアの店舗</a:t>
            </a:r>
            <a:endParaRPr lang="en-US" sz="1600" dirty="0"/>
          </a:p>
        </p:txBody>
      </p:sp>
      <p:sp>
        <p:nvSpPr>
          <p:cNvPr id="14" name="Text 12"/>
          <p:cNvSpPr/>
          <p:nvPr/>
        </p:nvSpPr>
        <p:spPr>
          <a:xfrm>
            <a:off x="8366760" y="2606040"/>
            <a:ext cx="2788920" cy="548640"/>
          </a:xfrm>
          <a:prstGeom prst="rect">
            <a:avLst/>
          </a:prstGeom>
          <a:noFill/>
          <a:ln/>
        </p:spPr>
        <p:txBody>
          <a:bodyPr wrap="square" lIns="0" tIns="0" rIns="0" bIns="0" rtlCol="0" anchor="ctr"/>
          <a:lstStyle/>
          <a:p>
            <a:pPr indent="0" marL="0">
              <a:lnSpc>
                <a:spcPts val="1800"/>
              </a:lnSpc>
              <a:buNone/>
            </a:pPr>
            <a:r>
              <a:rPr lang="en-US" sz="1150" b="1" dirty="0">
                <a:solidFill>
                  <a:srgbClr val="C4707F"/>
                </a:solidFill>
                <a:latin typeface="Meiryo" pitchFamily="34" charset="0"/>
                <a:ea typeface="Meiryo" pitchFamily="34" charset="-122"/>
                <a:cs typeface="Meiryo" pitchFamily="34" charset="-120"/>
              </a:rPr>
              <a:t>一枚板カウンター天板・飾り棚</a:t>
            </a:r>
            <a:endParaRPr lang="en-US" sz="1150" dirty="0"/>
          </a:p>
        </p:txBody>
      </p:sp>
      <p:sp>
        <p:nvSpPr>
          <p:cNvPr id="15" name="Text 13"/>
          <p:cNvSpPr/>
          <p:nvPr/>
        </p:nvSpPr>
        <p:spPr>
          <a:xfrm>
            <a:off x="8366760" y="3246120"/>
            <a:ext cx="2788920" cy="1874520"/>
          </a:xfrm>
          <a:prstGeom prst="rect">
            <a:avLst/>
          </a:prstGeom>
          <a:noFill/>
          <a:ln/>
        </p:spPr>
        <p:txBody>
          <a:bodyPr wrap="square" lIns="0" tIns="0" rIns="0" bIns="0" rtlCol="0" anchor="ctr"/>
          <a:lstStyle/>
          <a:p>
            <a:pPr indent="0" marL="0">
              <a:lnSpc>
                <a:spcPts val="1900"/>
              </a:lnSpc>
              <a:buNone/>
            </a:pPr>
            <a:r>
              <a:rPr lang="en-US" sz="1150" dirty="0">
                <a:solidFill>
                  <a:srgbClr val="2E332C"/>
                </a:solidFill>
                <a:latin typeface="Meiryo" pitchFamily="34" charset="0"/>
                <a:ea typeface="Meiryo" pitchFamily="34" charset="-122"/>
                <a:cs typeface="Meiryo" pitchFamily="34" charset="-120"/>
              </a:rPr>
              <a:t>恵比寿の飲食店舗にて、一枚板のカウンター天板と飾り棚を納入。厚み・ハギの有無など複数パターンで見積を並べ、ご予算と意匠の両立を図りました。</a:t>
            </a:r>
            <a:endParaRPr lang="en-US" sz="1150" dirty="0"/>
          </a:p>
        </p:txBody>
      </p:sp>
      <p:sp>
        <p:nvSpPr>
          <p:cNvPr id="16" name="Text 14"/>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17" name="Text 15"/>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2C5F2D"/>
                </a:solidFill>
                <a:latin typeface="Meiryo" pitchFamily="34" charset="0"/>
                <a:ea typeface="Meiryo" pitchFamily="34" charset="-122"/>
                <a:cs typeface="Meiryo" pitchFamily="34" charset="-120"/>
              </a:rPr>
              <a:t>NEXT STEPS</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進め方：小さく始めて、横に広げる</a:t>
            </a:r>
            <a:endParaRPr lang="en-US" sz="2800" dirty="0"/>
          </a:p>
        </p:txBody>
      </p:sp>
      <p:sp>
        <p:nvSpPr>
          <p:cNvPr id="4" name="Shape 2"/>
          <p:cNvSpPr/>
          <p:nvPr/>
        </p:nvSpPr>
        <p:spPr>
          <a:xfrm>
            <a:off x="640080" y="1737360"/>
            <a:ext cx="3429000" cy="3017520"/>
          </a:xfrm>
          <a:prstGeom prst="roundRect">
            <a:avLst>
              <a:gd name="adj" fmla="val 2424"/>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5" name="Shape 3"/>
          <p:cNvSpPr/>
          <p:nvPr/>
        </p:nvSpPr>
        <p:spPr>
          <a:xfrm>
            <a:off x="960120" y="2011680"/>
            <a:ext cx="1188720" cy="329184"/>
          </a:xfrm>
          <a:prstGeom prst="roundRect">
            <a:avLst>
              <a:gd name="adj" fmla="val 22222"/>
            </a:avLst>
          </a:prstGeom>
          <a:solidFill>
            <a:srgbClr val="97BC62"/>
          </a:solidFill>
          <a:ln w="12700">
            <a:solidFill>
              <a:srgbClr val="333333"/>
            </a:solidFill>
            <a:prstDash val="solid"/>
          </a:ln>
        </p:spPr>
      </p:sp>
      <p:sp>
        <p:nvSpPr>
          <p:cNvPr id="6" name="Text 4"/>
          <p:cNvSpPr/>
          <p:nvPr/>
        </p:nvSpPr>
        <p:spPr>
          <a:xfrm>
            <a:off x="960120" y="2011680"/>
            <a:ext cx="11887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STEP 1</a:t>
            </a:r>
            <a:endParaRPr lang="en-US" sz="1100" dirty="0"/>
          </a:p>
        </p:txBody>
      </p:sp>
      <p:sp>
        <p:nvSpPr>
          <p:cNvPr id="7" name="Text 5"/>
          <p:cNvSpPr/>
          <p:nvPr/>
        </p:nvSpPr>
        <p:spPr>
          <a:xfrm>
            <a:off x="960120" y="2514600"/>
            <a:ext cx="2788920" cy="603504"/>
          </a:xfrm>
          <a:prstGeom prst="rect">
            <a:avLst/>
          </a:prstGeom>
          <a:noFill/>
          <a:ln/>
        </p:spPr>
        <p:txBody>
          <a:bodyPr wrap="square" lIns="0" tIns="0" rIns="0" bIns="0" rtlCol="0" anchor="ctr"/>
          <a:lstStyle/>
          <a:p>
            <a:pPr indent="0" marL="0">
              <a:lnSpc>
                <a:spcPts val="2300"/>
              </a:lnSpc>
              <a:buNone/>
            </a:pPr>
            <a:r>
              <a:rPr lang="en-US" sz="1600" b="1" dirty="0">
                <a:solidFill>
                  <a:srgbClr val="2E332C"/>
                </a:solidFill>
                <a:latin typeface="Meiryo" pitchFamily="34" charset="0"/>
                <a:ea typeface="Meiryo" pitchFamily="34" charset="-122"/>
                <a:cs typeface="Meiryo" pitchFamily="34" charset="-120"/>
              </a:rPr>
              <a:t>現状の棚卸し（1〜2ヶ月）</a:t>
            </a:r>
            <a:endParaRPr lang="en-US" sz="1600" dirty="0"/>
          </a:p>
        </p:txBody>
      </p:sp>
      <p:sp>
        <p:nvSpPr>
          <p:cNvPr id="8" name="Text 6"/>
          <p:cNvSpPr/>
          <p:nvPr/>
        </p:nvSpPr>
        <p:spPr>
          <a:xfrm>
            <a:off x="960120" y="3200400"/>
            <a:ext cx="2788920" cy="1371600"/>
          </a:xfrm>
          <a:prstGeom prst="rect">
            <a:avLst/>
          </a:prstGeom>
          <a:noFill/>
          <a:ln/>
        </p:spPr>
        <p:txBody>
          <a:bodyPr wrap="square" lIns="0" tIns="0" rIns="0" bIns="0" rtlCol="0" anchor="ctr"/>
          <a:lstStyle/>
          <a:p>
            <a:pPr indent="0" marL="0">
              <a:lnSpc>
                <a:spcPts val="1900"/>
              </a:lnSpc>
              <a:buNone/>
            </a:pPr>
            <a:r>
              <a:rPr lang="en-US" sz="1150" dirty="0">
                <a:solidFill>
                  <a:srgbClr val="6E7266"/>
                </a:solidFill>
                <a:latin typeface="Meiryo" pitchFamily="34" charset="0"/>
                <a:ea typeface="Meiryo" pitchFamily="34" charset="-122"/>
                <a:cs typeface="Meiryo" pitchFamily="34" charset="-120"/>
              </a:rPr>
              <a:t>今後の伐採・剪定・改修の予定を共有いただき、活用可能性のある樹木を洗い出します。現地確認は無償で対応します。</a:t>
            </a:r>
            <a:endParaRPr lang="en-US" sz="1150" dirty="0"/>
          </a:p>
        </p:txBody>
      </p:sp>
      <p:sp>
        <p:nvSpPr>
          <p:cNvPr id="9" name="Text 7"/>
          <p:cNvSpPr/>
          <p:nvPr/>
        </p:nvSpPr>
        <p:spPr>
          <a:xfrm>
            <a:off x="4105656" y="3063240"/>
            <a:ext cx="237744" cy="292608"/>
          </a:xfrm>
          <a:prstGeom prst="rect">
            <a:avLst/>
          </a:prstGeom>
          <a:noFill/>
          <a:ln/>
        </p:spPr>
        <p:txBody>
          <a:bodyPr wrap="square" lIns="0" tIns="0" rIns="0" bIns="0" rtlCol="0" anchor="ctr"/>
          <a:lstStyle/>
          <a:p>
            <a:pPr algn="ctr" indent="0" marL="0">
              <a:buNone/>
            </a:pPr>
            <a:r>
              <a:rPr lang="en-US" sz="1100" dirty="0">
                <a:solidFill>
                  <a:srgbClr val="97BC62"/>
                </a:solidFill>
                <a:latin typeface="Meiryo" pitchFamily="34" charset="0"/>
                <a:ea typeface="Meiryo" pitchFamily="34" charset="-122"/>
                <a:cs typeface="Meiryo" pitchFamily="34" charset="-120"/>
              </a:rPr>
              <a:t>▶</a:t>
            </a:r>
            <a:endParaRPr lang="en-US" sz="1100" dirty="0"/>
          </a:p>
        </p:txBody>
      </p:sp>
      <p:sp>
        <p:nvSpPr>
          <p:cNvPr id="10" name="Shape 8"/>
          <p:cNvSpPr/>
          <p:nvPr/>
        </p:nvSpPr>
        <p:spPr>
          <a:xfrm>
            <a:off x="4343400" y="1737360"/>
            <a:ext cx="3429000" cy="3017520"/>
          </a:xfrm>
          <a:prstGeom prst="roundRect">
            <a:avLst>
              <a:gd name="adj" fmla="val 2424"/>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11" name="Shape 9"/>
          <p:cNvSpPr/>
          <p:nvPr/>
        </p:nvSpPr>
        <p:spPr>
          <a:xfrm>
            <a:off x="4663440" y="2011680"/>
            <a:ext cx="1188720" cy="329184"/>
          </a:xfrm>
          <a:prstGeom prst="roundRect">
            <a:avLst>
              <a:gd name="adj" fmla="val 22222"/>
            </a:avLst>
          </a:prstGeom>
          <a:solidFill>
            <a:srgbClr val="C4707F"/>
          </a:solidFill>
          <a:ln w="12700">
            <a:solidFill>
              <a:srgbClr val="333333"/>
            </a:solidFill>
            <a:prstDash val="solid"/>
          </a:ln>
        </p:spPr>
      </p:sp>
      <p:sp>
        <p:nvSpPr>
          <p:cNvPr id="12" name="Text 10"/>
          <p:cNvSpPr/>
          <p:nvPr/>
        </p:nvSpPr>
        <p:spPr>
          <a:xfrm>
            <a:off x="4663440" y="2011680"/>
            <a:ext cx="11887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STEP 2</a:t>
            </a:r>
            <a:endParaRPr lang="en-US" sz="1100" dirty="0"/>
          </a:p>
        </p:txBody>
      </p:sp>
      <p:sp>
        <p:nvSpPr>
          <p:cNvPr id="13" name="Text 11"/>
          <p:cNvSpPr/>
          <p:nvPr/>
        </p:nvSpPr>
        <p:spPr>
          <a:xfrm>
            <a:off x="4663440" y="2514600"/>
            <a:ext cx="2788920" cy="603504"/>
          </a:xfrm>
          <a:prstGeom prst="rect">
            <a:avLst/>
          </a:prstGeom>
          <a:noFill/>
          <a:ln/>
        </p:spPr>
        <p:txBody>
          <a:bodyPr wrap="square" lIns="0" tIns="0" rIns="0" bIns="0" rtlCol="0" anchor="ctr"/>
          <a:lstStyle/>
          <a:p>
            <a:pPr indent="0" marL="0">
              <a:lnSpc>
                <a:spcPts val="2300"/>
              </a:lnSpc>
              <a:buNone/>
            </a:pPr>
            <a:r>
              <a:rPr lang="en-US" sz="1600" b="1" dirty="0">
                <a:solidFill>
                  <a:srgbClr val="2E332C"/>
                </a:solidFill>
                <a:latin typeface="Meiryo" pitchFamily="34" charset="0"/>
                <a:ea typeface="Meiryo" pitchFamily="34" charset="-122"/>
                <a:cs typeface="Meiryo" pitchFamily="34" charset="-120"/>
              </a:rPr>
              <a:t>パイロット実施（3〜6ヶ月）</a:t>
            </a:r>
            <a:endParaRPr lang="en-US" sz="1600" dirty="0"/>
          </a:p>
        </p:txBody>
      </p:sp>
      <p:sp>
        <p:nvSpPr>
          <p:cNvPr id="14" name="Text 12"/>
          <p:cNvSpPr/>
          <p:nvPr/>
        </p:nvSpPr>
        <p:spPr>
          <a:xfrm>
            <a:off x="4663440" y="3200400"/>
            <a:ext cx="2788920" cy="1371600"/>
          </a:xfrm>
          <a:prstGeom prst="rect">
            <a:avLst/>
          </a:prstGeom>
          <a:noFill/>
          <a:ln/>
        </p:spPr>
        <p:txBody>
          <a:bodyPr wrap="square" lIns="0" tIns="0" rIns="0" bIns="0" rtlCol="0" anchor="ctr"/>
          <a:lstStyle/>
          <a:p>
            <a:pPr indent="0" marL="0">
              <a:lnSpc>
                <a:spcPts val="1900"/>
              </a:lnSpc>
              <a:buNone/>
            </a:pPr>
            <a:r>
              <a:rPr lang="en-US" sz="1150" dirty="0">
                <a:solidFill>
                  <a:srgbClr val="6E7266"/>
                </a:solidFill>
                <a:latin typeface="Meiryo" pitchFamily="34" charset="0"/>
                <a:ea typeface="Meiryo" pitchFamily="34" charset="-122"/>
                <a:cs typeface="Meiryo" pitchFamily="34" charset="-120"/>
              </a:rPr>
              <a:t>対象を一本・一箇所に絞り、内装材／家具／ノベルティのいずれかで実装。社内・対外に見せられる実例をつくります。</a:t>
            </a:r>
            <a:endParaRPr lang="en-US" sz="1150" dirty="0"/>
          </a:p>
        </p:txBody>
      </p:sp>
      <p:sp>
        <p:nvSpPr>
          <p:cNvPr id="15" name="Text 13"/>
          <p:cNvSpPr/>
          <p:nvPr/>
        </p:nvSpPr>
        <p:spPr>
          <a:xfrm>
            <a:off x="7808976" y="3063240"/>
            <a:ext cx="237744" cy="292608"/>
          </a:xfrm>
          <a:prstGeom prst="rect">
            <a:avLst/>
          </a:prstGeom>
          <a:noFill/>
          <a:ln/>
        </p:spPr>
        <p:txBody>
          <a:bodyPr wrap="square" lIns="0" tIns="0" rIns="0" bIns="0" rtlCol="0" anchor="ctr"/>
          <a:lstStyle/>
          <a:p>
            <a:pPr algn="ctr" indent="0" marL="0">
              <a:buNone/>
            </a:pPr>
            <a:r>
              <a:rPr lang="en-US" sz="1100" dirty="0">
                <a:solidFill>
                  <a:srgbClr val="97BC62"/>
                </a:solidFill>
                <a:latin typeface="Meiryo" pitchFamily="34" charset="0"/>
                <a:ea typeface="Meiryo" pitchFamily="34" charset="-122"/>
                <a:cs typeface="Meiryo" pitchFamily="34" charset="-120"/>
              </a:rPr>
              <a:t>▶</a:t>
            </a:r>
            <a:endParaRPr lang="en-US" sz="1100" dirty="0"/>
          </a:p>
        </p:txBody>
      </p:sp>
      <p:sp>
        <p:nvSpPr>
          <p:cNvPr id="16" name="Shape 14"/>
          <p:cNvSpPr/>
          <p:nvPr/>
        </p:nvSpPr>
        <p:spPr>
          <a:xfrm>
            <a:off x="8046720" y="1737360"/>
            <a:ext cx="3429000" cy="3017520"/>
          </a:xfrm>
          <a:prstGeom prst="roundRect">
            <a:avLst>
              <a:gd name="adj" fmla="val 2424"/>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17" name="Shape 15"/>
          <p:cNvSpPr/>
          <p:nvPr/>
        </p:nvSpPr>
        <p:spPr>
          <a:xfrm>
            <a:off x="8366760" y="2011680"/>
            <a:ext cx="1188720" cy="329184"/>
          </a:xfrm>
          <a:prstGeom prst="roundRect">
            <a:avLst>
              <a:gd name="adj" fmla="val 22222"/>
            </a:avLst>
          </a:prstGeom>
          <a:solidFill>
            <a:srgbClr val="2C5F2D"/>
          </a:solidFill>
          <a:ln w="12700">
            <a:solidFill>
              <a:srgbClr val="333333"/>
            </a:solidFill>
            <a:prstDash val="solid"/>
          </a:ln>
        </p:spPr>
      </p:sp>
      <p:sp>
        <p:nvSpPr>
          <p:cNvPr id="18" name="Text 16"/>
          <p:cNvSpPr/>
          <p:nvPr/>
        </p:nvSpPr>
        <p:spPr>
          <a:xfrm>
            <a:off x="8366760" y="2011680"/>
            <a:ext cx="11887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STEP 3</a:t>
            </a:r>
            <a:endParaRPr lang="en-US" sz="1100" dirty="0"/>
          </a:p>
        </p:txBody>
      </p:sp>
      <p:sp>
        <p:nvSpPr>
          <p:cNvPr id="19" name="Text 17"/>
          <p:cNvSpPr/>
          <p:nvPr/>
        </p:nvSpPr>
        <p:spPr>
          <a:xfrm>
            <a:off x="8366760" y="2514600"/>
            <a:ext cx="2788920" cy="603504"/>
          </a:xfrm>
          <a:prstGeom prst="rect">
            <a:avLst/>
          </a:prstGeom>
          <a:noFill/>
          <a:ln/>
        </p:spPr>
        <p:txBody>
          <a:bodyPr wrap="square" lIns="0" tIns="0" rIns="0" bIns="0" rtlCol="0" anchor="ctr"/>
          <a:lstStyle/>
          <a:p>
            <a:pPr indent="0" marL="0">
              <a:lnSpc>
                <a:spcPts val="2300"/>
              </a:lnSpc>
              <a:buNone/>
            </a:pPr>
            <a:r>
              <a:rPr lang="en-US" sz="1600" b="1" dirty="0">
                <a:solidFill>
                  <a:srgbClr val="2E332C"/>
                </a:solidFill>
                <a:latin typeface="Meiryo" pitchFamily="34" charset="0"/>
                <a:ea typeface="Meiryo" pitchFamily="34" charset="-122"/>
                <a:cs typeface="Meiryo" pitchFamily="34" charset="-120"/>
              </a:rPr>
              <a:t>仕組みとして横展開</a:t>
            </a:r>
            <a:endParaRPr lang="en-US" sz="1600" dirty="0"/>
          </a:p>
        </p:txBody>
      </p:sp>
      <p:sp>
        <p:nvSpPr>
          <p:cNvPr id="20" name="Text 18"/>
          <p:cNvSpPr/>
          <p:nvPr/>
        </p:nvSpPr>
        <p:spPr>
          <a:xfrm>
            <a:off x="8366760" y="3200400"/>
            <a:ext cx="2788920" cy="1371600"/>
          </a:xfrm>
          <a:prstGeom prst="rect">
            <a:avLst/>
          </a:prstGeom>
          <a:noFill/>
          <a:ln/>
        </p:spPr>
        <p:txBody>
          <a:bodyPr wrap="square" lIns="0" tIns="0" rIns="0" bIns="0" rtlCol="0" anchor="ctr"/>
          <a:lstStyle/>
          <a:p>
            <a:pPr indent="0" marL="0">
              <a:lnSpc>
                <a:spcPts val="1900"/>
              </a:lnSpc>
              <a:buNone/>
            </a:pPr>
            <a:r>
              <a:rPr lang="en-US" sz="1150" dirty="0">
                <a:solidFill>
                  <a:srgbClr val="6E7266"/>
                </a:solidFill>
                <a:latin typeface="Meiryo" pitchFamily="34" charset="0"/>
                <a:ea typeface="Meiryo" pitchFamily="34" charset="-122"/>
                <a:cs typeface="Meiryo" pitchFamily="34" charset="-120"/>
              </a:rPr>
              <a:t>保有物件や新規開発、札幌・銀座エリアへ。発生する樹木を継続的に受け止める運用に育てます。</a:t>
            </a:r>
            <a:endParaRPr lang="en-US" sz="1150" dirty="0"/>
          </a:p>
        </p:txBody>
      </p:sp>
      <p:sp>
        <p:nvSpPr>
          <p:cNvPr id="21" name="Shape 19"/>
          <p:cNvSpPr/>
          <p:nvPr/>
        </p:nvSpPr>
        <p:spPr>
          <a:xfrm>
            <a:off x="640080" y="4983480"/>
            <a:ext cx="10881360" cy="1005840"/>
          </a:xfrm>
          <a:prstGeom prst="roundRect">
            <a:avLst>
              <a:gd name="adj" fmla="val 7273"/>
            </a:avLst>
          </a:prstGeom>
          <a:solidFill>
            <a:srgbClr val="F0F4EC"/>
          </a:solidFill>
          <a:ln w="12700">
            <a:solidFill>
              <a:srgbClr val="F0F4EC"/>
            </a:solidFill>
            <a:prstDash val="solid"/>
          </a:ln>
          <a:effectLst>
            <a:outerShdw sx="100000" sy="100000" kx="0" ky="0" algn="bl" rotWithShape="0" blurRad="127000" dist="25400" dir="5400000">
              <a:srgbClr val="1E3524">
                <a:alpha val="10000"/>
              </a:srgbClr>
            </a:outerShdw>
          </a:effectLst>
        </p:spPr>
      </p:sp>
      <p:sp>
        <p:nvSpPr>
          <p:cNvPr id="22" name="Text 20"/>
          <p:cNvSpPr/>
          <p:nvPr/>
        </p:nvSpPr>
        <p:spPr>
          <a:xfrm>
            <a:off x="960120" y="5138928"/>
            <a:ext cx="10241280" cy="685800"/>
          </a:xfrm>
          <a:prstGeom prst="rect">
            <a:avLst/>
          </a:prstGeom>
          <a:noFill/>
          <a:ln/>
        </p:spPr>
        <p:txBody>
          <a:bodyPr wrap="square" lIns="0" tIns="0" rIns="0" bIns="0" rtlCol="0" anchor="ctr"/>
          <a:lstStyle/>
          <a:p>
            <a:pPr indent="0" marL="0">
              <a:buNone/>
            </a:pPr>
            <a:r>
              <a:rPr lang="en-US" sz="1300" b="1" dirty="0">
                <a:solidFill>
                  <a:srgbClr val="2C5F2D"/>
                </a:solidFill>
                <a:latin typeface="Meiryo" pitchFamily="34" charset="0"/>
                <a:ea typeface="Meiryo" pitchFamily="34" charset="-122"/>
                <a:cs typeface="Meiryo" pitchFamily="34" charset="-120"/>
              </a:rPr>
              <a:t>まずはSTEP 1の情報共有からで構いません。ご予定が分かった段階でお声がけいただければ、その時点でできる選択肢をお持ちします。</a:t>
            </a:r>
            <a:endParaRPr lang="en-US" sz="1300" dirty="0"/>
          </a:p>
        </p:txBody>
      </p:sp>
      <p:sp>
        <p:nvSpPr>
          <p:cNvPr id="23" name="Text 21"/>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24" name="Text 22"/>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150" kern="0" dirty="0">
                <a:solidFill>
                  <a:srgbClr val="2C5F2D"/>
                </a:solidFill>
                <a:latin typeface="Meiryo" pitchFamily="34" charset="0"/>
                <a:ea typeface="Meiryo" pitchFamily="34" charset="-122"/>
                <a:cs typeface="Meiryo" pitchFamily="34" charset="-120"/>
              </a:rPr>
              <a:t>ABOUT US</a:t>
            </a:r>
            <a:endParaRPr lang="en-US" sz="1200" dirty="0"/>
          </a:p>
        </p:txBody>
      </p:sp>
      <p:sp>
        <p:nvSpPr>
          <p:cNvPr id="3" name="Text 1"/>
          <p:cNvSpPr/>
          <p:nvPr/>
        </p:nvSpPr>
        <p:spPr>
          <a:xfrm>
            <a:off x="640080" y="685800"/>
            <a:ext cx="10881360" cy="731520"/>
          </a:xfrm>
          <a:prstGeom prst="rect">
            <a:avLst/>
          </a:prstGeom>
          <a:noFill/>
          <a:ln/>
        </p:spPr>
        <p:txBody>
          <a:bodyPr wrap="square" lIns="0" tIns="0" rIns="0" bIns="0" rtlCol="0" anchor="ctr"/>
          <a:lstStyle/>
          <a:p>
            <a:pPr indent="0" marL="0">
              <a:buNone/>
            </a:pPr>
            <a:r>
              <a:rPr lang="en-US" sz="2800" b="1" dirty="0">
                <a:solidFill>
                  <a:srgbClr val="2E332C"/>
                </a:solidFill>
                <a:latin typeface="Meiryo" pitchFamily="34" charset="0"/>
                <a:ea typeface="Meiryo" pitchFamily="34" charset="-122"/>
                <a:cs typeface="Meiryo" pitchFamily="34" charset="-120"/>
              </a:rPr>
              <a:t>株式会社森未来について</a:t>
            </a:r>
            <a:endParaRPr lang="en-US" sz="2800" dirty="0"/>
          </a:p>
        </p:txBody>
      </p:sp>
      <p:sp>
        <p:nvSpPr>
          <p:cNvPr id="4" name="Shape 2"/>
          <p:cNvSpPr/>
          <p:nvPr/>
        </p:nvSpPr>
        <p:spPr>
          <a:xfrm>
            <a:off x="640080" y="1645920"/>
            <a:ext cx="2514600" cy="1417320"/>
          </a:xfrm>
          <a:prstGeom prst="roundRect">
            <a:avLst>
              <a:gd name="adj" fmla="val 5161"/>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5" name="Text 3"/>
          <p:cNvSpPr/>
          <p:nvPr/>
        </p:nvSpPr>
        <p:spPr>
          <a:xfrm>
            <a:off x="822960" y="1828800"/>
            <a:ext cx="2148840" cy="548640"/>
          </a:xfrm>
          <a:prstGeom prst="rect">
            <a:avLst/>
          </a:prstGeom>
          <a:noFill/>
          <a:ln/>
        </p:spPr>
        <p:txBody>
          <a:bodyPr wrap="square" lIns="0" tIns="0" rIns="0" bIns="0" rtlCol="0" anchor="ctr"/>
          <a:lstStyle/>
          <a:p>
            <a:pPr algn="ctr" indent="0" marL="0">
              <a:buNone/>
            </a:pPr>
            <a:r>
              <a:rPr lang="en-US" sz="2400" b="1" dirty="0">
                <a:solidFill>
                  <a:srgbClr val="2C5F2D"/>
                </a:solidFill>
                <a:latin typeface="Meiryo" pitchFamily="34" charset="0"/>
                <a:ea typeface="Meiryo" pitchFamily="34" charset="-122"/>
                <a:cs typeface="Meiryo" pitchFamily="34" charset="-120"/>
              </a:rPr>
              <a:t>2016年</a:t>
            </a:r>
            <a:endParaRPr lang="en-US" sz="2400" dirty="0"/>
          </a:p>
        </p:txBody>
      </p:sp>
      <p:sp>
        <p:nvSpPr>
          <p:cNvPr id="6" name="Text 4"/>
          <p:cNvSpPr/>
          <p:nvPr/>
        </p:nvSpPr>
        <p:spPr>
          <a:xfrm>
            <a:off x="822960" y="2395728"/>
            <a:ext cx="2148840" cy="548640"/>
          </a:xfrm>
          <a:prstGeom prst="rect">
            <a:avLst/>
          </a:prstGeom>
          <a:noFill/>
          <a:ln/>
        </p:spPr>
        <p:txBody>
          <a:bodyPr wrap="square" lIns="0" tIns="0" rIns="0" bIns="0" rtlCol="0" anchor="ctr"/>
          <a:lstStyle/>
          <a:p>
            <a:pPr algn="ctr" indent="0" marL="0">
              <a:lnSpc>
                <a:spcPts val="1600"/>
              </a:lnSpc>
              <a:buNone/>
            </a:pPr>
            <a:r>
              <a:rPr lang="en-US" sz="1050" dirty="0">
                <a:solidFill>
                  <a:srgbClr val="6E7266"/>
                </a:solidFill>
                <a:latin typeface="Meiryo" pitchFamily="34" charset="0"/>
                <a:ea typeface="Meiryo" pitchFamily="34" charset="-122"/>
                <a:cs typeface="Meiryo" pitchFamily="34" charset="-120"/>
              </a:rPr>
              <a:t>設立（東京都港区芝）</a:t>
            </a:r>
            <a:endParaRPr lang="en-US" sz="1050" dirty="0"/>
          </a:p>
        </p:txBody>
      </p:sp>
      <p:sp>
        <p:nvSpPr>
          <p:cNvPr id="7" name="Shape 5"/>
          <p:cNvSpPr/>
          <p:nvPr/>
        </p:nvSpPr>
        <p:spPr>
          <a:xfrm>
            <a:off x="3383280" y="1645920"/>
            <a:ext cx="2514600" cy="1417320"/>
          </a:xfrm>
          <a:prstGeom prst="roundRect">
            <a:avLst>
              <a:gd name="adj" fmla="val 5161"/>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8" name="Text 6"/>
          <p:cNvSpPr/>
          <p:nvPr/>
        </p:nvSpPr>
        <p:spPr>
          <a:xfrm>
            <a:off x="3566160" y="1828800"/>
            <a:ext cx="2148840" cy="548640"/>
          </a:xfrm>
          <a:prstGeom prst="rect">
            <a:avLst/>
          </a:prstGeom>
          <a:noFill/>
          <a:ln/>
        </p:spPr>
        <p:txBody>
          <a:bodyPr wrap="square" lIns="0" tIns="0" rIns="0" bIns="0" rtlCol="0" anchor="ctr"/>
          <a:lstStyle/>
          <a:p>
            <a:pPr algn="ctr" indent="0" marL="0">
              <a:buNone/>
            </a:pPr>
            <a:r>
              <a:rPr lang="en-US" sz="2400" b="1" dirty="0">
                <a:solidFill>
                  <a:srgbClr val="2C5F2D"/>
                </a:solidFill>
                <a:latin typeface="Meiryo" pitchFamily="34" charset="0"/>
                <a:ea typeface="Meiryo" pitchFamily="34" charset="-122"/>
                <a:cs typeface="Meiryo" pitchFamily="34" charset="-120"/>
              </a:rPr>
              <a:t>約7,000点</a:t>
            </a:r>
            <a:endParaRPr lang="en-US" sz="2400" dirty="0"/>
          </a:p>
        </p:txBody>
      </p:sp>
      <p:sp>
        <p:nvSpPr>
          <p:cNvPr id="9" name="Text 7"/>
          <p:cNvSpPr/>
          <p:nvPr/>
        </p:nvSpPr>
        <p:spPr>
          <a:xfrm>
            <a:off x="3566160" y="2395728"/>
            <a:ext cx="2148840" cy="548640"/>
          </a:xfrm>
          <a:prstGeom prst="rect">
            <a:avLst/>
          </a:prstGeom>
          <a:noFill/>
          <a:ln/>
        </p:spPr>
        <p:txBody>
          <a:bodyPr wrap="square" lIns="0" tIns="0" rIns="0" bIns="0" rtlCol="0" anchor="ctr"/>
          <a:lstStyle/>
          <a:p>
            <a:pPr algn="ctr" indent="0" marL="0">
              <a:lnSpc>
                <a:spcPts val="1600"/>
              </a:lnSpc>
              <a:buNone/>
            </a:pPr>
            <a:r>
              <a:rPr lang="en-US" sz="1050" dirty="0">
                <a:solidFill>
                  <a:srgbClr val="6E7266"/>
                </a:solidFill>
                <a:latin typeface="Meiryo" pitchFamily="34" charset="0"/>
                <a:ea typeface="Meiryo" pitchFamily="34" charset="-122"/>
                <a:cs typeface="Meiryo" pitchFamily="34" charset="-120"/>
              </a:rPr>
              <a:t>eTREE掲載の木材情報</a:t>
            </a:r>
            <a:endParaRPr lang="en-US" sz="1050" dirty="0"/>
          </a:p>
        </p:txBody>
      </p:sp>
      <p:sp>
        <p:nvSpPr>
          <p:cNvPr id="10" name="Shape 8"/>
          <p:cNvSpPr/>
          <p:nvPr/>
        </p:nvSpPr>
        <p:spPr>
          <a:xfrm>
            <a:off x="6126480" y="1645920"/>
            <a:ext cx="2514600" cy="1417320"/>
          </a:xfrm>
          <a:prstGeom prst="roundRect">
            <a:avLst>
              <a:gd name="adj" fmla="val 5161"/>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11" name="Text 9"/>
          <p:cNvSpPr/>
          <p:nvPr/>
        </p:nvSpPr>
        <p:spPr>
          <a:xfrm>
            <a:off x="6309360" y="1828800"/>
            <a:ext cx="2148840" cy="548640"/>
          </a:xfrm>
          <a:prstGeom prst="rect">
            <a:avLst/>
          </a:prstGeom>
          <a:noFill/>
          <a:ln/>
        </p:spPr>
        <p:txBody>
          <a:bodyPr wrap="square" lIns="0" tIns="0" rIns="0" bIns="0" rtlCol="0" anchor="ctr"/>
          <a:lstStyle/>
          <a:p>
            <a:pPr algn="ctr" indent="0" marL="0">
              <a:buNone/>
            </a:pPr>
            <a:r>
              <a:rPr lang="en-US" sz="2400" b="1" dirty="0">
                <a:solidFill>
                  <a:srgbClr val="2C5F2D"/>
                </a:solidFill>
                <a:latin typeface="Meiryo" pitchFamily="34" charset="0"/>
                <a:ea typeface="Meiryo" pitchFamily="34" charset="-122"/>
                <a:cs typeface="Meiryo" pitchFamily="34" charset="-120"/>
              </a:rPr>
              <a:t>全国</a:t>
            </a:r>
            <a:endParaRPr lang="en-US" sz="2400" dirty="0"/>
          </a:p>
        </p:txBody>
      </p:sp>
      <p:sp>
        <p:nvSpPr>
          <p:cNvPr id="12" name="Text 10"/>
          <p:cNvSpPr/>
          <p:nvPr/>
        </p:nvSpPr>
        <p:spPr>
          <a:xfrm>
            <a:off x="6309360" y="2395728"/>
            <a:ext cx="2148840" cy="548640"/>
          </a:xfrm>
          <a:prstGeom prst="rect">
            <a:avLst/>
          </a:prstGeom>
          <a:noFill/>
          <a:ln/>
        </p:spPr>
        <p:txBody>
          <a:bodyPr wrap="square" lIns="0" tIns="0" rIns="0" bIns="0" rtlCol="0" anchor="ctr"/>
          <a:lstStyle/>
          <a:p>
            <a:pPr algn="ctr" indent="0" marL="0">
              <a:lnSpc>
                <a:spcPts val="1600"/>
              </a:lnSpc>
              <a:buNone/>
            </a:pPr>
            <a:r>
              <a:rPr lang="en-US" sz="1050" dirty="0">
                <a:solidFill>
                  <a:srgbClr val="6E7266"/>
                </a:solidFill>
                <a:latin typeface="Meiryo" pitchFamily="34" charset="0"/>
                <a:ea typeface="Meiryo" pitchFamily="34" charset="-122"/>
                <a:cs typeface="Meiryo" pitchFamily="34" charset="-120"/>
              </a:rPr>
              <a:t>林業家・製材所・材木屋との連携</a:t>
            </a:r>
            <a:endParaRPr lang="en-US" sz="1050" dirty="0"/>
          </a:p>
        </p:txBody>
      </p:sp>
      <p:sp>
        <p:nvSpPr>
          <p:cNvPr id="13" name="Shape 11"/>
          <p:cNvSpPr/>
          <p:nvPr/>
        </p:nvSpPr>
        <p:spPr>
          <a:xfrm>
            <a:off x="8869680" y="1645920"/>
            <a:ext cx="2514600" cy="1417320"/>
          </a:xfrm>
          <a:prstGeom prst="roundRect">
            <a:avLst>
              <a:gd name="adj" fmla="val 5161"/>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14" name="Text 12"/>
          <p:cNvSpPr/>
          <p:nvPr/>
        </p:nvSpPr>
        <p:spPr>
          <a:xfrm>
            <a:off x="9052560" y="1828800"/>
            <a:ext cx="2148840" cy="548640"/>
          </a:xfrm>
          <a:prstGeom prst="rect">
            <a:avLst/>
          </a:prstGeom>
          <a:noFill/>
          <a:ln/>
        </p:spPr>
        <p:txBody>
          <a:bodyPr wrap="square" lIns="0" tIns="0" rIns="0" bIns="0" rtlCol="0" anchor="ctr"/>
          <a:lstStyle/>
          <a:p>
            <a:pPr algn="ctr" indent="0" marL="0">
              <a:buNone/>
            </a:pPr>
            <a:r>
              <a:rPr lang="en-US" sz="2400" b="1" dirty="0">
                <a:solidFill>
                  <a:srgbClr val="2C5F2D"/>
                </a:solidFill>
                <a:latin typeface="Meiryo" pitchFamily="34" charset="0"/>
                <a:ea typeface="Meiryo" pitchFamily="34" charset="-122"/>
                <a:cs typeface="Meiryo" pitchFamily="34" charset="-120"/>
              </a:rPr>
              <a:t>調達〜施工</a:t>
            </a:r>
            <a:endParaRPr lang="en-US" sz="2400" dirty="0"/>
          </a:p>
        </p:txBody>
      </p:sp>
      <p:sp>
        <p:nvSpPr>
          <p:cNvPr id="15" name="Text 13"/>
          <p:cNvSpPr/>
          <p:nvPr/>
        </p:nvSpPr>
        <p:spPr>
          <a:xfrm>
            <a:off x="9052560" y="2395728"/>
            <a:ext cx="2148840" cy="548640"/>
          </a:xfrm>
          <a:prstGeom prst="rect">
            <a:avLst/>
          </a:prstGeom>
          <a:noFill/>
          <a:ln/>
        </p:spPr>
        <p:txBody>
          <a:bodyPr wrap="square" lIns="0" tIns="0" rIns="0" bIns="0" rtlCol="0" anchor="ctr"/>
          <a:lstStyle/>
          <a:p>
            <a:pPr algn="ctr" indent="0" marL="0">
              <a:lnSpc>
                <a:spcPts val="1600"/>
              </a:lnSpc>
              <a:buNone/>
            </a:pPr>
            <a:r>
              <a:rPr lang="en-US" sz="1050" dirty="0">
                <a:solidFill>
                  <a:srgbClr val="6E7266"/>
                </a:solidFill>
                <a:latin typeface="Meiryo" pitchFamily="34" charset="0"/>
                <a:ea typeface="Meiryo" pitchFamily="34" charset="-122"/>
                <a:cs typeface="Meiryo" pitchFamily="34" charset="-120"/>
              </a:rPr>
              <a:t>一括コーディネート対応</a:t>
            </a:r>
            <a:endParaRPr lang="en-US" sz="1050" dirty="0"/>
          </a:p>
        </p:txBody>
      </p:sp>
      <p:sp>
        <p:nvSpPr>
          <p:cNvPr id="16" name="Shape 14"/>
          <p:cNvSpPr/>
          <p:nvPr/>
        </p:nvSpPr>
        <p:spPr>
          <a:xfrm>
            <a:off x="640080" y="3291840"/>
            <a:ext cx="5349240" cy="2377440"/>
          </a:xfrm>
          <a:prstGeom prst="roundRect">
            <a:avLst>
              <a:gd name="adj" fmla="val 3077"/>
            </a:avLst>
          </a:prstGeom>
          <a:solidFill>
            <a:srgbClr val="F0F4EC"/>
          </a:solidFill>
          <a:ln w="12700">
            <a:solidFill>
              <a:srgbClr val="DCE2D6"/>
            </a:solidFill>
            <a:prstDash val="solid"/>
          </a:ln>
          <a:effectLst>
            <a:outerShdw sx="100000" sy="100000" kx="0" ky="0" algn="bl" rotWithShape="0" blurRad="127000" dist="25400" dir="5400000">
              <a:srgbClr val="1E3524">
                <a:alpha val="10000"/>
              </a:srgbClr>
            </a:outerShdw>
          </a:effectLst>
        </p:spPr>
      </p:sp>
      <p:sp>
        <p:nvSpPr>
          <p:cNvPr id="17" name="Text 15"/>
          <p:cNvSpPr/>
          <p:nvPr/>
        </p:nvSpPr>
        <p:spPr>
          <a:xfrm>
            <a:off x="960120" y="3520440"/>
            <a:ext cx="4709160" cy="292608"/>
          </a:xfrm>
          <a:prstGeom prst="rect">
            <a:avLst/>
          </a:prstGeom>
          <a:noFill/>
          <a:ln/>
        </p:spPr>
        <p:txBody>
          <a:bodyPr wrap="square" lIns="0" tIns="0" rIns="0" bIns="0" rtlCol="0" anchor="ctr"/>
          <a:lstStyle/>
          <a:p>
            <a:pPr indent="0" marL="0">
              <a:buNone/>
            </a:pPr>
            <a:r>
              <a:rPr lang="en-US" sz="1500" b="1" dirty="0">
                <a:solidFill>
                  <a:srgbClr val="2C5F2D"/>
                </a:solidFill>
                <a:latin typeface="Meiryo" pitchFamily="34" charset="0"/>
                <a:ea typeface="Meiryo" pitchFamily="34" charset="-122"/>
                <a:cs typeface="Meiryo" pitchFamily="34" charset="-120"/>
              </a:rPr>
              <a:t>事業内容</a:t>
            </a:r>
            <a:endParaRPr lang="en-US" sz="1500" dirty="0"/>
          </a:p>
        </p:txBody>
      </p:sp>
      <p:sp>
        <p:nvSpPr>
          <p:cNvPr id="18" name="Text 16"/>
          <p:cNvSpPr/>
          <p:nvPr/>
        </p:nvSpPr>
        <p:spPr>
          <a:xfrm>
            <a:off x="960120" y="3913632"/>
            <a:ext cx="4709160" cy="1600200"/>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150" dirty="0">
                <a:solidFill>
                  <a:srgbClr val="2E332C"/>
                </a:solidFill>
                <a:latin typeface="Meiryo" pitchFamily="34" charset="0"/>
                <a:ea typeface="Meiryo" pitchFamily="34" charset="-122"/>
                <a:cs typeface="Meiryo" pitchFamily="34" charset="-120"/>
              </a:rPr>
              <a:t>木材ECプラットフォーム「eTREE」の運営</a:t>
            </a:r>
            <a:endParaRPr lang="en-US" sz="1150" dirty="0"/>
          </a:p>
          <a:p>
            <a:pPr marL="342900" indent="-342900">
              <a:lnSpc>
                <a:spcPts val="1800"/>
              </a:lnSpc>
              <a:spcAft>
                <a:spcPts val="800"/>
              </a:spcAft>
              <a:buSzPct val="100000"/>
              <a:buChar char="•"/>
            </a:pPr>
            <a:r>
              <a:rPr lang="en-US" sz="1150" dirty="0">
                <a:solidFill>
                  <a:srgbClr val="2E332C"/>
                </a:solidFill>
                <a:latin typeface="Meiryo" pitchFamily="34" charset="0"/>
                <a:ea typeface="Meiryo" pitchFamily="34" charset="-122"/>
                <a:cs typeface="Meiryo" pitchFamily="34" charset="-120"/>
              </a:rPr>
              <a:t>内装・家具什器の木材コーディネート（調達〜加工〜施工）</a:t>
            </a:r>
            <a:endParaRPr lang="en-US" sz="1150" dirty="0"/>
          </a:p>
          <a:p>
            <a:pPr marL="342900" indent="-342900">
              <a:lnSpc>
                <a:spcPts val="1800"/>
              </a:lnSpc>
              <a:spcAft>
                <a:spcPts val="800"/>
              </a:spcAft>
              <a:buSzPct val="100000"/>
              <a:buChar char="•"/>
            </a:pPr>
            <a:r>
              <a:rPr lang="en-US" sz="1150" dirty="0">
                <a:solidFill>
                  <a:srgbClr val="2E332C"/>
                </a:solidFill>
                <a:latin typeface="Meiryo" pitchFamily="34" charset="0"/>
                <a:ea typeface="Meiryo" pitchFamily="34" charset="-122"/>
                <a:cs typeface="Meiryo" pitchFamily="34" charset="-120"/>
              </a:rPr>
              <a:t>既存樹・伐採材のアップサイクル企画</a:t>
            </a:r>
            <a:endParaRPr lang="en-US" sz="1150" dirty="0"/>
          </a:p>
          <a:p>
            <a:pPr marL="342900" indent="-342900">
              <a:lnSpc>
                <a:spcPts val="1800"/>
              </a:lnSpc>
              <a:spcAft>
                <a:spcPts val="800"/>
              </a:spcAft>
              <a:buSzPct val="100000"/>
              <a:buChar char="•"/>
            </a:pPr>
            <a:r>
              <a:rPr lang="en-US" sz="1150" dirty="0">
                <a:solidFill>
                  <a:srgbClr val="2E332C"/>
                </a:solidFill>
                <a:latin typeface="Meiryo" pitchFamily="34" charset="0"/>
                <a:ea typeface="Meiryo" pitchFamily="34" charset="-122"/>
                <a:cs typeface="Meiryo" pitchFamily="34" charset="-120"/>
              </a:rPr>
              <a:t>CLTの設計・調達支援、森林認証コンサルティング</a:t>
            </a:r>
            <a:endParaRPr lang="en-US" sz="1150" dirty="0"/>
          </a:p>
        </p:txBody>
      </p:sp>
      <p:sp>
        <p:nvSpPr>
          <p:cNvPr id="19" name="Shape 17"/>
          <p:cNvSpPr/>
          <p:nvPr/>
        </p:nvSpPr>
        <p:spPr>
          <a:xfrm>
            <a:off x="6172200" y="3291840"/>
            <a:ext cx="5349240" cy="2377440"/>
          </a:xfrm>
          <a:prstGeom prst="roundRect">
            <a:avLst>
              <a:gd name="adj" fmla="val 3077"/>
            </a:avLst>
          </a:prstGeom>
          <a:solidFill>
            <a:srgbClr val="F8F6F1"/>
          </a:solidFill>
          <a:ln w="12700">
            <a:solidFill>
              <a:srgbClr val="F8F6F1"/>
            </a:solidFill>
            <a:prstDash val="solid"/>
          </a:ln>
          <a:effectLst>
            <a:outerShdw sx="100000" sy="100000" kx="0" ky="0" algn="bl" rotWithShape="0" blurRad="127000" dist="25400" dir="5400000">
              <a:srgbClr val="1E3524">
                <a:alpha val="10000"/>
              </a:srgbClr>
            </a:outerShdw>
          </a:effectLst>
        </p:spPr>
      </p:sp>
      <p:sp>
        <p:nvSpPr>
          <p:cNvPr id="20" name="Text 18"/>
          <p:cNvSpPr/>
          <p:nvPr/>
        </p:nvSpPr>
        <p:spPr>
          <a:xfrm>
            <a:off x="6492240" y="3520440"/>
            <a:ext cx="4709160" cy="292608"/>
          </a:xfrm>
          <a:prstGeom prst="rect">
            <a:avLst/>
          </a:prstGeom>
          <a:noFill/>
          <a:ln/>
        </p:spPr>
        <p:txBody>
          <a:bodyPr wrap="square" lIns="0" tIns="0" rIns="0" bIns="0" rtlCol="0" anchor="ctr"/>
          <a:lstStyle/>
          <a:p>
            <a:pPr indent="0" marL="0">
              <a:buNone/>
            </a:pPr>
            <a:r>
              <a:rPr lang="en-US" sz="1500" b="1" dirty="0">
                <a:solidFill>
                  <a:srgbClr val="2C5F2D"/>
                </a:solidFill>
                <a:latin typeface="Meiryo" pitchFamily="34" charset="0"/>
                <a:ea typeface="Meiryo" pitchFamily="34" charset="-122"/>
                <a:cs typeface="Meiryo" pitchFamily="34" charset="-120"/>
              </a:rPr>
              <a:t>お取り組みの姿勢</a:t>
            </a:r>
            <a:endParaRPr lang="en-US" sz="1500" dirty="0"/>
          </a:p>
        </p:txBody>
      </p:sp>
      <p:sp>
        <p:nvSpPr>
          <p:cNvPr id="21" name="Text 19"/>
          <p:cNvSpPr/>
          <p:nvPr/>
        </p:nvSpPr>
        <p:spPr>
          <a:xfrm>
            <a:off x="6492240" y="3913632"/>
            <a:ext cx="4709160" cy="1600200"/>
          </a:xfrm>
          <a:prstGeom prst="rect">
            <a:avLst/>
          </a:prstGeom>
          <a:noFill/>
          <a:ln/>
        </p:spPr>
        <p:txBody>
          <a:bodyPr wrap="square" lIns="0" tIns="0" rIns="0" bIns="0" rtlCol="0" anchor="ctr"/>
          <a:lstStyle/>
          <a:p>
            <a:pPr indent="0" marL="0">
              <a:lnSpc>
                <a:spcPts val="2000"/>
              </a:lnSpc>
              <a:buNone/>
            </a:pPr>
            <a:r>
              <a:rPr lang="en-US" sz="1150" dirty="0">
                <a:solidFill>
                  <a:srgbClr val="2E332C"/>
                </a:solidFill>
                <a:latin typeface="Meiryo" pitchFamily="34" charset="0"/>
                <a:ea typeface="Meiryo" pitchFamily="34" charset="-122"/>
                <a:cs typeface="Meiryo" pitchFamily="34" charset="-120"/>
              </a:rPr>
              <a:t>ミッションに「Sustainable Forest」を掲げ、木を使うことが森の手入れにつながる循環をつくることを目指しています。合法性の確認（独自のデューデリジェンス）と認証材の取り扱いを前提に、地域材の活用や川上との関係づくりまで含めてご一緒します。</a:t>
            </a:r>
            <a:endParaRPr lang="en-US" sz="1150" dirty="0"/>
          </a:p>
        </p:txBody>
      </p:sp>
      <p:sp>
        <p:nvSpPr>
          <p:cNvPr id="22" name="Text 20"/>
          <p:cNvSpPr/>
          <p:nvPr/>
        </p:nvSpPr>
        <p:spPr>
          <a:xfrm>
            <a:off x="640080" y="6355080"/>
            <a:ext cx="3657600" cy="274320"/>
          </a:xfrm>
          <a:prstGeom prst="rect">
            <a:avLst/>
          </a:prstGeom>
          <a:noFill/>
          <a:ln/>
        </p:spPr>
        <p:txBody>
          <a:bodyPr wrap="square" lIns="0" tIns="0" rIns="0" bIns="0" rtlCol="0" anchor="ctr"/>
          <a:lstStyle/>
          <a:p>
            <a:pPr indent="0" marL="0">
              <a:buNone/>
            </a:pPr>
            <a:r>
              <a:rPr lang="en-US" sz="900" dirty="0">
                <a:solidFill>
                  <a:srgbClr val="6E7266"/>
                </a:solidFill>
                <a:latin typeface="Meiryo" pitchFamily="34" charset="0"/>
                <a:ea typeface="Meiryo" pitchFamily="34" charset="-122"/>
                <a:cs typeface="Meiryo" pitchFamily="34" charset="-120"/>
              </a:rPr>
              <a:t>株式会社森未来</a:t>
            </a:r>
            <a:endParaRPr lang="en-US" sz="900" dirty="0"/>
          </a:p>
        </p:txBody>
      </p:sp>
      <p:sp>
        <p:nvSpPr>
          <p:cNvPr id="23" name="Text 21"/>
          <p:cNvSpPr/>
          <p:nvPr/>
        </p:nvSpPr>
        <p:spPr>
          <a:xfrm>
            <a:off x="11064240" y="6355080"/>
            <a:ext cx="502920" cy="274320"/>
          </a:xfrm>
          <a:prstGeom prst="rect">
            <a:avLst/>
          </a:prstGeom>
          <a:noFill/>
          <a:ln/>
        </p:spPr>
        <p:txBody>
          <a:bodyPr wrap="square" lIns="0" tIns="0" rIns="0" bIns="0" rtlCol="0" anchor="ctr"/>
          <a:lstStyle/>
          <a:p>
            <a:pPr algn="r" indent="0" marL="0">
              <a:buNone/>
            </a:pPr>
            <a:r>
              <a:rPr lang="en-US" sz="900" dirty="0">
                <a:solidFill>
                  <a:srgbClr val="6E7266"/>
                </a:solidFill>
                <a:latin typeface="Meiryo" pitchFamily="34" charset="0"/>
                <a:ea typeface="Meiryo" pitchFamily="34" charset="-122"/>
                <a:cs typeface="Meiryo"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3524"/>
        </a:solidFill>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2C5F2D"/>
          </a:solidFill>
          <a:ln w="12700">
            <a:solidFill>
              <a:srgbClr val="333333"/>
            </a:solidFill>
            <a:prstDash val="solid"/>
          </a:ln>
        </p:spPr>
      </p:sp>
      <p:sp>
        <p:nvSpPr>
          <p:cNvPr id="3" name="Shape 1"/>
          <p:cNvSpPr/>
          <p:nvPr/>
        </p:nvSpPr>
        <p:spPr>
          <a:xfrm>
            <a:off x="10881360" y="4846320"/>
            <a:ext cx="2103120" cy="2103120"/>
          </a:xfrm>
          <a:prstGeom prst="ellipse">
            <a:avLst/>
          </a:prstGeom>
          <a:solidFill>
            <a:srgbClr val="C4707F"/>
          </a:solidFill>
          <a:ln w="12700">
            <a:solidFill>
              <a:srgbClr val="333333"/>
            </a:solidFill>
            <a:prstDash val="solid"/>
          </a:ln>
        </p:spPr>
      </p:sp>
      <p:sp>
        <p:nvSpPr>
          <p:cNvPr id="4" name="Text 2"/>
          <p:cNvSpPr/>
          <p:nvPr/>
        </p:nvSpPr>
        <p:spPr>
          <a:xfrm>
            <a:off x="822960" y="594360"/>
            <a:ext cx="5486400" cy="274320"/>
          </a:xfrm>
          <a:prstGeom prst="rect">
            <a:avLst/>
          </a:prstGeom>
          <a:noFill/>
          <a:ln/>
        </p:spPr>
        <p:txBody>
          <a:bodyPr wrap="square" lIns="0" tIns="0" rIns="0" bIns="0" rtlCol="0" anchor="ctr"/>
          <a:lstStyle/>
          <a:p>
            <a:pPr indent="0" marL="0">
              <a:buNone/>
            </a:pPr>
            <a:r>
              <a:rPr lang="en-US" sz="1200" b="1" spc="200" kern="0" dirty="0">
                <a:solidFill>
                  <a:srgbClr val="97BC62"/>
                </a:solidFill>
                <a:latin typeface="Meiryo" pitchFamily="34" charset="0"/>
                <a:ea typeface="Meiryo" pitchFamily="34" charset="-122"/>
                <a:cs typeface="Meiryo" pitchFamily="34" charset="-120"/>
              </a:rPr>
              <a:t>REQUEST</a:t>
            </a:r>
            <a:endParaRPr lang="en-US" sz="1200" dirty="0"/>
          </a:p>
        </p:txBody>
      </p:sp>
      <p:sp>
        <p:nvSpPr>
          <p:cNvPr id="5" name="Text 3"/>
          <p:cNvSpPr/>
          <p:nvPr/>
        </p:nvSpPr>
        <p:spPr>
          <a:xfrm>
            <a:off x="822960" y="914400"/>
            <a:ext cx="9601200" cy="502920"/>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30分、お時間をいただけませんでしょうか</a:t>
            </a:r>
            <a:endParaRPr lang="en-US" sz="2800" dirty="0"/>
          </a:p>
        </p:txBody>
      </p:sp>
      <p:sp>
        <p:nvSpPr>
          <p:cNvPr id="6" name="Text 4"/>
          <p:cNvSpPr/>
          <p:nvPr/>
        </p:nvSpPr>
        <p:spPr>
          <a:xfrm>
            <a:off x="822960" y="1508760"/>
            <a:ext cx="9601200" cy="320040"/>
          </a:xfrm>
          <a:prstGeom prst="rect">
            <a:avLst/>
          </a:prstGeom>
          <a:noFill/>
          <a:ln/>
        </p:spPr>
        <p:txBody>
          <a:bodyPr wrap="square" lIns="0" tIns="0" rIns="0" bIns="0" rtlCol="0" anchor="ctr"/>
          <a:lstStyle/>
          <a:p>
            <a:pPr indent="0" marL="0">
              <a:buNone/>
            </a:pPr>
            <a:r>
              <a:rPr lang="en-US" sz="1300" dirty="0">
                <a:solidFill>
                  <a:srgbClr val="97BC62"/>
                </a:solidFill>
                <a:latin typeface="Meiryo" pitchFamily="34" charset="0"/>
                <a:ea typeface="Meiryo" pitchFamily="34" charset="-122"/>
                <a:cs typeface="Meiryo" pitchFamily="34" charset="-120"/>
              </a:rPr>
              <a:t>ご訪問・オンラインいずれでも対応いたします。開発本部の皆様にまとめてご説明する機会でも構いません。</a:t>
            </a:r>
            <a:endParaRPr lang="en-US" sz="1300" dirty="0"/>
          </a:p>
        </p:txBody>
      </p:sp>
      <p:sp>
        <p:nvSpPr>
          <p:cNvPr id="7" name="Shape 5"/>
          <p:cNvSpPr/>
          <p:nvPr/>
        </p:nvSpPr>
        <p:spPr>
          <a:xfrm>
            <a:off x="822960" y="2057400"/>
            <a:ext cx="5257800" cy="2240280"/>
          </a:xfrm>
          <a:prstGeom prst="roundRect">
            <a:avLst>
              <a:gd name="adj" fmla="val 3265"/>
            </a:avLst>
          </a:prstGeom>
          <a:solidFill>
            <a:srgbClr val="FFFFFF"/>
          </a:solidFill>
          <a:ln w="12700">
            <a:solidFill>
              <a:srgbClr val="FFFFFF"/>
            </a:solidFill>
            <a:prstDash val="solid"/>
          </a:ln>
          <a:effectLst>
            <a:outerShdw sx="100000" sy="100000" kx="0" ky="0" algn="bl" rotWithShape="0" blurRad="127000" dist="25400" dir="5400000">
              <a:srgbClr val="1E3524">
                <a:alpha val="10000"/>
              </a:srgbClr>
            </a:outerShdw>
          </a:effectLst>
        </p:spPr>
      </p:sp>
      <p:sp>
        <p:nvSpPr>
          <p:cNvPr id="8" name="Text 6"/>
          <p:cNvSpPr/>
          <p:nvPr/>
        </p:nvSpPr>
        <p:spPr>
          <a:xfrm>
            <a:off x="1143000" y="2286000"/>
            <a:ext cx="4617720" cy="292608"/>
          </a:xfrm>
          <a:prstGeom prst="rect">
            <a:avLst/>
          </a:prstGeom>
          <a:noFill/>
          <a:ln/>
        </p:spPr>
        <p:txBody>
          <a:bodyPr wrap="square" lIns="0" tIns="0" rIns="0" bIns="0" rtlCol="0" anchor="ctr"/>
          <a:lstStyle/>
          <a:p>
            <a:pPr indent="0" marL="0">
              <a:buNone/>
            </a:pPr>
            <a:r>
              <a:rPr lang="en-US" sz="1500" b="1" dirty="0">
                <a:solidFill>
                  <a:srgbClr val="2C5F2D"/>
                </a:solidFill>
                <a:latin typeface="Meiryo" pitchFamily="34" charset="0"/>
                <a:ea typeface="Meiryo" pitchFamily="34" charset="-122"/>
                <a:cs typeface="Meiryo" pitchFamily="34" charset="-120"/>
              </a:rPr>
              <a:t>当日のアジェンダ案</a:t>
            </a:r>
            <a:endParaRPr lang="en-US" sz="1500" dirty="0"/>
          </a:p>
        </p:txBody>
      </p:sp>
      <p:sp>
        <p:nvSpPr>
          <p:cNvPr id="9" name="Text 7"/>
          <p:cNvSpPr/>
          <p:nvPr/>
        </p:nvSpPr>
        <p:spPr>
          <a:xfrm>
            <a:off x="1143000" y="2697480"/>
            <a:ext cx="4617720" cy="178308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200" dirty="0">
                <a:solidFill>
                  <a:srgbClr val="2E332C"/>
                </a:solidFill>
                <a:latin typeface="Meiryo" pitchFamily="34" charset="0"/>
                <a:ea typeface="Meiryo" pitchFamily="34" charset="-122"/>
                <a:cs typeface="Meiryo" pitchFamily="34" charset="-120"/>
              </a:rPr>
              <a:t>本ご提案のご説明（10分）</a:t>
            </a:r>
            <a:endParaRPr lang="en-US" sz="1200" dirty="0"/>
          </a:p>
          <a:p>
            <a:pPr marL="342900" indent="-342900">
              <a:lnSpc>
                <a:spcPts val="1900"/>
              </a:lnSpc>
              <a:spcAft>
                <a:spcPts val="1000"/>
              </a:spcAft>
              <a:buSzPct val="100000"/>
              <a:buChar char="•"/>
            </a:pPr>
            <a:r>
              <a:rPr lang="en-US" sz="1200" dirty="0">
                <a:solidFill>
                  <a:srgbClr val="2E332C"/>
                </a:solidFill>
                <a:latin typeface="Meiryo" pitchFamily="34" charset="0"/>
                <a:ea typeface="Meiryo" pitchFamily="34" charset="-122"/>
                <a:cs typeface="Meiryo" pitchFamily="34" charset="-120"/>
              </a:rPr>
              <a:t>恵比寿エリアの樹木の発生状況について（10分）</a:t>
            </a:r>
            <a:endParaRPr lang="en-US" sz="1200" dirty="0"/>
          </a:p>
          <a:p>
            <a:pPr marL="342900" indent="-342900">
              <a:lnSpc>
                <a:spcPts val="1900"/>
              </a:lnSpc>
              <a:spcAft>
                <a:spcPts val="1000"/>
              </a:spcAft>
              <a:buSzPct val="100000"/>
              <a:buChar char="•"/>
            </a:pPr>
            <a:r>
              <a:rPr lang="en-US" sz="1200" dirty="0">
                <a:solidFill>
                  <a:srgbClr val="2E332C"/>
                </a:solidFill>
                <a:latin typeface="Meiryo" pitchFamily="34" charset="0"/>
                <a:ea typeface="Meiryo" pitchFamily="34" charset="-122"/>
                <a:cs typeface="Meiryo" pitchFamily="34" charset="-120"/>
              </a:rPr>
              <a:t>施設木質化のご検討状況・進め方の相談（10分）</a:t>
            </a:r>
            <a:endParaRPr lang="en-US" sz="1200" dirty="0"/>
          </a:p>
        </p:txBody>
      </p:sp>
      <p:sp>
        <p:nvSpPr>
          <p:cNvPr id="10" name="Shape 8"/>
          <p:cNvSpPr/>
          <p:nvPr/>
        </p:nvSpPr>
        <p:spPr>
          <a:xfrm>
            <a:off x="6263640" y="2057400"/>
            <a:ext cx="5257800" cy="2240280"/>
          </a:xfrm>
          <a:prstGeom prst="roundRect">
            <a:avLst>
              <a:gd name="adj" fmla="val 3265"/>
            </a:avLst>
          </a:prstGeom>
          <a:solidFill>
            <a:srgbClr val="FFFFFF"/>
          </a:solidFill>
          <a:ln w="12700">
            <a:solidFill>
              <a:srgbClr val="FFFFFF"/>
            </a:solidFill>
            <a:prstDash val="solid"/>
          </a:ln>
          <a:effectLst>
            <a:outerShdw sx="100000" sy="100000" kx="0" ky="0" algn="bl" rotWithShape="0" blurRad="127000" dist="25400" dir="5400000">
              <a:srgbClr val="1E3524">
                <a:alpha val="10000"/>
              </a:srgbClr>
            </a:outerShdw>
          </a:effectLst>
        </p:spPr>
      </p:sp>
      <p:sp>
        <p:nvSpPr>
          <p:cNvPr id="11" name="Text 9"/>
          <p:cNvSpPr/>
          <p:nvPr/>
        </p:nvSpPr>
        <p:spPr>
          <a:xfrm>
            <a:off x="6583680" y="2286000"/>
            <a:ext cx="4617720" cy="292608"/>
          </a:xfrm>
          <a:prstGeom prst="rect">
            <a:avLst/>
          </a:prstGeom>
          <a:noFill/>
          <a:ln/>
        </p:spPr>
        <p:txBody>
          <a:bodyPr wrap="square" lIns="0" tIns="0" rIns="0" bIns="0" rtlCol="0" anchor="ctr"/>
          <a:lstStyle/>
          <a:p>
            <a:pPr indent="0" marL="0">
              <a:buNone/>
            </a:pPr>
            <a:r>
              <a:rPr lang="en-US" sz="1500" b="1" dirty="0">
                <a:solidFill>
                  <a:srgbClr val="2C5F2D"/>
                </a:solidFill>
                <a:latin typeface="Meiryo" pitchFamily="34" charset="0"/>
                <a:ea typeface="Meiryo" pitchFamily="34" charset="-122"/>
                <a:cs typeface="Meiryo" pitchFamily="34" charset="-120"/>
              </a:rPr>
              <a:t>当日お伺いしたいこと</a:t>
            </a:r>
            <a:endParaRPr lang="en-US" sz="1500" dirty="0"/>
          </a:p>
        </p:txBody>
      </p:sp>
      <p:sp>
        <p:nvSpPr>
          <p:cNvPr id="12" name="Text 10"/>
          <p:cNvSpPr/>
          <p:nvPr/>
        </p:nvSpPr>
        <p:spPr>
          <a:xfrm>
            <a:off x="6583680" y="2697480"/>
            <a:ext cx="4617720" cy="178308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200" dirty="0">
                <a:solidFill>
                  <a:srgbClr val="2E332C"/>
                </a:solidFill>
                <a:latin typeface="Meiryo" pitchFamily="34" charset="0"/>
                <a:ea typeface="Meiryo" pitchFamily="34" charset="-122"/>
                <a:cs typeface="Meiryo" pitchFamily="34" charset="-120"/>
              </a:rPr>
              <a:t>今後1〜2年の開発・改修・剪定伐採のご予定</a:t>
            </a:r>
            <a:endParaRPr lang="en-US" sz="1200" dirty="0"/>
          </a:p>
          <a:p>
            <a:pPr marL="342900" indent="-342900">
              <a:lnSpc>
                <a:spcPts val="1900"/>
              </a:lnSpc>
              <a:spcAft>
                <a:spcPts val="1000"/>
              </a:spcAft>
              <a:buSzPct val="100000"/>
              <a:buChar char="•"/>
            </a:pPr>
            <a:r>
              <a:rPr lang="en-US" sz="1200" dirty="0">
                <a:solidFill>
                  <a:srgbClr val="2E332C"/>
                </a:solidFill>
                <a:latin typeface="Meiryo" pitchFamily="34" charset="0"/>
                <a:ea typeface="Meiryo" pitchFamily="34" charset="-122"/>
                <a:cs typeface="Meiryo" pitchFamily="34" charset="-120"/>
              </a:rPr>
              <a:t>木材利用のご判断軸（意匠・コスト・維持管理）</a:t>
            </a:r>
            <a:endParaRPr lang="en-US" sz="1200" dirty="0"/>
          </a:p>
          <a:p>
            <a:pPr marL="342900" indent="-342900">
              <a:lnSpc>
                <a:spcPts val="1900"/>
              </a:lnSpc>
              <a:spcAft>
                <a:spcPts val="1000"/>
              </a:spcAft>
              <a:buSzPct val="100000"/>
              <a:buChar char="•"/>
            </a:pPr>
            <a:r>
              <a:rPr lang="en-US" sz="1200" dirty="0">
                <a:solidFill>
                  <a:srgbClr val="2E332C"/>
                </a:solidFill>
                <a:latin typeface="Meiryo" pitchFamily="34" charset="0"/>
                <a:ea typeface="Meiryo" pitchFamily="34" charset="-122"/>
                <a:cs typeface="Meiryo" pitchFamily="34" charset="-120"/>
              </a:rPr>
              <a:t>ご相談先として適切な部署・ご担当の方</a:t>
            </a:r>
            <a:endParaRPr lang="en-US" sz="1200" dirty="0"/>
          </a:p>
        </p:txBody>
      </p:sp>
      <p:sp>
        <p:nvSpPr>
          <p:cNvPr id="13" name="Text 11"/>
          <p:cNvSpPr/>
          <p:nvPr/>
        </p:nvSpPr>
        <p:spPr>
          <a:xfrm>
            <a:off x="822960" y="5029200"/>
            <a:ext cx="9601200" cy="1097280"/>
          </a:xfrm>
          <a:prstGeom prst="rect">
            <a:avLst/>
          </a:prstGeom>
          <a:noFill/>
          <a:ln/>
        </p:spPr>
        <p:txBody>
          <a:bodyPr wrap="square" lIns="0" tIns="0" rIns="0" bIns="0" rtlCol="0" anchor="ctr"/>
          <a:lstStyle/>
          <a:p>
            <a:pPr indent="0" marL="0">
              <a:lnSpc>
                <a:spcPts val="2200"/>
              </a:lnSpc>
              <a:buNone/>
            </a:pPr>
            <a:r>
              <a:rPr lang="en-US" sz="1500" b="1" dirty="0">
                <a:solidFill>
                  <a:srgbClr val="FFFFFF"/>
                </a:solidFill>
                <a:latin typeface="Meiryo" pitchFamily="34" charset="0"/>
                <a:ea typeface="Meiryo" pitchFamily="34" charset="-122"/>
                <a:cs typeface="Meiryo" pitchFamily="34" charset="-120"/>
              </a:rPr>
              <a:t>株式会社森未来　高橋 幸司</a:t>
            </a:r>
            <a:endParaRPr lang="en-US" sz="1500" dirty="0"/>
          </a:p>
          <a:p>
            <a:pPr indent="0" marL="0">
              <a:lnSpc>
                <a:spcPts val="2200"/>
              </a:lnSpc>
              <a:buNone/>
            </a:pPr>
            <a:r>
              <a:rPr lang="en-US" sz="1200" dirty="0">
                <a:solidFill>
                  <a:srgbClr val="97BC62"/>
                </a:solidFill>
                <a:latin typeface="Meiryo" pitchFamily="34" charset="0"/>
                <a:ea typeface="Meiryo" pitchFamily="34" charset="-122"/>
                <a:cs typeface="Meiryo" pitchFamily="34" charset="-120"/>
              </a:rPr>
              <a:t>MAIL koji.takahashi@shin-mirai.co.jp　　MOBILE 080-6997-2075</a:t>
            </a:r>
            <a:endParaRPr lang="en-US" sz="1500" dirty="0"/>
          </a:p>
          <a:p>
            <a:pPr indent="0" marL="0">
              <a:lnSpc>
                <a:spcPts val="2200"/>
              </a:lnSpc>
              <a:buNone/>
            </a:pPr>
            <a:r>
              <a:rPr lang="en-US" sz="1100" dirty="0">
                <a:solidFill>
                  <a:srgbClr val="97BC62"/>
                </a:solidFill>
                <a:latin typeface="Meiryo" pitchFamily="34" charset="0"/>
                <a:ea typeface="Meiryo" pitchFamily="34" charset="-122"/>
                <a:cs typeface="Meiryo" pitchFamily="34" charset="-120"/>
              </a:rPr>
              <a:t>〒108-0014 東京都港区芝5-27-6 泉田町ビル6F　　https://www.etree.jp/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2026-08-03T14:00:03Z</dcterms:created>
  <dcterms:modified xsi:type="dcterms:W3CDTF">2026-08-03T14:00:03Z</dcterms:modified>
</cp:coreProperties>
</file>