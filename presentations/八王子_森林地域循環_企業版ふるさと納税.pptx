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本日は、八王子市の森林・木材を「守る対象」から「地域産業の資源」へ位置づけ直す構想をご説明します。企業版ふるさと納税を、単年度の整備費ではなく、仕組みづくりの初期投資として使う提案です。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最初に結論から。現在は財源の大きさが整備量の上限になっていますが、木材と環境価値の販売収益が森に還る構造をつくれば、需要が増えるほど森を整備できるようになります。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前半3章で現状認識をそろえ、第4章で具体的な事業案に入ります。第1〜3章は既存の取り組みを否定するためではなく、次の段階につなぐための整理です。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第1章では、資源はあるのに循環していないという構造を、3つの課題として整理します。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議論の出発点として、八王子の森がすでに4つの価値を生んでいることを確認します。問題は価値がないことではなく、その価値が測られず、売られず、森に還っていないことです。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担い手と財源が単発でしか確保できないため、計画があっても実行が続きません。整備を「事業」として成立させる必要がある、という論点につなげます。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整備すれば木材は必ず出ます。しかし売り先が細いため収益が森に戻らず、整備を続ける経済的動機が生まれません。東京都の「多摩の森」活性化プロジェクトも同じ課題を挙げています。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八王子には需要の芽が数多くあります。足りないのは需要そのものではなく、森林側の情報と都市側の用途をつなぐ仕組みです。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3つの断絶を個別に解くのではなく、ひとつの循環としてつなぎ直すことが提案の狙いです。その最初のひと押しに企業版ふるさと納税を使います。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第2章では、八王子市がすでに行っている取り組みを確認します。「足りない」という話ではないことを、ここで明確にします。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森林整備・木育・木材利用の3つとも、すでに始まっています。提案はこれらを置き換えるものではありません。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財源は一定規模で確保されています。論点は「何に使い、何を生み出すか」です。金額は市の公表資料に基づく整理のため、提案化の前に最新の予算資料で最終確認します。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第3章がこの提案の肝になる部分です。課題の捉え方を一度組み替えます。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「取り組みが足りない」のではなく「取り組みがつながっていない」。ここを共有できるかどうかで、提案の受け取られ方が変わります。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3つとも「次の段階への接続」の話です。A は経済的循環、B は継続需要、C は事業サイクルの一体化。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調べる→描く→整備する→売る→還す。この6段階をバラバラの事業ではなく、ひとつの事業サイクルとして運営します。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第4章から具体的な事業案に入ります。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企業版ふるさと納税が他の財源と違うのは、収益化前の仕込みに使えること、資金だけでなく企業との関係が生まれること、複数年度で描けることの3点です。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設計前に必ず押さえる部分です。特に「本社所在地の自治体には寄付できない」ため、市内企業は寄付者ではなく“八王子の木を買うパートナー”として位置づけます。返礼品禁止のため、木材購入やクレジット取得は寄付とは別建ての商取引として切り分けます。制度要件は内閣府ポータル等で最終確認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6つの施策を「基盤をつくる／出口をつくる／価値を売り、森に還す」の3ステップに整理しています。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ビジョンとカルテは、行政・事業者・企業が同じ絵を見るための共通言語になります。カルテはモデル林から着手します。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出口を先につくるのが今回の中心です。需要開拓と合意形成のプロセスこそ、既存財源では手当てしにくい部分になります。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毎年発生する、予測可能な小口需要をつくり、市民を森の当事者にします。既存の「はち★ベビギフト」からの発展として説明できます。婚姻件数は最新の統計で確認してください。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寄付から取引へ、という移行がこの2施策の狙いです。ただし寄付と取引は制度上、別建てで設計します。環境価値は、木材が出しにくい森を「稼ぐ森」にできる点が重要です。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5年で寄付依存度を下げ、木材と環境価値の収益で回る構造にします。Phase 1 に地域再生計画への位置づけ・認定申請を入れている点がポイントです。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目標値はカルテ整備後に確定します。まず「何を測るか」を決めることが先である、という説明をします。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3つの財源を重ねるのではなく、役割で分けます。企業版ふるさと納税は呼び水であって運営費ではありません。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行政と事業者の間をつなぐ事務局機能が要になります。企業版ふるさと納税の人材派遣型も選択肢です。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寄付先となるのは市外に本社を持つ企業です。八王子に事業所・従業員・顧客を持つ企業が有力候補になります。税制メリットは制度要件の確認が前提です。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想定される反論に、あらかじめ対応方針を示しています。特に価格競争力は必ず問われるため、価格だけで戦わない設計を明示しています。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既存の取り組みを否定せず、次の段階へ発展させる提案として締めます。次のアクションは3点です。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数値・事実関係は公表資料に基づく整理であり、提案化の前に最終確認が必要である旨を明記しています。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51A"/>
        </a:solidFill>
      </p:bgPr>
    </p:bg>
    <p:spTree>
      <p:nvGrpSpPr>
        <p:cNvPr id="1" name=""/>
        <p:cNvGrpSpPr/>
        <p:nvPr/>
      </p:nvGrpSpPr>
      <p:grpSpPr>
        <a:xfrm>
          <a:off x="0" y="0"/>
          <a:ext cx="0" cy="0"/>
          <a:chOff x="0" y="0"/>
          <a:chExt cx="0" cy="0"/>
        </a:xfrm>
      </p:grpSpPr>
      <p:sp>
        <p:nvSpPr>
          <p:cNvPr id="2" name="Shape 0"/>
          <p:cNvSpPr/>
          <p:nvPr/>
        </p:nvSpPr>
        <p:spPr>
          <a:xfrm>
            <a:off x="9601200" y="4206240"/>
            <a:ext cx="1828800" cy="1828800"/>
          </a:xfrm>
          <a:prstGeom prst="ellipse">
            <a:avLst/>
          </a:prstGeom>
          <a:solidFill>
            <a:srgbClr val="FFFFFF">
              <a:alpha val="0"/>
            </a:srgbClr>
          </a:solidFill>
          <a:ln w="15875">
            <a:solidFill>
              <a:srgbClr val="8FB566">
                <a:alpha val="28000"/>
              </a:srgbClr>
            </a:solidFill>
            <a:prstDash val="solid"/>
          </a:ln>
        </p:spPr>
      </p:sp>
      <p:sp>
        <p:nvSpPr>
          <p:cNvPr id="3" name="Shape 1"/>
          <p:cNvSpPr/>
          <p:nvPr/>
        </p:nvSpPr>
        <p:spPr>
          <a:xfrm>
            <a:off x="8961120" y="3566160"/>
            <a:ext cx="3108960" cy="3108960"/>
          </a:xfrm>
          <a:prstGeom prst="ellipse">
            <a:avLst/>
          </a:prstGeom>
          <a:solidFill>
            <a:srgbClr val="FFFFFF">
              <a:alpha val="0"/>
            </a:srgbClr>
          </a:solidFill>
          <a:ln w="15875">
            <a:solidFill>
              <a:srgbClr val="8FB566">
                <a:alpha val="28000"/>
              </a:srgbClr>
            </a:solidFill>
            <a:prstDash val="solid"/>
          </a:ln>
        </p:spPr>
      </p:sp>
      <p:sp>
        <p:nvSpPr>
          <p:cNvPr id="4" name="Shape 2"/>
          <p:cNvSpPr/>
          <p:nvPr/>
        </p:nvSpPr>
        <p:spPr>
          <a:xfrm>
            <a:off x="8321040" y="2926080"/>
            <a:ext cx="4389120" cy="4389120"/>
          </a:xfrm>
          <a:prstGeom prst="ellipse">
            <a:avLst/>
          </a:prstGeom>
          <a:solidFill>
            <a:srgbClr val="FFFFFF">
              <a:alpha val="0"/>
            </a:srgbClr>
          </a:solidFill>
          <a:ln w="15875">
            <a:solidFill>
              <a:srgbClr val="8FB566">
                <a:alpha val="28000"/>
              </a:srgbClr>
            </a:solidFill>
            <a:prstDash val="solid"/>
          </a:ln>
        </p:spPr>
      </p:sp>
      <p:sp>
        <p:nvSpPr>
          <p:cNvPr id="5" name="Shape 3"/>
          <p:cNvSpPr/>
          <p:nvPr/>
        </p:nvSpPr>
        <p:spPr>
          <a:xfrm>
            <a:off x="7680960" y="2286000"/>
            <a:ext cx="5669280" cy="5669280"/>
          </a:xfrm>
          <a:prstGeom prst="ellipse">
            <a:avLst/>
          </a:prstGeom>
          <a:solidFill>
            <a:srgbClr val="FFFFFF">
              <a:alpha val="0"/>
            </a:srgbClr>
          </a:solidFill>
          <a:ln w="15875">
            <a:solidFill>
              <a:srgbClr val="8FB566">
                <a:alpha val="28000"/>
              </a:srgbClr>
            </a:solidFill>
            <a:prstDash val="solid"/>
          </a:ln>
        </p:spPr>
      </p:sp>
      <p:sp>
        <p:nvSpPr>
          <p:cNvPr id="6" name="Shape 4"/>
          <p:cNvSpPr/>
          <p:nvPr/>
        </p:nvSpPr>
        <p:spPr>
          <a:xfrm>
            <a:off x="7040880" y="1645920"/>
            <a:ext cx="6949440" cy="6949440"/>
          </a:xfrm>
          <a:prstGeom prst="ellipse">
            <a:avLst/>
          </a:prstGeom>
          <a:solidFill>
            <a:srgbClr val="FFFFFF">
              <a:alpha val="0"/>
            </a:srgbClr>
          </a:solidFill>
          <a:ln w="15875">
            <a:solidFill>
              <a:srgbClr val="8FB566">
                <a:alpha val="28000"/>
              </a:srgbClr>
            </a:solidFill>
            <a:prstDash val="solid"/>
          </a:ln>
        </p:spPr>
      </p:sp>
      <p:sp>
        <p:nvSpPr>
          <p:cNvPr id="7" name="Shape 5"/>
          <p:cNvSpPr/>
          <p:nvPr/>
        </p:nvSpPr>
        <p:spPr>
          <a:xfrm>
            <a:off x="10131552" y="4736592"/>
            <a:ext cx="768096" cy="768096"/>
          </a:xfrm>
          <a:prstGeom prst="ellipse">
            <a:avLst/>
          </a:prstGeom>
          <a:solidFill>
            <a:srgbClr val="FFFFFF">
              <a:alpha val="0"/>
            </a:srgbClr>
          </a:solidFill>
          <a:ln w="63500">
            <a:solidFill>
              <a:srgbClr val="C1762C">
                <a:alpha val="70000"/>
              </a:srgbClr>
            </a:solidFill>
            <a:prstDash val="solid"/>
          </a:ln>
        </p:spPr>
      </p:sp>
      <p:sp>
        <p:nvSpPr>
          <p:cNvPr id="8" name="Text 6"/>
          <p:cNvSpPr txBox="1"/>
          <p:nvPr/>
        </p:nvSpPr>
        <p:spPr>
          <a:xfrm>
            <a:off x="658368" y="777240"/>
            <a:ext cx="7772400" cy="274320"/>
          </a:xfrm>
          <a:prstGeom prst="rect">
            <a:avLst/>
          </a:prstGeom>
          <a:noFill/>
          <a:ln/>
        </p:spPr>
        <p:txBody>
          <a:bodyPr wrap="square" lIns="0" tIns="0" rIns="0" bIns="0" rtlCol="0" anchor="t"/>
          <a:lstStyle/>
          <a:p>
            <a:pPr indent="0" marL="0">
              <a:buNone/>
            </a:pPr>
            <a:r>
              <a:rPr lang="en-US" sz="1200" b="1" spc="120" kern="0" dirty="0">
                <a:solidFill>
                  <a:srgbClr val="8FB566"/>
                </a:solidFill>
                <a:latin typeface="Meiryo" pitchFamily="34" charset="0"/>
                <a:ea typeface="Meiryo" pitchFamily="34" charset="-122"/>
                <a:cs typeface="Meiryo" pitchFamily="34" charset="-120"/>
              </a:rPr>
              <a:t>八王子市｜森林・木材の地域内循環づくり　検討資料</a:t>
            </a:r>
            <a:endParaRPr lang="en-US" sz="1200" dirty="0"/>
          </a:p>
        </p:txBody>
      </p:sp>
      <p:sp>
        <p:nvSpPr>
          <p:cNvPr id="9" name="Text 7"/>
          <p:cNvSpPr txBox="1"/>
          <p:nvPr/>
        </p:nvSpPr>
        <p:spPr>
          <a:xfrm>
            <a:off x="658368" y="1417320"/>
            <a:ext cx="7863840" cy="2011680"/>
          </a:xfrm>
          <a:prstGeom prst="rect">
            <a:avLst/>
          </a:prstGeom>
          <a:noFill/>
          <a:ln/>
        </p:spPr>
        <p:txBody>
          <a:bodyPr wrap="square" lIns="0" tIns="0" rIns="0" bIns="0" rtlCol="0" anchor="t"/>
          <a:lstStyle/>
          <a:p>
            <a:pPr indent="0" marL="0">
              <a:lnSpc>
                <a:spcPts val="6200"/>
              </a:lnSpc>
              <a:buNone/>
            </a:pPr>
            <a:r>
              <a:rPr lang="en-US" sz="4600" b="1" dirty="0">
                <a:solidFill>
                  <a:srgbClr val="FFFFFF"/>
                </a:solidFill>
                <a:latin typeface="Meiryo" pitchFamily="34" charset="0"/>
                <a:ea typeface="Meiryo" pitchFamily="34" charset="-122"/>
                <a:cs typeface="Meiryo" pitchFamily="34" charset="-120"/>
              </a:rPr>
              <a:t>八王子の森を、</a:t>
            </a:r>
            <a:endParaRPr lang="en-US" sz="4600" dirty="0"/>
          </a:p>
          <a:p>
            <a:pPr indent="0" marL="0">
              <a:lnSpc>
                <a:spcPts val="6200"/>
              </a:lnSpc>
              <a:buNone/>
            </a:pPr>
            <a:r>
              <a:rPr lang="en-US" sz="4600" b="1" dirty="0">
                <a:solidFill>
                  <a:srgbClr val="FFFFFF"/>
                </a:solidFill>
                <a:latin typeface="Meiryo" pitchFamily="34" charset="0"/>
                <a:ea typeface="Meiryo" pitchFamily="34" charset="-122"/>
                <a:cs typeface="Meiryo" pitchFamily="34" charset="-120"/>
              </a:rPr>
              <a:t>地域産業に。</a:t>
            </a:r>
            <a:endParaRPr lang="en-US" sz="4600" dirty="0"/>
          </a:p>
        </p:txBody>
      </p:sp>
      <p:sp>
        <p:nvSpPr>
          <p:cNvPr id="10" name="Text 8"/>
          <p:cNvSpPr txBox="1"/>
          <p:nvPr/>
        </p:nvSpPr>
        <p:spPr>
          <a:xfrm>
            <a:off x="658368" y="3611880"/>
            <a:ext cx="7863840" cy="365760"/>
          </a:xfrm>
          <a:prstGeom prst="rect">
            <a:avLst/>
          </a:prstGeom>
          <a:noFill/>
          <a:ln/>
        </p:spPr>
        <p:txBody>
          <a:bodyPr wrap="square" lIns="0" tIns="0" rIns="0" bIns="0" rtlCol="0" anchor="t"/>
          <a:lstStyle/>
          <a:p>
            <a:pPr indent="0" marL="0">
              <a:buNone/>
            </a:pPr>
            <a:r>
              <a:rPr lang="en-US" sz="1700" b="1" dirty="0">
                <a:solidFill>
                  <a:srgbClr val="8FB566"/>
                </a:solidFill>
                <a:latin typeface="Meiryo" pitchFamily="34" charset="0"/>
                <a:ea typeface="Meiryo" pitchFamily="34" charset="-122"/>
                <a:cs typeface="Meiryo" pitchFamily="34" charset="-120"/>
              </a:rPr>
              <a:t>企業版ふるさと納税を活用した「森の産業化」プロジェクト（案）</a:t>
            </a:r>
            <a:endParaRPr lang="en-US" sz="1700" dirty="0"/>
          </a:p>
        </p:txBody>
      </p:sp>
      <p:sp>
        <p:nvSpPr>
          <p:cNvPr id="11" name="Text 9"/>
          <p:cNvSpPr txBox="1"/>
          <p:nvPr/>
        </p:nvSpPr>
        <p:spPr>
          <a:xfrm>
            <a:off x="658368" y="4206240"/>
            <a:ext cx="7498080" cy="822960"/>
          </a:xfrm>
          <a:prstGeom prst="rect">
            <a:avLst/>
          </a:prstGeom>
          <a:noFill/>
          <a:ln/>
        </p:spPr>
        <p:txBody>
          <a:bodyPr wrap="square" lIns="0" tIns="0" rIns="0" bIns="0" rtlCol="0" anchor="t"/>
          <a:lstStyle/>
          <a:p>
            <a:pPr indent="0" marL="0">
              <a:lnSpc>
                <a:spcPts val="2400"/>
              </a:lnSpc>
              <a:buNone/>
            </a:pPr>
            <a:r>
              <a:rPr lang="en-US" sz="1300" dirty="0">
                <a:solidFill>
                  <a:srgbClr val="C7D6BC"/>
                </a:solidFill>
                <a:latin typeface="Meiryo" pitchFamily="34" charset="0"/>
                <a:ea typeface="Meiryo" pitchFamily="34" charset="-122"/>
                <a:cs typeface="Meiryo" pitchFamily="34" charset="-120"/>
              </a:rPr>
              <a:t>「森を守るためにお金を使う」から、</a:t>
            </a:r>
            <a:endParaRPr lang="en-US" sz="1300" dirty="0"/>
          </a:p>
          <a:p>
            <a:pPr indent="0" marL="0">
              <a:lnSpc>
                <a:spcPts val="2400"/>
              </a:lnSpc>
              <a:buNone/>
            </a:pPr>
            <a:r>
              <a:rPr lang="en-US" sz="1300" dirty="0">
                <a:solidFill>
                  <a:srgbClr val="C7D6BC"/>
                </a:solidFill>
                <a:latin typeface="Meiryo" pitchFamily="34" charset="0"/>
                <a:ea typeface="Meiryo" pitchFamily="34" charset="-122"/>
                <a:cs typeface="Meiryo" pitchFamily="34" charset="-120"/>
              </a:rPr>
              <a:t>「森から価値を生み、その価値で森を守る」へ。</a:t>
            </a:r>
            <a:endParaRPr lang="en-US" sz="1300" dirty="0"/>
          </a:p>
        </p:txBody>
      </p:sp>
      <p:sp>
        <p:nvSpPr>
          <p:cNvPr id="12" name="Text 10"/>
          <p:cNvSpPr txBox="1"/>
          <p:nvPr/>
        </p:nvSpPr>
        <p:spPr>
          <a:xfrm>
            <a:off x="658368" y="5943600"/>
            <a:ext cx="5486400" cy="274320"/>
          </a:xfrm>
          <a:prstGeom prst="rect">
            <a:avLst/>
          </a:prstGeom>
          <a:noFill/>
          <a:ln/>
        </p:spPr>
        <p:txBody>
          <a:bodyPr wrap="square" lIns="0" tIns="0" rIns="0" bIns="0" rtlCol="0" anchor="t"/>
          <a:lstStyle/>
          <a:p>
            <a:pPr indent="0" marL="0">
              <a:buNone/>
            </a:pPr>
            <a:r>
              <a:rPr lang="en-US" sz="1100" dirty="0">
                <a:solidFill>
                  <a:srgbClr val="9CB08F"/>
                </a:solidFill>
                <a:latin typeface="Meiryo" pitchFamily="34" charset="0"/>
                <a:ea typeface="Meiryo" pitchFamily="34" charset="-122"/>
                <a:cs typeface="Meiryo" pitchFamily="34" charset="-120"/>
              </a:rPr>
              <a:t>2026年9月　　株式会社森未来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PROPOSITION</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提案の核｜森への「支出」を、森からの「収入」に変える</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a:t>
            </a:r>
            <a:endParaRPr lang="en-US" sz="900" dirty="0"/>
          </a:p>
        </p:txBody>
      </p:sp>
      <p:sp>
        <p:nvSpPr>
          <p:cNvPr id="6" name="Shape 4"/>
          <p:cNvSpPr/>
          <p:nvPr/>
        </p:nvSpPr>
        <p:spPr>
          <a:xfrm>
            <a:off x="658368" y="1572768"/>
            <a:ext cx="4434840" cy="2761488"/>
          </a:xfrm>
          <a:prstGeom prst="roundRect">
            <a:avLst>
              <a:gd name="adj" fmla="val 2980"/>
            </a:avLst>
          </a:prstGeom>
          <a:solidFill>
            <a:srgbClr val="F4F6F1"/>
          </a:solidFill>
          <a:ln w="12700">
            <a:solidFill>
              <a:srgbClr val="DCE3D8"/>
            </a:solidFill>
            <a:prstDash val="solid"/>
          </a:ln>
        </p:spPr>
      </p:sp>
      <p:sp>
        <p:nvSpPr>
          <p:cNvPr id="7" name="Text 5"/>
          <p:cNvSpPr txBox="1"/>
          <p:nvPr/>
        </p:nvSpPr>
        <p:spPr>
          <a:xfrm>
            <a:off x="978408" y="1847088"/>
            <a:ext cx="3749040" cy="274320"/>
          </a:xfrm>
          <a:prstGeom prst="rect">
            <a:avLst/>
          </a:prstGeom>
          <a:noFill/>
          <a:ln/>
        </p:spPr>
        <p:txBody>
          <a:bodyPr wrap="square" lIns="0" tIns="0" rIns="0" bIns="0" rtlCol="0" anchor="t"/>
          <a:lstStyle/>
          <a:p>
            <a:pPr indent="0" marL="0">
              <a:buNone/>
            </a:pPr>
            <a:r>
              <a:rPr lang="en-US" sz="1200" b="1" dirty="0">
                <a:solidFill>
                  <a:srgbClr val="5F6B64"/>
                </a:solidFill>
                <a:latin typeface="Meiryo" pitchFamily="34" charset="0"/>
                <a:ea typeface="Meiryo" pitchFamily="34" charset="-122"/>
                <a:cs typeface="Meiryo" pitchFamily="34" charset="-120"/>
              </a:rPr>
              <a:t>これまでの構造</a:t>
            </a:r>
            <a:endParaRPr lang="en-US" sz="1200" dirty="0"/>
          </a:p>
        </p:txBody>
      </p:sp>
      <p:sp>
        <p:nvSpPr>
          <p:cNvPr id="8" name="Text 6"/>
          <p:cNvSpPr txBox="1"/>
          <p:nvPr/>
        </p:nvSpPr>
        <p:spPr>
          <a:xfrm>
            <a:off x="978408" y="2212848"/>
            <a:ext cx="3840480" cy="868680"/>
          </a:xfrm>
          <a:prstGeom prst="rect">
            <a:avLst/>
          </a:prstGeom>
          <a:noFill/>
          <a:ln/>
        </p:spPr>
        <p:txBody>
          <a:bodyPr wrap="square" lIns="0" tIns="0" rIns="0" bIns="0" rtlCol="0" anchor="t"/>
          <a:lstStyle/>
          <a:p>
            <a:pPr indent="0" marL="0">
              <a:lnSpc>
                <a:spcPts val="3200"/>
              </a:lnSpc>
              <a:buNone/>
            </a:pPr>
            <a:r>
              <a:rPr lang="en-US" sz="2200" b="1" dirty="0">
                <a:solidFill>
                  <a:srgbClr val="6B7A70"/>
                </a:solidFill>
                <a:latin typeface="Meiryo" pitchFamily="34" charset="0"/>
                <a:ea typeface="Meiryo" pitchFamily="34" charset="-122"/>
                <a:cs typeface="Meiryo" pitchFamily="34" charset="-120"/>
              </a:rPr>
              <a:t>森を守るために</a:t>
            </a:r>
            <a:endParaRPr lang="en-US" sz="2200" dirty="0"/>
          </a:p>
          <a:p>
            <a:pPr indent="0" marL="0">
              <a:lnSpc>
                <a:spcPts val="3200"/>
              </a:lnSpc>
              <a:buNone/>
            </a:pPr>
            <a:r>
              <a:rPr lang="en-US" sz="2200" b="1" dirty="0">
                <a:solidFill>
                  <a:srgbClr val="6B7A70"/>
                </a:solidFill>
                <a:latin typeface="Meiryo" pitchFamily="34" charset="0"/>
                <a:ea typeface="Meiryo" pitchFamily="34" charset="-122"/>
                <a:cs typeface="Meiryo" pitchFamily="34" charset="-120"/>
              </a:rPr>
              <a:t>お金を使う</a:t>
            </a:r>
            <a:endParaRPr lang="en-US" sz="2200" dirty="0"/>
          </a:p>
        </p:txBody>
      </p:sp>
      <p:sp>
        <p:nvSpPr>
          <p:cNvPr id="9" name="Text 7"/>
          <p:cNvSpPr txBox="1"/>
          <p:nvPr/>
        </p:nvSpPr>
        <p:spPr>
          <a:xfrm>
            <a:off x="978408" y="3246120"/>
            <a:ext cx="3794760" cy="118872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00" dirty="0">
                <a:solidFill>
                  <a:srgbClr val="6B7A70"/>
                </a:solidFill>
                <a:latin typeface="Meiryo" pitchFamily="34" charset="0"/>
                <a:ea typeface="Meiryo" pitchFamily="34" charset="-122"/>
                <a:cs typeface="Meiryo" pitchFamily="34" charset="-120"/>
              </a:rPr>
              <a:t>補助金・森林環境譲与税を原資に整備を継続</a:t>
            </a:r>
            <a:endParaRPr lang="en-US" sz="1100" dirty="0"/>
          </a:p>
          <a:p>
            <a:pPr marL="342900" indent="-342900">
              <a:lnSpc>
                <a:spcPts val="1800"/>
              </a:lnSpc>
              <a:spcAft>
                <a:spcPts val="700"/>
              </a:spcAft>
              <a:buSzPct val="100000"/>
              <a:buChar char="▪"/>
            </a:pPr>
            <a:r>
              <a:rPr lang="en-US" sz="1100" dirty="0">
                <a:solidFill>
                  <a:srgbClr val="6B7A70"/>
                </a:solidFill>
                <a:latin typeface="Meiryo" pitchFamily="34" charset="0"/>
                <a:ea typeface="Meiryo" pitchFamily="34" charset="-122"/>
                <a:cs typeface="Meiryo" pitchFamily="34" charset="-120"/>
              </a:rPr>
              <a:t>財源の上限が、そのまま整備量の上限になる</a:t>
            </a:r>
            <a:endParaRPr lang="en-US" sz="1100" dirty="0"/>
          </a:p>
          <a:p>
            <a:pPr marL="342900" indent="-342900">
              <a:lnSpc>
                <a:spcPts val="1800"/>
              </a:lnSpc>
              <a:spcAft>
                <a:spcPts val="700"/>
              </a:spcAft>
              <a:buSzPct val="100000"/>
              <a:buChar char="▪"/>
            </a:pPr>
            <a:r>
              <a:rPr lang="en-US" sz="1100" dirty="0">
                <a:solidFill>
                  <a:srgbClr val="6B7A70"/>
                </a:solidFill>
                <a:latin typeface="Meiryo" pitchFamily="34" charset="0"/>
                <a:ea typeface="Meiryo" pitchFamily="34" charset="-122"/>
                <a:cs typeface="Meiryo" pitchFamily="34" charset="-120"/>
              </a:rPr>
              <a:t>森が生む価値は、地域の収入になっていない</a:t>
            </a:r>
            <a:endParaRPr lang="en-US" sz="1100" dirty="0"/>
          </a:p>
        </p:txBody>
      </p:sp>
      <p:sp>
        <p:nvSpPr>
          <p:cNvPr id="10" name="Shape 8"/>
          <p:cNvSpPr/>
          <p:nvPr/>
        </p:nvSpPr>
        <p:spPr>
          <a:xfrm>
            <a:off x="5413248" y="2724912"/>
            <a:ext cx="777240" cy="457200"/>
          </a:xfrm>
          <a:prstGeom prst="rightArrow">
            <a:avLst/>
          </a:prstGeom>
          <a:solidFill>
            <a:srgbClr val="C1762C"/>
          </a:solidFill>
          <a:ln/>
        </p:spPr>
      </p:sp>
      <p:sp>
        <p:nvSpPr>
          <p:cNvPr id="11" name="Shape 9"/>
          <p:cNvSpPr/>
          <p:nvPr/>
        </p:nvSpPr>
        <p:spPr>
          <a:xfrm>
            <a:off x="6355080" y="1572768"/>
            <a:ext cx="5184648" cy="2761488"/>
          </a:xfrm>
          <a:prstGeom prst="roundRect">
            <a:avLst>
              <a:gd name="adj" fmla="val 2980"/>
            </a:avLst>
          </a:prstGeom>
          <a:solidFill>
            <a:srgbClr val="24512F"/>
          </a:solidFill>
          <a:ln/>
          <a:effectLst>
            <a:outerShdw sx="100000" sy="100000" kx="0" ky="0" algn="bl" rotWithShape="0" blurRad="127000" dist="25400" dir="5400000">
              <a:srgbClr val="1B3D24">
                <a:alpha val="10000"/>
              </a:srgbClr>
            </a:outerShdw>
          </a:effectLst>
        </p:spPr>
      </p:sp>
      <p:sp>
        <p:nvSpPr>
          <p:cNvPr id="12" name="Text 10"/>
          <p:cNvSpPr txBox="1"/>
          <p:nvPr/>
        </p:nvSpPr>
        <p:spPr>
          <a:xfrm>
            <a:off x="6675120" y="1847088"/>
            <a:ext cx="4572000" cy="274320"/>
          </a:xfrm>
          <a:prstGeom prst="rect">
            <a:avLst/>
          </a:prstGeom>
          <a:noFill/>
          <a:ln/>
        </p:spPr>
        <p:txBody>
          <a:bodyPr wrap="square" lIns="0" tIns="0" rIns="0" bIns="0" rtlCol="0" anchor="t"/>
          <a:lstStyle/>
          <a:p>
            <a:pPr indent="0" marL="0">
              <a:buNone/>
            </a:pPr>
            <a:r>
              <a:rPr lang="en-US" sz="1200" b="1" dirty="0">
                <a:solidFill>
                  <a:srgbClr val="8FB566"/>
                </a:solidFill>
                <a:latin typeface="Meiryo" pitchFamily="34" charset="0"/>
                <a:ea typeface="Meiryo" pitchFamily="34" charset="-122"/>
                <a:cs typeface="Meiryo" pitchFamily="34" charset="-120"/>
              </a:rPr>
              <a:t>これからの構造</a:t>
            </a:r>
            <a:endParaRPr lang="en-US" sz="1200" dirty="0"/>
          </a:p>
        </p:txBody>
      </p:sp>
      <p:sp>
        <p:nvSpPr>
          <p:cNvPr id="13" name="Text 11"/>
          <p:cNvSpPr txBox="1"/>
          <p:nvPr/>
        </p:nvSpPr>
        <p:spPr>
          <a:xfrm>
            <a:off x="6675120" y="2212848"/>
            <a:ext cx="4663440" cy="868680"/>
          </a:xfrm>
          <a:prstGeom prst="rect">
            <a:avLst/>
          </a:prstGeom>
          <a:noFill/>
          <a:ln/>
        </p:spPr>
        <p:txBody>
          <a:bodyPr wrap="square" lIns="0" tIns="0" rIns="0" bIns="0" rtlCol="0" anchor="t"/>
          <a:lstStyle/>
          <a:p>
            <a:pPr indent="0" marL="0">
              <a:lnSpc>
                <a:spcPts val="3200"/>
              </a:lnSpc>
              <a:buNone/>
            </a:pPr>
            <a:r>
              <a:rPr lang="en-US" sz="2200" b="1" dirty="0">
                <a:solidFill>
                  <a:srgbClr val="FFFFFF"/>
                </a:solidFill>
                <a:latin typeface="Meiryo" pitchFamily="34" charset="0"/>
                <a:ea typeface="Meiryo" pitchFamily="34" charset="-122"/>
                <a:cs typeface="Meiryo" pitchFamily="34" charset="-120"/>
              </a:rPr>
              <a:t>森から価値を生み、</a:t>
            </a:r>
            <a:endParaRPr lang="en-US" sz="2200" dirty="0"/>
          </a:p>
          <a:p>
            <a:pPr indent="0" marL="0">
              <a:lnSpc>
                <a:spcPts val="3200"/>
              </a:lnSpc>
              <a:buNone/>
            </a:pPr>
            <a:r>
              <a:rPr lang="en-US" sz="2200" b="1" dirty="0">
                <a:solidFill>
                  <a:srgbClr val="FFFFFF"/>
                </a:solidFill>
                <a:latin typeface="Meiryo" pitchFamily="34" charset="0"/>
                <a:ea typeface="Meiryo" pitchFamily="34" charset="-122"/>
                <a:cs typeface="Meiryo" pitchFamily="34" charset="-120"/>
              </a:rPr>
              <a:t>その価値で森を守る</a:t>
            </a:r>
            <a:endParaRPr lang="en-US" sz="2200" dirty="0"/>
          </a:p>
        </p:txBody>
      </p:sp>
      <p:sp>
        <p:nvSpPr>
          <p:cNvPr id="14" name="Text 12"/>
          <p:cNvSpPr txBox="1"/>
          <p:nvPr/>
        </p:nvSpPr>
        <p:spPr>
          <a:xfrm>
            <a:off x="6675120" y="3246120"/>
            <a:ext cx="4572000" cy="118872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00" dirty="0">
                <a:solidFill>
                  <a:srgbClr val="DCE9D2"/>
                </a:solidFill>
                <a:latin typeface="Meiryo" pitchFamily="34" charset="0"/>
                <a:ea typeface="Meiryo" pitchFamily="34" charset="-122"/>
                <a:cs typeface="Meiryo" pitchFamily="34" charset="-120"/>
              </a:rPr>
              <a:t>木材と環境価値の販売収益を森林整備へ還流</a:t>
            </a:r>
            <a:endParaRPr lang="en-US" sz="1100" dirty="0"/>
          </a:p>
          <a:p>
            <a:pPr marL="342900" indent="-342900">
              <a:lnSpc>
                <a:spcPts val="1800"/>
              </a:lnSpc>
              <a:spcAft>
                <a:spcPts val="700"/>
              </a:spcAft>
              <a:buSzPct val="100000"/>
              <a:buChar char="▪"/>
            </a:pPr>
            <a:r>
              <a:rPr lang="en-US" sz="1100" dirty="0">
                <a:solidFill>
                  <a:srgbClr val="DCE9D2"/>
                </a:solidFill>
                <a:latin typeface="Meiryo" pitchFamily="34" charset="0"/>
                <a:ea typeface="Meiryo" pitchFamily="34" charset="-122"/>
                <a:cs typeface="Meiryo" pitchFamily="34" charset="-120"/>
              </a:rPr>
              <a:t>需要が増えるほど、整備できる森が増える</a:t>
            </a:r>
            <a:endParaRPr lang="en-US" sz="1100" dirty="0"/>
          </a:p>
          <a:p>
            <a:pPr marL="342900" indent="-342900">
              <a:lnSpc>
                <a:spcPts val="1800"/>
              </a:lnSpc>
              <a:spcAft>
                <a:spcPts val="700"/>
              </a:spcAft>
              <a:buSzPct val="100000"/>
              <a:buChar char="▪"/>
            </a:pPr>
            <a:r>
              <a:rPr lang="en-US" sz="1100" dirty="0">
                <a:solidFill>
                  <a:srgbClr val="DCE9D2"/>
                </a:solidFill>
                <a:latin typeface="Meiryo" pitchFamily="34" charset="0"/>
                <a:ea typeface="Meiryo" pitchFamily="34" charset="-122"/>
                <a:cs typeface="Meiryo" pitchFamily="34" charset="-120"/>
              </a:rPr>
              <a:t>企業・市民・公共施設が「森の担い手」になる</a:t>
            </a:r>
            <a:endParaRPr lang="en-US" sz="1100" dirty="0"/>
          </a:p>
        </p:txBody>
      </p:sp>
      <p:sp>
        <p:nvSpPr>
          <p:cNvPr id="15" name="Shape 13"/>
          <p:cNvSpPr/>
          <p:nvPr/>
        </p:nvSpPr>
        <p:spPr>
          <a:xfrm>
            <a:off x="658368" y="4663440"/>
            <a:ext cx="10874959" cy="960120"/>
          </a:xfrm>
          <a:prstGeom prst="roundRect">
            <a:avLst>
              <a:gd name="adj" fmla="val 8571"/>
            </a:avLst>
          </a:prstGeom>
          <a:solidFill>
            <a:srgbClr val="FAEEDF"/>
          </a:solidFill>
          <a:ln/>
        </p:spPr>
      </p:sp>
      <p:sp>
        <p:nvSpPr>
          <p:cNvPr id="16" name="Text 14"/>
          <p:cNvSpPr txBox="1"/>
          <p:nvPr/>
        </p:nvSpPr>
        <p:spPr>
          <a:xfrm>
            <a:off x="978408" y="4846320"/>
            <a:ext cx="3017520" cy="256032"/>
          </a:xfrm>
          <a:prstGeom prst="rect">
            <a:avLst/>
          </a:prstGeom>
          <a:noFill/>
          <a:ln/>
        </p:spPr>
        <p:txBody>
          <a:bodyPr wrap="square" lIns="0" tIns="0" rIns="0" bIns="0" rtlCol="0" anchor="t"/>
          <a:lstStyle/>
          <a:p>
            <a:pPr indent="0" marL="0">
              <a:buNone/>
            </a:pPr>
            <a:r>
              <a:rPr lang="en-US" sz="1100" b="1" dirty="0">
                <a:solidFill>
                  <a:srgbClr val="C1762C"/>
                </a:solidFill>
                <a:latin typeface="Meiryo" pitchFamily="34" charset="0"/>
                <a:ea typeface="Meiryo" pitchFamily="34" charset="-122"/>
                <a:cs typeface="Meiryo" pitchFamily="34" charset="-120"/>
              </a:rPr>
              <a:t>企業版ふるさと納税の位置づけ</a:t>
            </a:r>
            <a:endParaRPr lang="en-US" sz="1100" dirty="0"/>
          </a:p>
        </p:txBody>
      </p:sp>
      <p:sp>
        <p:nvSpPr>
          <p:cNvPr id="17" name="Text 15"/>
          <p:cNvSpPr txBox="1"/>
          <p:nvPr/>
        </p:nvSpPr>
        <p:spPr>
          <a:xfrm>
            <a:off x="978408" y="5157216"/>
            <a:ext cx="10234879" cy="329184"/>
          </a:xfrm>
          <a:prstGeom prst="rect">
            <a:avLst/>
          </a:prstGeom>
          <a:noFill/>
          <a:ln/>
        </p:spPr>
        <p:txBody>
          <a:bodyPr wrap="square" lIns="0" tIns="0" rIns="0" bIns="0" rtlCol="0" anchor="t"/>
          <a:lstStyle/>
          <a:p>
            <a:pPr indent="0" marL="0">
              <a:buNone/>
            </a:pPr>
            <a:r>
              <a:rPr lang="en-US" sz="1300" b="1" dirty="0">
                <a:solidFill>
                  <a:srgbClr val="1B3D24"/>
                </a:solidFill>
                <a:latin typeface="Meiryo" pitchFamily="34" charset="0"/>
                <a:ea typeface="Meiryo" pitchFamily="34" charset="-122"/>
                <a:cs typeface="Meiryo" pitchFamily="34" charset="-120"/>
              </a:rPr>
              <a:t>単年度の「森林整備費」ではなく、森林から生まれる価値を地域内で循環させる仕組みをつくるための初期投資として活用する。</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CONTENTS</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本日の流れ</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a:t>
            </a:r>
            <a:endParaRPr lang="en-US" sz="900" dirty="0"/>
          </a:p>
        </p:txBody>
      </p:sp>
      <p:sp>
        <p:nvSpPr>
          <p:cNvPr id="6" name="Shape 4"/>
          <p:cNvSpPr/>
          <p:nvPr/>
        </p:nvSpPr>
        <p:spPr>
          <a:xfrm>
            <a:off x="658368" y="1783080"/>
            <a:ext cx="2578608" cy="3017520"/>
          </a:xfrm>
          <a:prstGeom prst="roundRect">
            <a:avLst>
              <a:gd name="adj" fmla="val 3191"/>
            </a:avLst>
          </a:prstGeom>
          <a:solidFill>
            <a:srgbClr val="F4F6F1"/>
          </a:solidFill>
          <a:ln w="12700">
            <a:solidFill>
              <a:srgbClr val="DCE3D8"/>
            </a:solidFill>
            <a:prstDash val="solid"/>
          </a:ln>
        </p:spPr>
      </p:sp>
      <p:sp>
        <p:nvSpPr>
          <p:cNvPr id="7" name="Shape 5"/>
          <p:cNvSpPr/>
          <p:nvPr/>
        </p:nvSpPr>
        <p:spPr>
          <a:xfrm>
            <a:off x="914400" y="2048256"/>
            <a:ext cx="658368" cy="658368"/>
          </a:xfrm>
          <a:prstGeom prst="ellipse">
            <a:avLst/>
          </a:prstGeom>
          <a:solidFill>
            <a:srgbClr val="8FB566"/>
          </a:solidFill>
          <a:ln/>
        </p:spPr>
      </p:sp>
      <p:sp>
        <p:nvSpPr>
          <p:cNvPr id="8" name="Text 6"/>
          <p:cNvSpPr txBox="1"/>
          <p:nvPr/>
        </p:nvSpPr>
        <p:spPr>
          <a:xfrm>
            <a:off x="914400" y="204825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9" name="Text 7"/>
          <p:cNvSpPr txBox="1"/>
          <p:nvPr/>
        </p:nvSpPr>
        <p:spPr>
          <a:xfrm>
            <a:off x="914400" y="2907792"/>
            <a:ext cx="2121408" cy="822960"/>
          </a:xfrm>
          <a:prstGeom prst="rect">
            <a:avLst/>
          </a:prstGeom>
          <a:noFill/>
          <a:ln/>
        </p:spPr>
        <p:txBody>
          <a:bodyPr wrap="square" lIns="0" tIns="0" rIns="0" bIns="0" rtlCol="0" anchor="t"/>
          <a:lstStyle/>
          <a:p>
            <a:pPr indent="0" marL="0">
              <a:lnSpc>
                <a:spcPts val="2100"/>
              </a:lnSpc>
              <a:buNone/>
            </a:pPr>
            <a:r>
              <a:rPr lang="en-US" sz="1400" b="1" dirty="0">
                <a:solidFill>
                  <a:srgbClr val="1B3D24"/>
                </a:solidFill>
                <a:latin typeface="Meiryo" pitchFamily="34" charset="0"/>
                <a:ea typeface="Meiryo" pitchFamily="34" charset="-122"/>
                <a:cs typeface="Meiryo" pitchFamily="34" charset="-120"/>
              </a:rPr>
              <a:t>八王子市の森林の課題</a:t>
            </a:r>
            <a:endParaRPr lang="en-US" sz="1400" dirty="0"/>
          </a:p>
        </p:txBody>
      </p:sp>
      <p:sp>
        <p:nvSpPr>
          <p:cNvPr id="10" name="Text 8"/>
          <p:cNvSpPr txBox="1"/>
          <p:nvPr/>
        </p:nvSpPr>
        <p:spPr>
          <a:xfrm>
            <a:off x="914400" y="3785616"/>
            <a:ext cx="2121408" cy="86868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資源はあるが、担い手・出口・接続の3点が欠けている</a:t>
            </a:r>
            <a:endParaRPr lang="en-US" sz="1050" dirty="0"/>
          </a:p>
        </p:txBody>
      </p:sp>
      <p:sp>
        <p:nvSpPr>
          <p:cNvPr id="11" name="Shape 9"/>
          <p:cNvSpPr/>
          <p:nvPr/>
        </p:nvSpPr>
        <p:spPr>
          <a:xfrm>
            <a:off x="3451860" y="1783080"/>
            <a:ext cx="2578608" cy="3017520"/>
          </a:xfrm>
          <a:prstGeom prst="roundRect">
            <a:avLst>
              <a:gd name="adj" fmla="val 3191"/>
            </a:avLst>
          </a:prstGeom>
          <a:solidFill>
            <a:srgbClr val="F4F6F1"/>
          </a:solidFill>
          <a:ln w="12700">
            <a:solidFill>
              <a:srgbClr val="DCE3D8"/>
            </a:solidFill>
            <a:prstDash val="solid"/>
          </a:ln>
        </p:spPr>
      </p:sp>
      <p:sp>
        <p:nvSpPr>
          <p:cNvPr id="12" name="Shape 10"/>
          <p:cNvSpPr/>
          <p:nvPr/>
        </p:nvSpPr>
        <p:spPr>
          <a:xfrm>
            <a:off x="3707892" y="2048256"/>
            <a:ext cx="658368" cy="658368"/>
          </a:xfrm>
          <a:prstGeom prst="ellipse">
            <a:avLst/>
          </a:prstGeom>
          <a:solidFill>
            <a:srgbClr val="8FB566"/>
          </a:solidFill>
          <a:ln/>
        </p:spPr>
      </p:sp>
      <p:sp>
        <p:nvSpPr>
          <p:cNvPr id="13" name="Text 11"/>
          <p:cNvSpPr txBox="1"/>
          <p:nvPr/>
        </p:nvSpPr>
        <p:spPr>
          <a:xfrm>
            <a:off x="3707892" y="204825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14" name="Text 12"/>
          <p:cNvSpPr txBox="1"/>
          <p:nvPr/>
        </p:nvSpPr>
        <p:spPr>
          <a:xfrm>
            <a:off x="3707892" y="2907792"/>
            <a:ext cx="2121408" cy="822960"/>
          </a:xfrm>
          <a:prstGeom prst="rect">
            <a:avLst/>
          </a:prstGeom>
          <a:noFill/>
          <a:ln/>
        </p:spPr>
        <p:txBody>
          <a:bodyPr wrap="square" lIns="0" tIns="0" rIns="0" bIns="0" rtlCol="0" anchor="t"/>
          <a:lstStyle/>
          <a:p>
            <a:pPr indent="0" marL="0">
              <a:lnSpc>
                <a:spcPts val="2100"/>
              </a:lnSpc>
              <a:buNone/>
            </a:pPr>
            <a:r>
              <a:rPr lang="en-US" sz="1400" b="1" dirty="0">
                <a:solidFill>
                  <a:srgbClr val="1B3D24"/>
                </a:solidFill>
                <a:latin typeface="Meiryo" pitchFamily="34" charset="0"/>
                <a:ea typeface="Meiryo" pitchFamily="34" charset="-122"/>
                <a:cs typeface="Meiryo" pitchFamily="34" charset="-120"/>
              </a:rPr>
              <a:t>これまでの取り組み</a:t>
            </a:r>
            <a:endParaRPr lang="en-US" sz="1400" dirty="0"/>
          </a:p>
        </p:txBody>
      </p:sp>
      <p:sp>
        <p:nvSpPr>
          <p:cNvPr id="15" name="Text 13"/>
          <p:cNvSpPr txBox="1"/>
          <p:nvPr/>
        </p:nvSpPr>
        <p:spPr>
          <a:xfrm>
            <a:off x="3707892" y="3785616"/>
            <a:ext cx="2121408" cy="86868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森林環境譲与税、多摩の森、多摩産材利用、木育——既に多面的</a:t>
            </a:r>
            <a:endParaRPr lang="en-US" sz="1050" dirty="0"/>
          </a:p>
        </p:txBody>
      </p:sp>
      <p:sp>
        <p:nvSpPr>
          <p:cNvPr id="16" name="Shape 14"/>
          <p:cNvSpPr/>
          <p:nvPr/>
        </p:nvSpPr>
        <p:spPr>
          <a:xfrm>
            <a:off x="6245352" y="1783080"/>
            <a:ext cx="2578608" cy="3017520"/>
          </a:xfrm>
          <a:prstGeom prst="roundRect">
            <a:avLst>
              <a:gd name="adj" fmla="val 3191"/>
            </a:avLst>
          </a:prstGeom>
          <a:solidFill>
            <a:srgbClr val="F4F6F1"/>
          </a:solidFill>
          <a:ln w="12700">
            <a:solidFill>
              <a:srgbClr val="DCE3D8"/>
            </a:solidFill>
            <a:prstDash val="solid"/>
          </a:ln>
        </p:spPr>
      </p:sp>
      <p:sp>
        <p:nvSpPr>
          <p:cNvPr id="17" name="Shape 15"/>
          <p:cNvSpPr/>
          <p:nvPr/>
        </p:nvSpPr>
        <p:spPr>
          <a:xfrm>
            <a:off x="6501384" y="2048256"/>
            <a:ext cx="658368" cy="658368"/>
          </a:xfrm>
          <a:prstGeom prst="ellipse">
            <a:avLst/>
          </a:prstGeom>
          <a:solidFill>
            <a:srgbClr val="8FB566"/>
          </a:solidFill>
          <a:ln/>
        </p:spPr>
      </p:sp>
      <p:sp>
        <p:nvSpPr>
          <p:cNvPr id="18" name="Text 16"/>
          <p:cNvSpPr txBox="1"/>
          <p:nvPr/>
        </p:nvSpPr>
        <p:spPr>
          <a:xfrm>
            <a:off x="6501384" y="204825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19" name="Text 17"/>
          <p:cNvSpPr txBox="1"/>
          <p:nvPr/>
        </p:nvSpPr>
        <p:spPr>
          <a:xfrm>
            <a:off x="6501384" y="2907792"/>
            <a:ext cx="2121408" cy="822960"/>
          </a:xfrm>
          <a:prstGeom prst="rect">
            <a:avLst/>
          </a:prstGeom>
          <a:noFill/>
          <a:ln/>
        </p:spPr>
        <p:txBody>
          <a:bodyPr wrap="square" lIns="0" tIns="0" rIns="0" bIns="0" rtlCol="0" anchor="t"/>
          <a:lstStyle/>
          <a:p>
            <a:pPr indent="0" marL="0">
              <a:lnSpc>
                <a:spcPts val="2100"/>
              </a:lnSpc>
              <a:buNone/>
            </a:pPr>
            <a:r>
              <a:rPr lang="en-US" sz="1400" b="1" dirty="0">
                <a:solidFill>
                  <a:srgbClr val="1B3D24"/>
                </a:solidFill>
                <a:latin typeface="Meiryo" pitchFamily="34" charset="0"/>
                <a:ea typeface="Meiryo" pitchFamily="34" charset="-122"/>
                <a:cs typeface="Meiryo" pitchFamily="34" charset="-120"/>
              </a:rPr>
              <a:t>それでも残る課題</a:t>
            </a:r>
            <a:endParaRPr lang="en-US" sz="1400" dirty="0"/>
          </a:p>
        </p:txBody>
      </p:sp>
      <p:sp>
        <p:nvSpPr>
          <p:cNvPr id="20" name="Text 18"/>
          <p:cNvSpPr txBox="1"/>
          <p:nvPr/>
        </p:nvSpPr>
        <p:spPr>
          <a:xfrm>
            <a:off x="6501384" y="3785616"/>
            <a:ext cx="2121408" cy="86868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取り組みが足りないのではなく、取り組みがつながっていない</a:t>
            </a:r>
            <a:endParaRPr lang="en-US" sz="1050" dirty="0"/>
          </a:p>
        </p:txBody>
      </p:sp>
      <p:sp>
        <p:nvSpPr>
          <p:cNvPr id="21" name="Shape 19"/>
          <p:cNvSpPr/>
          <p:nvPr/>
        </p:nvSpPr>
        <p:spPr>
          <a:xfrm>
            <a:off x="9038844" y="1783080"/>
            <a:ext cx="2578608" cy="3017520"/>
          </a:xfrm>
          <a:prstGeom prst="roundRect">
            <a:avLst>
              <a:gd name="adj" fmla="val 3191"/>
            </a:avLst>
          </a:prstGeom>
          <a:solidFill>
            <a:srgbClr val="24512F"/>
          </a:solidFill>
          <a:ln/>
          <a:effectLst>
            <a:outerShdw sx="100000" sy="100000" kx="0" ky="0" algn="bl" rotWithShape="0" blurRad="127000" dist="25400" dir="5400000">
              <a:srgbClr val="1B3D24">
                <a:alpha val="10000"/>
              </a:srgbClr>
            </a:outerShdw>
          </a:effectLst>
        </p:spPr>
      </p:sp>
      <p:sp>
        <p:nvSpPr>
          <p:cNvPr id="22" name="Shape 20"/>
          <p:cNvSpPr/>
          <p:nvPr/>
        </p:nvSpPr>
        <p:spPr>
          <a:xfrm>
            <a:off x="9294876" y="2048256"/>
            <a:ext cx="658368" cy="658368"/>
          </a:xfrm>
          <a:prstGeom prst="ellipse">
            <a:avLst/>
          </a:prstGeom>
          <a:solidFill>
            <a:srgbClr val="C1762C"/>
          </a:solidFill>
          <a:ln/>
        </p:spPr>
      </p:sp>
      <p:sp>
        <p:nvSpPr>
          <p:cNvPr id="23" name="Text 21"/>
          <p:cNvSpPr txBox="1"/>
          <p:nvPr/>
        </p:nvSpPr>
        <p:spPr>
          <a:xfrm>
            <a:off x="9294876" y="204825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04</a:t>
            </a:r>
            <a:endParaRPr lang="en-US" sz="1800" dirty="0"/>
          </a:p>
        </p:txBody>
      </p:sp>
      <p:sp>
        <p:nvSpPr>
          <p:cNvPr id="24" name="Text 22"/>
          <p:cNvSpPr txBox="1"/>
          <p:nvPr/>
        </p:nvSpPr>
        <p:spPr>
          <a:xfrm>
            <a:off x="9294876" y="2907792"/>
            <a:ext cx="2121408" cy="822960"/>
          </a:xfrm>
          <a:prstGeom prst="rect">
            <a:avLst/>
          </a:prstGeom>
          <a:noFill/>
          <a:ln/>
        </p:spPr>
        <p:txBody>
          <a:bodyPr wrap="square" lIns="0" tIns="0" rIns="0" bIns="0" rtlCol="0" anchor="t"/>
          <a:lstStyle/>
          <a:p>
            <a:pPr indent="0" marL="0">
              <a:lnSpc>
                <a:spcPts val="2100"/>
              </a:lnSpc>
              <a:buNone/>
            </a:pPr>
            <a:r>
              <a:rPr lang="en-US" sz="1400" b="1" dirty="0">
                <a:solidFill>
                  <a:srgbClr val="FFFFFF"/>
                </a:solidFill>
                <a:latin typeface="Meiryo" pitchFamily="34" charset="0"/>
                <a:ea typeface="Meiryo" pitchFamily="34" charset="-122"/>
                <a:cs typeface="Meiryo" pitchFamily="34" charset="-120"/>
              </a:rPr>
              <a:t>企業版ふるさと納税で</a:t>
            </a:r>
            <a:endParaRPr lang="en-US" sz="1400" dirty="0"/>
          </a:p>
          <a:p>
            <a:pPr indent="0" marL="0">
              <a:lnSpc>
                <a:spcPts val="2100"/>
              </a:lnSpc>
              <a:buNone/>
            </a:pPr>
            <a:r>
              <a:rPr lang="en-US" sz="1400" b="1" dirty="0">
                <a:solidFill>
                  <a:srgbClr val="FFFFFF"/>
                </a:solidFill>
                <a:latin typeface="Meiryo" pitchFamily="34" charset="0"/>
                <a:ea typeface="Meiryo" pitchFamily="34" charset="-122"/>
                <a:cs typeface="Meiryo" pitchFamily="34" charset="-120"/>
              </a:rPr>
              <a:t>何を変えるか</a:t>
            </a:r>
            <a:endParaRPr lang="en-US" sz="1400" dirty="0"/>
          </a:p>
        </p:txBody>
      </p:sp>
      <p:sp>
        <p:nvSpPr>
          <p:cNvPr id="25" name="Text 23"/>
          <p:cNvSpPr txBox="1"/>
          <p:nvPr/>
        </p:nvSpPr>
        <p:spPr>
          <a:xfrm>
            <a:off x="9294876" y="3785616"/>
            <a:ext cx="2121408" cy="868680"/>
          </a:xfrm>
          <a:prstGeom prst="rect">
            <a:avLst/>
          </a:prstGeom>
          <a:noFill/>
          <a:ln/>
        </p:spPr>
        <p:txBody>
          <a:bodyPr wrap="square" lIns="0" tIns="0" rIns="0" bIns="0" rtlCol="0" anchor="t"/>
          <a:lstStyle/>
          <a:p>
            <a:pPr indent="0" marL="0">
              <a:lnSpc>
                <a:spcPts val="1600"/>
              </a:lnSpc>
              <a:buNone/>
            </a:pPr>
            <a:r>
              <a:rPr lang="en-US" sz="1050" dirty="0">
                <a:solidFill>
                  <a:srgbClr val="DCE9D2"/>
                </a:solidFill>
                <a:latin typeface="Meiryo" pitchFamily="34" charset="0"/>
                <a:ea typeface="Meiryo" pitchFamily="34" charset="-122"/>
                <a:cs typeface="Meiryo" pitchFamily="34" charset="-120"/>
              </a:rPr>
              <a:t>循環をつくる初期投資として使う。6つの施策と5年のロードマップ</a:t>
            </a:r>
            <a:endParaRPr lang="en-US" sz="1050" dirty="0"/>
          </a:p>
        </p:txBody>
      </p:sp>
      <p:sp>
        <p:nvSpPr>
          <p:cNvPr id="26" name="Text 24"/>
          <p:cNvSpPr txBox="1"/>
          <p:nvPr/>
        </p:nvSpPr>
        <p:spPr>
          <a:xfrm>
            <a:off x="658368" y="5138928"/>
            <a:ext cx="10874959" cy="274320"/>
          </a:xfrm>
          <a:prstGeom prst="rect">
            <a:avLst/>
          </a:prstGeom>
          <a:noFill/>
          <a:ln/>
        </p:spPr>
        <p:txBody>
          <a:bodyPr wrap="square" lIns="0" tIns="0" rIns="0" bIns="0" rtlCol="0" anchor="t"/>
          <a:lstStyle/>
          <a:p>
            <a:pPr indent="0" marL="0">
              <a:buNone/>
            </a:pPr>
            <a:r>
              <a:rPr lang="en-US" sz="1150" dirty="0">
                <a:solidFill>
                  <a:srgbClr val="5F6B64"/>
                </a:solidFill>
                <a:latin typeface="Meiryo" pitchFamily="34" charset="0"/>
                <a:ea typeface="Meiryo" pitchFamily="34" charset="-122"/>
                <a:cs typeface="Meiryo" pitchFamily="34" charset="-120"/>
              </a:rPr>
              <a:t>第1〜3章で現状認識をそろえ、第4章で企業版ふるさと納税を使った具体的な事業案を提示します。</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51A"/>
        </a:solidFill>
      </p:bgPr>
    </p:bg>
    <p:spTree>
      <p:nvGrpSpPr>
        <p:cNvPr id="1" name=""/>
        <p:cNvGrpSpPr/>
        <p:nvPr/>
      </p:nvGrpSpPr>
      <p:grpSpPr>
        <a:xfrm>
          <a:off x="0" y="0"/>
          <a:ext cx="0" cy="0"/>
          <a:chOff x="0" y="0"/>
          <a:chExt cx="0" cy="0"/>
        </a:xfrm>
      </p:grpSpPr>
      <p:sp>
        <p:nvSpPr>
          <p:cNvPr id="2" name="Shape 0"/>
          <p:cNvSpPr/>
          <p:nvPr/>
        </p:nvSpPr>
        <p:spPr>
          <a:xfrm>
            <a:off x="10058400" y="2606040"/>
            <a:ext cx="1645920" cy="1645920"/>
          </a:xfrm>
          <a:prstGeom prst="ellipse">
            <a:avLst/>
          </a:prstGeom>
          <a:solidFill>
            <a:srgbClr val="FFFFFF">
              <a:alpha val="0"/>
            </a:srgbClr>
          </a:solidFill>
          <a:ln w="15875">
            <a:solidFill>
              <a:srgbClr val="8FB566">
                <a:alpha val="24000"/>
              </a:srgbClr>
            </a:solidFill>
            <a:prstDash val="solid"/>
          </a:ln>
        </p:spPr>
      </p:sp>
      <p:sp>
        <p:nvSpPr>
          <p:cNvPr id="3" name="Shape 1"/>
          <p:cNvSpPr/>
          <p:nvPr/>
        </p:nvSpPr>
        <p:spPr>
          <a:xfrm>
            <a:off x="9464040" y="2011680"/>
            <a:ext cx="2834640" cy="2834640"/>
          </a:xfrm>
          <a:prstGeom prst="ellipse">
            <a:avLst/>
          </a:prstGeom>
          <a:solidFill>
            <a:srgbClr val="FFFFFF">
              <a:alpha val="0"/>
            </a:srgbClr>
          </a:solidFill>
          <a:ln w="15875">
            <a:solidFill>
              <a:srgbClr val="8FB566">
                <a:alpha val="24000"/>
              </a:srgbClr>
            </a:solidFill>
            <a:prstDash val="solid"/>
          </a:ln>
        </p:spPr>
      </p:sp>
      <p:sp>
        <p:nvSpPr>
          <p:cNvPr id="4" name="Shape 2"/>
          <p:cNvSpPr/>
          <p:nvPr/>
        </p:nvSpPr>
        <p:spPr>
          <a:xfrm>
            <a:off x="8869680" y="1417320"/>
            <a:ext cx="4023360" cy="4023360"/>
          </a:xfrm>
          <a:prstGeom prst="ellipse">
            <a:avLst/>
          </a:prstGeom>
          <a:solidFill>
            <a:srgbClr val="FFFFFF">
              <a:alpha val="0"/>
            </a:srgbClr>
          </a:solidFill>
          <a:ln w="15875">
            <a:solidFill>
              <a:srgbClr val="8FB566">
                <a:alpha val="24000"/>
              </a:srgbClr>
            </a:solidFill>
            <a:prstDash val="solid"/>
          </a:ln>
        </p:spPr>
      </p:sp>
      <p:sp>
        <p:nvSpPr>
          <p:cNvPr id="5" name="Shape 3"/>
          <p:cNvSpPr/>
          <p:nvPr/>
        </p:nvSpPr>
        <p:spPr>
          <a:xfrm>
            <a:off x="8275320" y="822960"/>
            <a:ext cx="5212080" cy="5212080"/>
          </a:xfrm>
          <a:prstGeom prst="ellipse">
            <a:avLst/>
          </a:prstGeom>
          <a:solidFill>
            <a:srgbClr val="FFFFFF">
              <a:alpha val="0"/>
            </a:srgbClr>
          </a:solidFill>
          <a:ln w="15875">
            <a:solidFill>
              <a:srgbClr val="8FB566">
                <a:alpha val="24000"/>
              </a:srgbClr>
            </a:solidFill>
            <a:prstDash val="solid"/>
          </a:ln>
        </p:spPr>
      </p:sp>
      <p:sp>
        <p:nvSpPr>
          <p:cNvPr id="6" name="Shape 4"/>
          <p:cNvSpPr/>
          <p:nvPr/>
        </p:nvSpPr>
        <p:spPr>
          <a:xfrm>
            <a:off x="7680960" y="228600"/>
            <a:ext cx="6400800" cy="6400800"/>
          </a:xfrm>
          <a:prstGeom prst="ellipse">
            <a:avLst/>
          </a:prstGeom>
          <a:solidFill>
            <a:srgbClr val="FFFFFF">
              <a:alpha val="0"/>
            </a:srgbClr>
          </a:solidFill>
          <a:ln w="15875">
            <a:solidFill>
              <a:srgbClr val="8FB566">
                <a:alpha val="24000"/>
              </a:srgbClr>
            </a:solidFill>
            <a:prstDash val="solid"/>
          </a:ln>
        </p:spPr>
      </p:sp>
      <p:sp>
        <p:nvSpPr>
          <p:cNvPr id="7" name="Text 5"/>
          <p:cNvSpPr txBox="1"/>
          <p:nvPr/>
        </p:nvSpPr>
        <p:spPr>
          <a:xfrm>
            <a:off x="658368" y="1737360"/>
            <a:ext cx="2743200" cy="1325880"/>
          </a:xfrm>
          <a:prstGeom prst="rect">
            <a:avLst/>
          </a:prstGeom>
          <a:noFill/>
          <a:ln/>
        </p:spPr>
        <p:txBody>
          <a:bodyPr wrap="square" lIns="0" tIns="0" rIns="0" bIns="0" rtlCol="0" anchor="t"/>
          <a:lstStyle/>
          <a:p>
            <a:pPr indent="0" marL="0">
              <a:buNone/>
            </a:pPr>
            <a:r>
              <a:rPr lang="en-US" sz="7600" b="1" dirty="0">
                <a:solidFill>
                  <a:srgbClr val="C1762C"/>
                </a:solidFill>
                <a:latin typeface="Meiryo" pitchFamily="34" charset="0"/>
                <a:ea typeface="Meiryo" pitchFamily="34" charset="-122"/>
                <a:cs typeface="Meiryo" pitchFamily="34" charset="-120"/>
              </a:rPr>
              <a:t>01</a:t>
            </a:r>
            <a:endParaRPr lang="en-US" sz="7600" dirty="0"/>
          </a:p>
        </p:txBody>
      </p:sp>
      <p:sp>
        <p:nvSpPr>
          <p:cNvPr id="8" name="Text 6"/>
          <p:cNvSpPr txBox="1"/>
          <p:nvPr/>
        </p:nvSpPr>
        <p:spPr>
          <a:xfrm>
            <a:off x="658368" y="3035808"/>
            <a:ext cx="7680960" cy="822960"/>
          </a:xfrm>
          <a:prstGeom prst="rect">
            <a:avLst/>
          </a:prstGeom>
          <a:noFill/>
          <a:ln/>
        </p:spPr>
        <p:txBody>
          <a:bodyPr wrap="square" lIns="0" tIns="0" rIns="0" bIns="0" rtlCol="0" anchor="t"/>
          <a:lstStyle/>
          <a:p>
            <a:pPr indent="0" marL="0">
              <a:buNone/>
            </a:pPr>
            <a:r>
              <a:rPr lang="en-US" sz="3400" b="1" dirty="0">
                <a:solidFill>
                  <a:srgbClr val="FFFFFF"/>
                </a:solidFill>
                <a:latin typeface="Meiryo" pitchFamily="34" charset="0"/>
                <a:ea typeface="Meiryo" pitchFamily="34" charset="-122"/>
                <a:cs typeface="Meiryo" pitchFamily="34" charset="-120"/>
              </a:rPr>
              <a:t>八王子市の森林の課題</a:t>
            </a:r>
            <a:endParaRPr lang="en-US" sz="3400" dirty="0"/>
          </a:p>
        </p:txBody>
      </p:sp>
      <p:sp>
        <p:nvSpPr>
          <p:cNvPr id="9" name="Text 7"/>
          <p:cNvSpPr txBox="1"/>
          <p:nvPr/>
        </p:nvSpPr>
        <p:spPr>
          <a:xfrm>
            <a:off x="658368" y="4023360"/>
            <a:ext cx="6675120" cy="640080"/>
          </a:xfrm>
          <a:prstGeom prst="rect">
            <a:avLst/>
          </a:prstGeom>
          <a:noFill/>
          <a:ln/>
        </p:spPr>
        <p:txBody>
          <a:bodyPr wrap="square" lIns="0" tIns="0" rIns="0" bIns="0" rtlCol="0" anchor="t"/>
          <a:lstStyle/>
          <a:p>
            <a:pPr indent="0" marL="0">
              <a:lnSpc>
                <a:spcPts val="2200"/>
              </a:lnSpc>
              <a:buNone/>
            </a:pPr>
            <a:r>
              <a:rPr lang="en-US" sz="1350" dirty="0">
                <a:solidFill>
                  <a:srgbClr val="8FB566"/>
                </a:solidFill>
                <a:latin typeface="Meiryo" pitchFamily="34" charset="0"/>
                <a:ea typeface="Meiryo" pitchFamily="34" charset="-122"/>
                <a:cs typeface="Meiryo" pitchFamily="34" charset="-120"/>
              </a:rPr>
              <a:t>多摩地域有数の森林資源を持ちながら、それを「資源」として持続的に活用する仕組みが整っていない。</a:t>
            </a:r>
            <a:endParaRPr lang="en-US" sz="1350" dirty="0"/>
          </a:p>
        </p:txBody>
      </p:sp>
      <p:sp>
        <p:nvSpPr>
          <p:cNvPr id="10" name="Shape 8"/>
          <p:cNvSpPr/>
          <p:nvPr/>
        </p:nvSpPr>
        <p:spPr>
          <a:xfrm>
            <a:off x="658368" y="4864608"/>
            <a:ext cx="1988820" cy="347472"/>
          </a:xfrm>
          <a:prstGeom prst="roundRect">
            <a:avLst>
              <a:gd name="adj" fmla="val 47368"/>
            </a:avLst>
          </a:prstGeom>
          <a:solidFill>
            <a:srgbClr val="1E3327"/>
          </a:solidFill>
          <a:ln w="9525">
            <a:solidFill>
              <a:srgbClr val="5E7F3C"/>
            </a:solidFill>
            <a:prstDash val="solid"/>
          </a:ln>
        </p:spPr>
      </p:sp>
      <p:sp>
        <p:nvSpPr>
          <p:cNvPr id="11" name="Text 9"/>
          <p:cNvSpPr txBox="1"/>
          <p:nvPr/>
        </p:nvSpPr>
        <p:spPr>
          <a:xfrm>
            <a:off x="658368" y="4864608"/>
            <a:ext cx="1988820"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担い手・所有者の高齢化</a:t>
            </a:r>
            <a:endParaRPr lang="en-US" sz="1050" dirty="0"/>
          </a:p>
        </p:txBody>
      </p:sp>
      <p:sp>
        <p:nvSpPr>
          <p:cNvPr id="12" name="Shape 10"/>
          <p:cNvSpPr/>
          <p:nvPr/>
        </p:nvSpPr>
        <p:spPr>
          <a:xfrm>
            <a:off x="2775204" y="4864608"/>
            <a:ext cx="1385316" cy="347472"/>
          </a:xfrm>
          <a:prstGeom prst="roundRect">
            <a:avLst>
              <a:gd name="adj" fmla="val 47368"/>
            </a:avLst>
          </a:prstGeom>
          <a:solidFill>
            <a:srgbClr val="1E3327"/>
          </a:solidFill>
          <a:ln w="9525">
            <a:solidFill>
              <a:srgbClr val="5E7F3C"/>
            </a:solidFill>
            <a:prstDash val="solid"/>
          </a:ln>
        </p:spPr>
      </p:sp>
      <p:sp>
        <p:nvSpPr>
          <p:cNvPr id="13" name="Text 11"/>
          <p:cNvSpPr txBox="1"/>
          <p:nvPr/>
        </p:nvSpPr>
        <p:spPr>
          <a:xfrm>
            <a:off x="2775204" y="4864608"/>
            <a:ext cx="1385316"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木材の出口不足</a:t>
            </a:r>
            <a:endParaRPr lang="en-US" sz="1050" dirty="0"/>
          </a:p>
        </p:txBody>
      </p:sp>
      <p:sp>
        <p:nvSpPr>
          <p:cNvPr id="14" name="Shape 12"/>
          <p:cNvSpPr/>
          <p:nvPr/>
        </p:nvSpPr>
        <p:spPr>
          <a:xfrm>
            <a:off x="4288536" y="4864608"/>
            <a:ext cx="1837944" cy="347472"/>
          </a:xfrm>
          <a:prstGeom prst="roundRect">
            <a:avLst>
              <a:gd name="adj" fmla="val 47368"/>
            </a:avLst>
          </a:prstGeom>
          <a:solidFill>
            <a:srgbClr val="1E3327"/>
          </a:solidFill>
          <a:ln w="9525">
            <a:solidFill>
              <a:srgbClr val="5E7F3C"/>
            </a:solidFill>
            <a:prstDash val="solid"/>
          </a:ln>
        </p:spPr>
      </p:sp>
      <p:sp>
        <p:nvSpPr>
          <p:cNvPr id="15" name="Text 13"/>
          <p:cNvSpPr txBox="1"/>
          <p:nvPr/>
        </p:nvSpPr>
        <p:spPr>
          <a:xfrm>
            <a:off x="4288536" y="4864608"/>
            <a:ext cx="1837944"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森林と都市需要の分断</a:t>
            </a:r>
            <a:endParaRPr lang="en-US" sz="1050" dirty="0"/>
          </a:p>
        </p:txBody>
      </p:sp>
      <p:sp>
        <p:nvSpPr>
          <p:cNvPr id="16" name="Text 14"/>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17" name="Text 15"/>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PREMISE</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前提｜八王子の森は、すでに4つの価値を生んでいる</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4</a:t>
            </a:r>
            <a:endParaRPr lang="en-US" sz="900" dirty="0"/>
          </a:p>
        </p:txBody>
      </p:sp>
      <p:sp>
        <p:nvSpPr>
          <p:cNvPr id="6" name="Shape 4"/>
          <p:cNvSpPr/>
          <p:nvPr/>
        </p:nvSpPr>
        <p:spPr>
          <a:xfrm>
            <a:off x="658368" y="1719072"/>
            <a:ext cx="5294376" cy="1298448"/>
          </a:xfrm>
          <a:prstGeom prst="roundRect">
            <a:avLst>
              <a:gd name="adj" fmla="val 6338"/>
            </a:avLst>
          </a:prstGeom>
          <a:solidFill>
            <a:srgbClr val="F4F6F1"/>
          </a:solidFill>
          <a:ln w="12700">
            <a:solidFill>
              <a:srgbClr val="DCE3D8"/>
            </a:solidFill>
            <a:prstDash val="solid"/>
          </a:ln>
        </p:spPr>
      </p:sp>
      <p:sp>
        <p:nvSpPr>
          <p:cNvPr id="7" name="Shape 5"/>
          <p:cNvSpPr/>
          <p:nvPr/>
        </p:nvSpPr>
        <p:spPr>
          <a:xfrm>
            <a:off x="969264" y="2084832"/>
            <a:ext cx="566928" cy="566928"/>
          </a:xfrm>
          <a:prstGeom prst="ellipse">
            <a:avLst/>
          </a:prstGeom>
          <a:solidFill>
            <a:srgbClr val="8FB566"/>
          </a:solidFill>
          <a:ln/>
        </p:spPr>
      </p:sp>
      <p:sp>
        <p:nvSpPr>
          <p:cNvPr id="8" name="Text 6"/>
          <p:cNvSpPr txBox="1"/>
          <p:nvPr/>
        </p:nvSpPr>
        <p:spPr>
          <a:xfrm>
            <a:off x="969264" y="208483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9" name="Text 7"/>
          <p:cNvSpPr txBox="1"/>
          <p:nvPr/>
        </p:nvSpPr>
        <p:spPr>
          <a:xfrm>
            <a:off x="1700784" y="1975104"/>
            <a:ext cx="3922776"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木材生産</a:t>
            </a:r>
            <a:endParaRPr lang="en-US" sz="1500" dirty="0"/>
          </a:p>
        </p:txBody>
      </p:sp>
      <p:sp>
        <p:nvSpPr>
          <p:cNvPr id="10" name="Text 8"/>
          <p:cNvSpPr txBox="1"/>
          <p:nvPr/>
        </p:nvSpPr>
        <p:spPr>
          <a:xfrm>
            <a:off x="1700784" y="2359152"/>
            <a:ext cx="3922776" cy="566928"/>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住宅・内装・家具・木製品・エネルギーの原料。整備すれば必ず発生する。</a:t>
            </a:r>
            <a:endParaRPr lang="en-US" sz="1100" dirty="0"/>
          </a:p>
        </p:txBody>
      </p:sp>
      <p:sp>
        <p:nvSpPr>
          <p:cNvPr id="11" name="Shape 9"/>
          <p:cNvSpPr/>
          <p:nvPr/>
        </p:nvSpPr>
        <p:spPr>
          <a:xfrm>
            <a:off x="6245352" y="1719072"/>
            <a:ext cx="5294376" cy="1298448"/>
          </a:xfrm>
          <a:prstGeom prst="roundRect">
            <a:avLst>
              <a:gd name="adj" fmla="val 6338"/>
            </a:avLst>
          </a:prstGeom>
          <a:solidFill>
            <a:srgbClr val="F4F6F1"/>
          </a:solidFill>
          <a:ln w="12700">
            <a:solidFill>
              <a:srgbClr val="DCE3D8"/>
            </a:solidFill>
            <a:prstDash val="solid"/>
          </a:ln>
        </p:spPr>
      </p:sp>
      <p:sp>
        <p:nvSpPr>
          <p:cNvPr id="12" name="Shape 10"/>
          <p:cNvSpPr/>
          <p:nvPr/>
        </p:nvSpPr>
        <p:spPr>
          <a:xfrm>
            <a:off x="6556248" y="2084832"/>
            <a:ext cx="566928" cy="566928"/>
          </a:xfrm>
          <a:prstGeom prst="ellipse">
            <a:avLst/>
          </a:prstGeom>
          <a:solidFill>
            <a:srgbClr val="8FB566"/>
          </a:solidFill>
          <a:ln/>
        </p:spPr>
      </p:sp>
      <p:sp>
        <p:nvSpPr>
          <p:cNvPr id="13" name="Text 11"/>
          <p:cNvSpPr txBox="1"/>
          <p:nvPr/>
        </p:nvSpPr>
        <p:spPr>
          <a:xfrm>
            <a:off x="6556248" y="208483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4" name="Text 12"/>
          <p:cNvSpPr txBox="1"/>
          <p:nvPr/>
        </p:nvSpPr>
        <p:spPr>
          <a:xfrm>
            <a:off x="7287768" y="1975104"/>
            <a:ext cx="3922776"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CO2吸収・環境価値</a:t>
            </a:r>
            <a:endParaRPr lang="en-US" sz="1500" dirty="0"/>
          </a:p>
        </p:txBody>
      </p:sp>
      <p:sp>
        <p:nvSpPr>
          <p:cNvPr id="15" name="Text 13"/>
          <p:cNvSpPr txBox="1"/>
          <p:nvPr/>
        </p:nvSpPr>
        <p:spPr>
          <a:xfrm>
            <a:off x="7287768" y="2359152"/>
            <a:ext cx="3922776" cy="566928"/>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適切な整備によって吸収量が高まり、クレジット等として取引もできる。</a:t>
            </a:r>
            <a:endParaRPr lang="en-US" sz="1100" dirty="0"/>
          </a:p>
        </p:txBody>
      </p:sp>
      <p:sp>
        <p:nvSpPr>
          <p:cNvPr id="16" name="Shape 14"/>
          <p:cNvSpPr/>
          <p:nvPr/>
        </p:nvSpPr>
        <p:spPr>
          <a:xfrm>
            <a:off x="658368" y="3273552"/>
            <a:ext cx="5294376" cy="1298448"/>
          </a:xfrm>
          <a:prstGeom prst="roundRect">
            <a:avLst>
              <a:gd name="adj" fmla="val 6338"/>
            </a:avLst>
          </a:prstGeom>
          <a:solidFill>
            <a:srgbClr val="F4F6F1"/>
          </a:solidFill>
          <a:ln w="12700">
            <a:solidFill>
              <a:srgbClr val="DCE3D8"/>
            </a:solidFill>
            <a:prstDash val="solid"/>
          </a:ln>
        </p:spPr>
      </p:sp>
      <p:sp>
        <p:nvSpPr>
          <p:cNvPr id="17" name="Shape 15"/>
          <p:cNvSpPr/>
          <p:nvPr/>
        </p:nvSpPr>
        <p:spPr>
          <a:xfrm>
            <a:off x="969264" y="3639312"/>
            <a:ext cx="566928" cy="566928"/>
          </a:xfrm>
          <a:prstGeom prst="ellipse">
            <a:avLst/>
          </a:prstGeom>
          <a:solidFill>
            <a:srgbClr val="8FB566"/>
          </a:solidFill>
          <a:ln/>
        </p:spPr>
      </p:sp>
      <p:sp>
        <p:nvSpPr>
          <p:cNvPr id="18" name="Text 16"/>
          <p:cNvSpPr txBox="1"/>
          <p:nvPr/>
        </p:nvSpPr>
        <p:spPr>
          <a:xfrm>
            <a:off x="969264" y="363931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3</a:t>
            </a:r>
            <a:endParaRPr lang="en-US" sz="1500" dirty="0"/>
          </a:p>
        </p:txBody>
      </p:sp>
      <p:sp>
        <p:nvSpPr>
          <p:cNvPr id="19" name="Text 17"/>
          <p:cNvSpPr txBox="1"/>
          <p:nvPr/>
        </p:nvSpPr>
        <p:spPr>
          <a:xfrm>
            <a:off x="1700784" y="3529584"/>
            <a:ext cx="3922776"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防災・水源涵養</a:t>
            </a:r>
            <a:endParaRPr lang="en-US" sz="1500" dirty="0"/>
          </a:p>
        </p:txBody>
      </p:sp>
      <p:sp>
        <p:nvSpPr>
          <p:cNvPr id="20" name="Text 18"/>
          <p:cNvSpPr txBox="1"/>
          <p:nvPr/>
        </p:nvSpPr>
        <p:spPr>
          <a:xfrm>
            <a:off x="1700784" y="3913632"/>
            <a:ext cx="3922776" cy="566928"/>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土砂災害の抑制、地下水の涵養。都市の安全を支える基盤。</a:t>
            </a:r>
            <a:endParaRPr lang="en-US" sz="1100" dirty="0"/>
          </a:p>
        </p:txBody>
      </p:sp>
      <p:sp>
        <p:nvSpPr>
          <p:cNvPr id="21" name="Shape 19"/>
          <p:cNvSpPr/>
          <p:nvPr/>
        </p:nvSpPr>
        <p:spPr>
          <a:xfrm>
            <a:off x="6245352" y="3273552"/>
            <a:ext cx="5294376" cy="1298448"/>
          </a:xfrm>
          <a:prstGeom prst="roundRect">
            <a:avLst>
              <a:gd name="adj" fmla="val 6338"/>
            </a:avLst>
          </a:prstGeom>
          <a:solidFill>
            <a:srgbClr val="F4F6F1"/>
          </a:solidFill>
          <a:ln w="12700">
            <a:solidFill>
              <a:srgbClr val="DCE3D8"/>
            </a:solidFill>
            <a:prstDash val="solid"/>
          </a:ln>
        </p:spPr>
      </p:sp>
      <p:sp>
        <p:nvSpPr>
          <p:cNvPr id="22" name="Shape 20"/>
          <p:cNvSpPr/>
          <p:nvPr/>
        </p:nvSpPr>
        <p:spPr>
          <a:xfrm>
            <a:off x="6556248" y="3639312"/>
            <a:ext cx="566928" cy="566928"/>
          </a:xfrm>
          <a:prstGeom prst="ellipse">
            <a:avLst/>
          </a:prstGeom>
          <a:solidFill>
            <a:srgbClr val="8FB566"/>
          </a:solidFill>
          <a:ln/>
        </p:spPr>
      </p:sp>
      <p:sp>
        <p:nvSpPr>
          <p:cNvPr id="23" name="Text 21"/>
          <p:cNvSpPr txBox="1"/>
          <p:nvPr/>
        </p:nvSpPr>
        <p:spPr>
          <a:xfrm>
            <a:off x="6556248" y="363931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4</a:t>
            </a:r>
            <a:endParaRPr lang="en-US" sz="1500" dirty="0"/>
          </a:p>
        </p:txBody>
      </p:sp>
      <p:sp>
        <p:nvSpPr>
          <p:cNvPr id="24" name="Text 22"/>
          <p:cNvSpPr txBox="1"/>
          <p:nvPr/>
        </p:nvSpPr>
        <p:spPr>
          <a:xfrm>
            <a:off x="7287768" y="3529584"/>
            <a:ext cx="3922776"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教育・レクリエーション</a:t>
            </a:r>
            <a:endParaRPr lang="en-US" sz="1500" dirty="0"/>
          </a:p>
        </p:txBody>
      </p:sp>
      <p:sp>
        <p:nvSpPr>
          <p:cNvPr id="25" name="Text 23"/>
          <p:cNvSpPr txBox="1"/>
          <p:nvPr/>
        </p:nvSpPr>
        <p:spPr>
          <a:xfrm>
            <a:off x="7287768" y="3913632"/>
            <a:ext cx="3922776" cy="566928"/>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森林体験、木育、自然観察。市民が森と出会う場になる。</a:t>
            </a:r>
            <a:endParaRPr lang="en-US" sz="1100" dirty="0"/>
          </a:p>
        </p:txBody>
      </p:sp>
      <p:sp>
        <p:nvSpPr>
          <p:cNvPr id="26" name="Shape 24"/>
          <p:cNvSpPr/>
          <p:nvPr/>
        </p:nvSpPr>
        <p:spPr>
          <a:xfrm>
            <a:off x="658368" y="4846320"/>
            <a:ext cx="10874959" cy="868680"/>
          </a:xfrm>
          <a:prstGeom prst="roundRect">
            <a:avLst>
              <a:gd name="adj" fmla="val 9474"/>
            </a:avLst>
          </a:prstGeom>
          <a:solidFill>
            <a:srgbClr val="FAEEDF"/>
          </a:solidFill>
          <a:ln/>
        </p:spPr>
      </p:sp>
      <p:sp>
        <p:nvSpPr>
          <p:cNvPr id="27" name="Text 25"/>
          <p:cNvSpPr txBox="1"/>
          <p:nvPr/>
        </p:nvSpPr>
        <p:spPr>
          <a:xfrm>
            <a:off x="978408" y="4846320"/>
            <a:ext cx="10234879" cy="868680"/>
          </a:xfrm>
          <a:prstGeom prst="rect">
            <a:avLst/>
          </a:prstGeom>
          <a:noFill/>
          <a:ln/>
        </p:spPr>
        <p:txBody>
          <a:bodyPr wrap="square" lIns="0" tIns="0" rIns="0" bIns="0" rtlCol="0" anchor="ctr"/>
          <a:lstStyle/>
          <a:p>
            <a:pPr indent="0" marL="0">
              <a:buNone/>
            </a:pPr>
            <a:r>
              <a:rPr lang="en-US" sz="1400" b="1" dirty="0">
                <a:solidFill>
                  <a:srgbClr val="1B3D24"/>
                </a:solidFill>
                <a:latin typeface="Meiryo" pitchFamily="34" charset="0"/>
                <a:ea typeface="Meiryo" pitchFamily="34" charset="-122"/>
                <a:cs typeface="Meiryo" pitchFamily="34" charset="-120"/>
              </a:rPr>
              <a:t>課題は「価値がないこと」ではない。これらの価値が、測られておらず、売られておらず、森に還っていないこと。</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ISSUE 01</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課題①｜森林を管理する担い手・所有者の高齢化</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5</a:t>
            </a:r>
            <a:endParaRPr lang="en-US" sz="900" dirty="0"/>
          </a:p>
        </p:txBody>
      </p:sp>
      <p:sp>
        <p:nvSpPr>
          <p:cNvPr id="6" name="Shape 4"/>
          <p:cNvSpPr/>
          <p:nvPr/>
        </p:nvSpPr>
        <p:spPr>
          <a:xfrm>
            <a:off x="658368" y="1645920"/>
            <a:ext cx="6400800" cy="2788920"/>
          </a:xfrm>
          <a:prstGeom prst="roundRect">
            <a:avLst>
              <a:gd name="adj" fmla="val 2951"/>
            </a:avLst>
          </a:prstGeom>
          <a:solidFill>
            <a:srgbClr val="F4F6F1"/>
          </a:solidFill>
          <a:ln w="12700">
            <a:solidFill>
              <a:srgbClr val="DCE3D8"/>
            </a:solidFill>
            <a:prstDash val="solid"/>
          </a:ln>
        </p:spPr>
      </p:sp>
      <p:sp>
        <p:nvSpPr>
          <p:cNvPr id="7" name="Text 5"/>
          <p:cNvSpPr txBox="1"/>
          <p:nvPr/>
        </p:nvSpPr>
        <p:spPr>
          <a:xfrm>
            <a:off x="1024128" y="1901952"/>
            <a:ext cx="5669280" cy="274320"/>
          </a:xfrm>
          <a:prstGeom prst="rect">
            <a:avLst/>
          </a:prstGeom>
          <a:noFill/>
          <a:ln/>
        </p:spPr>
        <p:txBody>
          <a:bodyPr wrap="square" lIns="0" tIns="0" rIns="0" bIns="0" rtlCol="0" anchor="t"/>
          <a:lstStyle/>
          <a:p>
            <a:pPr indent="0" marL="0">
              <a:buNone/>
            </a:pPr>
            <a:r>
              <a:rPr lang="en-US" sz="1200" b="1" dirty="0">
                <a:solidFill>
                  <a:srgbClr val="5E7F3C"/>
                </a:solidFill>
                <a:latin typeface="Meiryo" pitchFamily="34" charset="0"/>
                <a:ea typeface="Meiryo" pitchFamily="34" charset="-122"/>
                <a:cs typeface="Meiryo" pitchFamily="34" charset="-120"/>
              </a:rPr>
              <a:t>起きていること</a:t>
            </a:r>
            <a:endParaRPr lang="en-US" sz="1200" dirty="0"/>
          </a:p>
        </p:txBody>
      </p:sp>
      <p:sp>
        <p:nvSpPr>
          <p:cNvPr id="8" name="Text 6"/>
          <p:cNvSpPr txBox="1"/>
          <p:nvPr/>
        </p:nvSpPr>
        <p:spPr>
          <a:xfrm>
            <a:off x="1024128" y="2286000"/>
            <a:ext cx="5715000" cy="228600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23302A"/>
                </a:solidFill>
                <a:latin typeface="Meiryo" pitchFamily="34" charset="0"/>
                <a:ea typeface="Meiryo" pitchFamily="34" charset="-122"/>
                <a:cs typeface="Meiryo" pitchFamily="34" charset="-120"/>
              </a:rPr>
              <a:t>森林所有者の高齢化・不在化が進んでいる</a:t>
            </a:r>
            <a:endParaRPr lang="en-US" sz="1250" dirty="0"/>
          </a:p>
          <a:p>
            <a:pPr marL="342900" indent="-342900">
              <a:lnSpc>
                <a:spcPts val="1800"/>
              </a:lnSpc>
              <a:spcAft>
                <a:spcPts val="700"/>
              </a:spcAft>
              <a:buSzPct val="100000"/>
              <a:buChar char="▪"/>
            </a:pPr>
            <a:r>
              <a:rPr lang="en-US" sz="1250" dirty="0">
                <a:solidFill>
                  <a:srgbClr val="23302A"/>
                </a:solidFill>
                <a:latin typeface="Meiryo" pitchFamily="34" charset="0"/>
                <a:ea typeface="Meiryo" pitchFamily="34" charset="-122"/>
                <a:cs typeface="Meiryo" pitchFamily="34" charset="-120"/>
              </a:rPr>
              <a:t>森林境界や所有者情報の把握が十分でなく、施業の合意形成に時間がかかる</a:t>
            </a:r>
            <a:endParaRPr lang="en-US" sz="1250" dirty="0"/>
          </a:p>
          <a:p>
            <a:pPr marL="342900" indent="-342900">
              <a:lnSpc>
                <a:spcPts val="1800"/>
              </a:lnSpc>
              <a:spcAft>
                <a:spcPts val="700"/>
              </a:spcAft>
              <a:buSzPct val="100000"/>
              <a:buChar char="▪"/>
            </a:pPr>
            <a:r>
              <a:rPr lang="en-US" sz="1250" dirty="0">
                <a:solidFill>
                  <a:srgbClr val="23302A"/>
                </a:solidFill>
                <a:latin typeface="Meiryo" pitchFamily="34" charset="0"/>
                <a:ea typeface="Meiryo" pitchFamily="34" charset="-122"/>
                <a:cs typeface="Meiryo" pitchFamily="34" charset="-120"/>
              </a:rPr>
              <a:t>施業を担う林業事業者・技能者の確保が難しい</a:t>
            </a:r>
            <a:endParaRPr lang="en-US" sz="1250" dirty="0"/>
          </a:p>
          <a:p>
            <a:pPr marL="342900" indent="-342900">
              <a:lnSpc>
                <a:spcPts val="1800"/>
              </a:lnSpc>
              <a:spcAft>
                <a:spcPts val="700"/>
              </a:spcAft>
              <a:buSzPct val="100000"/>
              <a:buChar char="▪"/>
            </a:pPr>
            <a:r>
              <a:rPr lang="en-US" sz="1250" dirty="0">
                <a:solidFill>
                  <a:srgbClr val="23302A"/>
                </a:solidFill>
                <a:latin typeface="Meiryo" pitchFamily="34" charset="0"/>
                <a:ea typeface="Meiryo" pitchFamily="34" charset="-122"/>
                <a:cs typeface="Meiryo" pitchFamily="34" charset="-120"/>
              </a:rPr>
              <a:t>市は森林整備計画を策定し、森林施業・路網整備・森林保護を進めている</a:t>
            </a:r>
            <a:endParaRPr lang="en-US" sz="1250" dirty="0"/>
          </a:p>
        </p:txBody>
      </p:sp>
      <p:sp>
        <p:nvSpPr>
          <p:cNvPr id="9" name="Shape 7"/>
          <p:cNvSpPr/>
          <p:nvPr/>
        </p:nvSpPr>
        <p:spPr>
          <a:xfrm>
            <a:off x="7360920" y="1645920"/>
            <a:ext cx="4178808" cy="2788920"/>
          </a:xfrm>
          <a:prstGeom prst="roundRect">
            <a:avLst>
              <a:gd name="adj" fmla="val 2951"/>
            </a:avLst>
          </a:prstGeom>
          <a:solidFill>
            <a:srgbClr val="24512F"/>
          </a:solidFill>
          <a:ln/>
          <a:effectLst>
            <a:outerShdw sx="100000" sy="100000" kx="0" ky="0" algn="bl" rotWithShape="0" blurRad="127000" dist="25400" dir="5400000">
              <a:srgbClr val="1B3D24">
                <a:alpha val="10000"/>
              </a:srgbClr>
            </a:outerShdw>
          </a:effectLst>
        </p:spPr>
      </p:sp>
      <p:sp>
        <p:nvSpPr>
          <p:cNvPr id="10" name="Text 8"/>
          <p:cNvSpPr txBox="1"/>
          <p:nvPr/>
        </p:nvSpPr>
        <p:spPr>
          <a:xfrm>
            <a:off x="7699248" y="1901952"/>
            <a:ext cx="3566160" cy="274320"/>
          </a:xfrm>
          <a:prstGeom prst="rect">
            <a:avLst/>
          </a:prstGeom>
          <a:noFill/>
          <a:ln/>
        </p:spPr>
        <p:txBody>
          <a:bodyPr wrap="square" lIns="0" tIns="0" rIns="0" bIns="0" rtlCol="0" anchor="t"/>
          <a:lstStyle/>
          <a:p>
            <a:pPr indent="0" marL="0">
              <a:buNone/>
            </a:pPr>
            <a:r>
              <a:rPr lang="en-US" sz="1200" b="1" dirty="0">
                <a:solidFill>
                  <a:srgbClr val="8FB566"/>
                </a:solidFill>
                <a:latin typeface="Meiryo" pitchFamily="34" charset="0"/>
                <a:ea typeface="Meiryo" pitchFamily="34" charset="-122"/>
                <a:cs typeface="Meiryo" pitchFamily="34" charset="-120"/>
              </a:rPr>
              <a:t>だから必要なこと</a:t>
            </a:r>
            <a:endParaRPr lang="en-US" sz="1200" dirty="0"/>
          </a:p>
        </p:txBody>
      </p:sp>
      <p:sp>
        <p:nvSpPr>
          <p:cNvPr id="11" name="Text 9"/>
          <p:cNvSpPr txBox="1"/>
          <p:nvPr/>
        </p:nvSpPr>
        <p:spPr>
          <a:xfrm>
            <a:off x="7699248" y="2304288"/>
            <a:ext cx="3566160" cy="1371600"/>
          </a:xfrm>
          <a:prstGeom prst="rect">
            <a:avLst/>
          </a:prstGeom>
          <a:noFill/>
          <a:ln/>
        </p:spPr>
        <p:txBody>
          <a:bodyPr wrap="square" lIns="0" tIns="0" rIns="0" bIns="0" rtlCol="0" anchor="t"/>
          <a:lstStyle/>
          <a:p>
            <a:pPr indent="0" marL="0">
              <a:lnSpc>
                <a:spcPts val="3000"/>
              </a:lnSpc>
              <a:buNone/>
            </a:pPr>
            <a:r>
              <a:rPr lang="en-US" sz="1800" b="1" dirty="0">
                <a:solidFill>
                  <a:srgbClr val="FFFFFF"/>
                </a:solidFill>
                <a:latin typeface="Meiryo" pitchFamily="34" charset="0"/>
                <a:ea typeface="Meiryo" pitchFamily="34" charset="-122"/>
                <a:cs typeface="Meiryo" pitchFamily="34" charset="-120"/>
              </a:rPr>
              <a:t>「整備する人」と</a:t>
            </a:r>
            <a:endParaRPr lang="en-US" sz="1800" dirty="0"/>
          </a:p>
          <a:p>
            <a:pPr indent="0" marL="0">
              <a:lnSpc>
                <a:spcPts val="3000"/>
              </a:lnSpc>
              <a:buNone/>
            </a:pPr>
            <a:r>
              <a:rPr lang="en-US" sz="1800" b="1" dirty="0">
                <a:solidFill>
                  <a:srgbClr val="FFFFFF"/>
                </a:solidFill>
                <a:latin typeface="Meiryo" pitchFamily="34" charset="0"/>
                <a:ea typeface="Meiryo" pitchFamily="34" charset="-122"/>
                <a:cs typeface="Meiryo" pitchFamily="34" charset="-120"/>
              </a:rPr>
              <a:t>「整備するお金」を</a:t>
            </a:r>
            <a:endParaRPr lang="en-US" sz="1800" dirty="0"/>
          </a:p>
          <a:p>
            <a:pPr indent="0" marL="0">
              <a:lnSpc>
                <a:spcPts val="3000"/>
              </a:lnSpc>
              <a:buNone/>
            </a:pPr>
            <a:r>
              <a:rPr lang="en-US" sz="1800" b="1" dirty="0">
                <a:solidFill>
                  <a:srgbClr val="FFFFFF"/>
                </a:solidFill>
                <a:latin typeface="Meiryo" pitchFamily="34" charset="0"/>
                <a:ea typeface="Meiryo" pitchFamily="34" charset="-122"/>
                <a:cs typeface="Meiryo" pitchFamily="34" charset="-120"/>
              </a:rPr>
              <a:t>継続的に確保する仕組み</a:t>
            </a:r>
            <a:endParaRPr lang="en-US" sz="1800" dirty="0"/>
          </a:p>
        </p:txBody>
      </p:sp>
      <p:sp>
        <p:nvSpPr>
          <p:cNvPr id="12" name="Text 10"/>
          <p:cNvSpPr txBox="1"/>
          <p:nvPr/>
        </p:nvSpPr>
        <p:spPr>
          <a:xfrm>
            <a:off x="7699248" y="3822192"/>
            <a:ext cx="3566160" cy="822960"/>
          </a:xfrm>
          <a:prstGeom prst="rect">
            <a:avLst/>
          </a:prstGeom>
          <a:noFill/>
          <a:ln/>
        </p:spPr>
        <p:txBody>
          <a:bodyPr wrap="square" lIns="0" tIns="0" rIns="0" bIns="0" rtlCol="0" anchor="t"/>
          <a:lstStyle/>
          <a:p>
            <a:pPr indent="0" marL="0">
              <a:lnSpc>
                <a:spcPts val="1800"/>
              </a:lnSpc>
              <a:buNone/>
            </a:pPr>
            <a:r>
              <a:rPr lang="en-US" sz="1100" dirty="0">
                <a:solidFill>
                  <a:srgbClr val="DCE9D2"/>
                </a:solidFill>
                <a:latin typeface="Meiryo" pitchFamily="34" charset="0"/>
                <a:ea typeface="Meiryo" pitchFamily="34" charset="-122"/>
                <a:cs typeface="Meiryo" pitchFamily="34" charset="-120"/>
              </a:rPr>
              <a:t>計画があっても、担い手と財源が単発では実行が続かない。整備を「事業」として成立させる必要がある。</a:t>
            </a:r>
            <a:endParaRPr lang="en-US" sz="1100" dirty="0"/>
          </a:p>
        </p:txBody>
      </p:sp>
      <p:sp>
        <p:nvSpPr>
          <p:cNvPr id="13" name="Text 11"/>
          <p:cNvSpPr txBox="1"/>
          <p:nvPr/>
        </p:nvSpPr>
        <p:spPr>
          <a:xfrm>
            <a:off x="658368" y="4709160"/>
            <a:ext cx="10874959" cy="274320"/>
          </a:xfrm>
          <a:prstGeom prst="rect">
            <a:avLst/>
          </a:prstGeom>
          <a:noFill/>
          <a:ln/>
        </p:spPr>
        <p:txBody>
          <a:bodyPr wrap="square" lIns="0" tIns="0" rIns="0" bIns="0" rtlCol="0" anchor="t"/>
          <a:lstStyle/>
          <a:p>
            <a:pPr indent="0" marL="0">
              <a:buNone/>
            </a:pPr>
            <a:r>
              <a:rPr lang="en-US" sz="950" dirty="0">
                <a:solidFill>
                  <a:srgbClr val="5F6B64"/>
                </a:solidFill>
                <a:latin typeface="Meiryo" pitchFamily="34" charset="0"/>
                <a:ea typeface="Meiryo" pitchFamily="34" charset="-122"/>
                <a:cs typeface="Meiryo" pitchFamily="34" charset="-120"/>
              </a:rPr>
              <a:t>※ 市の森林整備計画・森林環境譲与税関連資料に基づく整理。</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ISSUE 02</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課題②｜木材を生産しても「売れる先」が不足している</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6</a:t>
            </a:r>
            <a:endParaRPr lang="en-US" sz="900" dirty="0"/>
          </a:p>
        </p:txBody>
      </p:sp>
      <p:sp>
        <p:nvSpPr>
          <p:cNvPr id="6" name="Shape 4"/>
          <p:cNvSpPr/>
          <p:nvPr/>
        </p:nvSpPr>
        <p:spPr>
          <a:xfrm>
            <a:off x="1161288" y="2084832"/>
            <a:ext cx="2212848" cy="960120"/>
          </a:xfrm>
          <a:prstGeom prst="roundRect">
            <a:avLst>
              <a:gd name="adj" fmla="val 8571"/>
            </a:avLst>
          </a:prstGeom>
          <a:solidFill>
            <a:srgbClr val="EAF1E0"/>
          </a:solidFill>
          <a:ln/>
        </p:spPr>
      </p:sp>
      <p:sp>
        <p:nvSpPr>
          <p:cNvPr id="7" name="Text 5"/>
          <p:cNvSpPr txBox="1"/>
          <p:nvPr/>
        </p:nvSpPr>
        <p:spPr>
          <a:xfrm>
            <a:off x="1161288" y="2084832"/>
            <a:ext cx="2212848" cy="960120"/>
          </a:xfrm>
          <a:prstGeom prst="rect">
            <a:avLst/>
          </a:prstGeom>
          <a:noFill/>
          <a:ln/>
        </p:spPr>
        <p:txBody>
          <a:bodyPr wrap="square" lIns="0" tIns="0" rIns="0" bIns="0" rtlCol="0" anchor="ctr"/>
          <a:lstStyle/>
          <a:p>
            <a:pPr algn="ctr" indent="0" marL="0">
              <a:buNone/>
            </a:pPr>
            <a:r>
              <a:rPr lang="en-US" sz="1450" b="1" dirty="0">
                <a:solidFill>
                  <a:srgbClr val="1B3D24"/>
                </a:solidFill>
                <a:latin typeface="Meiryo" pitchFamily="34" charset="0"/>
                <a:ea typeface="Meiryo" pitchFamily="34" charset="-122"/>
                <a:cs typeface="Meiryo" pitchFamily="34" charset="-120"/>
              </a:rPr>
              <a:t>森林整備</a:t>
            </a:r>
            <a:endParaRPr lang="en-US" sz="1450" dirty="0"/>
          </a:p>
        </p:txBody>
      </p:sp>
      <p:sp>
        <p:nvSpPr>
          <p:cNvPr id="8" name="Shape 6"/>
          <p:cNvSpPr/>
          <p:nvPr/>
        </p:nvSpPr>
        <p:spPr>
          <a:xfrm>
            <a:off x="3502152" y="2432304"/>
            <a:ext cx="402336" cy="274320"/>
          </a:xfrm>
          <a:prstGeom prst="rightArrow">
            <a:avLst/>
          </a:prstGeom>
          <a:solidFill>
            <a:srgbClr val="8FB566"/>
          </a:solidFill>
          <a:ln/>
        </p:spPr>
      </p:sp>
      <p:sp>
        <p:nvSpPr>
          <p:cNvPr id="9" name="Shape 7"/>
          <p:cNvSpPr/>
          <p:nvPr/>
        </p:nvSpPr>
        <p:spPr>
          <a:xfrm>
            <a:off x="4032504" y="2084832"/>
            <a:ext cx="2212848" cy="960120"/>
          </a:xfrm>
          <a:prstGeom prst="roundRect">
            <a:avLst>
              <a:gd name="adj" fmla="val 8571"/>
            </a:avLst>
          </a:prstGeom>
          <a:solidFill>
            <a:srgbClr val="EAF1E0"/>
          </a:solidFill>
          <a:ln/>
        </p:spPr>
      </p:sp>
      <p:sp>
        <p:nvSpPr>
          <p:cNvPr id="10" name="Text 8"/>
          <p:cNvSpPr txBox="1"/>
          <p:nvPr/>
        </p:nvSpPr>
        <p:spPr>
          <a:xfrm>
            <a:off x="4032504" y="2084832"/>
            <a:ext cx="2212848" cy="960120"/>
          </a:xfrm>
          <a:prstGeom prst="rect">
            <a:avLst/>
          </a:prstGeom>
          <a:noFill/>
          <a:ln/>
        </p:spPr>
        <p:txBody>
          <a:bodyPr wrap="square" lIns="0" tIns="0" rIns="0" bIns="0" rtlCol="0" anchor="ctr"/>
          <a:lstStyle/>
          <a:p>
            <a:pPr algn="ctr" indent="0" marL="0">
              <a:buNone/>
            </a:pPr>
            <a:r>
              <a:rPr lang="en-US" sz="1450" b="1" dirty="0">
                <a:solidFill>
                  <a:srgbClr val="1B3D24"/>
                </a:solidFill>
                <a:latin typeface="Meiryo" pitchFamily="34" charset="0"/>
                <a:ea typeface="Meiryo" pitchFamily="34" charset="-122"/>
                <a:cs typeface="Meiryo" pitchFamily="34" charset="-120"/>
              </a:rPr>
              <a:t>木材が出る</a:t>
            </a:r>
            <a:endParaRPr lang="en-US" sz="1450" dirty="0"/>
          </a:p>
        </p:txBody>
      </p:sp>
      <p:sp>
        <p:nvSpPr>
          <p:cNvPr id="11" name="Shape 9"/>
          <p:cNvSpPr/>
          <p:nvPr/>
        </p:nvSpPr>
        <p:spPr>
          <a:xfrm>
            <a:off x="6373368" y="2432304"/>
            <a:ext cx="402336" cy="274320"/>
          </a:xfrm>
          <a:prstGeom prst="rightArrow">
            <a:avLst/>
          </a:prstGeom>
          <a:solidFill>
            <a:srgbClr val="8FB566"/>
          </a:solidFill>
          <a:ln/>
        </p:spPr>
      </p:sp>
      <p:sp>
        <p:nvSpPr>
          <p:cNvPr id="12" name="Shape 10"/>
          <p:cNvSpPr/>
          <p:nvPr/>
        </p:nvSpPr>
        <p:spPr>
          <a:xfrm>
            <a:off x="6903720" y="2084832"/>
            <a:ext cx="2212848" cy="960120"/>
          </a:xfrm>
          <a:prstGeom prst="roundRect">
            <a:avLst>
              <a:gd name="adj" fmla="val 8571"/>
            </a:avLst>
          </a:prstGeom>
          <a:solidFill>
            <a:srgbClr val="EAF1E0"/>
          </a:solidFill>
          <a:ln/>
        </p:spPr>
      </p:sp>
      <p:sp>
        <p:nvSpPr>
          <p:cNvPr id="13" name="Text 11"/>
          <p:cNvSpPr txBox="1"/>
          <p:nvPr/>
        </p:nvSpPr>
        <p:spPr>
          <a:xfrm>
            <a:off x="6903720" y="2084832"/>
            <a:ext cx="2212848" cy="960120"/>
          </a:xfrm>
          <a:prstGeom prst="rect">
            <a:avLst/>
          </a:prstGeom>
          <a:noFill/>
          <a:ln/>
        </p:spPr>
        <p:txBody>
          <a:bodyPr wrap="square" lIns="0" tIns="0" rIns="0" bIns="0" rtlCol="0" anchor="ctr"/>
          <a:lstStyle/>
          <a:p>
            <a:pPr algn="ctr" indent="0" marL="0">
              <a:buNone/>
            </a:pPr>
            <a:r>
              <a:rPr lang="en-US" sz="1450" b="1" dirty="0">
                <a:solidFill>
                  <a:srgbClr val="1B3D24"/>
                </a:solidFill>
                <a:latin typeface="Meiryo" pitchFamily="34" charset="0"/>
                <a:ea typeface="Meiryo" pitchFamily="34" charset="-122"/>
                <a:cs typeface="Meiryo" pitchFamily="34" charset="-120"/>
              </a:rPr>
              <a:t>売　る</a:t>
            </a:r>
            <a:endParaRPr lang="en-US" sz="1450" dirty="0"/>
          </a:p>
        </p:txBody>
      </p:sp>
      <p:sp>
        <p:nvSpPr>
          <p:cNvPr id="14" name="Shape 12"/>
          <p:cNvSpPr/>
          <p:nvPr/>
        </p:nvSpPr>
        <p:spPr>
          <a:xfrm>
            <a:off x="9244584" y="2432304"/>
            <a:ext cx="402336" cy="274320"/>
          </a:xfrm>
          <a:prstGeom prst="rightArrow">
            <a:avLst/>
          </a:prstGeom>
          <a:solidFill>
            <a:srgbClr val="C1762C"/>
          </a:solidFill>
          <a:ln/>
        </p:spPr>
      </p:sp>
      <p:sp>
        <p:nvSpPr>
          <p:cNvPr id="15" name="Shape 13"/>
          <p:cNvSpPr/>
          <p:nvPr/>
        </p:nvSpPr>
        <p:spPr>
          <a:xfrm>
            <a:off x="9774936" y="2084832"/>
            <a:ext cx="2212848" cy="960120"/>
          </a:xfrm>
          <a:prstGeom prst="roundRect">
            <a:avLst>
              <a:gd name="adj" fmla="val 8571"/>
            </a:avLst>
          </a:prstGeom>
          <a:solidFill>
            <a:srgbClr val="FFFFFF"/>
          </a:solidFill>
          <a:ln w="12700">
            <a:solidFill>
              <a:srgbClr val="C1762C"/>
            </a:solidFill>
            <a:prstDash val="solid"/>
          </a:ln>
        </p:spPr>
      </p:sp>
      <p:sp>
        <p:nvSpPr>
          <p:cNvPr id="16" name="Text 14"/>
          <p:cNvSpPr txBox="1"/>
          <p:nvPr/>
        </p:nvSpPr>
        <p:spPr>
          <a:xfrm>
            <a:off x="9774936" y="2084832"/>
            <a:ext cx="2212848" cy="960120"/>
          </a:xfrm>
          <a:prstGeom prst="rect">
            <a:avLst/>
          </a:prstGeom>
          <a:noFill/>
          <a:ln/>
        </p:spPr>
        <p:txBody>
          <a:bodyPr wrap="square" lIns="0" tIns="0" rIns="0" bIns="0" rtlCol="0" anchor="ctr"/>
          <a:lstStyle/>
          <a:p>
            <a:pPr algn="ctr" indent="0" marL="0">
              <a:buNone/>
            </a:pPr>
            <a:r>
              <a:rPr lang="en-US" sz="1450" b="1" dirty="0">
                <a:solidFill>
                  <a:srgbClr val="C1762C"/>
                </a:solidFill>
                <a:latin typeface="Meiryo" pitchFamily="34" charset="0"/>
                <a:ea typeface="Meiryo" pitchFamily="34" charset="-122"/>
                <a:cs typeface="Meiryo" pitchFamily="34" charset="-120"/>
              </a:rPr>
              <a:t>収益が森林に戻る</a:t>
            </a:r>
            <a:endParaRPr lang="en-US" sz="1450" dirty="0"/>
          </a:p>
        </p:txBody>
      </p:sp>
      <p:sp>
        <p:nvSpPr>
          <p:cNvPr id="17" name="Shape 15"/>
          <p:cNvSpPr/>
          <p:nvPr/>
        </p:nvSpPr>
        <p:spPr>
          <a:xfrm>
            <a:off x="2075688" y="3401568"/>
            <a:ext cx="6858000" cy="365760"/>
          </a:xfrm>
          <a:prstGeom prst="leftArrow">
            <a:avLst/>
          </a:prstGeom>
          <a:solidFill>
            <a:srgbClr val="E9EDE5"/>
          </a:solidFill>
          <a:ln/>
        </p:spPr>
      </p:sp>
      <p:sp>
        <p:nvSpPr>
          <p:cNvPr id="18" name="Text 16"/>
          <p:cNvSpPr txBox="1"/>
          <p:nvPr/>
        </p:nvSpPr>
        <p:spPr>
          <a:xfrm>
            <a:off x="2761488" y="3401568"/>
            <a:ext cx="5120640" cy="365760"/>
          </a:xfrm>
          <a:prstGeom prst="rect">
            <a:avLst/>
          </a:prstGeom>
          <a:noFill/>
          <a:ln/>
        </p:spPr>
        <p:txBody>
          <a:bodyPr wrap="square" lIns="0" tIns="0" rIns="0" bIns="0" rtlCol="0" anchor="ctr"/>
          <a:lstStyle/>
          <a:p>
            <a:pPr indent="0" marL="0">
              <a:buNone/>
            </a:pPr>
            <a:r>
              <a:rPr lang="en-US" sz="1150" b="1" dirty="0">
                <a:solidFill>
                  <a:srgbClr val="5F6B64"/>
                </a:solidFill>
                <a:latin typeface="Meiryo" pitchFamily="34" charset="0"/>
                <a:ea typeface="Meiryo" pitchFamily="34" charset="-122"/>
                <a:cs typeface="Meiryo" pitchFamily="34" charset="-120"/>
              </a:rPr>
              <a:t>収益が次の整備に還る流れが細い</a:t>
            </a:r>
            <a:endParaRPr lang="en-US" sz="1150" dirty="0"/>
          </a:p>
        </p:txBody>
      </p:sp>
      <p:sp>
        <p:nvSpPr>
          <p:cNvPr id="19" name="Shape 17"/>
          <p:cNvSpPr/>
          <p:nvPr/>
        </p:nvSpPr>
        <p:spPr>
          <a:xfrm>
            <a:off x="8129016" y="3310128"/>
            <a:ext cx="548640" cy="548640"/>
          </a:xfrm>
          <a:prstGeom prst="ellipse">
            <a:avLst/>
          </a:prstGeom>
          <a:solidFill>
            <a:srgbClr val="C1762C"/>
          </a:solidFill>
          <a:ln/>
        </p:spPr>
      </p:sp>
      <p:sp>
        <p:nvSpPr>
          <p:cNvPr id="20" name="Text 18"/>
          <p:cNvSpPr txBox="1"/>
          <p:nvPr/>
        </p:nvSpPr>
        <p:spPr>
          <a:xfrm>
            <a:off x="8129016" y="33101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a:t>
            </a:r>
            <a:endParaRPr lang="en-US" sz="2000" dirty="0"/>
          </a:p>
        </p:txBody>
      </p:sp>
      <p:sp>
        <p:nvSpPr>
          <p:cNvPr id="21" name="Shape 19"/>
          <p:cNvSpPr/>
          <p:nvPr/>
        </p:nvSpPr>
        <p:spPr>
          <a:xfrm>
            <a:off x="658368" y="4224528"/>
            <a:ext cx="5294376" cy="1417320"/>
          </a:xfrm>
          <a:prstGeom prst="roundRect">
            <a:avLst>
              <a:gd name="adj" fmla="val 5806"/>
            </a:avLst>
          </a:prstGeom>
          <a:solidFill>
            <a:srgbClr val="F4F6F1"/>
          </a:solidFill>
          <a:ln w="12700">
            <a:solidFill>
              <a:srgbClr val="DCE3D8"/>
            </a:solidFill>
            <a:prstDash val="solid"/>
          </a:ln>
        </p:spPr>
      </p:sp>
      <p:sp>
        <p:nvSpPr>
          <p:cNvPr id="22" name="Text 20"/>
          <p:cNvSpPr txBox="1"/>
          <p:nvPr/>
        </p:nvSpPr>
        <p:spPr>
          <a:xfrm>
            <a:off x="1005840" y="4425696"/>
            <a:ext cx="4572000" cy="256032"/>
          </a:xfrm>
          <a:prstGeom prst="rect">
            <a:avLst/>
          </a:prstGeom>
          <a:noFill/>
          <a:ln/>
        </p:spPr>
        <p:txBody>
          <a:bodyPr wrap="square" lIns="0" tIns="0" rIns="0" bIns="0" rtlCol="0" anchor="t"/>
          <a:lstStyle/>
          <a:p>
            <a:pPr indent="0" marL="0">
              <a:buNone/>
            </a:pPr>
            <a:r>
              <a:rPr lang="en-US" sz="1150" b="1" dirty="0">
                <a:solidFill>
                  <a:srgbClr val="5E7F3C"/>
                </a:solidFill>
                <a:latin typeface="Meiryo" pitchFamily="34" charset="0"/>
                <a:ea typeface="Meiryo" pitchFamily="34" charset="-122"/>
                <a:cs typeface="Meiryo" pitchFamily="34" charset="-120"/>
              </a:rPr>
              <a:t>何が起きるか</a:t>
            </a:r>
            <a:endParaRPr lang="en-US" sz="1150" dirty="0"/>
          </a:p>
        </p:txBody>
      </p:sp>
      <p:sp>
        <p:nvSpPr>
          <p:cNvPr id="23" name="Text 21"/>
          <p:cNvSpPr txBox="1"/>
          <p:nvPr/>
        </p:nvSpPr>
        <p:spPr>
          <a:xfrm>
            <a:off x="1005840" y="4754880"/>
            <a:ext cx="4617720" cy="731520"/>
          </a:xfrm>
          <a:prstGeom prst="rect">
            <a:avLst/>
          </a:prstGeom>
          <a:noFill/>
          <a:ln/>
        </p:spPr>
        <p:txBody>
          <a:bodyPr wrap="square" lIns="0" tIns="0" rIns="0" bIns="0" rtlCol="0" anchor="t"/>
          <a:lstStyle/>
          <a:p>
            <a:pPr indent="0" marL="0">
              <a:lnSpc>
                <a:spcPts val="1900"/>
              </a:lnSpc>
              <a:buNone/>
            </a:pPr>
            <a:r>
              <a:rPr lang="en-US" sz="1200" dirty="0">
                <a:solidFill>
                  <a:srgbClr val="23302A"/>
                </a:solidFill>
                <a:latin typeface="Meiryo" pitchFamily="34" charset="0"/>
                <a:ea typeface="Meiryo" pitchFamily="34" charset="-122"/>
                <a:cs typeface="Meiryo" pitchFamily="34" charset="-120"/>
              </a:rPr>
              <a:t>地域内の循環が閉じないため、森林整備そのものを続ける経済的な動機が弱くなる。整備量は財源の大きさに縛られ続ける。</a:t>
            </a:r>
            <a:endParaRPr lang="en-US" sz="1200" dirty="0"/>
          </a:p>
        </p:txBody>
      </p:sp>
      <p:sp>
        <p:nvSpPr>
          <p:cNvPr id="24" name="Shape 22"/>
          <p:cNvSpPr/>
          <p:nvPr/>
        </p:nvSpPr>
        <p:spPr>
          <a:xfrm>
            <a:off x="6245352" y="4224528"/>
            <a:ext cx="5294376" cy="1417320"/>
          </a:xfrm>
          <a:prstGeom prst="roundRect">
            <a:avLst>
              <a:gd name="adj" fmla="val 5806"/>
            </a:avLst>
          </a:prstGeom>
          <a:solidFill>
            <a:srgbClr val="F4F6F1"/>
          </a:solidFill>
          <a:ln w="12700">
            <a:solidFill>
              <a:srgbClr val="DCE3D8"/>
            </a:solidFill>
            <a:prstDash val="solid"/>
          </a:ln>
        </p:spPr>
      </p:sp>
      <p:sp>
        <p:nvSpPr>
          <p:cNvPr id="25" name="Text 23"/>
          <p:cNvSpPr txBox="1"/>
          <p:nvPr/>
        </p:nvSpPr>
        <p:spPr>
          <a:xfrm>
            <a:off x="6592824" y="4425696"/>
            <a:ext cx="4572000" cy="256032"/>
          </a:xfrm>
          <a:prstGeom prst="rect">
            <a:avLst/>
          </a:prstGeom>
          <a:noFill/>
          <a:ln/>
        </p:spPr>
        <p:txBody>
          <a:bodyPr wrap="square" lIns="0" tIns="0" rIns="0" bIns="0" rtlCol="0" anchor="t"/>
          <a:lstStyle/>
          <a:p>
            <a:pPr indent="0" marL="0">
              <a:buNone/>
            </a:pPr>
            <a:r>
              <a:rPr lang="en-US" sz="1150" b="1" dirty="0">
                <a:solidFill>
                  <a:srgbClr val="5E7F3C"/>
                </a:solidFill>
                <a:latin typeface="Meiryo" pitchFamily="34" charset="0"/>
                <a:ea typeface="Meiryo" pitchFamily="34" charset="-122"/>
                <a:cs typeface="Meiryo" pitchFamily="34" charset="-120"/>
              </a:rPr>
              <a:t>東京都も同じ課題を掲げている</a:t>
            </a:r>
            <a:endParaRPr lang="en-US" sz="1150" dirty="0"/>
          </a:p>
        </p:txBody>
      </p:sp>
      <p:sp>
        <p:nvSpPr>
          <p:cNvPr id="26" name="Text 24"/>
          <p:cNvSpPr txBox="1"/>
          <p:nvPr/>
        </p:nvSpPr>
        <p:spPr>
          <a:xfrm>
            <a:off x="6592824" y="4754880"/>
            <a:ext cx="4617720" cy="731520"/>
          </a:xfrm>
          <a:prstGeom prst="rect">
            <a:avLst/>
          </a:prstGeom>
          <a:noFill/>
          <a:ln/>
        </p:spPr>
        <p:txBody>
          <a:bodyPr wrap="square" lIns="0" tIns="0" rIns="0" bIns="0" rtlCol="0" anchor="t"/>
          <a:lstStyle/>
          <a:p>
            <a:pPr indent="0" marL="0">
              <a:lnSpc>
                <a:spcPts val="1900"/>
              </a:lnSpc>
              <a:buNone/>
            </a:pPr>
            <a:r>
              <a:rPr lang="en-US" sz="1200" dirty="0">
                <a:solidFill>
                  <a:srgbClr val="23302A"/>
                </a:solidFill>
                <a:latin typeface="Meiryo" pitchFamily="34" charset="0"/>
                <a:ea typeface="Meiryo" pitchFamily="34" charset="-122"/>
                <a:cs typeface="Meiryo" pitchFamily="34" charset="-120"/>
              </a:rPr>
              <a:t>「多摩の森」活性化プロジェクトも、木材需要を生み出し、その収益を次の森林育成につなげる必要性を課題として挙げている。</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ISSUE 03</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課題③｜「森林」と「都市側の需要」が分断されている</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7</a:t>
            </a:r>
            <a:endParaRPr lang="en-US" sz="900" dirty="0"/>
          </a:p>
        </p:txBody>
      </p:sp>
      <p:sp>
        <p:nvSpPr>
          <p:cNvPr id="6" name="Shape 4"/>
          <p:cNvSpPr/>
          <p:nvPr/>
        </p:nvSpPr>
        <p:spPr>
          <a:xfrm>
            <a:off x="658368" y="1691640"/>
            <a:ext cx="4206240" cy="3154680"/>
          </a:xfrm>
          <a:prstGeom prst="roundRect">
            <a:avLst>
              <a:gd name="adj" fmla="val 2609"/>
            </a:avLst>
          </a:prstGeom>
          <a:solidFill>
            <a:srgbClr val="EAF1E0"/>
          </a:solidFill>
          <a:ln/>
        </p:spPr>
      </p:sp>
      <p:sp>
        <p:nvSpPr>
          <p:cNvPr id="7" name="Text 5"/>
          <p:cNvSpPr txBox="1"/>
          <p:nvPr/>
        </p:nvSpPr>
        <p:spPr>
          <a:xfrm>
            <a:off x="978408" y="1938528"/>
            <a:ext cx="3566160" cy="274320"/>
          </a:xfrm>
          <a:prstGeom prst="rect">
            <a:avLst/>
          </a:prstGeom>
          <a:noFill/>
          <a:ln/>
        </p:spPr>
        <p:txBody>
          <a:bodyPr wrap="square" lIns="0" tIns="0" rIns="0" bIns="0" rtlCol="0" anchor="t"/>
          <a:lstStyle/>
          <a:p>
            <a:pPr indent="0" marL="0">
              <a:buNone/>
            </a:pPr>
            <a:r>
              <a:rPr lang="en-US" sz="1300" b="1" dirty="0">
                <a:solidFill>
                  <a:srgbClr val="1B3D24"/>
                </a:solidFill>
                <a:latin typeface="Meiryo" pitchFamily="34" charset="0"/>
                <a:ea typeface="Meiryo" pitchFamily="34" charset="-122"/>
                <a:cs typeface="Meiryo" pitchFamily="34" charset="-120"/>
              </a:rPr>
              <a:t>森林側（供給）</a:t>
            </a:r>
            <a:endParaRPr lang="en-US" sz="1300" dirty="0"/>
          </a:p>
        </p:txBody>
      </p:sp>
      <p:sp>
        <p:nvSpPr>
          <p:cNvPr id="8" name="Text 6"/>
          <p:cNvSpPr txBox="1"/>
          <p:nvPr/>
        </p:nvSpPr>
        <p:spPr>
          <a:xfrm>
            <a:off x="978408" y="2359152"/>
            <a:ext cx="3566160" cy="182880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1B3D24"/>
                </a:solidFill>
                <a:latin typeface="Meiryo" pitchFamily="34" charset="0"/>
                <a:ea typeface="Meiryo" pitchFamily="34" charset="-122"/>
                <a:cs typeface="Meiryo" pitchFamily="34" charset="-120"/>
              </a:rPr>
              <a:t>どの森林から出るのか</a:t>
            </a:r>
            <a:endParaRPr lang="en-US" sz="1250" dirty="0"/>
          </a:p>
          <a:p>
            <a:pPr marL="342900" indent="-342900">
              <a:lnSpc>
                <a:spcPts val="1800"/>
              </a:lnSpc>
              <a:spcAft>
                <a:spcPts val="700"/>
              </a:spcAft>
              <a:buSzPct val="100000"/>
              <a:buChar char="▪"/>
            </a:pPr>
            <a:r>
              <a:rPr lang="en-US" sz="1250" dirty="0">
                <a:solidFill>
                  <a:srgbClr val="1B3D24"/>
                </a:solidFill>
                <a:latin typeface="Meiryo" pitchFamily="34" charset="0"/>
                <a:ea typeface="Meiryo" pitchFamily="34" charset="-122"/>
                <a:cs typeface="Meiryo" pitchFamily="34" charset="-120"/>
              </a:rPr>
              <a:t>どのような木材が出るのか</a:t>
            </a:r>
            <a:endParaRPr lang="en-US" sz="1250" dirty="0"/>
          </a:p>
          <a:p>
            <a:pPr marL="342900" indent="-342900">
              <a:lnSpc>
                <a:spcPts val="1800"/>
              </a:lnSpc>
              <a:spcAft>
                <a:spcPts val="700"/>
              </a:spcAft>
              <a:buSzPct val="100000"/>
              <a:buChar char="▪"/>
            </a:pPr>
            <a:r>
              <a:rPr lang="en-US" sz="1250" dirty="0">
                <a:solidFill>
                  <a:srgbClr val="1B3D24"/>
                </a:solidFill>
                <a:latin typeface="Meiryo" pitchFamily="34" charset="0"/>
                <a:ea typeface="Meiryo" pitchFamily="34" charset="-122"/>
                <a:cs typeface="Meiryo" pitchFamily="34" charset="-120"/>
              </a:rPr>
              <a:t>どのくらいの量が出るのか</a:t>
            </a:r>
            <a:endParaRPr lang="en-US" sz="1250" dirty="0"/>
          </a:p>
          <a:p>
            <a:pPr marL="342900" indent="-342900">
              <a:lnSpc>
                <a:spcPts val="1800"/>
              </a:lnSpc>
              <a:spcAft>
                <a:spcPts val="700"/>
              </a:spcAft>
              <a:buSzPct val="100000"/>
              <a:buChar char="▪"/>
            </a:pPr>
            <a:r>
              <a:rPr lang="en-US" sz="1250" dirty="0">
                <a:solidFill>
                  <a:srgbClr val="1B3D24"/>
                </a:solidFill>
                <a:latin typeface="Meiryo" pitchFamily="34" charset="0"/>
                <a:ea typeface="Meiryo" pitchFamily="34" charset="-122"/>
                <a:cs typeface="Meiryo" pitchFamily="34" charset="-120"/>
              </a:rPr>
              <a:t>いつ出るのか</a:t>
            </a:r>
            <a:endParaRPr lang="en-US" sz="1250" dirty="0"/>
          </a:p>
        </p:txBody>
      </p:sp>
      <p:sp>
        <p:nvSpPr>
          <p:cNvPr id="9" name="Text 7"/>
          <p:cNvSpPr txBox="1"/>
          <p:nvPr/>
        </p:nvSpPr>
        <p:spPr>
          <a:xfrm>
            <a:off x="978408" y="4370832"/>
            <a:ext cx="3566160" cy="320040"/>
          </a:xfrm>
          <a:prstGeom prst="rect">
            <a:avLst/>
          </a:prstGeom>
          <a:noFill/>
          <a:ln/>
        </p:spPr>
        <p:txBody>
          <a:bodyPr wrap="square" lIns="0" tIns="0" rIns="0" bIns="0" rtlCol="0" anchor="t"/>
          <a:lstStyle/>
          <a:p>
            <a:pPr indent="0" marL="0">
              <a:buNone/>
            </a:pPr>
            <a:r>
              <a:rPr lang="en-US" sz="1150" b="1" dirty="0">
                <a:solidFill>
                  <a:srgbClr val="5E7F3C"/>
                </a:solidFill>
                <a:latin typeface="Meiryo" pitchFamily="34" charset="0"/>
                <a:ea typeface="Meiryo" pitchFamily="34" charset="-122"/>
                <a:cs typeface="Meiryo" pitchFamily="34" charset="-120"/>
              </a:rPr>
              <a:t>→ 十分に可視化されていない</a:t>
            </a:r>
            <a:endParaRPr lang="en-US" sz="1150" dirty="0"/>
          </a:p>
        </p:txBody>
      </p:sp>
      <p:sp>
        <p:nvSpPr>
          <p:cNvPr id="10" name="Shape 8"/>
          <p:cNvSpPr/>
          <p:nvPr/>
        </p:nvSpPr>
        <p:spPr>
          <a:xfrm>
            <a:off x="5413248" y="2788920"/>
            <a:ext cx="960120" cy="960120"/>
          </a:xfrm>
          <a:prstGeom prst="ellipse">
            <a:avLst/>
          </a:prstGeom>
          <a:solidFill>
            <a:srgbClr val="C1762C"/>
          </a:solidFill>
          <a:ln/>
        </p:spPr>
      </p:sp>
      <p:sp>
        <p:nvSpPr>
          <p:cNvPr id="11" name="Text 9"/>
          <p:cNvSpPr txBox="1"/>
          <p:nvPr/>
        </p:nvSpPr>
        <p:spPr>
          <a:xfrm>
            <a:off x="5413248" y="2788920"/>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eiryo" pitchFamily="34" charset="0"/>
                <a:ea typeface="Meiryo" pitchFamily="34" charset="-122"/>
                <a:cs typeface="Meiryo" pitchFamily="34" charset="-120"/>
              </a:rPr>
              <a:t>?</a:t>
            </a:r>
            <a:endParaRPr lang="en-US" sz="3400" dirty="0"/>
          </a:p>
        </p:txBody>
      </p:sp>
      <p:sp>
        <p:nvSpPr>
          <p:cNvPr id="12" name="Text 10"/>
          <p:cNvSpPr txBox="1"/>
          <p:nvPr/>
        </p:nvSpPr>
        <p:spPr>
          <a:xfrm>
            <a:off x="5138928" y="3886200"/>
            <a:ext cx="1508760" cy="548640"/>
          </a:xfrm>
          <a:prstGeom prst="rect">
            <a:avLst/>
          </a:prstGeom>
          <a:noFill/>
          <a:ln/>
        </p:spPr>
        <p:txBody>
          <a:bodyPr wrap="square" lIns="0" tIns="0" rIns="0" bIns="0" rtlCol="0" anchor="t"/>
          <a:lstStyle/>
          <a:p>
            <a:pPr algn="ctr" indent="0" marL="0">
              <a:lnSpc>
                <a:spcPts val="1500"/>
              </a:lnSpc>
              <a:buNone/>
            </a:pPr>
            <a:r>
              <a:rPr lang="en-US" sz="1050" b="1" dirty="0">
                <a:solidFill>
                  <a:srgbClr val="C1762C"/>
                </a:solidFill>
                <a:latin typeface="Meiryo" pitchFamily="34" charset="0"/>
                <a:ea typeface="Meiryo" pitchFamily="34" charset="-122"/>
                <a:cs typeface="Meiryo" pitchFamily="34" charset="-120"/>
              </a:rPr>
              <a:t>つなぐ仕組みが</a:t>
            </a:r>
            <a:endParaRPr lang="en-US" sz="1050" dirty="0"/>
          </a:p>
          <a:p>
            <a:pPr algn="ctr" indent="0" marL="0">
              <a:lnSpc>
                <a:spcPts val="1500"/>
              </a:lnSpc>
              <a:buNone/>
            </a:pPr>
            <a:r>
              <a:rPr lang="en-US" sz="1050" b="1" dirty="0">
                <a:solidFill>
                  <a:srgbClr val="C1762C"/>
                </a:solidFill>
                <a:latin typeface="Meiryo" pitchFamily="34" charset="0"/>
                <a:ea typeface="Meiryo" pitchFamily="34" charset="-122"/>
                <a:cs typeface="Meiryo" pitchFamily="34" charset="-120"/>
              </a:rPr>
              <a:t>無い</a:t>
            </a:r>
            <a:endParaRPr lang="en-US" sz="1050" dirty="0"/>
          </a:p>
        </p:txBody>
      </p:sp>
      <p:sp>
        <p:nvSpPr>
          <p:cNvPr id="13" name="Shape 11"/>
          <p:cNvSpPr/>
          <p:nvPr/>
        </p:nvSpPr>
        <p:spPr>
          <a:xfrm>
            <a:off x="7333488" y="1691640"/>
            <a:ext cx="4206240" cy="3154680"/>
          </a:xfrm>
          <a:prstGeom prst="roundRect">
            <a:avLst>
              <a:gd name="adj" fmla="val 2609"/>
            </a:avLst>
          </a:prstGeom>
          <a:solidFill>
            <a:srgbClr val="F4F6F1"/>
          </a:solidFill>
          <a:ln w="12700">
            <a:solidFill>
              <a:srgbClr val="DCE3D8"/>
            </a:solidFill>
            <a:prstDash val="solid"/>
          </a:ln>
        </p:spPr>
      </p:sp>
      <p:sp>
        <p:nvSpPr>
          <p:cNvPr id="14" name="Text 12"/>
          <p:cNvSpPr txBox="1"/>
          <p:nvPr/>
        </p:nvSpPr>
        <p:spPr>
          <a:xfrm>
            <a:off x="7653528" y="1938528"/>
            <a:ext cx="3566160" cy="274320"/>
          </a:xfrm>
          <a:prstGeom prst="rect">
            <a:avLst/>
          </a:prstGeom>
          <a:noFill/>
          <a:ln/>
        </p:spPr>
        <p:txBody>
          <a:bodyPr wrap="square" lIns="0" tIns="0" rIns="0" bIns="0" rtlCol="0" anchor="t"/>
          <a:lstStyle/>
          <a:p>
            <a:pPr indent="0" marL="0">
              <a:buNone/>
            </a:pPr>
            <a:r>
              <a:rPr lang="en-US" sz="1300" b="1" dirty="0">
                <a:solidFill>
                  <a:srgbClr val="1B3D24"/>
                </a:solidFill>
                <a:latin typeface="Meiryo" pitchFamily="34" charset="0"/>
                <a:ea typeface="Meiryo" pitchFamily="34" charset="-122"/>
                <a:cs typeface="Meiryo" pitchFamily="34" charset="-120"/>
              </a:rPr>
              <a:t>都市側（需要の可能性）</a:t>
            </a:r>
            <a:endParaRPr lang="en-US" sz="1300" dirty="0"/>
          </a:p>
        </p:txBody>
      </p:sp>
      <p:sp>
        <p:nvSpPr>
          <p:cNvPr id="15" name="Shape 13"/>
          <p:cNvSpPr/>
          <p:nvPr/>
        </p:nvSpPr>
        <p:spPr>
          <a:xfrm>
            <a:off x="7653528" y="2377440"/>
            <a:ext cx="571957" cy="274320"/>
          </a:xfrm>
          <a:prstGeom prst="roundRect">
            <a:avLst>
              <a:gd name="adj" fmla="val 46667"/>
            </a:avLst>
          </a:prstGeom>
          <a:solidFill>
            <a:srgbClr val="FFFFFF"/>
          </a:solidFill>
          <a:ln w="9525">
            <a:solidFill>
              <a:srgbClr val="DCE3D8"/>
            </a:solidFill>
            <a:prstDash val="solid"/>
          </a:ln>
        </p:spPr>
      </p:sp>
      <p:sp>
        <p:nvSpPr>
          <p:cNvPr id="16" name="Text 14"/>
          <p:cNvSpPr txBox="1"/>
          <p:nvPr/>
        </p:nvSpPr>
        <p:spPr>
          <a:xfrm>
            <a:off x="7653528" y="2377440"/>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市民</a:t>
            </a:r>
            <a:endParaRPr lang="en-US" sz="1050" dirty="0"/>
          </a:p>
        </p:txBody>
      </p:sp>
      <p:sp>
        <p:nvSpPr>
          <p:cNvPr id="17" name="Shape 15"/>
          <p:cNvSpPr/>
          <p:nvPr/>
        </p:nvSpPr>
        <p:spPr>
          <a:xfrm>
            <a:off x="8326069" y="2377440"/>
            <a:ext cx="571957" cy="274320"/>
          </a:xfrm>
          <a:prstGeom prst="roundRect">
            <a:avLst>
              <a:gd name="adj" fmla="val 46667"/>
            </a:avLst>
          </a:prstGeom>
          <a:solidFill>
            <a:srgbClr val="FFFFFF"/>
          </a:solidFill>
          <a:ln w="9525">
            <a:solidFill>
              <a:srgbClr val="DCE3D8"/>
            </a:solidFill>
            <a:prstDash val="solid"/>
          </a:ln>
        </p:spPr>
      </p:sp>
      <p:sp>
        <p:nvSpPr>
          <p:cNvPr id="18" name="Text 16"/>
          <p:cNvSpPr txBox="1"/>
          <p:nvPr/>
        </p:nvSpPr>
        <p:spPr>
          <a:xfrm>
            <a:off x="8326069" y="2377440"/>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企業</a:t>
            </a:r>
            <a:endParaRPr lang="en-US" sz="1050" dirty="0"/>
          </a:p>
        </p:txBody>
      </p:sp>
      <p:sp>
        <p:nvSpPr>
          <p:cNvPr id="19" name="Shape 17"/>
          <p:cNvSpPr/>
          <p:nvPr/>
        </p:nvSpPr>
        <p:spPr>
          <a:xfrm>
            <a:off x="8998610" y="2377440"/>
            <a:ext cx="571957" cy="274320"/>
          </a:xfrm>
          <a:prstGeom prst="roundRect">
            <a:avLst>
              <a:gd name="adj" fmla="val 46667"/>
            </a:avLst>
          </a:prstGeom>
          <a:solidFill>
            <a:srgbClr val="FFFFFF"/>
          </a:solidFill>
          <a:ln w="9525">
            <a:solidFill>
              <a:srgbClr val="DCE3D8"/>
            </a:solidFill>
            <a:prstDash val="solid"/>
          </a:ln>
        </p:spPr>
      </p:sp>
      <p:sp>
        <p:nvSpPr>
          <p:cNvPr id="20" name="Text 18"/>
          <p:cNvSpPr txBox="1"/>
          <p:nvPr/>
        </p:nvSpPr>
        <p:spPr>
          <a:xfrm>
            <a:off x="8998610" y="2377440"/>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学校</a:t>
            </a:r>
            <a:endParaRPr lang="en-US" sz="1050" dirty="0"/>
          </a:p>
        </p:txBody>
      </p:sp>
      <p:sp>
        <p:nvSpPr>
          <p:cNvPr id="21" name="Shape 19"/>
          <p:cNvSpPr/>
          <p:nvPr/>
        </p:nvSpPr>
        <p:spPr>
          <a:xfrm>
            <a:off x="9671152" y="2377440"/>
            <a:ext cx="869594" cy="274320"/>
          </a:xfrm>
          <a:prstGeom prst="roundRect">
            <a:avLst>
              <a:gd name="adj" fmla="val 46667"/>
            </a:avLst>
          </a:prstGeom>
          <a:solidFill>
            <a:srgbClr val="FFFFFF"/>
          </a:solidFill>
          <a:ln w="9525">
            <a:solidFill>
              <a:srgbClr val="DCE3D8"/>
            </a:solidFill>
            <a:prstDash val="solid"/>
          </a:ln>
        </p:spPr>
      </p:sp>
      <p:sp>
        <p:nvSpPr>
          <p:cNvPr id="22" name="Text 20"/>
          <p:cNvSpPr txBox="1"/>
          <p:nvPr/>
        </p:nvSpPr>
        <p:spPr>
          <a:xfrm>
            <a:off x="9671152" y="2377440"/>
            <a:ext cx="869594"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公共施設</a:t>
            </a:r>
            <a:endParaRPr lang="en-US" sz="1050" dirty="0"/>
          </a:p>
        </p:txBody>
      </p:sp>
      <p:sp>
        <p:nvSpPr>
          <p:cNvPr id="23" name="Shape 21"/>
          <p:cNvSpPr/>
          <p:nvPr/>
        </p:nvSpPr>
        <p:spPr>
          <a:xfrm>
            <a:off x="7653528" y="2752344"/>
            <a:ext cx="1018413" cy="274320"/>
          </a:xfrm>
          <a:prstGeom prst="roundRect">
            <a:avLst>
              <a:gd name="adj" fmla="val 46667"/>
            </a:avLst>
          </a:prstGeom>
          <a:solidFill>
            <a:srgbClr val="FFFFFF"/>
          </a:solidFill>
          <a:ln w="9525">
            <a:solidFill>
              <a:srgbClr val="DCE3D8"/>
            </a:solidFill>
            <a:prstDash val="solid"/>
          </a:ln>
        </p:spPr>
      </p:sp>
      <p:sp>
        <p:nvSpPr>
          <p:cNvPr id="24" name="Text 22"/>
          <p:cNvSpPr txBox="1"/>
          <p:nvPr/>
        </p:nvSpPr>
        <p:spPr>
          <a:xfrm>
            <a:off x="7653528" y="2752344"/>
            <a:ext cx="1018413"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建築・内装</a:t>
            </a:r>
            <a:endParaRPr lang="en-US" sz="1050" dirty="0"/>
          </a:p>
        </p:txBody>
      </p:sp>
      <p:sp>
        <p:nvSpPr>
          <p:cNvPr id="25" name="Shape 23"/>
          <p:cNvSpPr/>
          <p:nvPr/>
        </p:nvSpPr>
        <p:spPr>
          <a:xfrm>
            <a:off x="8772525" y="2752344"/>
            <a:ext cx="1316050" cy="274320"/>
          </a:xfrm>
          <a:prstGeom prst="roundRect">
            <a:avLst>
              <a:gd name="adj" fmla="val 46667"/>
            </a:avLst>
          </a:prstGeom>
          <a:solidFill>
            <a:srgbClr val="FFFFFF"/>
          </a:solidFill>
          <a:ln w="9525">
            <a:solidFill>
              <a:srgbClr val="DCE3D8"/>
            </a:solidFill>
            <a:prstDash val="solid"/>
          </a:ln>
        </p:spPr>
      </p:sp>
      <p:sp>
        <p:nvSpPr>
          <p:cNvPr id="26" name="Text 24"/>
          <p:cNvSpPr txBox="1"/>
          <p:nvPr/>
        </p:nvSpPr>
        <p:spPr>
          <a:xfrm>
            <a:off x="8772525" y="2752344"/>
            <a:ext cx="1316050"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飲食店・ホテル</a:t>
            </a:r>
            <a:endParaRPr lang="en-US" sz="1050" dirty="0"/>
          </a:p>
        </p:txBody>
      </p:sp>
      <p:sp>
        <p:nvSpPr>
          <p:cNvPr id="27" name="Shape 25"/>
          <p:cNvSpPr/>
          <p:nvPr/>
        </p:nvSpPr>
        <p:spPr>
          <a:xfrm>
            <a:off x="10189159" y="2752344"/>
            <a:ext cx="869594" cy="274320"/>
          </a:xfrm>
          <a:prstGeom prst="roundRect">
            <a:avLst>
              <a:gd name="adj" fmla="val 46667"/>
            </a:avLst>
          </a:prstGeom>
          <a:solidFill>
            <a:srgbClr val="FFFFFF"/>
          </a:solidFill>
          <a:ln w="9525">
            <a:solidFill>
              <a:srgbClr val="DCE3D8"/>
            </a:solidFill>
            <a:prstDash val="solid"/>
          </a:ln>
        </p:spPr>
      </p:sp>
      <p:sp>
        <p:nvSpPr>
          <p:cNvPr id="28" name="Text 26"/>
          <p:cNvSpPr txBox="1"/>
          <p:nvPr/>
        </p:nvSpPr>
        <p:spPr>
          <a:xfrm>
            <a:off x="10189159" y="2752344"/>
            <a:ext cx="869594"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温浴施設</a:t>
            </a:r>
            <a:endParaRPr lang="en-US" sz="1050" dirty="0"/>
          </a:p>
        </p:txBody>
      </p:sp>
      <p:sp>
        <p:nvSpPr>
          <p:cNvPr id="29" name="Shape 27"/>
          <p:cNvSpPr/>
          <p:nvPr/>
        </p:nvSpPr>
        <p:spPr>
          <a:xfrm>
            <a:off x="7653528" y="3127248"/>
            <a:ext cx="720776" cy="274320"/>
          </a:xfrm>
          <a:prstGeom prst="roundRect">
            <a:avLst>
              <a:gd name="adj" fmla="val 46667"/>
            </a:avLst>
          </a:prstGeom>
          <a:solidFill>
            <a:srgbClr val="FFFFFF"/>
          </a:solidFill>
          <a:ln w="9525">
            <a:solidFill>
              <a:srgbClr val="DCE3D8"/>
            </a:solidFill>
            <a:prstDash val="solid"/>
          </a:ln>
        </p:spPr>
      </p:sp>
      <p:sp>
        <p:nvSpPr>
          <p:cNvPr id="30" name="Text 28"/>
          <p:cNvSpPr txBox="1"/>
          <p:nvPr/>
        </p:nvSpPr>
        <p:spPr>
          <a:xfrm>
            <a:off x="7653528" y="3127248"/>
            <a:ext cx="720776"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製造業</a:t>
            </a:r>
            <a:endParaRPr lang="en-US" sz="1050" dirty="0"/>
          </a:p>
        </p:txBody>
      </p:sp>
      <p:sp>
        <p:nvSpPr>
          <p:cNvPr id="31" name="Text 29"/>
          <p:cNvSpPr txBox="1"/>
          <p:nvPr/>
        </p:nvSpPr>
        <p:spPr>
          <a:xfrm>
            <a:off x="7653528" y="4370832"/>
            <a:ext cx="3657600" cy="548640"/>
          </a:xfrm>
          <a:prstGeom prst="rect">
            <a:avLst/>
          </a:prstGeom>
          <a:noFill/>
          <a:ln/>
        </p:spPr>
        <p:txBody>
          <a:bodyPr wrap="square" lIns="0" tIns="0" rIns="0" bIns="0" rtlCol="0" anchor="t"/>
          <a:lstStyle/>
          <a:p>
            <a:pPr indent="0" marL="0">
              <a:lnSpc>
                <a:spcPts val="1700"/>
              </a:lnSpc>
              <a:buNone/>
            </a:pPr>
            <a:r>
              <a:rPr lang="en-US" sz="1150" b="1" dirty="0">
                <a:solidFill>
                  <a:srgbClr val="5E7F3C"/>
                </a:solidFill>
                <a:latin typeface="Meiryo" pitchFamily="34" charset="0"/>
                <a:ea typeface="Meiryo" pitchFamily="34" charset="-122"/>
                <a:cs typeface="Meiryo" pitchFamily="34" charset="-120"/>
              </a:rPr>
              <a:t>→ 誰が・何に・どれだけ使えるかが</a:t>
            </a:r>
            <a:endParaRPr lang="en-US" sz="1150" dirty="0"/>
          </a:p>
          <a:p>
            <a:pPr indent="0" marL="0">
              <a:lnSpc>
                <a:spcPts val="1700"/>
              </a:lnSpc>
              <a:buNone/>
            </a:pPr>
            <a:r>
              <a:rPr lang="en-US" sz="1150" b="1" dirty="0">
                <a:solidFill>
                  <a:srgbClr val="5E7F3C"/>
                </a:solidFill>
                <a:latin typeface="Meiryo" pitchFamily="34" charset="0"/>
                <a:ea typeface="Meiryo" pitchFamily="34" charset="-122"/>
                <a:cs typeface="Meiryo" pitchFamily="34" charset="-120"/>
              </a:rPr>
              <a:t>　 整理されていない</a:t>
            </a:r>
            <a:endParaRPr lang="en-US" sz="1150" dirty="0"/>
          </a:p>
        </p:txBody>
      </p:sp>
      <p:sp>
        <p:nvSpPr>
          <p:cNvPr id="32" name="Shape 30"/>
          <p:cNvSpPr/>
          <p:nvPr/>
        </p:nvSpPr>
        <p:spPr>
          <a:xfrm>
            <a:off x="658368" y="5074920"/>
            <a:ext cx="10874959" cy="777240"/>
          </a:xfrm>
          <a:prstGeom prst="roundRect">
            <a:avLst>
              <a:gd name="adj" fmla="val 10588"/>
            </a:avLst>
          </a:prstGeom>
          <a:solidFill>
            <a:srgbClr val="FAEEDF"/>
          </a:solidFill>
          <a:ln/>
        </p:spPr>
      </p:sp>
      <p:sp>
        <p:nvSpPr>
          <p:cNvPr id="33" name="Text 31"/>
          <p:cNvSpPr txBox="1"/>
          <p:nvPr/>
        </p:nvSpPr>
        <p:spPr>
          <a:xfrm>
            <a:off x="658368" y="5074920"/>
            <a:ext cx="10874959" cy="777240"/>
          </a:xfrm>
          <a:prstGeom prst="rect">
            <a:avLst/>
          </a:prstGeom>
          <a:noFill/>
          <a:ln/>
        </p:spPr>
        <p:txBody>
          <a:bodyPr wrap="square" lIns="0" tIns="0" rIns="0" bIns="0" rtlCol="0" anchor="ctr"/>
          <a:lstStyle/>
          <a:p>
            <a:pPr algn="ctr" indent="0" marL="0">
              <a:buNone/>
            </a:pPr>
            <a:r>
              <a:rPr lang="en-US" sz="1500" b="1" dirty="0">
                <a:solidFill>
                  <a:srgbClr val="1B3D24"/>
                </a:solidFill>
                <a:latin typeface="Meiryo" pitchFamily="34" charset="0"/>
                <a:ea typeface="Meiryo" pitchFamily="34" charset="-122"/>
                <a:cs typeface="Meiryo" pitchFamily="34" charset="-120"/>
              </a:rPr>
              <a:t>八王子に「需要が無い」のではない。需要と森林が、つながっていない。</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SUMMARY</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第1章まとめ｜循環を止めている3つの断絶</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8</a:t>
            </a:r>
            <a:endParaRPr lang="en-US" sz="900" dirty="0"/>
          </a:p>
        </p:txBody>
      </p:sp>
      <p:sp>
        <p:nvSpPr>
          <p:cNvPr id="6" name="Shape 4"/>
          <p:cNvSpPr/>
          <p:nvPr/>
        </p:nvSpPr>
        <p:spPr>
          <a:xfrm>
            <a:off x="658368" y="1737360"/>
            <a:ext cx="3465576" cy="2514600"/>
          </a:xfrm>
          <a:prstGeom prst="roundRect">
            <a:avLst>
              <a:gd name="adj" fmla="val 3273"/>
            </a:avLst>
          </a:prstGeom>
          <a:solidFill>
            <a:srgbClr val="F4F6F1"/>
          </a:solidFill>
          <a:ln w="12700">
            <a:solidFill>
              <a:srgbClr val="DCE3D8"/>
            </a:solidFill>
            <a:prstDash val="solid"/>
          </a:ln>
        </p:spPr>
      </p:sp>
      <p:sp>
        <p:nvSpPr>
          <p:cNvPr id="7" name="Text 5"/>
          <p:cNvSpPr txBox="1"/>
          <p:nvPr/>
        </p:nvSpPr>
        <p:spPr>
          <a:xfrm>
            <a:off x="978408" y="1993392"/>
            <a:ext cx="2825496" cy="256032"/>
          </a:xfrm>
          <a:prstGeom prst="rect">
            <a:avLst/>
          </a:prstGeom>
          <a:noFill/>
          <a:ln/>
        </p:spPr>
        <p:txBody>
          <a:bodyPr wrap="square" lIns="0" tIns="0" rIns="0" bIns="0" rtlCol="0" anchor="t"/>
          <a:lstStyle/>
          <a:p>
            <a:pPr indent="0" marL="0">
              <a:buNone/>
            </a:pPr>
            <a:r>
              <a:rPr lang="en-US" sz="1100" b="1" spc="100" kern="0" dirty="0">
                <a:solidFill>
                  <a:srgbClr val="C1762C"/>
                </a:solidFill>
                <a:latin typeface="Meiryo" pitchFamily="34" charset="0"/>
                <a:ea typeface="Meiryo" pitchFamily="34" charset="-122"/>
                <a:cs typeface="Meiryo" pitchFamily="34" charset="-120"/>
              </a:rPr>
              <a:t>断絶 01</a:t>
            </a:r>
            <a:endParaRPr lang="en-US" sz="1100" dirty="0"/>
          </a:p>
        </p:txBody>
      </p:sp>
      <p:sp>
        <p:nvSpPr>
          <p:cNvPr id="8" name="Text 6"/>
          <p:cNvSpPr txBox="1"/>
          <p:nvPr/>
        </p:nvSpPr>
        <p:spPr>
          <a:xfrm>
            <a:off x="978408" y="2331720"/>
            <a:ext cx="2825496" cy="411480"/>
          </a:xfrm>
          <a:prstGeom prst="rect">
            <a:avLst/>
          </a:prstGeom>
          <a:noFill/>
          <a:ln/>
        </p:spPr>
        <p:txBody>
          <a:bodyPr wrap="square" lIns="0" tIns="0" rIns="0" bIns="0" rtlCol="0" anchor="t"/>
          <a:lstStyle/>
          <a:p>
            <a:pPr indent="0" marL="0">
              <a:buNone/>
            </a:pPr>
            <a:r>
              <a:rPr lang="en-US" sz="2100" b="1" dirty="0">
                <a:solidFill>
                  <a:srgbClr val="1B3D24"/>
                </a:solidFill>
                <a:latin typeface="Meiryo" pitchFamily="34" charset="0"/>
                <a:ea typeface="Meiryo" pitchFamily="34" charset="-122"/>
                <a:cs typeface="Meiryo" pitchFamily="34" charset="-120"/>
              </a:rPr>
              <a:t>人と資金</a:t>
            </a:r>
            <a:endParaRPr lang="en-US" sz="2100" dirty="0"/>
          </a:p>
        </p:txBody>
      </p:sp>
      <p:sp>
        <p:nvSpPr>
          <p:cNvPr id="9" name="Text 7"/>
          <p:cNvSpPr txBox="1"/>
          <p:nvPr/>
        </p:nvSpPr>
        <p:spPr>
          <a:xfrm>
            <a:off x="978408" y="2907792"/>
            <a:ext cx="2825496" cy="1097280"/>
          </a:xfrm>
          <a:prstGeom prst="rect">
            <a:avLst/>
          </a:prstGeom>
          <a:noFill/>
          <a:ln/>
        </p:spPr>
        <p:txBody>
          <a:bodyPr wrap="square" lIns="0" tIns="0" rIns="0" bIns="0" rtlCol="0" anchor="t"/>
          <a:lstStyle/>
          <a:p>
            <a:pPr indent="0" marL="0">
              <a:lnSpc>
                <a:spcPts val="1800"/>
              </a:lnSpc>
              <a:buNone/>
            </a:pPr>
            <a:r>
              <a:rPr lang="en-US" sz="1150" dirty="0">
                <a:solidFill>
                  <a:srgbClr val="5F6B64"/>
                </a:solidFill>
                <a:latin typeface="Meiryo" pitchFamily="34" charset="0"/>
                <a:ea typeface="Meiryo" pitchFamily="34" charset="-122"/>
                <a:cs typeface="Meiryo" pitchFamily="34" charset="-120"/>
              </a:rPr>
              <a:t>森林を継続的に管理する担い手と財源が、単発でしか確保されない</a:t>
            </a:r>
            <a:endParaRPr lang="en-US" sz="1150" dirty="0"/>
          </a:p>
        </p:txBody>
      </p:sp>
      <p:sp>
        <p:nvSpPr>
          <p:cNvPr id="10" name="Shape 8"/>
          <p:cNvSpPr/>
          <p:nvPr/>
        </p:nvSpPr>
        <p:spPr>
          <a:xfrm>
            <a:off x="4379976" y="1737360"/>
            <a:ext cx="3465576" cy="2514600"/>
          </a:xfrm>
          <a:prstGeom prst="roundRect">
            <a:avLst>
              <a:gd name="adj" fmla="val 3273"/>
            </a:avLst>
          </a:prstGeom>
          <a:solidFill>
            <a:srgbClr val="F4F6F1"/>
          </a:solidFill>
          <a:ln w="12700">
            <a:solidFill>
              <a:srgbClr val="DCE3D8"/>
            </a:solidFill>
            <a:prstDash val="solid"/>
          </a:ln>
        </p:spPr>
      </p:sp>
      <p:sp>
        <p:nvSpPr>
          <p:cNvPr id="11" name="Text 9"/>
          <p:cNvSpPr txBox="1"/>
          <p:nvPr/>
        </p:nvSpPr>
        <p:spPr>
          <a:xfrm>
            <a:off x="4700016" y="1993392"/>
            <a:ext cx="2825496" cy="256032"/>
          </a:xfrm>
          <a:prstGeom prst="rect">
            <a:avLst/>
          </a:prstGeom>
          <a:noFill/>
          <a:ln/>
        </p:spPr>
        <p:txBody>
          <a:bodyPr wrap="square" lIns="0" tIns="0" rIns="0" bIns="0" rtlCol="0" anchor="t"/>
          <a:lstStyle/>
          <a:p>
            <a:pPr indent="0" marL="0">
              <a:buNone/>
            </a:pPr>
            <a:r>
              <a:rPr lang="en-US" sz="1100" b="1" spc="100" kern="0" dirty="0">
                <a:solidFill>
                  <a:srgbClr val="C1762C"/>
                </a:solidFill>
                <a:latin typeface="Meiryo" pitchFamily="34" charset="0"/>
                <a:ea typeface="Meiryo" pitchFamily="34" charset="-122"/>
                <a:cs typeface="Meiryo" pitchFamily="34" charset="-120"/>
              </a:rPr>
              <a:t>断絶 02</a:t>
            </a:r>
            <a:endParaRPr lang="en-US" sz="1100" dirty="0"/>
          </a:p>
        </p:txBody>
      </p:sp>
      <p:sp>
        <p:nvSpPr>
          <p:cNvPr id="12" name="Text 10"/>
          <p:cNvSpPr txBox="1"/>
          <p:nvPr/>
        </p:nvSpPr>
        <p:spPr>
          <a:xfrm>
            <a:off x="4700016" y="2331720"/>
            <a:ext cx="2825496" cy="411480"/>
          </a:xfrm>
          <a:prstGeom prst="rect">
            <a:avLst/>
          </a:prstGeom>
          <a:noFill/>
          <a:ln/>
        </p:spPr>
        <p:txBody>
          <a:bodyPr wrap="square" lIns="0" tIns="0" rIns="0" bIns="0" rtlCol="0" anchor="t"/>
          <a:lstStyle/>
          <a:p>
            <a:pPr indent="0" marL="0">
              <a:buNone/>
            </a:pPr>
            <a:r>
              <a:rPr lang="en-US" sz="2100" b="1" dirty="0">
                <a:solidFill>
                  <a:srgbClr val="1B3D24"/>
                </a:solidFill>
                <a:latin typeface="Meiryo" pitchFamily="34" charset="0"/>
                <a:ea typeface="Meiryo" pitchFamily="34" charset="-122"/>
                <a:cs typeface="Meiryo" pitchFamily="34" charset="-120"/>
              </a:rPr>
              <a:t>出　口</a:t>
            </a:r>
            <a:endParaRPr lang="en-US" sz="2100" dirty="0"/>
          </a:p>
        </p:txBody>
      </p:sp>
      <p:sp>
        <p:nvSpPr>
          <p:cNvPr id="13" name="Text 11"/>
          <p:cNvSpPr txBox="1"/>
          <p:nvPr/>
        </p:nvSpPr>
        <p:spPr>
          <a:xfrm>
            <a:off x="4700016" y="2907792"/>
            <a:ext cx="2825496" cy="1097280"/>
          </a:xfrm>
          <a:prstGeom prst="rect">
            <a:avLst/>
          </a:prstGeom>
          <a:noFill/>
          <a:ln/>
        </p:spPr>
        <p:txBody>
          <a:bodyPr wrap="square" lIns="0" tIns="0" rIns="0" bIns="0" rtlCol="0" anchor="t"/>
          <a:lstStyle/>
          <a:p>
            <a:pPr indent="0" marL="0">
              <a:lnSpc>
                <a:spcPts val="1800"/>
              </a:lnSpc>
              <a:buNone/>
            </a:pPr>
            <a:r>
              <a:rPr lang="en-US" sz="1150" dirty="0">
                <a:solidFill>
                  <a:srgbClr val="5F6B64"/>
                </a:solidFill>
                <a:latin typeface="Meiryo" pitchFamily="34" charset="0"/>
                <a:ea typeface="Meiryo" pitchFamily="34" charset="-122"/>
                <a:cs typeface="Meiryo" pitchFamily="34" charset="-120"/>
              </a:rPr>
              <a:t>整備で発生した木材の売り先が細く、収益が森に戻らない</a:t>
            </a:r>
            <a:endParaRPr lang="en-US" sz="1150" dirty="0"/>
          </a:p>
        </p:txBody>
      </p:sp>
      <p:sp>
        <p:nvSpPr>
          <p:cNvPr id="14" name="Shape 12"/>
          <p:cNvSpPr/>
          <p:nvPr/>
        </p:nvSpPr>
        <p:spPr>
          <a:xfrm>
            <a:off x="8101584" y="1737360"/>
            <a:ext cx="3465576" cy="2514600"/>
          </a:xfrm>
          <a:prstGeom prst="roundRect">
            <a:avLst>
              <a:gd name="adj" fmla="val 3273"/>
            </a:avLst>
          </a:prstGeom>
          <a:solidFill>
            <a:srgbClr val="F4F6F1"/>
          </a:solidFill>
          <a:ln w="12700">
            <a:solidFill>
              <a:srgbClr val="DCE3D8"/>
            </a:solidFill>
            <a:prstDash val="solid"/>
          </a:ln>
        </p:spPr>
      </p:sp>
      <p:sp>
        <p:nvSpPr>
          <p:cNvPr id="15" name="Text 13"/>
          <p:cNvSpPr txBox="1"/>
          <p:nvPr/>
        </p:nvSpPr>
        <p:spPr>
          <a:xfrm>
            <a:off x="8421624" y="1993392"/>
            <a:ext cx="2825496" cy="256032"/>
          </a:xfrm>
          <a:prstGeom prst="rect">
            <a:avLst/>
          </a:prstGeom>
          <a:noFill/>
          <a:ln/>
        </p:spPr>
        <p:txBody>
          <a:bodyPr wrap="square" lIns="0" tIns="0" rIns="0" bIns="0" rtlCol="0" anchor="t"/>
          <a:lstStyle/>
          <a:p>
            <a:pPr indent="0" marL="0">
              <a:buNone/>
            </a:pPr>
            <a:r>
              <a:rPr lang="en-US" sz="1100" b="1" spc="100" kern="0" dirty="0">
                <a:solidFill>
                  <a:srgbClr val="C1762C"/>
                </a:solidFill>
                <a:latin typeface="Meiryo" pitchFamily="34" charset="0"/>
                <a:ea typeface="Meiryo" pitchFamily="34" charset="-122"/>
                <a:cs typeface="Meiryo" pitchFamily="34" charset="-120"/>
              </a:rPr>
              <a:t>断絶 03</a:t>
            </a:r>
            <a:endParaRPr lang="en-US" sz="1100" dirty="0"/>
          </a:p>
        </p:txBody>
      </p:sp>
      <p:sp>
        <p:nvSpPr>
          <p:cNvPr id="16" name="Text 14"/>
          <p:cNvSpPr txBox="1"/>
          <p:nvPr/>
        </p:nvSpPr>
        <p:spPr>
          <a:xfrm>
            <a:off x="8421624" y="2331720"/>
            <a:ext cx="2825496" cy="411480"/>
          </a:xfrm>
          <a:prstGeom prst="rect">
            <a:avLst/>
          </a:prstGeom>
          <a:noFill/>
          <a:ln/>
        </p:spPr>
        <p:txBody>
          <a:bodyPr wrap="square" lIns="0" tIns="0" rIns="0" bIns="0" rtlCol="0" anchor="t"/>
          <a:lstStyle/>
          <a:p>
            <a:pPr indent="0" marL="0">
              <a:buNone/>
            </a:pPr>
            <a:r>
              <a:rPr lang="en-US" sz="2100" b="1" dirty="0">
                <a:solidFill>
                  <a:srgbClr val="1B3D24"/>
                </a:solidFill>
                <a:latin typeface="Meiryo" pitchFamily="34" charset="0"/>
                <a:ea typeface="Meiryo" pitchFamily="34" charset="-122"/>
                <a:cs typeface="Meiryo" pitchFamily="34" charset="-120"/>
              </a:rPr>
              <a:t>供給と需要</a:t>
            </a:r>
            <a:endParaRPr lang="en-US" sz="2100" dirty="0"/>
          </a:p>
        </p:txBody>
      </p:sp>
      <p:sp>
        <p:nvSpPr>
          <p:cNvPr id="17" name="Text 15"/>
          <p:cNvSpPr txBox="1"/>
          <p:nvPr/>
        </p:nvSpPr>
        <p:spPr>
          <a:xfrm>
            <a:off x="8421624" y="2907792"/>
            <a:ext cx="2825496" cy="1097280"/>
          </a:xfrm>
          <a:prstGeom prst="rect">
            <a:avLst/>
          </a:prstGeom>
          <a:noFill/>
          <a:ln/>
        </p:spPr>
        <p:txBody>
          <a:bodyPr wrap="square" lIns="0" tIns="0" rIns="0" bIns="0" rtlCol="0" anchor="t"/>
          <a:lstStyle/>
          <a:p>
            <a:pPr indent="0" marL="0">
              <a:lnSpc>
                <a:spcPts val="1800"/>
              </a:lnSpc>
              <a:buNone/>
            </a:pPr>
            <a:r>
              <a:rPr lang="en-US" sz="1150" dirty="0">
                <a:solidFill>
                  <a:srgbClr val="5F6B64"/>
                </a:solidFill>
                <a:latin typeface="Meiryo" pitchFamily="34" charset="0"/>
                <a:ea typeface="Meiryo" pitchFamily="34" charset="-122"/>
                <a:cs typeface="Meiryo" pitchFamily="34" charset="-120"/>
              </a:rPr>
              <a:t>森林の情報と都市側の用途が、互いに見えていない</a:t>
            </a:r>
            <a:endParaRPr lang="en-US" sz="1150" dirty="0"/>
          </a:p>
        </p:txBody>
      </p:sp>
      <p:sp>
        <p:nvSpPr>
          <p:cNvPr id="18" name="Shape 16"/>
          <p:cNvSpPr/>
          <p:nvPr/>
        </p:nvSpPr>
        <p:spPr>
          <a:xfrm>
            <a:off x="658368" y="4526280"/>
            <a:ext cx="10874959" cy="1234440"/>
          </a:xfrm>
          <a:prstGeom prst="roundRect">
            <a:avLst>
              <a:gd name="adj" fmla="val 6667"/>
            </a:avLst>
          </a:prstGeom>
          <a:solidFill>
            <a:srgbClr val="24512F"/>
          </a:solidFill>
          <a:ln/>
          <a:effectLst>
            <a:outerShdw sx="100000" sy="100000" kx="0" ky="0" algn="bl" rotWithShape="0" blurRad="127000" dist="25400" dir="5400000">
              <a:srgbClr val="1B3D24">
                <a:alpha val="10000"/>
              </a:srgbClr>
            </a:outerShdw>
          </a:effectLst>
        </p:spPr>
      </p:sp>
      <p:sp>
        <p:nvSpPr>
          <p:cNvPr id="19" name="Text 17"/>
          <p:cNvSpPr txBox="1"/>
          <p:nvPr/>
        </p:nvSpPr>
        <p:spPr>
          <a:xfrm>
            <a:off x="1069848" y="4754880"/>
            <a:ext cx="10051999" cy="411480"/>
          </a:xfrm>
          <a:prstGeom prst="rect">
            <a:avLst/>
          </a:prstGeom>
          <a:noFill/>
          <a:ln/>
        </p:spPr>
        <p:txBody>
          <a:bodyPr wrap="square" lIns="0" tIns="0" rIns="0" bIns="0" rtlCol="0" anchor="t"/>
          <a:lstStyle/>
          <a:p>
            <a:pPr indent="0" marL="0">
              <a:buNone/>
            </a:pPr>
            <a:r>
              <a:rPr lang="en-US" sz="1550" b="1" dirty="0">
                <a:solidFill>
                  <a:srgbClr val="FFFFFF"/>
                </a:solidFill>
                <a:latin typeface="Meiryo" pitchFamily="34" charset="0"/>
                <a:ea typeface="Meiryo" pitchFamily="34" charset="-122"/>
                <a:cs typeface="Meiryo" pitchFamily="34" charset="-120"/>
              </a:rPr>
              <a:t>この3つを個別に解くのではなく、ひとつの循環としてつなぎ直すことが、今回の提案の狙い。</a:t>
            </a:r>
            <a:endParaRPr lang="en-US" sz="1550" dirty="0"/>
          </a:p>
        </p:txBody>
      </p:sp>
      <p:sp>
        <p:nvSpPr>
          <p:cNvPr id="20" name="Text 18"/>
          <p:cNvSpPr txBox="1"/>
          <p:nvPr/>
        </p:nvSpPr>
        <p:spPr>
          <a:xfrm>
            <a:off x="1069848" y="5230368"/>
            <a:ext cx="10051999" cy="320040"/>
          </a:xfrm>
          <a:prstGeom prst="rect">
            <a:avLst/>
          </a:prstGeom>
          <a:noFill/>
          <a:ln/>
        </p:spPr>
        <p:txBody>
          <a:bodyPr wrap="square" lIns="0" tIns="0" rIns="0" bIns="0" rtlCol="0" anchor="t"/>
          <a:lstStyle/>
          <a:p>
            <a:pPr indent="0" marL="0">
              <a:buNone/>
            </a:pPr>
            <a:r>
              <a:rPr lang="en-US" sz="1200" dirty="0">
                <a:solidFill>
                  <a:srgbClr val="8FB566"/>
                </a:solidFill>
                <a:latin typeface="Meiryo" pitchFamily="34" charset="0"/>
                <a:ea typeface="Meiryo" pitchFamily="34" charset="-122"/>
                <a:cs typeface="Meiryo" pitchFamily="34" charset="-120"/>
              </a:rPr>
              <a:t>そのための「最初のひと押し」に、企業版ふるさと納税を使う。</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51A"/>
        </a:solidFill>
      </p:bgPr>
    </p:bg>
    <p:spTree>
      <p:nvGrpSpPr>
        <p:cNvPr id="1" name=""/>
        <p:cNvGrpSpPr/>
        <p:nvPr/>
      </p:nvGrpSpPr>
      <p:grpSpPr>
        <a:xfrm>
          <a:off x="0" y="0"/>
          <a:ext cx="0" cy="0"/>
          <a:chOff x="0" y="0"/>
          <a:chExt cx="0" cy="0"/>
        </a:xfrm>
      </p:grpSpPr>
      <p:sp>
        <p:nvSpPr>
          <p:cNvPr id="2" name="Shape 0"/>
          <p:cNvSpPr/>
          <p:nvPr/>
        </p:nvSpPr>
        <p:spPr>
          <a:xfrm>
            <a:off x="10058400" y="2606040"/>
            <a:ext cx="1645920" cy="1645920"/>
          </a:xfrm>
          <a:prstGeom prst="ellipse">
            <a:avLst/>
          </a:prstGeom>
          <a:solidFill>
            <a:srgbClr val="FFFFFF">
              <a:alpha val="0"/>
            </a:srgbClr>
          </a:solidFill>
          <a:ln w="15875">
            <a:solidFill>
              <a:srgbClr val="8FB566">
                <a:alpha val="24000"/>
              </a:srgbClr>
            </a:solidFill>
            <a:prstDash val="solid"/>
          </a:ln>
        </p:spPr>
      </p:sp>
      <p:sp>
        <p:nvSpPr>
          <p:cNvPr id="3" name="Shape 1"/>
          <p:cNvSpPr/>
          <p:nvPr/>
        </p:nvSpPr>
        <p:spPr>
          <a:xfrm>
            <a:off x="9464040" y="2011680"/>
            <a:ext cx="2834640" cy="2834640"/>
          </a:xfrm>
          <a:prstGeom prst="ellipse">
            <a:avLst/>
          </a:prstGeom>
          <a:solidFill>
            <a:srgbClr val="FFFFFF">
              <a:alpha val="0"/>
            </a:srgbClr>
          </a:solidFill>
          <a:ln w="15875">
            <a:solidFill>
              <a:srgbClr val="8FB566">
                <a:alpha val="24000"/>
              </a:srgbClr>
            </a:solidFill>
            <a:prstDash val="solid"/>
          </a:ln>
        </p:spPr>
      </p:sp>
      <p:sp>
        <p:nvSpPr>
          <p:cNvPr id="4" name="Shape 2"/>
          <p:cNvSpPr/>
          <p:nvPr/>
        </p:nvSpPr>
        <p:spPr>
          <a:xfrm>
            <a:off x="8869680" y="1417320"/>
            <a:ext cx="4023360" cy="4023360"/>
          </a:xfrm>
          <a:prstGeom prst="ellipse">
            <a:avLst/>
          </a:prstGeom>
          <a:solidFill>
            <a:srgbClr val="FFFFFF">
              <a:alpha val="0"/>
            </a:srgbClr>
          </a:solidFill>
          <a:ln w="15875">
            <a:solidFill>
              <a:srgbClr val="8FB566">
                <a:alpha val="24000"/>
              </a:srgbClr>
            </a:solidFill>
            <a:prstDash val="solid"/>
          </a:ln>
        </p:spPr>
      </p:sp>
      <p:sp>
        <p:nvSpPr>
          <p:cNvPr id="5" name="Shape 3"/>
          <p:cNvSpPr/>
          <p:nvPr/>
        </p:nvSpPr>
        <p:spPr>
          <a:xfrm>
            <a:off x="8275320" y="822960"/>
            <a:ext cx="5212080" cy="5212080"/>
          </a:xfrm>
          <a:prstGeom prst="ellipse">
            <a:avLst/>
          </a:prstGeom>
          <a:solidFill>
            <a:srgbClr val="FFFFFF">
              <a:alpha val="0"/>
            </a:srgbClr>
          </a:solidFill>
          <a:ln w="15875">
            <a:solidFill>
              <a:srgbClr val="8FB566">
                <a:alpha val="24000"/>
              </a:srgbClr>
            </a:solidFill>
            <a:prstDash val="solid"/>
          </a:ln>
        </p:spPr>
      </p:sp>
      <p:sp>
        <p:nvSpPr>
          <p:cNvPr id="6" name="Shape 4"/>
          <p:cNvSpPr/>
          <p:nvPr/>
        </p:nvSpPr>
        <p:spPr>
          <a:xfrm>
            <a:off x="7680960" y="228600"/>
            <a:ext cx="6400800" cy="6400800"/>
          </a:xfrm>
          <a:prstGeom prst="ellipse">
            <a:avLst/>
          </a:prstGeom>
          <a:solidFill>
            <a:srgbClr val="FFFFFF">
              <a:alpha val="0"/>
            </a:srgbClr>
          </a:solidFill>
          <a:ln w="15875">
            <a:solidFill>
              <a:srgbClr val="8FB566">
                <a:alpha val="24000"/>
              </a:srgbClr>
            </a:solidFill>
            <a:prstDash val="solid"/>
          </a:ln>
        </p:spPr>
      </p:sp>
      <p:sp>
        <p:nvSpPr>
          <p:cNvPr id="7" name="Text 5"/>
          <p:cNvSpPr txBox="1"/>
          <p:nvPr/>
        </p:nvSpPr>
        <p:spPr>
          <a:xfrm>
            <a:off x="658368" y="1737360"/>
            <a:ext cx="2743200" cy="1325880"/>
          </a:xfrm>
          <a:prstGeom prst="rect">
            <a:avLst/>
          </a:prstGeom>
          <a:noFill/>
          <a:ln/>
        </p:spPr>
        <p:txBody>
          <a:bodyPr wrap="square" lIns="0" tIns="0" rIns="0" bIns="0" rtlCol="0" anchor="t"/>
          <a:lstStyle/>
          <a:p>
            <a:pPr indent="0" marL="0">
              <a:buNone/>
            </a:pPr>
            <a:r>
              <a:rPr lang="en-US" sz="7600" b="1" dirty="0">
                <a:solidFill>
                  <a:srgbClr val="C1762C"/>
                </a:solidFill>
                <a:latin typeface="Meiryo" pitchFamily="34" charset="0"/>
                <a:ea typeface="Meiryo" pitchFamily="34" charset="-122"/>
                <a:cs typeface="Meiryo" pitchFamily="34" charset="-120"/>
              </a:rPr>
              <a:t>02</a:t>
            </a:r>
            <a:endParaRPr lang="en-US" sz="7600" dirty="0"/>
          </a:p>
        </p:txBody>
      </p:sp>
      <p:sp>
        <p:nvSpPr>
          <p:cNvPr id="8" name="Text 6"/>
          <p:cNvSpPr txBox="1"/>
          <p:nvPr/>
        </p:nvSpPr>
        <p:spPr>
          <a:xfrm>
            <a:off x="658368" y="3035808"/>
            <a:ext cx="7680960" cy="822960"/>
          </a:xfrm>
          <a:prstGeom prst="rect">
            <a:avLst/>
          </a:prstGeom>
          <a:noFill/>
          <a:ln/>
        </p:spPr>
        <p:txBody>
          <a:bodyPr wrap="square" lIns="0" tIns="0" rIns="0" bIns="0" rtlCol="0" anchor="t"/>
          <a:lstStyle/>
          <a:p>
            <a:pPr indent="0" marL="0">
              <a:buNone/>
            </a:pPr>
            <a:r>
              <a:rPr lang="en-US" sz="3400" b="1" dirty="0">
                <a:solidFill>
                  <a:srgbClr val="FFFFFF"/>
                </a:solidFill>
                <a:latin typeface="Meiryo" pitchFamily="34" charset="0"/>
                <a:ea typeface="Meiryo" pitchFamily="34" charset="-122"/>
                <a:cs typeface="Meiryo" pitchFamily="34" charset="-120"/>
              </a:rPr>
              <a:t>これまでの八王子市の取り組み</a:t>
            </a:r>
            <a:endParaRPr lang="en-US" sz="3400" dirty="0"/>
          </a:p>
        </p:txBody>
      </p:sp>
      <p:sp>
        <p:nvSpPr>
          <p:cNvPr id="9" name="Text 7"/>
          <p:cNvSpPr txBox="1"/>
          <p:nvPr/>
        </p:nvSpPr>
        <p:spPr>
          <a:xfrm>
            <a:off x="658368" y="4023360"/>
            <a:ext cx="6675120" cy="640080"/>
          </a:xfrm>
          <a:prstGeom prst="rect">
            <a:avLst/>
          </a:prstGeom>
          <a:noFill/>
          <a:ln/>
        </p:spPr>
        <p:txBody>
          <a:bodyPr wrap="square" lIns="0" tIns="0" rIns="0" bIns="0" rtlCol="0" anchor="t"/>
          <a:lstStyle/>
          <a:p>
            <a:pPr indent="0" marL="0">
              <a:lnSpc>
                <a:spcPts val="2200"/>
              </a:lnSpc>
              <a:buNone/>
            </a:pPr>
            <a:r>
              <a:rPr lang="en-US" sz="1350" dirty="0">
                <a:solidFill>
                  <a:srgbClr val="8FB566"/>
                </a:solidFill>
                <a:latin typeface="Meiryo" pitchFamily="34" charset="0"/>
                <a:ea typeface="Meiryo" pitchFamily="34" charset="-122"/>
                <a:cs typeface="Meiryo" pitchFamily="34" charset="-120"/>
              </a:rPr>
              <a:t>八王子市は、すでに森林・木材に対してかなり多面的な取り組みを行っている。</a:t>
            </a:r>
            <a:endParaRPr lang="en-US" sz="1350" dirty="0"/>
          </a:p>
        </p:txBody>
      </p:sp>
      <p:sp>
        <p:nvSpPr>
          <p:cNvPr id="10" name="Shape 8"/>
          <p:cNvSpPr/>
          <p:nvPr/>
        </p:nvSpPr>
        <p:spPr>
          <a:xfrm>
            <a:off x="658368" y="4864608"/>
            <a:ext cx="1837944" cy="347472"/>
          </a:xfrm>
          <a:prstGeom prst="roundRect">
            <a:avLst>
              <a:gd name="adj" fmla="val 47368"/>
            </a:avLst>
          </a:prstGeom>
          <a:solidFill>
            <a:srgbClr val="1E3327"/>
          </a:solidFill>
          <a:ln w="9525">
            <a:solidFill>
              <a:srgbClr val="5E7F3C"/>
            </a:solidFill>
            <a:prstDash val="solid"/>
          </a:ln>
        </p:spPr>
      </p:sp>
      <p:sp>
        <p:nvSpPr>
          <p:cNvPr id="11" name="Text 9"/>
          <p:cNvSpPr txBox="1"/>
          <p:nvPr/>
        </p:nvSpPr>
        <p:spPr>
          <a:xfrm>
            <a:off x="658368" y="4864608"/>
            <a:ext cx="1837944"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森林環境譲与税の活用</a:t>
            </a:r>
            <a:endParaRPr lang="en-US" sz="1050" dirty="0"/>
          </a:p>
        </p:txBody>
      </p:sp>
      <p:sp>
        <p:nvSpPr>
          <p:cNvPr id="12" name="Shape 10"/>
          <p:cNvSpPr/>
          <p:nvPr/>
        </p:nvSpPr>
        <p:spPr>
          <a:xfrm>
            <a:off x="2624328" y="4864608"/>
            <a:ext cx="2290572" cy="347472"/>
          </a:xfrm>
          <a:prstGeom prst="roundRect">
            <a:avLst>
              <a:gd name="adj" fmla="val 47368"/>
            </a:avLst>
          </a:prstGeom>
          <a:solidFill>
            <a:srgbClr val="1E3327"/>
          </a:solidFill>
          <a:ln w="9525">
            <a:solidFill>
              <a:srgbClr val="5E7F3C"/>
            </a:solidFill>
            <a:prstDash val="solid"/>
          </a:ln>
        </p:spPr>
      </p:sp>
      <p:sp>
        <p:nvSpPr>
          <p:cNvPr id="13" name="Text 11"/>
          <p:cNvSpPr txBox="1"/>
          <p:nvPr/>
        </p:nvSpPr>
        <p:spPr>
          <a:xfrm>
            <a:off x="2624328" y="4864608"/>
            <a:ext cx="2290572"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多摩の森活性化プロジェクト</a:t>
            </a:r>
            <a:endParaRPr lang="en-US" sz="1050" dirty="0"/>
          </a:p>
        </p:txBody>
      </p:sp>
      <p:sp>
        <p:nvSpPr>
          <p:cNvPr id="14" name="Shape 12"/>
          <p:cNvSpPr/>
          <p:nvPr/>
        </p:nvSpPr>
        <p:spPr>
          <a:xfrm>
            <a:off x="5042916" y="4864608"/>
            <a:ext cx="1988820" cy="347472"/>
          </a:xfrm>
          <a:prstGeom prst="roundRect">
            <a:avLst>
              <a:gd name="adj" fmla="val 47368"/>
            </a:avLst>
          </a:prstGeom>
          <a:solidFill>
            <a:srgbClr val="1E3327"/>
          </a:solidFill>
          <a:ln w="9525">
            <a:solidFill>
              <a:srgbClr val="5E7F3C"/>
            </a:solidFill>
            <a:prstDash val="solid"/>
          </a:ln>
        </p:spPr>
      </p:sp>
      <p:sp>
        <p:nvSpPr>
          <p:cNvPr id="15" name="Text 13"/>
          <p:cNvSpPr txBox="1"/>
          <p:nvPr/>
        </p:nvSpPr>
        <p:spPr>
          <a:xfrm>
            <a:off x="5042916" y="4864608"/>
            <a:ext cx="1988820"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公共施設の多摩産材利用</a:t>
            </a:r>
            <a:endParaRPr lang="en-US" sz="1050" dirty="0"/>
          </a:p>
        </p:txBody>
      </p:sp>
      <p:sp>
        <p:nvSpPr>
          <p:cNvPr id="16" name="Shape 14"/>
          <p:cNvSpPr/>
          <p:nvPr/>
        </p:nvSpPr>
        <p:spPr>
          <a:xfrm>
            <a:off x="7159752" y="4864608"/>
            <a:ext cx="1385316" cy="347472"/>
          </a:xfrm>
          <a:prstGeom prst="roundRect">
            <a:avLst>
              <a:gd name="adj" fmla="val 47368"/>
            </a:avLst>
          </a:prstGeom>
          <a:solidFill>
            <a:srgbClr val="1E3327"/>
          </a:solidFill>
          <a:ln w="9525">
            <a:solidFill>
              <a:srgbClr val="5E7F3C"/>
            </a:solidFill>
            <a:prstDash val="solid"/>
          </a:ln>
        </p:spPr>
      </p:sp>
      <p:sp>
        <p:nvSpPr>
          <p:cNvPr id="17" name="Text 15"/>
          <p:cNvSpPr txBox="1"/>
          <p:nvPr/>
        </p:nvSpPr>
        <p:spPr>
          <a:xfrm>
            <a:off x="7159752" y="4864608"/>
            <a:ext cx="1385316"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木育・市民参加</a:t>
            </a:r>
            <a:endParaRPr lang="en-US" sz="1050" dirty="0"/>
          </a:p>
        </p:txBody>
      </p:sp>
      <p:sp>
        <p:nvSpPr>
          <p:cNvPr id="18" name="Text 16"/>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19" name="Text 17"/>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CURRENT ACTIONS</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すでに走っている4つの取り組み</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10</a:t>
            </a:r>
            <a:endParaRPr lang="en-US" sz="900" dirty="0"/>
          </a:p>
        </p:txBody>
      </p:sp>
      <p:sp>
        <p:nvSpPr>
          <p:cNvPr id="6" name="Shape 4"/>
          <p:cNvSpPr/>
          <p:nvPr/>
        </p:nvSpPr>
        <p:spPr>
          <a:xfrm>
            <a:off x="658368" y="1627632"/>
            <a:ext cx="5294376" cy="1591056"/>
          </a:xfrm>
          <a:prstGeom prst="roundRect">
            <a:avLst>
              <a:gd name="adj" fmla="val 5172"/>
            </a:avLst>
          </a:prstGeom>
          <a:solidFill>
            <a:srgbClr val="EAF1E0"/>
          </a:solidFill>
          <a:ln/>
        </p:spPr>
      </p:sp>
      <p:sp>
        <p:nvSpPr>
          <p:cNvPr id="7" name="Shape 5"/>
          <p:cNvSpPr/>
          <p:nvPr/>
        </p:nvSpPr>
        <p:spPr>
          <a:xfrm>
            <a:off x="969264" y="1956816"/>
            <a:ext cx="548640" cy="548640"/>
          </a:xfrm>
          <a:prstGeom prst="ellipse">
            <a:avLst/>
          </a:prstGeom>
          <a:solidFill>
            <a:srgbClr val="24512F"/>
          </a:solidFill>
          <a:ln/>
        </p:spPr>
      </p:sp>
      <p:sp>
        <p:nvSpPr>
          <p:cNvPr id="8" name="Text 6"/>
          <p:cNvSpPr txBox="1"/>
          <p:nvPr/>
        </p:nvSpPr>
        <p:spPr>
          <a:xfrm>
            <a:off x="969264" y="195681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01</a:t>
            </a:r>
            <a:endParaRPr lang="en-US" sz="1500" dirty="0"/>
          </a:p>
        </p:txBody>
      </p:sp>
      <p:sp>
        <p:nvSpPr>
          <p:cNvPr id="9" name="Text 7"/>
          <p:cNvSpPr txBox="1"/>
          <p:nvPr/>
        </p:nvSpPr>
        <p:spPr>
          <a:xfrm>
            <a:off x="1664208" y="1920240"/>
            <a:ext cx="3968496" cy="310896"/>
          </a:xfrm>
          <a:prstGeom prst="rect">
            <a:avLst/>
          </a:prstGeom>
          <a:noFill/>
          <a:ln/>
        </p:spPr>
        <p:txBody>
          <a:bodyPr wrap="square" lIns="0" tIns="0" rIns="0" bIns="0" rtlCol="0" anchor="t"/>
          <a:lstStyle/>
          <a:p>
            <a:pPr indent="0" marL="0">
              <a:buNone/>
            </a:pPr>
            <a:r>
              <a:rPr lang="en-US" sz="1450" b="1" dirty="0">
                <a:solidFill>
                  <a:srgbClr val="1B3D24"/>
                </a:solidFill>
                <a:latin typeface="Meiryo" pitchFamily="34" charset="0"/>
                <a:ea typeface="Meiryo" pitchFamily="34" charset="-122"/>
                <a:cs typeface="Meiryo" pitchFamily="34" charset="-120"/>
              </a:rPr>
              <a:t>森林環境譲与税の活用</a:t>
            </a:r>
            <a:endParaRPr lang="en-US" sz="1450" dirty="0"/>
          </a:p>
        </p:txBody>
      </p:sp>
      <p:sp>
        <p:nvSpPr>
          <p:cNvPr id="10" name="Text 8"/>
          <p:cNvSpPr txBox="1"/>
          <p:nvPr/>
        </p:nvSpPr>
        <p:spPr>
          <a:xfrm>
            <a:off x="1664208" y="2304288"/>
            <a:ext cx="3968496" cy="77724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民有林の振興／市有林の管理／森林整備／緑地保全／木材利用／普及啓発を実施。</a:t>
            </a:r>
            <a:endParaRPr lang="en-US" sz="1100" dirty="0"/>
          </a:p>
        </p:txBody>
      </p:sp>
      <p:sp>
        <p:nvSpPr>
          <p:cNvPr id="11" name="Shape 9"/>
          <p:cNvSpPr/>
          <p:nvPr/>
        </p:nvSpPr>
        <p:spPr>
          <a:xfrm>
            <a:off x="6245352" y="1627632"/>
            <a:ext cx="5294376" cy="1591056"/>
          </a:xfrm>
          <a:prstGeom prst="roundRect">
            <a:avLst>
              <a:gd name="adj" fmla="val 5172"/>
            </a:avLst>
          </a:prstGeom>
          <a:solidFill>
            <a:srgbClr val="F4F6F1"/>
          </a:solidFill>
          <a:ln w="12700">
            <a:solidFill>
              <a:srgbClr val="DCE3D8"/>
            </a:solidFill>
            <a:prstDash val="solid"/>
          </a:ln>
        </p:spPr>
      </p:sp>
      <p:sp>
        <p:nvSpPr>
          <p:cNvPr id="12" name="Shape 10"/>
          <p:cNvSpPr/>
          <p:nvPr/>
        </p:nvSpPr>
        <p:spPr>
          <a:xfrm>
            <a:off x="6556248" y="1956816"/>
            <a:ext cx="548640" cy="548640"/>
          </a:xfrm>
          <a:prstGeom prst="ellipse">
            <a:avLst/>
          </a:prstGeom>
          <a:solidFill>
            <a:srgbClr val="24512F"/>
          </a:solidFill>
          <a:ln/>
        </p:spPr>
      </p:sp>
      <p:sp>
        <p:nvSpPr>
          <p:cNvPr id="13" name="Text 11"/>
          <p:cNvSpPr txBox="1"/>
          <p:nvPr/>
        </p:nvSpPr>
        <p:spPr>
          <a:xfrm>
            <a:off x="6556248" y="195681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02</a:t>
            </a:r>
            <a:endParaRPr lang="en-US" sz="1500" dirty="0"/>
          </a:p>
        </p:txBody>
      </p:sp>
      <p:sp>
        <p:nvSpPr>
          <p:cNvPr id="14" name="Text 12"/>
          <p:cNvSpPr txBox="1"/>
          <p:nvPr/>
        </p:nvSpPr>
        <p:spPr>
          <a:xfrm>
            <a:off x="7251192" y="1920240"/>
            <a:ext cx="3968496" cy="310896"/>
          </a:xfrm>
          <a:prstGeom prst="rect">
            <a:avLst/>
          </a:prstGeom>
          <a:noFill/>
          <a:ln/>
        </p:spPr>
        <p:txBody>
          <a:bodyPr wrap="square" lIns="0" tIns="0" rIns="0" bIns="0" rtlCol="0" anchor="t"/>
          <a:lstStyle/>
          <a:p>
            <a:pPr indent="0" marL="0">
              <a:buNone/>
            </a:pPr>
            <a:r>
              <a:rPr lang="en-US" sz="1450" b="1" dirty="0">
                <a:solidFill>
                  <a:srgbClr val="1B3D24"/>
                </a:solidFill>
                <a:latin typeface="Meiryo" pitchFamily="34" charset="0"/>
                <a:ea typeface="Meiryo" pitchFamily="34" charset="-122"/>
                <a:cs typeface="Meiryo" pitchFamily="34" charset="-120"/>
              </a:rPr>
              <a:t>「多摩の森」活性化プロジェクト</a:t>
            </a:r>
            <a:endParaRPr lang="en-US" sz="1450" dirty="0"/>
          </a:p>
        </p:txBody>
      </p:sp>
      <p:sp>
        <p:nvSpPr>
          <p:cNvPr id="15" name="Text 13"/>
          <p:cNvSpPr txBox="1"/>
          <p:nvPr/>
        </p:nvSpPr>
        <p:spPr>
          <a:xfrm>
            <a:off x="7251192" y="2304288"/>
            <a:ext cx="3968496" cy="77724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2023年から東京都・多摩地域の自治体と連携。森林整備・保全、CO2吸収量の認証、林業・自然体験、多摩産材の利用。</a:t>
            </a:r>
            <a:endParaRPr lang="en-US" sz="1100" dirty="0"/>
          </a:p>
        </p:txBody>
      </p:sp>
      <p:sp>
        <p:nvSpPr>
          <p:cNvPr id="16" name="Shape 14"/>
          <p:cNvSpPr/>
          <p:nvPr/>
        </p:nvSpPr>
        <p:spPr>
          <a:xfrm>
            <a:off x="658368" y="3456432"/>
            <a:ext cx="5294376" cy="1591056"/>
          </a:xfrm>
          <a:prstGeom prst="roundRect">
            <a:avLst>
              <a:gd name="adj" fmla="val 5172"/>
            </a:avLst>
          </a:prstGeom>
          <a:solidFill>
            <a:srgbClr val="F4F6F1"/>
          </a:solidFill>
          <a:ln w="12700">
            <a:solidFill>
              <a:srgbClr val="DCE3D8"/>
            </a:solidFill>
            <a:prstDash val="solid"/>
          </a:ln>
        </p:spPr>
      </p:sp>
      <p:sp>
        <p:nvSpPr>
          <p:cNvPr id="17" name="Shape 15"/>
          <p:cNvSpPr/>
          <p:nvPr/>
        </p:nvSpPr>
        <p:spPr>
          <a:xfrm>
            <a:off x="969264" y="3785616"/>
            <a:ext cx="548640" cy="548640"/>
          </a:xfrm>
          <a:prstGeom prst="ellipse">
            <a:avLst/>
          </a:prstGeom>
          <a:solidFill>
            <a:srgbClr val="24512F"/>
          </a:solidFill>
          <a:ln/>
        </p:spPr>
      </p:sp>
      <p:sp>
        <p:nvSpPr>
          <p:cNvPr id="18" name="Text 16"/>
          <p:cNvSpPr txBox="1"/>
          <p:nvPr/>
        </p:nvSpPr>
        <p:spPr>
          <a:xfrm>
            <a:off x="969264" y="378561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03</a:t>
            </a:r>
            <a:endParaRPr lang="en-US" sz="1500" dirty="0"/>
          </a:p>
        </p:txBody>
      </p:sp>
      <p:sp>
        <p:nvSpPr>
          <p:cNvPr id="19" name="Text 17"/>
          <p:cNvSpPr txBox="1"/>
          <p:nvPr/>
        </p:nvSpPr>
        <p:spPr>
          <a:xfrm>
            <a:off x="1664208" y="3749040"/>
            <a:ext cx="3968496" cy="310896"/>
          </a:xfrm>
          <a:prstGeom prst="rect">
            <a:avLst/>
          </a:prstGeom>
          <a:noFill/>
          <a:ln/>
        </p:spPr>
        <p:txBody>
          <a:bodyPr wrap="square" lIns="0" tIns="0" rIns="0" bIns="0" rtlCol="0" anchor="t"/>
          <a:lstStyle/>
          <a:p>
            <a:pPr indent="0" marL="0">
              <a:buNone/>
            </a:pPr>
            <a:r>
              <a:rPr lang="en-US" sz="1450" b="1" dirty="0">
                <a:solidFill>
                  <a:srgbClr val="1B3D24"/>
                </a:solidFill>
                <a:latin typeface="Meiryo" pitchFamily="34" charset="0"/>
                <a:ea typeface="Meiryo" pitchFamily="34" charset="-122"/>
                <a:cs typeface="Meiryo" pitchFamily="34" charset="-120"/>
              </a:rPr>
              <a:t>公共施設での多摩産材利用</a:t>
            </a:r>
            <a:endParaRPr lang="en-US" sz="1450" dirty="0"/>
          </a:p>
        </p:txBody>
      </p:sp>
      <p:sp>
        <p:nvSpPr>
          <p:cNvPr id="20" name="Text 18"/>
          <p:cNvSpPr txBox="1"/>
          <p:nvPr/>
        </p:nvSpPr>
        <p:spPr>
          <a:xfrm>
            <a:off x="1664208" y="4133088"/>
            <a:ext cx="3968496" cy="77724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「公共建築物等における多摩産材利用推進方針」を策定。2026年度予算でも第二小学校・第四中学校の改築等で木材利用を計上。</a:t>
            </a:r>
            <a:endParaRPr lang="en-US" sz="1100" dirty="0"/>
          </a:p>
        </p:txBody>
      </p:sp>
      <p:sp>
        <p:nvSpPr>
          <p:cNvPr id="21" name="Shape 19"/>
          <p:cNvSpPr/>
          <p:nvPr/>
        </p:nvSpPr>
        <p:spPr>
          <a:xfrm>
            <a:off x="6245352" y="3456432"/>
            <a:ext cx="5294376" cy="1591056"/>
          </a:xfrm>
          <a:prstGeom prst="roundRect">
            <a:avLst>
              <a:gd name="adj" fmla="val 5172"/>
            </a:avLst>
          </a:prstGeom>
          <a:solidFill>
            <a:srgbClr val="EAF1E0"/>
          </a:solidFill>
          <a:ln/>
        </p:spPr>
      </p:sp>
      <p:sp>
        <p:nvSpPr>
          <p:cNvPr id="22" name="Shape 20"/>
          <p:cNvSpPr/>
          <p:nvPr/>
        </p:nvSpPr>
        <p:spPr>
          <a:xfrm>
            <a:off x="6556248" y="3785616"/>
            <a:ext cx="548640" cy="548640"/>
          </a:xfrm>
          <a:prstGeom prst="ellipse">
            <a:avLst/>
          </a:prstGeom>
          <a:solidFill>
            <a:srgbClr val="24512F"/>
          </a:solidFill>
          <a:ln/>
        </p:spPr>
      </p:sp>
      <p:sp>
        <p:nvSpPr>
          <p:cNvPr id="23" name="Text 21"/>
          <p:cNvSpPr txBox="1"/>
          <p:nvPr/>
        </p:nvSpPr>
        <p:spPr>
          <a:xfrm>
            <a:off x="6556248" y="378561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04</a:t>
            </a:r>
            <a:endParaRPr lang="en-US" sz="1500" dirty="0"/>
          </a:p>
        </p:txBody>
      </p:sp>
      <p:sp>
        <p:nvSpPr>
          <p:cNvPr id="24" name="Text 22"/>
          <p:cNvSpPr txBox="1"/>
          <p:nvPr/>
        </p:nvSpPr>
        <p:spPr>
          <a:xfrm>
            <a:off x="7251192" y="3749040"/>
            <a:ext cx="3968496" cy="310896"/>
          </a:xfrm>
          <a:prstGeom prst="rect">
            <a:avLst/>
          </a:prstGeom>
          <a:noFill/>
          <a:ln/>
        </p:spPr>
        <p:txBody>
          <a:bodyPr wrap="square" lIns="0" tIns="0" rIns="0" bIns="0" rtlCol="0" anchor="t"/>
          <a:lstStyle/>
          <a:p>
            <a:pPr indent="0" marL="0">
              <a:buNone/>
            </a:pPr>
            <a:r>
              <a:rPr lang="en-US" sz="1450" b="1" dirty="0">
                <a:solidFill>
                  <a:srgbClr val="1B3D24"/>
                </a:solidFill>
                <a:latin typeface="Meiryo" pitchFamily="34" charset="0"/>
                <a:ea typeface="Meiryo" pitchFamily="34" charset="-122"/>
                <a:cs typeface="Meiryo" pitchFamily="34" charset="-120"/>
              </a:rPr>
              <a:t>木育・森林体験・市民参加</a:t>
            </a:r>
            <a:endParaRPr lang="en-US" sz="1450" dirty="0"/>
          </a:p>
        </p:txBody>
      </p:sp>
      <p:sp>
        <p:nvSpPr>
          <p:cNvPr id="25" name="Text 23"/>
          <p:cNvSpPr txBox="1"/>
          <p:nvPr/>
        </p:nvSpPr>
        <p:spPr>
          <a:xfrm>
            <a:off x="7251192" y="4133088"/>
            <a:ext cx="3968496" cy="77724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森林体験、自然観察、林業体験、木工。「はち★ベビギフト」では多摩産材の木製玩具を届けている。</a:t>
            </a:r>
            <a:endParaRPr lang="en-US" sz="1100" dirty="0"/>
          </a:p>
        </p:txBody>
      </p:sp>
      <p:sp>
        <p:nvSpPr>
          <p:cNvPr id="26" name="Text 24"/>
          <p:cNvSpPr txBox="1"/>
          <p:nvPr/>
        </p:nvSpPr>
        <p:spPr>
          <a:xfrm>
            <a:off x="658368" y="5257800"/>
            <a:ext cx="10874959" cy="365760"/>
          </a:xfrm>
          <a:prstGeom prst="rect">
            <a:avLst/>
          </a:prstGeom>
          <a:noFill/>
          <a:ln/>
        </p:spPr>
        <p:txBody>
          <a:bodyPr wrap="square" lIns="0" tIns="0" rIns="0" bIns="0" rtlCol="0" anchor="t"/>
          <a:lstStyle/>
          <a:p>
            <a:pPr indent="0" marL="0">
              <a:buNone/>
            </a:pPr>
            <a:r>
              <a:rPr lang="en-US" sz="1400" b="1" dirty="0">
                <a:solidFill>
                  <a:srgbClr val="1B3D24"/>
                </a:solidFill>
                <a:latin typeface="Meiryo" pitchFamily="34" charset="0"/>
                <a:ea typeface="Meiryo" pitchFamily="34" charset="-122"/>
                <a:cs typeface="Meiryo" pitchFamily="34" charset="-120"/>
              </a:rPr>
              <a:t>「森林を整備する」「市民に森を知ってもらう」「木材を使う」——3つとも、すでに始まっている。</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BUDGET</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財源の姿｜2026年度の森林環境施策</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11</a:t>
            </a:r>
            <a:endParaRPr lang="en-US" sz="900" dirty="0"/>
          </a:p>
        </p:txBody>
      </p:sp>
      <p:sp>
        <p:nvSpPr>
          <p:cNvPr id="6" name="Shape 4"/>
          <p:cNvSpPr/>
          <p:nvPr/>
        </p:nvSpPr>
        <p:spPr>
          <a:xfrm>
            <a:off x="658368" y="1737360"/>
            <a:ext cx="3246120" cy="2029968"/>
          </a:xfrm>
          <a:prstGeom prst="roundRect">
            <a:avLst>
              <a:gd name="adj" fmla="val 4054"/>
            </a:avLst>
          </a:prstGeom>
          <a:solidFill>
            <a:srgbClr val="24512F"/>
          </a:solidFill>
          <a:ln/>
          <a:effectLst>
            <a:outerShdw sx="100000" sy="100000" kx="0" ky="0" algn="bl" rotWithShape="0" blurRad="127000" dist="25400" dir="5400000">
              <a:srgbClr val="1B3D24">
                <a:alpha val="10000"/>
              </a:srgbClr>
            </a:outerShdw>
          </a:effectLst>
        </p:spPr>
      </p:sp>
      <p:sp>
        <p:nvSpPr>
          <p:cNvPr id="7" name="Text 5"/>
          <p:cNvSpPr txBox="1"/>
          <p:nvPr/>
        </p:nvSpPr>
        <p:spPr>
          <a:xfrm>
            <a:off x="978408" y="1993392"/>
            <a:ext cx="2651760" cy="256032"/>
          </a:xfrm>
          <a:prstGeom prst="rect">
            <a:avLst/>
          </a:prstGeom>
          <a:noFill/>
          <a:ln/>
        </p:spPr>
        <p:txBody>
          <a:bodyPr wrap="square" lIns="0" tIns="0" rIns="0" bIns="0" rtlCol="0" anchor="t"/>
          <a:lstStyle/>
          <a:p>
            <a:pPr indent="0" marL="0">
              <a:buNone/>
            </a:pPr>
            <a:r>
              <a:rPr lang="en-US" sz="1150" b="1" dirty="0">
                <a:solidFill>
                  <a:srgbClr val="8FB566"/>
                </a:solidFill>
                <a:latin typeface="Meiryo" pitchFamily="34" charset="0"/>
                <a:ea typeface="Meiryo" pitchFamily="34" charset="-122"/>
                <a:cs typeface="Meiryo" pitchFamily="34" charset="-120"/>
              </a:rPr>
              <a:t>森林環境施策 全体</a:t>
            </a:r>
            <a:endParaRPr lang="en-US" sz="1150" dirty="0"/>
          </a:p>
        </p:txBody>
      </p:sp>
      <p:sp>
        <p:nvSpPr>
          <p:cNvPr id="8" name="Text 6"/>
          <p:cNvSpPr txBox="1"/>
          <p:nvPr/>
        </p:nvSpPr>
        <p:spPr>
          <a:xfrm>
            <a:off x="978408" y="2377440"/>
            <a:ext cx="2651760" cy="868680"/>
          </a:xfrm>
          <a:prstGeom prst="rect">
            <a:avLst/>
          </a:prstGeom>
          <a:noFill/>
          <a:ln/>
        </p:spPr>
        <p:txBody>
          <a:bodyPr wrap="square" lIns="0" tIns="0" rIns="0" bIns="0" rtlCol="0" anchor="t"/>
          <a:lstStyle/>
          <a:p>
            <a:pPr indent="0" marL="0">
              <a:buNone/>
            </a:pPr>
            <a:r>
              <a:rPr lang="en-US" sz="5000" b="1" dirty="0">
                <a:solidFill>
                  <a:srgbClr val="FFFFFF"/>
                </a:solidFill>
                <a:latin typeface="Meiryo" pitchFamily="34" charset="0"/>
                <a:ea typeface="Meiryo" pitchFamily="34" charset="-122"/>
                <a:cs typeface="Meiryo" pitchFamily="34" charset="-120"/>
              </a:rPr>
              <a:t>約3.39</a:t>
            </a:r>
            <a:endParaRPr lang="en-US" sz="5000" dirty="0"/>
          </a:p>
        </p:txBody>
      </p:sp>
      <p:sp>
        <p:nvSpPr>
          <p:cNvPr id="9" name="Text 7"/>
          <p:cNvSpPr txBox="1"/>
          <p:nvPr/>
        </p:nvSpPr>
        <p:spPr>
          <a:xfrm>
            <a:off x="978408" y="3346704"/>
            <a:ext cx="2651760" cy="274320"/>
          </a:xfrm>
          <a:prstGeom prst="rect">
            <a:avLst/>
          </a:prstGeom>
          <a:noFill/>
          <a:ln/>
        </p:spPr>
        <p:txBody>
          <a:bodyPr wrap="square" lIns="0" tIns="0" rIns="0" bIns="0" rtlCol="0" anchor="t"/>
          <a:lstStyle/>
          <a:p>
            <a:pPr indent="0" marL="0">
              <a:buNone/>
            </a:pPr>
            <a:r>
              <a:rPr lang="en-US" sz="1250" dirty="0">
                <a:solidFill>
                  <a:srgbClr val="DCE9D2"/>
                </a:solidFill>
                <a:latin typeface="Meiryo" pitchFamily="34" charset="0"/>
                <a:ea typeface="Meiryo" pitchFamily="34" charset="-122"/>
                <a:cs typeface="Meiryo" pitchFamily="34" charset="-120"/>
              </a:rPr>
              <a:t>億円 ／ 2026年度</a:t>
            </a:r>
            <a:endParaRPr lang="en-US" sz="1250" dirty="0"/>
          </a:p>
        </p:txBody>
      </p:sp>
      <p:sp>
        <p:nvSpPr>
          <p:cNvPr id="10" name="Shape 8"/>
          <p:cNvSpPr/>
          <p:nvPr/>
        </p:nvSpPr>
        <p:spPr>
          <a:xfrm>
            <a:off x="4224528" y="1737360"/>
            <a:ext cx="3246120" cy="2029968"/>
          </a:xfrm>
          <a:prstGeom prst="roundRect">
            <a:avLst>
              <a:gd name="adj" fmla="val 4054"/>
            </a:avLst>
          </a:prstGeom>
          <a:solidFill>
            <a:srgbClr val="EAF1E0"/>
          </a:solidFill>
          <a:ln/>
        </p:spPr>
      </p:sp>
      <p:sp>
        <p:nvSpPr>
          <p:cNvPr id="11" name="Text 9"/>
          <p:cNvSpPr txBox="1"/>
          <p:nvPr/>
        </p:nvSpPr>
        <p:spPr>
          <a:xfrm>
            <a:off x="4544568" y="1993392"/>
            <a:ext cx="2651760" cy="256032"/>
          </a:xfrm>
          <a:prstGeom prst="rect">
            <a:avLst/>
          </a:prstGeom>
          <a:noFill/>
          <a:ln/>
        </p:spPr>
        <p:txBody>
          <a:bodyPr wrap="square" lIns="0" tIns="0" rIns="0" bIns="0" rtlCol="0" anchor="t"/>
          <a:lstStyle/>
          <a:p>
            <a:pPr indent="0" marL="0">
              <a:buNone/>
            </a:pPr>
            <a:r>
              <a:rPr lang="en-US" sz="1150" b="1" dirty="0">
                <a:solidFill>
                  <a:srgbClr val="5E7F3C"/>
                </a:solidFill>
                <a:latin typeface="Meiryo" pitchFamily="34" charset="0"/>
                <a:ea typeface="Meiryo" pitchFamily="34" charset="-122"/>
                <a:cs typeface="Meiryo" pitchFamily="34" charset="-120"/>
              </a:rPr>
              <a:t>うち森林環境譲与税 充当可能額</a:t>
            </a:r>
            <a:endParaRPr lang="en-US" sz="1150" dirty="0"/>
          </a:p>
        </p:txBody>
      </p:sp>
      <p:sp>
        <p:nvSpPr>
          <p:cNvPr id="12" name="Text 10"/>
          <p:cNvSpPr txBox="1"/>
          <p:nvPr/>
        </p:nvSpPr>
        <p:spPr>
          <a:xfrm>
            <a:off x="4544568" y="2377440"/>
            <a:ext cx="2651760" cy="868680"/>
          </a:xfrm>
          <a:prstGeom prst="rect">
            <a:avLst/>
          </a:prstGeom>
          <a:noFill/>
          <a:ln/>
        </p:spPr>
        <p:txBody>
          <a:bodyPr wrap="square" lIns="0" tIns="0" rIns="0" bIns="0" rtlCol="0" anchor="t"/>
          <a:lstStyle/>
          <a:p>
            <a:pPr indent="0" marL="0">
              <a:buNone/>
            </a:pPr>
            <a:r>
              <a:rPr lang="en-US" sz="5000" b="1" dirty="0">
                <a:solidFill>
                  <a:srgbClr val="1B3D24"/>
                </a:solidFill>
                <a:latin typeface="Meiryo" pitchFamily="34" charset="0"/>
                <a:ea typeface="Meiryo" pitchFamily="34" charset="-122"/>
                <a:cs typeface="Meiryo" pitchFamily="34" charset="-120"/>
              </a:rPr>
              <a:t>約1.40</a:t>
            </a:r>
            <a:endParaRPr lang="en-US" sz="5000" dirty="0"/>
          </a:p>
        </p:txBody>
      </p:sp>
      <p:sp>
        <p:nvSpPr>
          <p:cNvPr id="13" name="Text 11"/>
          <p:cNvSpPr txBox="1"/>
          <p:nvPr/>
        </p:nvSpPr>
        <p:spPr>
          <a:xfrm>
            <a:off x="4544568" y="3346704"/>
            <a:ext cx="2651760" cy="274320"/>
          </a:xfrm>
          <a:prstGeom prst="rect">
            <a:avLst/>
          </a:prstGeom>
          <a:noFill/>
          <a:ln/>
        </p:spPr>
        <p:txBody>
          <a:bodyPr wrap="square" lIns="0" tIns="0" rIns="0" bIns="0" rtlCol="0" anchor="t"/>
          <a:lstStyle/>
          <a:p>
            <a:pPr indent="0" marL="0">
              <a:buNone/>
            </a:pPr>
            <a:r>
              <a:rPr lang="en-US" sz="1250" dirty="0">
                <a:solidFill>
                  <a:srgbClr val="5F6B64"/>
                </a:solidFill>
                <a:latin typeface="Meiryo" pitchFamily="34" charset="0"/>
                <a:ea typeface="Meiryo" pitchFamily="34" charset="-122"/>
                <a:cs typeface="Meiryo" pitchFamily="34" charset="-120"/>
              </a:rPr>
              <a:t>億円 ／ 2026年度</a:t>
            </a:r>
            <a:endParaRPr lang="en-US" sz="1250" dirty="0"/>
          </a:p>
        </p:txBody>
      </p:sp>
      <p:sp>
        <p:nvSpPr>
          <p:cNvPr id="14" name="Shape 12"/>
          <p:cNvSpPr/>
          <p:nvPr/>
        </p:nvSpPr>
        <p:spPr>
          <a:xfrm>
            <a:off x="7626096" y="1737360"/>
            <a:ext cx="3913632" cy="2029968"/>
          </a:xfrm>
          <a:prstGeom prst="roundRect">
            <a:avLst>
              <a:gd name="adj" fmla="val 4054"/>
            </a:avLst>
          </a:prstGeom>
          <a:solidFill>
            <a:srgbClr val="F4F6F1"/>
          </a:solidFill>
          <a:ln w="12700">
            <a:solidFill>
              <a:srgbClr val="DCE3D8"/>
            </a:solidFill>
            <a:prstDash val="solid"/>
          </a:ln>
        </p:spPr>
      </p:sp>
      <p:sp>
        <p:nvSpPr>
          <p:cNvPr id="15" name="Text 13"/>
          <p:cNvSpPr txBox="1"/>
          <p:nvPr/>
        </p:nvSpPr>
        <p:spPr>
          <a:xfrm>
            <a:off x="7946136" y="1993392"/>
            <a:ext cx="3291840" cy="256032"/>
          </a:xfrm>
          <a:prstGeom prst="rect">
            <a:avLst/>
          </a:prstGeom>
          <a:noFill/>
          <a:ln/>
        </p:spPr>
        <p:txBody>
          <a:bodyPr wrap="square" lIns="0" tIns="0" rIns="0" bIns="0" rtlCol="0" anchor="t"/>
          <a:lstStyle/>
          <a:p>
            <a:pPr indent="0" marL="0">
              <a:buNone/>
            </a:pPr>
            <a:r>
              <a:rPr lang="en-US" sz="1150" b="1" dirty="0">
                <a:solidFill>
                  <a:srgbClr val="C1762C"/>
                </a:solidFill>
                <a:latin typeface="Meiryo" pitchFamily="34" charset="0"/>
                <a:ea typeface="Meiryo" pitchFamily="34" charset="-122"/>
                <a:cs typeface="Meiryo" pitchFamily="34" charset="-120"/>
              </a:rPr>
              <a:t>読み取れること</a:t>
            </a:r>
            <a:endParaRPr lang="en-US" sz="1150" dirty="0"/>
          </a:p>
        </p:txBody>
      </p:sp>
      <p:sp>
        <p:nvSpPr>
          <p:cNvPr id="16" name="Text 14"/>
          <p:cNvSpPr txBox="1"/>
          <p:nvPr/>
        </p:nvSpPr>
        <p:spPr>
          <a:xfrm>
            <a:off x="7946136" y="2377440"/>
            <a:ext cx="3291840" cy="155448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23302A"/>
                </a:solidFill>
                <a:latin typeface="Meiryo" pitchFamily="34" charset="0"/>
                <a:ea typeface="Meiryo" pitchFamily="34" charset="-122"/>
                <a:cs typeface="Meiryo" pitchFamily="34" charset="-120"/>
              </a:rPr>
              <a:t>財源は一定規模で確保されつつある</a:t>
            </a:r>
            <a:endParaRPr lang="en-US" sz="1150" dirty="0"/>
          </a:p>
          <a:p>
            <a:pPr marL="342900" indent="-342900">
              <a:lnSpc>
                <a:spcPts val="1800"/>
              </a:lnSpc>
              <a:spcAft>
                <a:spcPts val="700"/>
              </a:spcAft>
              <a:buSzPct val="100000"/>
              <a:buChar char="▪"/>
            </a:pPr>
            <a:r>
              <a:rPr lang="en-US" sz="1150" dirty="0">
                <a:solidFill>
                  <a:srgbClr val="23302A"/>
                </a:solidFill>
                <a:latin typeface="Meiryo" pitchFamily="34" charset="0"/>
                <a:ea typeface="Meiryo" pitchFamily="34" charset="-122"/>
                <a:cs typeface="Meiryo" pitchFamily="34" charset="-120"/>
              </a:rPr>
              <a:t>問われているのは「何に使い、何を生み出すか」</a:t>
            </a:r>
            <a:endParaRPr lang="en-US" sz="1150" dirty="0"/>
          </a:p>
          <a:p>
            <a:pPr marL="342900" indent="-342900">
              <a:lnSpc>
                <a:spcPts val="1800"/>
              </a:lnSpc>
              <a:spcAft>
                <a:spcPts val="700"/>
              </a:spcAft>
              <a:buSzPct val="100000"/>
              <a:buChar char="▪"/>
            </a:pPr>
            <a:r>
              <a:rPr lang="en-US" sz="1150" dirty="0">
                <a:solidFill>
                  <a:srgbClr val="23302A"/>
                </a:solidFill>
                <a:latin typeface="Meiryo" pitchFamily="34" charset="0"/>
                <a:ea typeface="Meiryo" pitchFamily="34" charset="-122"/>
                <a:cs typeface="Meiryo" pitchFamily="34" charset="-120"/>
              </a:rPr>
              <a:t>譲与税は使途に制約があり、単年度・整備中心になりやすい</a:t>
            </a:r>
            <a:endParaRPr lang="en-US" sz="1150" dirty="0"/>
          </a:p>
        </p:txBody>
      </p:sp>
      <p:sp>
        <p:nvSpPr>
          <p:cNvPr id="17" name="Shape 15"/>
          <p:cNvSpPr/>
          <p:nvPr/>
        </p:nvSpPr>
        <p:spPr>
          <a:xfrm>
            <a:off x="658368" y="4069080"/>
            <a:ext cx="10874959" cy="1234440"/>
          </a:xfrm>
          <a:prstGeom prst="roundRect">
            <a:avLst>
              <a:gd name="adj" fmla="val 6667"/>
            </a:avLst>
          </a:prstGeom>
          <a:solidFill>
            <a:srgbClr val="FAEEDF"/>
          </a:solidFill>
          <a:ln/>
        </p:spPr>
      </p:sp>
      <p:sp>
        <p:nvSpPr>
          <p:cNvPr id="18" name="Text 16"/>
          <p:cNvSpPr txBox="1"/>
          <p:nvPr/>
        </p:nvSpPr>
        <p:spPr>
          <a:xfrm>
            <a:off x="1069848" y="4306824"/>
            <a:ext cx="10051999" cy="365760"/>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だからこそ、既存財源では手が届きにくい「収益化前の仕込み」に、別の財源が要る。</a:t>
            </a:r>
            <a:endParaRPr lang="en-US" sz="1500" dirty="0"/>
          </a:p>
        </p:txBody>
      </p:sp>
      <p:sp>
        <p:nvSpPr>
          <p:cNvPr id="19" name="Text 17"/>
          <p:cNvSpPr txBox="1"/>
          <p:nvPr/>
        </p:nvSpPr>
        <p:spPr>
          <a:xfrm>
            <a:off x="1069848" y="4745736"/>
            <a:ext cx="10051999" cy="365760"/>
          </a:xfrm>
          <a:prstGeom prst="rect">
            <a:avLst/>
          </a:prstGeom>
          <a:noFill/>
          <a:ln/>
        </p:spPr>
        <p:txBody>
          <a:bodyPr wrap="square" lIns="0" tIns="0" rIns="0" bIns="0" rtlCol="0" anchor="t"/>
          <a:lstStyle/>
          <a:p>
            <a:pPr indent="0" marL="0">
              <a:buNone/>
            </a:pPr>
            <a:r>
              <a:rPr lang="en-US" sz="1150" dirty="0">
                <a:solidFill>
                  <a:srgbClr val="5F6B64"/>
                </a:solidFill>
                <a:latin typeface="Meiryo" pitchFamily="34" charset="0"/>
                <a:ea typeface="Meiryo" pitchFamily="34" charset="-122"/>
                <a:cs typeface="Meiryo" pitchFamily="34" charset="-120"/>
              </a:rPr>
              <a:t>調査・データ基盤・構想づくり・需要開拓・制度設計——これらは整備費でも施設費でもない。ここに企業版ふるさと納税を充てる。</a:t>
            </a:r>
            <a:endParaRPr lang="en-US" sz="1150" dirty="0"/>
          </a:p>
        </p:txBody>
      </p:sp>
      <p:sp>
        <p:nvSpPr>
          <p:cNvPr id="20" name="Text 18"/>
          <p:cNvSpPr txBox="1"/>
          <p:nvPr/>
        </p:nvSpPr>
        <p:spPr>
          <a:xfrm>
            <a:off x="658368" y="5486400"/>
            <a:ext cx="10874959" cy="274320"/>
          </a:xfrm>
          <a:prstGeom prst="rect">
            <a:avLst/>
          </a:prstGeom>
          <a:noFill/>
          <a:ln/>
        </p:spPr>
        <p:txBody>
          <a:bodyPr wrap="square" lIns="0" tIns="0" rIns="0" bIns="0" rtlCol="0" anchor="t"/>
          <a:lstStyle/>
          <a:p>
            <a:pPr indent="0" marL="0">
              <a:buNone/>
            </a:pPr>
            <a:r>
              <a:rPr lang="en-US" sz="950" dirty="0">
                <a:solidFill>
                  <a:srgbClr val="5F6B64"/>
                </a:solidFill>
                <a:latin typeface="Meiryo" pitchFamily="34" charset="0"/>
                <a:ea typeface="Meiryo" pitchFamily="34" charset="-122"/>
                <a:cs typeface="Meiryo" pitchFamily="34" charset="-120"/>
              </a:rPr>
              <a:t>※ 金額は八王子市の公表資料に基づく。提案化にあたり最新の予算資料で最終確認を行う。</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51A"/>
        </a:solidFill>
      </p:bgPr>
    </p:bg>
    <p:spTree>
      <p:nvGrpSpPr>
        <p:cNvPr id="1" name=""/>
        <p:cNvGrpSpPr/>
        <p:nvPr/>
      </p:nvGrpSpPr>
      <p:grpSpPr>
        <a:xfrm>
          <a:off x="0" y="0"/>
          <a:ext cx="0" cy="0"/>
          <a:chOff x="0" y="0"/>
          <a:chExt cx="0" cy="0"/>
        </a:xfrm>
      </p:grpSpPr>
      <p:sp>
        <p:nvSpPr>
          <p:cNvPr id="2" name="Shape 0"/>
          <p:cNvSpPr/>
          <p:nvPr/>
        </p:nvSpPr>
        <p:spPr>
          <a:xfrm>
            <a:off x="10058400" y="2606040"/>
            <a:ext cx="1645920" cy="1645920"/>
          </a:xfrm>
          <a:prstGeom prst="ellipse">
            <a:avLst/>
          </a:prstGeom>
          <a:solidFill>
            <a:srgbClr val="FFFFFF">
              <a:alpha val="0"/>
            </a:srgbClr>
          </a:solidFill>
          <a:ln w="15875">
            <a:solidFill>
              <a:srgbClr val="8FB566">
                <a:alpha val="24000"/>
              </a:srgbClr>
            </a:solidFill>
            <a:prstDash val="solid"/>
          </a:ln>
        </p:spPr>
      </p:sp>
      <p:sp>
        <p:nvSpPr>
          <p:cNvPr id="3" name="Shape 1"/>
          <p:cNvSpPr/>
          <p:nvPr/>
        </p:nvSpPr>
        <p:spPr>
          <a:xfrm>
            <a:off x="9464040" y="2011680"/>
            <a:ext cx="2834640" cy="2834640"/>
          </a:xfrm>
          <a:prstGeom prst="ellipse">
            <a:avLst/>
          </a:prstGeom>
          <a:solidFill>
            <a:srgbClr val="FFFFFF">
              <a:alpha val="0"/>
            </a:srgbClr>
          </a:solidFill>
          <a:ln w="15875">
            <a:solidFill>
              <a:srgbClr val="8FB566">
                <a:alpha val="24000"/>
              </a:srgbClr>
            </a:solidFill>
            <a:prstDash val="solid"/>
          </a:ln>
        </p:spPr>
      </p:sp>
      <p:sp>
        <p:nvSpPr>
          <p:cNvPr id="4" name="Shape 2"/>
          <p:cNvSpPr/>
          <p:nvPr/>
        </p:nvSpPr>
        <p:spPr>
          <a:xfrm>
            <a:off x="8869680" y="1417320"/>
            <a:ext cx="4023360" cy="4023360"/>
          </a:xfrm>
          <a:prstGeom prst="ellipse">
            <a:avLst/>
          </a:prstGeom>
          <a:solidFill>
            <a:srgbClr val="FFFFFF">
              <a:alpha val="0"/>
            </a:srgbClr>
          </a:solidFill>
          <a:ln w="15875">
            <a:solidFill>
              <a:srgbClr val="8FB566">
                <a:alpha val="24000"/>
              </a:srgbClr>
            </a:solidFill>
            <a:prstDash val="solid"/>
          </a:ln>
        </p:spPr>
      </p:sp>
      <p:sp>
        <p:nvSpPr>
          <p:cNvPr id="5" name="Shape 3"/>
          <p:cNvSpPr/>
          <p:nvPr/>
        </p:nvSpPr>
        <p:spPr>
          <a:xfrm>
            <a:off x="8275320" y="822960"/>
            <a:ext cx="5212080" cy="5212080"/>
          </a:xfrm>
          <a:prstGeom prst="ellipse">
            <a:avLst/>
          </a:prstGeom>
          <a:solidFill>
            <a:srgbClr val="FFFFFF">
              <a:alpha val="0"/>
            </a:srgbClr>
          </a:solidFill>
          <a:ln w="15875">
            <a:solidFill>
              <a:srgbClr val="8FB566">
                <a:alpha val="24000"/>
              </a:srgbClr>
            </a:solidFill>
            <a:prstDash val="solid"/>
          </a:ln>
        </p:spPr>
      </p:sp>
      <p:sp>
        <p:nvSpPr>
          <p:cNvPr id="6" name="Shape 4"/>
          <p:cNvSpPr/>
          <p:nvPr/>
        </p:nvSpPr>
        <p:spPr>
          <a:xfrm>
            <a:off x="7680960" y="228600"/>
            <a:ext cx="6400800" cy="6400800"/>
          </a:xfrm>
          <a:prstGeom prst="ellipse">
            <a:avLst/>
          </a:prstGeom>
          <a:solidFill>
            <a:srgbClr val="FFFFFF">
              <a:alpha val="0"/>
            </a:srgbClr>
          </a:solidFill>
          <a:ln w="15875">
            <a:solidFill>
              <a:srgbClr val="8FB566">
                <a:alpha val="24000"/>
              </a:srgbClr>
            </a:solidFill>
            <a:prstDash val="solid"/>
          </a:ln>
        </p:spPr>
      </p:sp>
      <p:sp>
        <p:nvSpPr>
          <p:cNvPr id="7" name="Text 5"/>
          <p:cNvSpPr txBox="1"/>
          <p:nvPr/>
        </p:nvSpPr>
        <p:spPr>
          <a:xfrm>
            <a:off x="658368" y="1737360"/>
            <a:ext cx="2743200" cy="1325880"/>
          </a:xfrm>
          <a:prstGeom prst="rect">
            <a:avLst/>
          </a:prstGeom>
          <a:noFill/>
          <a:ln/>
        </p:spPr>
        <p:txBody>
          <a:bodyPr wrap="square" lIns="0" tIns="0" rIns="0" bIns="0" rtlCol="0" anchor="t"/>
          <a:lstStyle/>
          <a:p>
            <a:pPr indent="0" marL="0">
              <a:buNone/>
            </a:pPr>
            <a:r>
              <a:rPr lang="en-US" sz="7600" b="1" dirty="0">
                <a:solidFill>
                  <a:srgbClr val="C1762C"/>
                </a:solidFill>
                <a:latin typeface="Meiryo" pitchFamily="34" charset="0"/>
                <a:ea typeface="Meiryo" pitchFamily="34" charset="-122"/>
                <a:cs typeface="Meiryo" pitchFamily="34" charset="-120"/>
              </a:rPr>
              <a:t>03</a:t>
            </a:r>
            <a:endParaRPr lang="en-US" sz="7600" dirty="0"/>
          </a:p>
        </p:txBody>
      </p:sp>
      <p:sp>
        <p:nvSpPr>
          <p:cNvPr id="8" name="Text 6"/>
          <p:cNvSpPr txBox="1"/>
          <p:nvPr/>
        </p:nvSpPr>
        <p:spPr>
          <a:xfrm>
            <a:off x="658368" y="3035808"/>
            <a:ext cx="7680960" cy="822960"/>
          </a:xfrm>
          <a:prstGeom prst="rect">
            <a:avLst/>
          </a:prstGeom>
          <a:noFill/>
          <a:ln/>
        </p:spPr>
        <p:txBody>
          <a:bodyPr wrap="square" lIns="0" tIns="0" rIns="0" bIns="0" rtlCol="0" anchor="t"/>
          <a:lstStyle/>
          <a:p>
            <a:pPr indent="0" marL="0">
              <a:buNone/>
            </a:pPr>
            <a:r>
              <a:rPr lang="en-US" sz="3400" b="1" dirty="0">
                <a:solidFill>
                  <a:srgbClr val="FFFFFF"/>
                </a:solidFill>
                <a:latin typeface="Meiryo" pitchFamily="34" charset="0"/>
                <a:ea typeface="Meiryo" pitchFamily="34" charset="-122"/>
                <a:cs typeface="Meiryo" pitchFamily="34" charset="-120"/>
              </a:rPr>
              <a:t>それでも残る課題</a:t>
            </a:r>
            <a:endParaRPr lang="en-US" sz="3400" dirty="0"/>
          </a:p>
        </p:txBody>
      </p:sp>
      <p:sp>
        <p:nvSpPr>
          <p:cNvPr id="9" name="Text 7"/>
          <p:cNvSpPr txBox="1"/>
          <p:nvPr/>
        </p:nvSpPr>
        <p:spPr>
          <a:xfrm>
            <a:off x="658368" y="4023360"/>
            <a:ext cx="6675120" cy="640080"/>
          </a:xfrm>
          <a:prstGeom prst="rect">
            <a:avLst/>
          </a:prstGeom>
          <a:noFill/>
          <a:ln/>
        </p:spPr>
        <p:txBody>
          <a:bodyPr wrap="square" lIns="0" tIns="0" rIns="0" bIns="0" rtlCol="0" anchor="t"/>
          <a:lstStyle/>
          <a:p>
            <a:pPr indent="0" marL="0">
              <a:lnSpc>
                <a:spcPts val="2200"/>
              </a:lnSpc>
              <a:buNone/>
            </a:pPr>
            <a:r>
              <a:rPr lang="en-US" sz="1350" dirty="0">
                <a:solidFill>
                  <a:srgbClr val="8FB566"/>
                </a:solidFill>
                <a:latin typeface="Meiryo" pitchFamily="34" charset="0"/>
                <a:ea typeface="Meiryo" pitchFamily="34" charset="-122"/>
                <a:cs typeface="Meiryo" pitchFamily="34" charset="-120"/>
              </a:rPr>
              <a:t>「取り組みが足りない」のではない。「取り組みを次の段階につなげる仕組み」が不足している。</a:t>
            </a:r>
            <a:endParaRPr lang="en-US" sz="1350" dirty="0"/>
          </a:p>
        </p:txBody>
      </p:sp>
      <p:sp>
        <p:nvSpPr>
          <p:cNvPr id="10" name="Shape 8"/>
          <p:cNvSpPr/>
          <p:nvPr/>
        </p:nvSpPr>
        <p:spPr>
          <a:xfrm>
            <a:off x="658368" y="4864608"/>
            <a:ext cx="1837944" cy="347472"/>
          </a:xfrm>
          <a:prstGeom prst="roundRect">
            <a:avLst>
              <a:gd name="adj" fmla="val 47368"/>
            </a:avLst>
          </a:prstGeom>
          <a:solidFill>
            <a:srgbClr val="1E3327"/>
          </a:solidFill>
          <a:ln w="9525">
            <a:solidFill>
              <a:srgbClr val="5E7F3C"/>
            </a:solidFill>
            <a:prstDash val="solid"/>
          </a:ln>
        </p:spPr>
      </p:sp>
      <p:sp>
        <p:nvSpPr>
          <p:cNvPr id="11" name="Text 9"/>
          <p:cNvSpPr txBox="1"/>
          <p:nvPr/>
        </p:nvSpPr>
        <p:spPr>
          <a:xfrm>
            <a:off x="658368" y="4864608"/>
            <a:ext cx="1837944"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知る→支える の接続</a:t>
            </a:r>
            <a:endParaRPr lang="en-US" sz="1050" dirty="0"/>
          </a:p>
        </p:txBody>
      </p:sp>
      <p:sp>
        <p:nvSpPr>
          <p:cNvPr id="12" name="Shape 10"/>
          <p:cNvSpPr/>
          <p:nvPr/>
        </p:nvSpPr>
        <p:spPr>
          <a:xfrm>
            <a:off x="2624328" y="4864608"/>
            <a:ext cx="1687068" cy="347472"/>
          </a:xfrm>
          <a:prstGeom prst="roundRect">
            <a:avLst>
              <a:gd name="adj" fmla="val 47368"/>
            </a:avLst>
          </a:prstGeom>
          <a:solidFill>
            <a:srgbClr val="1E3327"/>
          </a:solidFill>
          <a:ln w="9525">
            <a:solidFill>
              <a:srgbClr val="5E7F3C"/>
            </a:solidFill>
            <a:prstDash val="solid"/>
          </a:ln>
        </p:spPr>
      </p:sp>
      <p:sp>
        <p:nvSpPr>
          <p:cNvPr id="13" name="Text 11"/>
          <p:cNvSpPr txBox="1"/>
          <p:nvPr/>
        </p:nvSpPr>
        <p:spPr>
          <a:xfrm>
            <a:off x="2624328" y="4864608"/>
            <a:ext cx="1687068"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個別利用→継続需要</a:t>
            </a:r>
            <a:endParaRPr lang="en-US" sz="1050" dirty="0"/>
          </a:p>
        </p:txBody>
      </p:sp>
      <p:sp>
        <p:nvSpPr>
          <p:cNvPr id="14" name="Shape 12"/>
          <p:cNvSpPr/>
          <p:nvPr/>
        </p:nvSpPr>
        <p:spPr>
          <a:xfrm>
            <a:off x="4439412" y="4864608"/>
            <a:ext cx="1536192" cy="347472"/>
          </a:xfrm>
          <a:prstGeom prst="roundRect">
            <a:avLst>
              <a:gd name="adj" fmla="val 47368"/>
            </a:avLst>
          </a:prstGeom>
          <a:solidFill>
            <a:srgbClr val="1E3327"/>
          </a:solidFill>
          <a:ln w="9525">
            <a:solidFill>
              <a:srgbClr val="5E7F3C"/>
            </a:solidFill>
            <a:prstDash val="solid"/>
          </a:ln>
        </p:spPr>
      </p:sp>
      <p:sp>
        <p:nvSpPr>
          <p:cNvPr id="15" name="Text 13"/>
          <p:cNvSpPr txBox="1"/>
          <p:nvPr/>
        </p:nvSpPr>
        <p:spPr>
          <a:xfrm>
            <a:off x="4439412" y="4864608"/>
            <a:ext cx="1536192"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整備と需要の分離</a:t>
            </a:r>
            <a:endParaRPr lang="en-US" sz="1050" dirty="0"/>
          </a:p>
        </p:txBody>
      </p:sp>
      <p:sp>
        <p:nvSpPr>
          <p:cNvPr id="16" name="Text 14"/>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17" name="Text 15"/>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REFRAME</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課題の捉え直し</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13</a:t>
            </a:r>
            <a:endParaRPr lang="en-US" sz="900" dirty="0"/>
          </a:p>
        </p:txBody>
      </p:sp>
      <p:sp>
        <p:nvSpPr>
          <p:cNvPr id="6" name="Text 4"/>
          <p:cNvSpPr txBox="1"/>
          <p:nvPr/>
        </p:nvSpPr>
        <p:spPr>
          <a:xfrm>
            <a:off x="658368" y="1783080"/>
            <a:ext cx="6035040" cy="1737360"/>
          </a:xfrm>
          <a:prstGeom prst="rect">
            <a:avLst/>
          </a:prstGeom>
          <a:noFill/>
          <a:ln/>
        </p:spPr>
        <p:txBody>
          <a:bodyPr wrap="square" lIns="0" tIns="0" rIns="0" bIns="0" rtlCol="0" anchor="t"/>
          <a:lstStyle/>
          <a:p>
            <a:pPr indent="0" marL="0">
              <a:lnSpc>
                <a:spcPts val="5000"/>
              </a:lnSpc>
              <a:buNone/>
            </a:pPr>
            <a:r>
              <a:rPr lang="en-US" sz="3300" b="1" dirty="0">
                <a:solidFill>
                  <a:srgbClr val="1B3D24"/>
                </a:solidFill>
                <a:latin typeface="Meiryo" pitchFamily="34" charset="0"/>
                <a:ea typeface="Meiryo" pitchFamily="34" charset="-122"/>
                <a:cs typeface="Meiryo" pitchFamily="34" charset="-120"/>
              </a:rPr>
              <a:t>「足りない」のではなく、</a:t>
            </a:r>
            <a:endParaRPr lang="en-US" sz="3300" dirty="0"/>
          </a:p>
          <a:p>
            <a:pPr indent="0" marL="0">
              <a:lnSpc>
                <a:spcPts val="5000"/>
              </a:lnSpc>
              <a:buNone/>
            </a:pPr>
            <a:r>
              <a:rPr lang="en-US" sz="3300" b="1" dirty="0">
                <a:solidFill>
                  <a:srgbClr val="1B3D24"/>
                </a:solidFill>
                <a:latin typeface="Meiryo" pitchFamily="34" charset="0"/>
                <a:ea typeface="Meiryo" pitchFamily="34" charset="-122"/>
                <a:cs typeface="Meiryo" pitchFamily="34" charset="-120"/>
              </a:rPr>
              <a:t>「つながっていない」。</a:t>
            </a:r>
            <a:endParaRPr lang="en-US" sz="3300" dirty="0"/>
          </a:p>
        </p:txBody>
      </p:sp>
      <p:sp>
        <p:nvSpPr>
          <p:cNvPr id="7" name="Text 5"/>
          <p:cNvSpPr txBox="1"/>
          <p:nvPr/>
        </p:nvSpPr>
        <p:spPr>
          <a:xfrm>
            <a:off x="658368" y="3703320"/>
            <a:ext cx="6035040" cy="1280160"/>
          </a:xfrm>
          <a:prstGeom prst="rect">
            <a:avLst/>
          </a:prstGeom>
          <a:noFill/>
          <a:ln/>
        </p:spPr>
        <p:txBody>
          <a:bodyPr wrap="square" lIns="0" tIns="0" rIns="0" bIns="0" rtlCol="0" anchor="t"/>
          <a:lstStyle/>
          <a:p>
            <a:pPr indent="0" marL="0">
              <a:lnSpc>
                <a:spcPts val="2500"/>
              </a:lnSpc>
              <a:buNone/>
            </a:pPr>
            <a:r>
              <a:rPr lang="en-US" sz="1300" dirty="0">
                <a:solidFill>
                  <a:srgbClr val="23302A"/>
                </a:solidFill>
                <a:latin typeface="Meiryo" pitchFamily="34" charset="0"/>
                <a:ea typeface="Meiryo" pitchFamily="34" charset="-122"/>
                <a:cs typeface="Meiryo" pitchFamily="34" charset="-120"/>
              </a:rPr>
              <a:t>森林整備も、木育も、多摩産材利用も、それぞれ着実に進んでいる。</a:t>
            </a:r>
            <a:endParaRPr lang="en-US" sz="1300" dirty="0"/>
          </a:p>
          <a:p>
            <a:pPr indent="0" marL="0">
              <a:lnSpc>
                <a:spcPts val="2500"/>
              </a:lnSpc>
              <a:buNone/>
            </a:pPr>
            <a:r>
              <a:rPr lang="en-US" sz="1300" dirty="0">
                <a:solidFill>
                  <a:srgbClr val="23302A"/>
                </a:solidFill>
                <a:latin typeface="Meiryo" pitchFamily="34" charset="0"/>
                <a:ea typeface="Meiryo" pitchFamily="34" charset="-122"/>
                <a:cs typeface="Meiryo" pitchFamily="34" charset="-120"/>
              </a:rPr>
              <a:t>しかし、それぞれが独立した事業として実施されているため、</a:t>
            </a:r>
            <a:endParaRPr lang="en-US" sz="1300" dirty="0"/>
          </a:p>
          <a:p>
            <a:pPr indent="0" marL="0">
              <a:lnSpc>
                <a:spcPts val="2500"/>
              </a:lnSpc>
              <a:buNone/>
            </a:pPr>
            <a:r>
              <a:rPr lang="en-US" sz="1300" dirty="0">
                <a:solidFill>
                  <a:srgbClr val="23302A"/>
                </a:solidFill>
                <a:latin typeface="Meiryo" pitchFamily="34" charset="0"/>
                <a:ea typeface="Meiryo" pitchFamily="34" charset="-122"/>
                <a:cs typeface="Meiryo" pitchFamily="34" charset="-120"/>
              </a:rPr>
              <a:t>一つの活動の成果が、次の活動の原資にならない。</a:t>
            </a:r>
            <a:endParaRPr lang="en-US" sz="1300" dirty="0"/>
          </a:p>
        </p:txBody>
      </p:sp>
      <p:sp>
        <p:nvSpPr>
          <p:cNvPr id="8" name="Text 6"/>
          <p:cNvSpPr txBox="1"/>
          <p:nvPr/>
        </p:nvSpPr>
        <p:spPr>
          <a:xfrm>
            <a:off x="658368" y="5074920"/>
            <a:ext cx="6035040" cy="731520"/>
          </a:xfrm>
          <a:prstGeom prst="rect">
            <a:avLst/>
          </a:prstGeom>
          <a:noFill/>
          <a:ln/>
        </p:spPr>
        <p:txBody>
          <a:bodyPr wrap="square" lIns="0" tIns="0" rIns="0" bIns="0" rtlCol="0" anchor="t"/>
          <a:lstStyle/>
          <a:p>
            <a:pPr indent="0" marL="0">
              <a:lnSpc>
                <a:spcPts val="2100"/>
              </a:lnSpc>
              <a:buNone/>
            </a:pPr>
            <a:r>
              <a:rPr lang="en-US" sz="1200" b="1" dirty="0">
                <a:solidFill>
                  <a:srgbClr val="5E7F3C"/>
                </a:solidFill>
                <a:latin typeface="Meiryo" pitchFamily="34" charset="0"/>
                <a:ea typeface="Meiryo" pitchFamily="34" charset="-122"/>
                <a:cs typeface="Meiryo" pitchFamily="34" charset="-120"/>
              </a:rPr>
              <a:t>この提案は、既存の取り組みを否定するものではなく、</a:t>
            </a:r>
            <a:endParaRPr lang="en-US" sz="1200" dirty="0"/>
          </a:p>
          <a:p>
            <a:pPr indent="0" marL="0">
              <a:lnSpc>
                <a:spcPts val="2100"/>
              </a:lnSpc>
              <a:buNone/>
            </a:pPr>
            <a:r>
              <a:rPr lang="en-US" sz="1200" b="1" dirty="0">
                <a:solidFill>
                  <a:srgbClr val="5E7F3C"/>
                </a:solidFill>
                <a:latin typeface="Meiryo" pitchFamily="34" charset="0"/>
                <a:ea typeface="Meiryo" pitchFamily="34" charset="-122"/>
                <a:cs typeface="Meiryo" pitchFamily="34" charset="-120"/>
              </a:rPr>
              <a:t>それらを一本の循環につなぐためのもの。</a:t>
            </a:r>
            <a:endParaRPr lang="en-US" sz="1200" dirty="0"/>
          </a:p>
        </p:txBody>
      </p:sp>
      <p:sp>
        <p:nvSpPr>
          <p:cNvPr id="9" name="Shape 7"/>
          <p:cNvSpPr/>
          <p:nvPr/>
        </p:nvSpPr>
        <p:spPr>
          <a:xfrm>
            <a:off x="7178040" y="1874520"/>
            <a:ext cx="4361688" cy="914400"/>
          </a:xfrm>
          <a:prstGeom prst="roundRect">
            <a:avLst>
              <a:gd name="adj" fmla="val 9000"/>
            </a:avLst>
          </a:prstGeom>
          <a:solidFill>
            <a:srgbClr val="F4F6F1"/>
          </a:solidFill>
          <a:ln w="12700">
            <a:solidFill>
              <a:srgbClr val="DCE3D8"/>
            </a:solidFill>
            <a:prstDash val="solid"/>
          </a:ln>
        </p:spPr>
      </p:sp>
      <p:sp>
        <p:nvSpPr>
          <p:cNvPr id="10" name="Text 8"/>
          <p:cNvSpPr txBox="1"/>
          <p:nvPr/>
        </p:nvSpPr>
        <p:spPr>
          <a:xfrm>
            <a:off x="7178040" y="1874520"/>
            <a:ext cx="4361688" cy="914400"/>
          </a:xfrm>
          <a:prstGeom prst="rect">
            <a:avLst/>
          </a:prstGeom>
          <a:noFill/>
          <a:ln/>
        </p:spPr>
        <p:txBody>
          <a:bodyPr wrap="square" lIns="0" tIns="0" rIns="0" bIns="0" rtlCol="0" anchor="ctr"/>
          <a:lstStyle/>
          <a:p>
            <a:pPr algn="ctr" indent="0" marL="0">
              <a:buNone/>
            </a:pPr>
            <a:r>
              <a:rPr lang="en-US" sz="1400" b="1" dirty="0">
                <a:solidFill>
                  <a:srgbClr val="1B3D24"/>
                </a:solidFill>
                <a:latin typeface="Meiryo" pitchFamily="34" charset="0"/>
                <a:ea typeface="Meiryo" pitchFamily="34" charset="-122"/>
                <a:cs typeface="Meiryo" pitchFamily="34" charset="-120"/>
              </a:rPr>
              <a:t>森林整備の事業</a:t>
            </a:r>
            <a:endParaRPr lang="en-US" sz="1400" dirty="0"/>
          </a:p>
        </p:txBody>
      </p:sp>
      <p:sp>
        <p:nvSpPr>
          <p:cNvPr id="11" name="Shape 9"/>
          <p:cNvSpPr/>
          <p:nvPr/>
        </p:nvSpPr>
        <p:spPr>
          <a:xfrm>
            <a:off x="7178040" y="3063240"/>
            <a:ext cx="4361688" cy="914400"/>
          </a:xfrm>
          <a:prstGeom prst="roundRect">
            <a:avLst>
              <a:gd name="adj" fmla="val 9000"/>
            </a:avLst>
          </a:prstGeom>
          <a:solidFill>
            <a:srgbClr val="F4F6F1"/>
          </a:solidFill>
          <a:ln w="12700">
            <a:solidFill>
              <a:srgbClr val="DCE3D8"/>
            </a:solidFill>
            <a:prstDash val="solid"/>
          </a:ln>
        </p:spPr>
      </p:sp>
      <p:sp>
        <p:nvSpPr>
          <p:cNvPr id="12" name="Text 10"/>
          <p:cNvSpPr txBox="1"/>
          <p:nvPr/>
        </p:nvSpPr>
        <p:spPr>
          <a:xfrm>
            <a:off x="7178040" y="3063240"/>
            <a:ext cx="4361688" cy="914400"/>
          </a:xfrm>
          <a:prstGeom prst="rect">
            <a:avLst/>
          </a:prstGeom>
          <a:noFill/>
          <a:ln/>
        </p:spPr>
        <p:txBody>
          <a:bodyPr wrap="square" lIns="0" tIns="0" rIns="0" bIns="0" rtlCol="0" anchor="ctr"/>
          <a:lstStyle/>
          <a:p>
            <a:pPr algn="ctr" indent="0" marL="0">
              <a:buNone/>
            </a:pPr>
            <a:r>
              <a:rPr lang="en-US" sz="1400" b="1" dirty="0">
                <a:solidFill>
                  <a:srgbClr val="1B3D24"/>
                </a:solidFill>
                <a:latin typeface="Meiryo" pitchFamily="34" charset="0"/>
                <a:ea typeface="Meiryo" pitchFamily="34" charset="-122"/>
                <a:cs typeface="Meiryo" pitchFamily="34" charset="-120"/>
              </a:rPr>
              <a:t>木育・森林体験の事業</a:t>
            </a:r>
            <a:endParaRPr lang="en-US" sz="1400" dirty="0"/>
          </a:p>
        </p:txBody>
      </p:sp>
      <p:sp>
        <p:nvSpPr>
          <p:cNvPr id="13" name="Shape 11"/>
          <p:cNvSpPr/>
          <p:nvPr/>
        </p:nvSpPr>
        <p:spPr>
          <a:xfrm>
            <a:off x="7178040" y="4251960"/>
            <a:ext cx="4361688" cy="914400"/>
          </a:xfrm>
          <a:prstGeom prst="roundRect">
            <a:avLst>
              <a:gd name="adj" fmla="val 9000"/>
            </a:avLst>
          </a:prstGeom>
          <a:solidFill>
            <a:srgbClr val="F4F6F1"/>
          </a:solidFill>
          <a:ln w="12700">
            <a:solidFill>
              <a:srgbClr val="DCE3D8"/>
            </a:solidFill>
            <a:prstDash val="solid"/>
          </a:ln>
        </p:spPr>
      </p:sp>
      <p:sp>
        <p:nvSpPr>
          <p:cNvPr id="14" name="Text 12"/>
          <p:cNvSpPr txBox="1"/>
          <p:nvPr/>
        </p:nvSpPr>
        <p:spPr>
          <a:xfrm>
            <a:off x="7178040" y="4251960"/>
            <a:ext cx="4361688" cy="914400"/>
          </a:xfrm>
          <a:prstGeom prst="rect">
            <a:avLst/>
          </a:prstGeom>
          <a:noFill/>
          <a:ln/>
        </p:spPr>
        <p:txBody>
          <a:bodyPr wrap="square" lIns="0" tIns="0" rIns="0" bIns="0" rtlCol="0" anchor="ctr"/>
          <a:lstStyle/>
          <a:p>
            <a:pPr algn="ctr" indent="0" marL="0">
              <a:buNone/>
            </a:pPr>
            <a:r>
              <a:rPr lang="en-US" sz="1400" b="1" dirty="0">
                <a:solidFill>
                  <a:srgbClr val="1B3D24"/>
                </a:solidFill>
                <a:latin typeface="Meiryo" pitchFamily="34" charset="0"/>
                <a:ea typeface="Meiryo" pitchFamily="34" charset="-122"/>
                <a:cs typeface="Meiryo" pitchFamily="34" charset="-120"/>
              </a:rPr>
              <a:t>木材利用の事業</a:t>
            </a:r>
            <a:endParaRPr lang="en-US" sz="1400" dirty="0"/>
          </a:p>
        </p:txBody>
      </p:sp>
      <p:sp>
        <p:nvSpPr>
          <p:cNvPr id="15" name="Shape 13"/>
          <p:cNvSpPr/>
          <p:nvPr/>
        </p:nvSpPr>
        <p:spPr>
          <a:xfrm>
            <a:off x="9189720" y="2880360"/>
            <a:ext cx="329184" cy="329184"/>
          </a:xfrm>
          <a:prstGeom prst="ellipse">
            <a:avLst/>
          </a:prstGeom>
          <a:solidFill>
            <a:srgbClr val="FFFFFF"/>
          </a:solidFill>
          <a:ln w="15875">
            <a:solidFill>
              <a:srgbClr val="C1762C"/>
            </a:solidFill>
            <a:prstDash val="solid"/>
          </a:ln>
        </p:spPr>
      </p:sp>
      <p:sp>
        <p:nvSpPr>
          <p:cNvPr id="16" name="Text 14"/>
          <p:cNvSpPr txBox="1"/>
          <p:nvPr/>
        </p:nvSpPr>
        <p:spPr>
          <a:xfrm>
            <a:off x="9189720" y="2880360"/>
            <a:ext cx="329184" cy="329184"/>
          </a:xfrm>
          <a:prstGeom prst="rect">
            <a:avLst/>
          </a:prstGeom>
          <a:noFill/>
          <a:ln/>
        </p:spPr>
        <p:txBody>
          <a:bodyPr wrap="square" lIns="0" tIns="0" rIns="0" bIns="0" rtlCol="0" anchor="ctr"/>
          <a:lstStyle/>
          <a:p>
            <a:pPr algn="ctr" indent="0" marL="0">
              <a:buNone/>
            </a:pPr>
            <a:r>
              <a:rPr lang="en-US" sz="1300" b="1" dirty="0">
                <a:solidFill>
                  <a:srgbClr val="C1762C"/>
                </a:solidFill>
                <a:latin typeface="Meiryo" pitchFamily="34" charset="0"/>
                <a:ea typeface="Meiryo" pitchFamily="34" charset="-122"/>
                <a:cs typeface="Meiryo" pitchFamily="34" charset="-120"/>
              </a:rPr>
              <a:t>×</a:t>
            </a:r>
            <a:endParaRPr lang="en-US" sz="1300" dirty="0"/>
          </a:p>
        </p:txBody>
      </p:sp>
      <p:sp>
        <p:nvSpPr>
          <p:cNvPr id="17" name="Shape 15"/>
          <p:cNvSpPr/>
          <p:nvPr/>
        </p:nvSpPr>
        <p:spPr>
          <a:xfrm>
            <a:off x="9189720" y="4069080"/>
            <a:ext cx="329184" cy="329184"/>
          </a:xfrm>
          <a:prstGeom prst="ellipse">
            <a:avLst/>
          </a:prstGeom>
          <a:solidFill>
            <a:srgbClr val="FFFFFF"/>
          </a:solidFill>
          <a:ln w="15875">
            <a:solidFill>
              <a:srgbClr val="C1762C"/>
            </a:solidFill>
            <a:prstDash val="solid"/>
          </a:ln>
        </p:spPr>
      </p:sp>
      <p:sp>
        <p:nvSpPr>
          <p:cNvPr id="18" name="Text 16"/>
          <p:cNvSpPr txBox="1"/>
          <p:nvPr/>
        </p:nvSpPr>
        <p:spPr>
          <a:xfrm>
            <a:off x="9189720" y="4069080"/>
            <a:ext cx="329184" cy="329184"/>
          </a:xfrm>
          <a:prstGeom prst="rect">
            <a:avLst/>
          </a:prstGeom>
          <a:noFill/>
          <a:ln/>
        </p:spPr>
        <p:txBody>
          <a:bodyPr wrap="square" lIns="0" tIns="0" rIns="0" bIns="0" rtlCol="0" anchor="ctr"/>
          <a:lstStyle/>
          <a:p>
            <a:pPr algn="ctr" indent="0" marL="0">
              <a:buNone/>
            </a:pPr>
            <a:r>
              <a:rPr lang="en-US" sz="1300" b="1" dirty="0">
                <a:solidFill>
                  <a:srgbClr val="C1762C"/>
                </a:solidFill>
                <a:latin typeface="Meiryo" pitchFamily="34" charset="0"/>
                <a:ea typeface="Meiryo" pitchFamily="34" charset="-122"/>
                <a:cs typeface="Meiryo" pitchFamily="34" charset="-120"/>
              </a:rPr>
              <a:t>×</a:t>
            </a:r>
            <a:endParaRPr lang="en-US" sz="1300" dirty="0"/>
          </a:p>
        </p:txBody>
      </p:sp>
      <p:sp>
        <p:nvSpPr>
          <p:cNvPr id="19" name="Text 17"/>
          <p:cNvSpPr txBox="1"/>
          <p:nvPr/>
        </p:nvSpPr>
        <p:spPr>
          <a:xfrm>
            <a:off x="7178040" y="5349240"/>
            <a:ext cx="4361688" cy="274320"/>
          </a:xfrm>
          <a:prstGeom prst="rect">
            <a:avLst/>
          </a:prstGeom>
          <a:noFill/>
          <a:ln/>
        </p:spPr>
        <p:txBody>
          <a:bodyPr wrap="square" lIns="0" tIns="0" rIns="0" bIns="0" rtlCol="0" anchor="t"/>
          <a:lstStyle/>
          <a:p>
            <a:pPr algn="ctr" indent="0" marL="0">
              <a:buNone/>
            </a:pPr>
            <a:r>
              <a:rPr lang="en-US" sz="1100" b="1" dirty="0">
                <a:solidFill>
                  <a:srgbClr val="C1762C"/>
                </a:solidFill>
                <a:latin typeface="Meiryo" pitchFamily="34" charset="0"/>
                <a:ea typeface="Meiryo" pitchFamily="34" charset="-122"/>
                <a:cs typeface="Meiryo" pitchFamily="34" charset="-120"/>
              </a:rPr>
              <a:t>つながっていない</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REMAINING ISSUES</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次の段階につなげるための3つの課題</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14</a:t>
            </a:r>
            <a:endParaRPr lang="en-US" sz="900" dirty="0"/>
          </a:p>
        </p:txBody>
      </p:sp>
      <p:sp>
        <p:nvSpPr>
          <p:cNvPr id="6" name="Shape 4"/>
          <p:cNvSpPr/>
          <p:nvPr/>
        </p:nvSpPr>
        <p:spPr>
          <a:xfrm>
            <a:off x="658368" y="1664208"/>
            <a:ext cx="3465576" cy="3657600"/>
          </a:xfrm>
          <a:prstGeom prst="roundRect">
            <a:avLst>
              <a:gd name="adj" fmla="val 2375"/>
            </a:avLst>
          </a:prstGeom>
          <a:solidFill>
            <a:srgbClr val="F4F6F1"/>
          </a:solidFill>
          <a:ln w="12700">
            <a:solidFill>
              <a:srgbClr val="DCE3D8"/>
            </a:solidFill>
            <a:prstDash val="solid"/>
          </a:ln>
        </p:spPr>
      </p:sp>
      <p:sp>
        <p:nvSpPr>
          <p:cNvPr id="7" name="Shape 5"/>
          <p:cNvSpPr/>
          <p:nvPr/>
        </p:nvSpPr>
        <p:spPr>
          <a:xfrm>
            <a:off x="978408" y="1920240"/>
            <a:ext cx="914400" cy="292608"/>
          </a:xfrm>
          <a:prstGeom prst="roundRect">
            <a:avLst>
              <a:gd name="adj" fmla="val 46875"/>
            </a:avLst>
          </a:prstGeom>
          <a:solidFill>
            <a:srgbClr val="C1762C"/>
          </a:solidFill>
          <a:ln/>
        </p:spPr>
      </p:sp>
      <p:sp>
        <p:nvSpPr>
          <p:cNvPr id="8" name="Text 6"/>
          <p:cNvSpPr txBox="1"/>
          <p:nvPr/>
        </p:nvSpPr>
        <p:spPr>
          <a:xfrm>
            <a:off x="978408" y="192024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課題 A</a:t>
            </a:r>
            <a:endParaRPr lang="en-US" sz="1050" dirty="0"/>
          </a:p>
        </p:txBody>
      </p:sp>
      <p:sp>
        <p:nvSpPr>
          <p:cNvPr id="9" name="Text 7"/>
          <p:cNvSpPr txBox="1"/>
          <p:nvPr/>
        </p:nvSpPr>
        <p:spPr>
          <a:xfrm>
            <a:off x="950976" y="2377440"/>
            <a:ext cx="2898648" cy="914400"/>
          </a:xfrm>
          <a:prstGeom prst="rect">
            <a:avLst/>
          </a:prstGeom>
          <a:noFill/>
          <a:ln/>
        </p:spPr>
        <p:txBody>
          <a:bodyPr wrap="square" lIns="0" tIns="0" rIns="0" bIns="0" rtlCol="0" anchor="t"/>
          <a:lstStyle/>
          <a:p>
            <a:pPr indent="0" marL="0">
              <a:lnSpc>
                <a:spcPts val="2200"/>
              </a:lnSpc>
              <a:buNone/>
            </a:pPr>
            <a:r>
              <a:rPr lang="en-US" sz="1400" b="1" dirty="0">
                <a:solidFill>
                  <a:srgbClr val="1B3D24"/>
                </a:solidFill>
                <a:latin typeface="Meiryo" pitchFamily="34" charset="0"/>
                <a:ea typeface="Meiryo" pitchFamily="34" charset="-122"/>
                <a:cs typeface="Meiryo" pitchFamily="34" charset="-120"/>
              </a:rPr>
              <a:t>「森を知る」から</a:t>
            </a:r>
            <a:endParaRPr lang="en-US" sz="1400" dirty="0"/>
          </a:p>
          <a:p>
            <a:pPr indent="0" marL="0">
              <a:lnSpc>
                <a:spcPts val="2200"/>
              </a:lnSpc>
              <a:buNone/>
            </a:pPr>
            <a:r>
              <a:rPr lang="en-US" sz="1400" b="1" dirty="0">
                <a:solidFill>
                  <a:srgbClr val="1B3D24"/>
                </a:solidFill>
                <a:latin typeface="Meiryo" pitchFamily="34" charset="0"/>
                <a:ea typeface="Meiryo" pitchFamily="34" charset="-122"/>
                <a:cs typeface="Meiryo" pitchFamily="34" charset="-120"/>
              </a:rPr>
              <a:t>「森を支える」への接続</a:t>
            </a:r>
            <a:endParaRPr lang="en-US" sz="1400" dirty="0"/>
          </a:p>
        </p:txBody>
      </p:sp>
      <p:sp>
        <p:nvSpPr>
          <p:cNvPr id="10" name="Text 8"/>
          <p:cNvSpPr txBox="1"/>
          <p:nvPr/>
        </p:nvSpPr>
        <p:spPr>
          <a:xfrm>
            <a:off x="978408" y="3310128"/>
            <a:ext cx="2825496" cy="192024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森林体験・木育で「森を知る・興味を持つ」までは進んだ</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そこから「八王子産材を使う→買う→整備にお金が戻る」という経済的な循環まで設計する余地がある</a:t>
            </a:r>
            <a:endParaRPr lang="en-US" sz="1100" dirty="0"/>
          </a:p>
        </p:txBody>
      </p:sp>
      <p:sp>
        <p:nvSpPr>
          <p:cNvPr id="11" name="Shape 9"/>
          <p:cNvSpPr/>
          <p:nvPr/>
        </p:nvSpPr>
        <p:spPr>
          <a:xfrm>
            <a:off x="4379976" y="1664208"/>
            <a:ext cx="3465576" cy="3657600"/>
          </a:xfrm>
          <a:prstGeom prst="roundRect">
            <a:avLst>
              <a:gd name="adj" fmla="val 2375"/>
            </a:avLst>
          </a:prstGeom>
          <a:solidFill>
            <a:srgbClr val="F4F6F1"/>
          </a:solidFill>
          <a:ln w="12700">
            <a:solidFill>
              <a:srgbClr val="DCE3D8"/>
            </a:solidFill>
            <a:prstDash val="solid"/>
          </a:ln>
        </p:spPr>
      </p:sp>
      <p:sp>
        <p:nvSpPr>
          <p:cNvPr id="12" name="Shape 10"/>
          <p:cNvSpPr/>
          <p:nvPr/>
        </p:nvSpPr>
        <p:spPr>
          <a:xfrm>
            <a:off x="4700016" y="1920240"/>
            <a:ext cx="914400" cy="292608"/>
          </a:xfrm>
          <a:prstGeom prst="roundRect">
            <a:avLst>
              <a:gd name="adj" fmla="val 46875"/>
            </a:avLst>
          </a:prstGeom>
          <a:solidFill>
            <a:srgbClr val="C1762C"/>
          </a:solidFill>
          <a:ln/>
        </p:spPr>
      </p:sp>
      <p:sp>
        <p:nvSpPr>
          <p:cNvPr id="13" name="Text 11"/>
          <p:cNvSpPr txBox="1"/>
          <p:nvPr/>
        </p:nvSpPr>
        <p:spPr>
          <a:xfrm>
            <a:off x="4700016" y="192024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課題 B</a:t>
            </a:r>
            <a:endParaRPr lang="en-US" sz="1050" dirty="0"/>
          </a:p>
        </p:txBody>
      </p:sp>
      <p:sp>
        <p:nvSpPr>
          <p:cNvPr id="14" name="Text 12"/>
          <p:cNvSpPr txBox="1"/>
          <p:nvPr/>
        </p:nvSpPr>
        <p:spPr>
          <a:xfrm>
            <a:off x="4672584" y="2377440"/>
            <a:ext cx="2898648" cy="914400"/>
          </a:xfrm>
          <a:prstGeom prst="rect">
            <a:avLst/>
          </a:prstGeom>
          <a:noFill/>
          <a:ln/>
        </p:spPr>
        <p:txBody>
          <a:bodyPr wrap="square" lIns="0" tIns="0" rIns="0" bIns="0" rtlCol="0" anchor="t"/>
          <a:lstStyle/>
          <a:p>
            <a:pPr indent="0" marL="0">
              <a:lnSpc>
                <a:spcPts val="2200"/>
              </a:lnSpc>
              <a:buNone/>
            </a:pPr>
            <a:r>
              <a:rPr lang="en-US" sz="1400" b="1" dirty="0">
                <a:solidFill>
                  <a:srgbClr val="1B3D24"/>
                </a:solidFill>
                <a:latin typeface="Meiryo" pitchFamily="34" charset="0"/>
                <a:ea typeface="Meiryo" pitchFamily="34" charset="-122"/>
                <a:cs typeface="Meiryo" pitchFamily="34" charset="-120"/>
              </a:rPr>
              <a:t>木材利用が</a:t>
            </a:r>
            <a:endParaRPr lang="en-US" sz="1400" dirty="0"/>
          </a:p>
          <a:p>
            <a:pPr indent="0" marL="0">
              <a:lnSpc>
                <a:spcPts val="2200"/>
              </a:lnSpc>
              <a:buNone/>
            </a:pPr>
            <a:r>
              <a:rPr lang="en-US" sz="1400" b="1" dirty="0">
                <a:solidFill>
                  <a:srgbClr val="1B3D24"/>
                </a:solidFill>
                <a:latin typeface="Meiryo" pitchFamily="34" charset="0"/>
                <a:ea typeface="Meiryo" pitchFamily="34" charset="-122"/>
                <a:cs typeface="Meiryo" pitchFamily="34" charset="-120"/>
              </a:rPr>
              <a:t>「個別利用」にとどまる</a:t>
            </a:r>
            <a:endParaRPr lang="en-US" sz="1400" dirty="0"/>
          </a:p>
        </p:txBody>
      </p:sp>
      <p:sp>
        <p:nvSpPr>
          <p:cNvPr id="15" name="Text 13"/>
          <p:cNvSpPr txBox="1"/>
          <p:nvPr/>
        </p:nvSpPr>
        <p:spPr>
          <a:xfrm>
            <a:off x="4700016" y="3310128"/>
            <a:ext cx="2825496" cy="192024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公共施設での木材利用は進むが、単発の施設整備が中心</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必要なのは「使う場所を増やす」ことより、「使い続ける企業・市民・施設を増やす」こと</a:t>
            </a:r>
            <a:endParaRPr lang="en-US" sz="1100" dirty="0"/>
          </a:p>
        </p:txBody>
      </p:sp>
      <p:sp>
        <p:nvSpPr>
          <p:cNvPr id="16" name="Shape 14"/>
          <p:cNvSpPr/>
          <p:nvPr/>
        </p:nvSpPr>
        <p:spPr>
          <a:xfrm>
            <a:off x="8101584" y="1664208"/>
            <a:ext cx="3465576" cy="3657600"/>
          </a:xfrm>
          <a:prstGeom prst="roundRect">
            <a:avLst>
              <a:gd name="adj" fmla="val 2375"/>
            </a:avLst>
          </a:prstGeom>
          <a:solidFill>
            <a:srgbClr val="F4F6F1"/>
          </a:solidFill>
          <a:ln w="12700">
            <a:solidFill>
              <a:srgbClr val="DCE3D8"/>
            </a:solidFill>
            <a:prstDash val="solid"/>
          </a:ln>
        </p:spPr>
      </p:sp>
      <p:sp>
        <p:nvSpPr>
          <p:cNvPr id="17" name="Shape 15"/>
          <p:cNvSpPr/>
          <p:nvPr/>
        </p:nvSpPr>
        <p:spPr>
          <a:xfrm>
            <a:off x="8421624" y="1920240"/>
            <a:ext cx="914400" cy="292608"/>
          </a:xfrm>
          <a:prstGeom prst="roundRect">
            <a:avLst>
              <a:gd name="adj" fmla="val 46875"/>
            </a:avLst>
          </a:prstGeom>
          <a:solidFill>
            <a:srgbClr val="C1762C"/>
          </a:solidFill>
          <a:ln/>
        </p:spPr>
      </p:sp>
      <p:sp>
        <p:nvSpPr>
          <p:cNvPr id="18" name="Text 16"/>
          <p:cNvSpPr txBox="1"/>
          <p:nvPr/>
        </p:nvSpPr>
        <p:spPr>
          <a:xfrm>
            <a:off x="8421624" y="192024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課題 C</a:t>
            </a:r>
            <a:endParaRPr lang="en-US" sz="1050" dirty="0"/>
          </a:p>
        </p:txBody>
      </p:sp>
      <p:sp>
        <p:nvSpPr>
          <p:cNvPr id="19" name="Text 17"/>
          <p:cNvSpPr txBox="1"/>
          <p:nvPr/>
        </p:nvSpPr>
        <p:spPr>
          <a:xfrm>
            <a:off x="8394192" y="2377440"/>
            <a:ext cx="2898648" cy="914400"/>
          </a:xfrm>
          <a:prstGeom prst="rect">
            <a:avLst/>
          </a:prstGeom>
          <a:noFill/>
          <a:ln/>
        </p:spPr>
        <p:txBody>
          <a:bodyPr wrap="square" lIns="0" tIns="0" rIns="0" bIns="0" rtlCol="0" anchor="t"/>
          <a:lstStyle/>
          <a:p>
            <a:pPr indent="0" marL="0">
              <a:lnSpc>
                <a:spcPts val="2200"/>
              </a:lnSpc>
              <a:buNone/>
            </a:pPr>
            <a:r>
              <a:rPr lang="en-US" sz="1400" b="1" dirty="0">
                <a:solidFill>
                  <a:srgbClr val="1B3D24"/>
                </a:solidFill>
                <a:latin typeface="Meiryo" pitchFamily="34" charset="0"/>
                <a:ea typeface="Meiryo" pitchFamily="34" charset="-122"/>
                <a:cs typeface="Meiryo" pitchFamily="34" charset="-120"/>
              </a:rPr>
              <a:t>「森林整備」と「木材需要」が</a:t>
            </a:r>
            <a:endParaRPr lang="en-US" sz="1400" dirty="0"/>
          </a:p>
          <a:p>
            <a:pPr indent="0" marL="0">
              <a:lnSpc>
                <a:spcPts val="2200"/>
              </a:lnSpc>
              <a:buNone/>
            </a:pPr>
            <a:r>
              <a:rPr lang="en-US" sz="1400" b="1" dirty="0">
                <a:solidFill>
                  <a:srgbClr val="1B3D24"/>
                </a:solidFill>
                <a:latin typeface="Meiryo" pitchFamily="34" charset="0"/>
                <a:ea typeface="Meiryo" pitchFamily="34" charset="-122"/>
                <a:cs typeface="Meiryo" pitchFamily="34" charset="-120"/>
              </a:rPr>
              <a:t>別々の事業になっている</a:t>
            </a:r>
            <a:endParaRPr lang="en-US" sz="1400" dirty="0"/>
          </a:p>
        </p:txBody>
      </p:sp>
      <p:sp>
        <p:nvSpPr>
          <p:cNvPr id="20" name="Text 18"/>
          <p:cNvSpPr txBox="1"/>
          <p:nvPr/>
        </p:nvSpPr>
        <p:spPr>
          <a:xfrm>
            <a:off x="8421624" y="3310128"/>
            <a:ext cx="2825496" cy="192024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整備の事業と利用の事業が、それぞれ並行して存在している</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調査→整備→木材把握→利用先確保→販売→還元を、ひとつの事業サイクルにする必要がある</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TARGET MODEL</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目指す姿｜ひとつながりの事業サイクルにする</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15</a:t>
            </a:r>
            <a:endParaRPr lang="en-US" sz="900" dirty="0"/>
          </a:p>
        </p:txBody>
      </p:sp>
      <p:sp>
        <p:nvSpPr>
          <p:cNvPr id="6" name="Shape 4"/>
          <p:cNvSpPr/>
          <p:nvPr/>
        </p:nvSpPr>
        <p:spPr>
          <a:xfrm>
            <a:off x="4898441" y="1504188"/>
            <a:ext cx="2395728" cy="960120"/>
          </a:xfrm>
          <a:prstGeom prst="roundRect">
            <a:avLst>
              <a:gd name="adj" fmla="val 8571"/>
            </a:avLst>
          </a:prstGeom>
          <a:solidFill>
            <a:srgbClr val="EAF1E0"/>
          </a:solidFill>
          <a:ln/>
        </p:spPr>
      </p:sp>
      <p:sp>
        <p:nvSpPr>
          <p:cNvPr id="7" name="Text 5"/>
          <p:cNvSpPr txBox="1"/>
          <p:nvPr/>
        </p:nvSpPr>
        <p:spPr>
          <a:xfrm>
            <a:off x="5063033" y="1604772"/>
            <a:ext cx="548640" cy="201168"/>
          </a:xfrm>
          <a:prstGeom prst="rect">
            <a:avLst/>
          </a:prstGeom>
          <a:noFill/>
          <a:ln/>
        </p:spPr>
        <p:txBody>
          <a:bodyPr wrap="square" lIns="0" tIns="0" rIns="0" bIns="0" rtlCol="0" anchor="t"/>
          <a:lstStyle/>
          <a:p>
            <a:pPr indent="0" marL="0">
              <a:buNone/>
            </a:pPr>
            <a:r>
              <a:rPr lang="en-US" sz="1000" b="1" dirty="0">
                <a:solidFill>
                  <a:srgbClr val="C1762C"/>
                </a:solidFill>
                <a:latin typeface="Meiryo" pitchFamily="34" charset="0"/>
                <a:ea typeface="Meiryo" pitchFamily="34" charset="-122"/>
                <a:cs typeface="Meiryo" pitchFamily="34" charset="-120"/>
              </a:rPr>
              <a:t>01</a:t>
            </a:r>
            <a:endParaRPr lang="en-US" sz="1000" dirty="0"/>
          </a:p>
        </p:txBody>
      </p:sp>
      <p:sp>
        <p:nvSpPr>
          <p:cNvPr id="8" name="Text 6"/>
          <p:cNvSpPr txBox="1"/>
          <p:nvPr/>
        </p:nvSpPr>
        <p:spPr>
          <a:xfrm>
            <a:off x="5063033" y="1815084"/>
            <a:ext cx="2066544" cy="475488"/>
          </a:xfrm>
          <a:prstGeom prst="rect">
            <a:avLst/>
          </a:prstGeom>
          <a:noFill/>
          <a:ln/>
        </p:spPr>
        <p:txBody>
          <a:bodyPr wrap="square" lIns="0" tIns="0" rIns="0" bIns="0" rtlCol="0" anchor="t"/>
          <a:lstStyle/>
          <a:p>
            <a:pPr indent="0" marL="0">
              <a:lnSpc>
                <a:spcPts val="1700"/>
              </a:lnSpc>
              <a:buNone/>
            </a:pPr>
            <a:r>
              <a:rPr lang="en-US" sz="1200" b="1" dirty="0">
                <a:solidFill>
                  <a:srgbClr val="1B3D24"/>
                </a:solidFill>
                <a:latin typeface="Meiryo" pitchFamily="34" charset="0"/>
                <a:ea typeface="Meiryo" pitchFamily="34" charset="-122"/>
                <a:cs typeface="Meiryo" pitchFamily="34" charset="-120"/>
              </a:rPr>
              <a:t>森を調べる</a:t>
            </a:r>
            <a:endParaRPr lang="en-US" sz="1200" dirty="0"/>
          </a:p>
        </p:txBody>
      </p:sp>
      <p:sp>
        <p:nvSpPr>
          <p:cNvPr id="9" name="Text 7"/>
          <p:cNvSpPr txBox="1"/>
          <p:nvPr/>
        </p:nvSpPr>
        <p:spPr>
          <a:xfrm>
            <a:off x="6334049" y="1604772"/>
            <a:ext cx="822960" cy="201168"/>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森のカルテ</a:t>
            </a:r>
            <a:endParaRPr lang="en-US" sz="900" dirty="0"/>
          </a:p>
        </p:txBody>
      </p:sp>
      <p:sp>
        <p:nvSpPr>
          <p:cNvPr id="10" name="Shape 8"/>
          <p:cNvSpPr/>
          <p:nvPr/>
        </p:nvSpPr>
        <p:spPr>
          <a:xfrm>
            <a:off x="7765096" y="2409444"/>
            <a:ext cx="2395728" cy="960120"/>
          </a:xfrm>
          <a:prstGeom prst="roundRect">
            <a:avLst>
              <a:gd name="adj" fmla="val 8571"/>
            </a:avLst>
          </a:prstGeom>
          <a:solidFill>
            <a:srgbClr val="F4F6F1"/>
          </a:solidFill>
          <a:ln w="12700">
            <a:solidFill>
              <a:srgbClr val="DCE3D8"/>
            </a:solidFill>
            <a:prstDash val="solid"/>
          </a:ln>
        </p:spPr>
      </p:sp>
      <p:sp>
        <p:nvSpPr>
          <p:cNvPr id="11" name="Text 9"/>
          <p:cNvSpPr txBox="1"/>
          <p:nvPr/>
        </p:nvSpPr>
        <p:spPr>
          <a:xfrm>
            <a:off x="7929688" y="2510028"/>
            <a:ext cx="548640" cy="201168"/>
          </a:xfrm>
          <a:prstGeom prst="rect">
            <a:avLst/>
          </a:prstGeom>
          <a:noFill/>
          <a:ln/>
        </p:spPr>
        <p:txBody>
          <a:bodyPr wrap="square" lIns="0" tIns="0" rIns="0" bIns="0" rtlCol="0" anchor="t"/>
          <a:lstStyle/>
          <a:p>
            <a:pPr indent="0" marL="0">
              <a:buNone/>
            </a:pPr>
            <a:r>
              <a:rPr lang="en-US" sz="1000" b="1" dirty="0">
                <a:solidFill>
                  <a:srgbClr val="C1762C"/>
                </a:solidFill>
                <a:latin typeface="Meiryo" pitchFamily="34" charset="0"/>
                <a:ea typeface="Meiryo" pitchFamily="34" charset="-122"/>
                <a:cs typeface="Meiryo" pitchFamily="34" charset="-120"/>
              </a:rPr>
              <a:t>02</a:t>
            </a:r>
            <a:endParaRPr lang="en-US" sz="1000" dirty="0"/>
          </a:p>
        </p:txBody>
      </p:sp>
      <p:sp>
        <p:nvSpPr>
          <p:cNvPr id="12" name="Text 10"/>
          <p:cNvSpPr txBox="1"/>
          <p:nvPr/>
        </p:nvSpPr>
        <p:spPr>
          <a:xfrm>
            <a:off x="7929688" y="2720340"/>
            <a:ext cx="2066544" cy="475488"/>
          </a:xfrm>
          <a:prstGeom prst="rect">
            <a:avLst/>
          </a:prstGeom>
          <a:noFill/>
          <a:ln/>
        </p:spPr>
        <p:txBody>
          <a:bodyPr wrap="square" lIns="0" tIns="0" rIns="0" bIns="0" rtlCol="0" anchor="t"/>
          <a:lstStyle/>
          <a:p>
            <a:pPr indent="0" marL="0">
              <a:lnSpc>
                <a:spcPts val="1700"/>
              </a:lnSpc>
              <a:buNone/>
            </a:pPr>
            <a:r>
              <a:rPr lang="en-US" sz="1200" b="1" dirty="0">
                <a:solidFill>
                  <a:srgbClr val="1B3D24"/>
                </a:solidFill>
                <a:latin typeface="Meiryo" pitchFamily="34" charset="0"/>
                <a:ea typeface="Meiryo" pitchFamily="34" charset="-122"/>
                <a:cs typeface="Meiryo" pitchFamily="34" charset="-120"/>
              </a:rPr>
              <a:t>50年後の森を描く</a:t>
            </a:r>
            <a:endParaRPr lang="en-US" sz="1200" dirty="0"/>
          </a:p>
        </p:txBody>
      </p:sp>
      <p:sp>
        <p:nvSpPr>
          <p:cNvPr id="13" name="Text 11"/>
          <p:cNvSpPr txBox="1"/>
          <p:nvPr/>
        </p:nvSpPr>
        <p:spPr>
          <a:xfrm>
            <a:off x="9200704" y="2510028"/>
            <a:ext cx="822960" cy="201168"/>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ビジョン</a:t>
            </a:r>
            <a:endParaRPr lang="en-US" sz="900" dirty="0"/>
          </a:p>
        </p:txBody>
      </p:sp>
      <p:sp>
        <p:nvSpPr>
          <p:cNvPr id="14" name="Shape 12"/>
          <p:cNvSpPr/>
          <p:nvPr/>
        </p:nvSpPr>
        <p:spPr>
          <a:xfrm>
            <a:off x="7765096" y="4219956"/>
            <a:ext cx="2395728" cy="960120"/>
          </a:xfrm>
          <a:prstGeom prst="roundRect">
            <a:avLst>
              <a:gd name="adj" fmla="val 8571"/>
            </a:avLst>
          </a:prstGeom>
          <a:solidFill>
            <a:srgbClr val="EAF1E0"/>
          </a:solidFill>
          <a:ln/>
        </p:spPr>
      </p:sp>
      <p:sp>
        <p:nvSpPr>
          <p:cNvPr id="15" name="Text 13"/>
          <p:cNvSpPr txBox="1"/>
          <p:nvPr/>
        </p:nvSpPr>
        <p:spPr>
          <a:xfrm>
            <a:off x="7929688" y="4320540"/>
            <a:ext cx="548640" cy="201168"/>
          </a:xfrm>
          <a:prstGeom prst="rect">
            <a:avLst/>
          </a:prstGeom>
          <a:noFill/>
          <a:ln/>
        </p:spPr>
        <p:txBody>
          <a:bodyPr wrap="square" lIns="0" tIns="0" rIns="0" bIns="0" rtlCol="0" anchor="t"/>
          <a:lstStyle/>
          <a:p>
            <a:pPr indent="0" marL="0">
              <a:buNone/>
            </a:pPr>
            <a:r>
              <a:rPr lang="en-US" sz="1000" b="1" dirty="0">
                <a:solidFill>
                  <a:srgbClr val="C1762C"/>
                </a:solidFill>
                <a:latin typeface="Meiryo" pitchFamily="34" charset="0"/>
                <a:ea typeface="Meiryo" pitchFamily="34" charset="-122"/>
                <a:cs typeface="Meiryo" pitchFamily="34" charset="-120"/>
              </a:rPr>
              <a:t>03</a:t>
            </a:r>
            <a:endParaRPr lang="en-US" sz="1000" dirty="0"/>
          </a:p>
        </p:txBody>
      </p:sp>
      <p:sp>
        <p:nvSpPr>
          <p:cNvPr id="16" name="Text 14"/>
          <p:cNvSpPr txBox="1"/>
          <p:nvPr/>
        </p:nvSpPr>
        <p:spPr>
          <a:xfrm>
            <a:off x="7929688" y="4530852"/>
            <a:ext cx="2066544" cy="475488"/>
          </a:xfrm>
          <a:prstGeom prst="rect">
            <a:avLst/>
          </a:prstGeom>
          <a:noFill/>
          <a:ln/>
        </p:spPr>
        <p:txBody>
          <a:bodyPr wrap="square" lIns="0" tIns="0" rIns="0" bIns="0" rtlCol="0" anchor="t"/>
          <a:lstStyle/>
          <a:p>
            <a:pPr indent="0" marL="0">
              <a:lnSpc>
                <a:spcPts val="1700"/>
              </a:lnSpc>
              <a:buNone/>
            </a:pPr>
            <a:r>
              <a:rPr lang="en-US" sz="1200" b="1" dirty="0">
                <a:solidFill>
                  <a:srgbClr val="1B3D24"/>
                </a:solidFill>
                <a:latin typeface="Meiryo" pitchFamily="34" charset="0"/>
                <a:ea typeface="Meiryo" pitchFamily="34" charset="-122"/>
                <a:cs typeface="Meiryo" pitchFamily="34" charset="-120"/>
              </a:rPr>
              <a:t>整備し、木材と</a:t>
            </a:r>
            <a:endParaRPr lang="en-US" sz="1200" dirty="0"/>
          </a:p>
          <a:p>
            <a:pPr indent="0" marL="0">
              <a:lnSpc>
                <a:spcPts val="1700"/>
              </a:lnSpc>
              <a:buNone/>
            </a:pPr>
            <a:r>
              <a:rPr lang="en-US" sz="1200" b="1" dirty="0">
                <a:solidFill>
                  <a:srgbClr val="1B3D24"/>
                </a:solidFill>
                <a:latin typeface="Meiryo" pitchFamily="34" charset="0"/>
                <a:ea typeface="Meiryo" pitchFamily="34" charset="-122"/>
                <a:cs typeface="Meiryo" pitchFamily="34" charset="-120"/>
              </a:rPr>
              <a:t>環境価値を生む</a:t>
            </a:r>
            <a:endParaRPr lang="en-US" sz="1200" dirty="0"/>
          </a:p>
        </p:txBody>
      </p:sp>
      <p:sp>
        <p:nvSpPr>
          <p:cNvPr id="17" name="Shape 15"/>
          <p:cNvSpPr/>
          <p:nvPr/>
        </p:nvSpPr>
        <p:spPr>
          <a:xfrm>
            <a:off x="4898441" y="5125212"/>
            <a:ext cx="2395728" cy="960120"/>
          </a:xfrm>
          <a:prstGeom prst="roundRect">
            <a:avLst>
              <a:gd name="adj" fmla="val 8571"/>
            </a:avLst>
          </a:prstGeom>
          <a:solidFill>
            <a:srgbClr val="F4F6F1"/>
          </a:solidFill>
          <a:ln w="12700">
            <a:solidFill>
              <a:srgbClr val="DCE3D8"/>
            </a:solidFill>
            <a:prstDash val="solid"/>
          </a:ln>
        </p:spPr>
      </p:sp>
      <p:sp>
        <p:nvSpPr>
          <p:cNvPr id="18" name="Text 16"/>
          <p:cNvSpPr txBox="1"/>
          <p:nvPr/>
        </p:nvSpPr>
        <p:spPr>
          <a:xfrm>
            <a:off x="5063033" y="5225796"/>
            <a:ext cx="548640" cy="201168"/>
          </a:xfrm>
          <a:prstGeom prst="rect">
            <a:avLst/>
          </a:prstGeom>
          <a:noFill/>
          <a:ln/>
        </p:spPr>
        <p:txBody>
          <a:bodyPr wrap="square" lIns="0" tIns="0" rIns="0" bIns="0" rtlCol="0" anchor="t"/>
          <a:lstStyle/>
          <a:p>
            <a:pPr indent="0" marL="0">
              <a:buNone/>
            </a:pPr>
            <a:r>
              <a:rPr lang="en-US" sz="1000" b="1" dirty="0">
                <a:solidFill>
                  <a:srgbClr val="C1762C"/>
                </a:solidFill>
                <a:latin typeface="Meiryo" pitchFamily="34" charset="0"/>
                <a:ea typeface="Meiryo" pitchFamily="34" charset="-122"/>
                <a:cs typeface="Meiryo" pitchFamily="34" charset="-120"/>
              </a:rPr>
              <a:t>04</a:t>
            </a:r>
            <a:endParaRPr lang="en-US" sz="1000" dirty="0"/>
          </a:p>
        </p:txBody>
      </p:sp>
      <p:sp>
        <p:nvSpPr>
          <p:cNvPr id="19" name="Text 17"/>
          <p:cNvSpPr txBox="1"/>
          <p:nvPr/>
        </p:nvSpPr>
        <p:spPr>
          <a:xfrm>
            <a:off x="5063033" y="5436108"/>
            <a:ext cx="2066544" cy="475488"/>
          </a:xfrm>
          <a:prstGeom prst="rect">
            <a:avLst/>
          </a:prstGeom>
          <a:noFill/>
          <a:ln/>
        </p:spPr>
        <p:txBody>
          <a:bodyPr wrap="square" lIns="0" tIns="0" rIns="0" bIns="0" rtlCol="0" anchor="t"/>
          <a:lstStyle/>
          <a:p>
            <a:pPr indent="0" marL="0">
              <a:lnSpc>
                <a:spcPts val="1700"/>
              </a:lnSpc>
              <a:buNone/>
            </a:pPr>
            <a:r>
              <a:rPr lang="en-US" sz="1200" b="1" dirty="0">
                <a:solidFill>
                  <a:srgbClr val="1B3D24"/>
                </a:solidFill>
                <a:latin typeface="Meiryo" pitchFamily="34" charset="0"/>
                <a:ea typeface="Meiryo" pitchFamily="34" charset="-122"/>
                <a:cs typeface="Meiryo" pitchFamily="34" charset="-120"/>
              </a:rPr>
              <a:t>企業・市民・公共が</a:t>
            </a:r>
            <a:endParaRPr lang="en-US" sz="1200" dirty="0"/>
          </a:p>
          <a:p>
            <a:pPr indent="0" marL="0">
              <a:lnSpc>
                <a:spcPts val="1700"/>
              </a:lnSpc>
              <a:buNone/>
            </a:pPr>
            <a:r>
              <a:rPr lang="en-US" sz="1200" b="1" dirty="0">
                <a:solidFill>
                  <a:srgbClr val="1B3D24"/>
                </a:solidFill>
                <a:latin typeface="Meiryo" pitchFamily="34" charset="0"/>
                <a:ea typeface="Meiryo" pitchFamily="34" charset="-122"/>
                <a:cs typeface="Meiryo" pitchFamily="34" charset="-120"/>
              </a:rPr>
              <a:t>買う／使う</a:t>
            </a:r>
            <a:endParaRPr lang="en-US" sz="1200" dirty="0"/>
          </a:p>
        </p:txBody>
      </p:sp>
      <p:sp>
        <p:nvSpPr>
          <p:cNvPr id="20" name="Shape 18"/>
          <p:cNvSpPr/>
          <p:nvPr/>
        </p:nvSpPr>
        <p:spPr>
          <a:xfrm>
            <a:off x="2031786" y="4219956"/>
            <a:ext cx="2395728" cy="960120"/>
          </a:xfrm>
          <a:prstGeom prst="roundRect">
            <a:avLst>
              <a:gd name="adj" fmla="val 8571"/>
            </a:avLst>
          </a:prstGeom>
          <a:solidFill>
            <a:srgbClr val="EAF1E0"/>
          </a:solidFill>
          <a:ln/>
        </p:spPr>
      </p:sp>
      <p:sp>
        <p:nvSpPr>
          <p:cNvPr id="21" name="Text 19"/>
          <p:cNvSpPr txBox="1"/>
          <p:nvPr/>
        </p:nvSpPr>
        <p:spPr>
          <a:xfrm>
            <a:off x="2196378" y="4320540"/>
            <a:ext cx="548640" cy="201168"/>
          </a:xfrm>
          <a:prstGeom prst="rect">
            <a:avLst/>
          </a:prstGeom>
          <a:noFill/>
          <a:ln/>
        </p:spPr>
        <p:txBody>
          <a:bodyPr wrap="square" lIns="0" tIns="0" rIns="0" bIns="0" rtlCol="0" anchor="t"/>
          <a:lstStyle/>
          <a:p>
            <a:pPr indent="0" marL="0">
              <a:buNone/>
            </a:pPr>
            <a:r>
              <a:rPr lang="en-US" sz="1000" b="1" dirty="0">
                <a:solidFill>
                  <a:srgbClr val="C1762C"/>
                </a:solidFill>
                <a:latin typeface="Meiryo" pitchFamily="34" charset="0"/>
                <a:ea typeface="Meiryo" pitchFamily="34" charset="-122"/>
                <a:cs typeface="Meiryo" pitchFamily="34" charset="-120"/>
              </a:rPr>
              <a:t>05</a:t>
            </a:r>
            <a:endParaRPr lang="en-US" sz="1000" dirty="0"/>
          </a:p>
        </p:txBody>
      </p:sp>
      <p:sp>
        <p:nvSpPr>
          <p:cNvPr id="22" name="Text 20"/>
          <p:cNvSpPr txBox="1"/>
          <p:nvPr/>
        </p:nvSpPr>
        <p:spPr>
          <a:xfrm>
            <a:off x="2196378" y="4530852"/>
            <a:ext cx="2066544" cy="475488"/>
          </a:xfrm>
          <a:prstGeom prst="rect">
            <a:avLst/>
          </a:prstGeom>
          <a:noFill/>
          <a:ln/>
        </p:spPr>
        <p:txBody>
          <a:bodyPr wrap="square" lIns="0" tIns="0" rIns="0" bIns="0" rtlCol="0" anchor="t"/>
          <a:lstStyle/>
          <a:p>
            <a:pPr indent="0" marL="0">
              <a:lnSpc>
                <a:spcPts val="1700"/>
              </a:lnSpc>
              <a:buNone/>
            </a:pPr>
            <a:r>
              <a:rPr lang="en-US" sz="1200" b="1" dirty="0">
                <a:solidFill>
                  <a:srgbClr val="1B3D24"/>
                </a:solidFill>
                <a:latin typeface="Meiryo" pitchFamily="34" charset="0"/>
                <a:ea typeface="Meiryo" pitchFamily="34" charset="-122"/>
                <a:cs typeface="Meiryo" pitchFamily="34" charset="-120"/>
              </a:rPr>
              <a:t>売上と環境価値が</a:t>
            </a:r>
            <a:endParaRPr lang="en-US" sz="1200" dirty="0"/>
          </a:p>
          <a:p>
            <a:pPr indent="0" marL="0">
              <a:lnSpc>
                <a:spcPts val="1700"/>
              </a:lnSpc>
              <a:buNone/>
            </a:pPr>
            <a:r>
              <a:rPr lang="en-US" sz="1200" b="1" dirty="0">
                <a:solidFill>
                  <a:srgbClr val="1B3D24"/>
                </a:solidFill>
                <a:latin typeface="Meiryo" pitchFamily="34" charset="0"/>
                <a:ea typeface="Meiryo" pitchFamily="34" charset="-122"/>
                <a:cs typeface="Meiryo" pitchFamily="34" charset="-120"/>
              </a:rPr>
              <a:t>生まれる</a:t>
            </a:r>
            <a:endParaRPr lang="en-US" sz="1200" dirty="0"/>
          </a:p>
        </p:txBody>
      </p:sp>
      <p:sp>
        <p:nvSpPr>
          <p:cNvPr id="23" name="Shape 21"/>
          <p:cNvSpPr/>
          <p:nvPr/>
        </p:nvSpPr>
        <p:spPr>
          <a:xfrm>
            <a:off x="2031786" y="2409444"/>
            <a:ext cx="2395728" cy="960120"/>
          </a:xfrm>
          <a:prstGeom prst="roundRect">
            <a:avLst>
              <a:gd name="adj" fmla="val 8571"/>
            </a:avLst>
          </a:prstGeom>
          <a:solidFill>
            <a:srgbClr val="F4F6F1"/>
          </a:solidFill>
          <a:ln w="12700">
            <a:solidFill>
              <a:srgbClr val="DCE3D8"/>
            </a:solidFill>
            <a:prstDash val="solid"/>
          </a:ln>
        </p:spPr>
      </p:sp>
      <p:sp>
        <p:nvSpPr>
          <p:cNvPr id="24" name="Text 22"/>
          <p:cNvSpPr txBox="1"/>
          <p:nvPr/>
        </p:nvSpPr>
        <p:spPr>
          <a:xfrm>
            <a:off x="2196378" y="2510028"/>
            <a:ext cx="548640" cy="201168"/>
          </a:xfrm>
          <a:prstGeom prst="rect">
            <a:avLst/>
          </a:prstGeom>
          <a:noFill/>
          <a:ln/>
        </p:spPr>
        <p:txBody>
          <a:bodyPr wrap="square" lIns="0" tIns="0" rIns="0" bIns="0" rtlCol="0" anchor="t"/>
          <a:lstStyle/>
          <a:p>
            <a:pPr indent="0" marL="0">
              <a:buNone/>
            </a:pPr>
            <a:r>
              <a:rPr lang="en-US" sz="1000" b="1" dirty="0">
                <a:solidFill>
                  <a:srgbClr val="C1762C"/>
                </a:solidFill>
                <a:latin typeface="Meiryo" pitchFamily="34" charset="0"/>
                <a:ea typeface="Meiryo" pitchFamily="34" charset="-122"/>
                <a:cs typeface="Meiryo" pitchFamily="34" charset="-120"/>
              </a:rPr>
              <a:t>06</a:t>
            </a:r>
            <a:endParaRPr lang="en-US" sz="1000" dirty="0"/>
          </a:p>
        </p:txBody>
      </p:sp>
      <p:sp>
        <p:nvSpPr>
          <p:cNvPr id="25" name="Text 23"/>
          <p:cNvSpPr txBox="1"/>
          <p:nvPr/>
        </p:nvSpPr>
        <p:spPr>
          <a:xfrm>
            <a:off x="2196378" y="2720340"/>
            <a:ext cx="2066544" cy="475488"/>
          </a:xfrm>
          <a:prstGeom prst="rect">
            <a:avLst/>
          </a:prstGeom>
          <a:noFill/>
          <a:ln/>
        </p:spPr>
        <p:txBody>
          <a:bodyPr wrap="square" lIns="0" tIns="0" rIns="0" bIns="0" rtlCol="0" anchor="t"/>
          <a:lstStyle/>
          <a:p>
            <a:pPr indent="0" marL="0">
              <a:lnSpc>
                <a:spcPts val="1700"/>
              </a:lnSpc>
              <a:buNone/>
            </a:pPr>
            <a:r>
              <a:rPr lang="en-US" sz="1200" b="1" dirty="0">
                <a:solidFill>
                  <a:srgbClr val="1B3D24"/>
                </a:solidFill>
                <a:latin typeface="Meiryo" pitchFamily="34" charset="0"/>
                <a:ea typeface="Meiryo" pitchFamily="34" charset="-122"/>
                <a:cs typeface="Meiryo" pitchFamily="34" charset="-120"/>
              </a:rPr>
              <a:t>森林整備に還元する</a:t>
            </a:r>
            <a:endParaRPr lang="en-US" sz="1200" dirty="0"/>
          </a:p>
        </p:txBody>
      </p:sp>
      <p:sp>
        <p:nvSpPr>
          <p:cNvPr id="26" name="Text 24"/>
          <p:cNvSpPr txBox="1"/>
          <p:nvPr/>
        </p:nvSpPr>
        <p:spPr>
          <a:xfrm>
            <a:off x="3467394" y="2510028"/>
            <a:ext cx="822960" cy="201168"/>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次の森へ</a:t>
            </a:r>
            <a:endParaRPr lang="en-US" sz="900" dirty="0"/>
          </a:p>
        </p:txBody>
      </p:sp>
      <p:sp>
        <p:nvSpPr>
          <p:cNvPr id="27" name="Shape 25"/>
          <p:cNvSpPr/>
          <p:nvPr/>
        </p:nvSpPr>
        <p:spPr>
          <a:xfrm rot="1800000">
            <a:off x="7291888" y="2308860"/>
            <a:ext cx="475488" cy="256032"/>
          </a:xfrm>
          <a:prstGeom prst="rightArrow">
            <a:avLst/>
          </a:prstGeom>
          <a:solidFill>
            <a:srgbClr val="8FB566"/>
          </a:solidFill>
          <a:ln/>
        </p:spPr>
      </p:sp>
      <p:sp>
        <p:nvSpPr>
          <p:cNvPr id="28" name="Shape 26"/>
          <p:cNvSpPr/>
          <p:nvPr/>
        </p:nvSpPr>
        <p:spPr>
          <a:xfrm rot="5400000">
            <a:off x="8725216" y="3666744"/>
            <a:ext cx="475488" cy="256032"/>
          </a:xfrm>
          <a:prstGeom prst="rightArrow">
            <a:avLst/>
          </a:prstGeom>
          <a:solidFill>
            <a:srgbClr val="8FB566"/>
          </a:solidFill>
          <a:ln/>
        </p:spPr>
      </p:sp>
      <p:sp>
        <p:nvSpPr>
          <p:cNvPr id="29" name="Shape 27"/>
          <p:cNvSpPr/>
          <p:nvPr/>
        </p:nvSpPr>
        <p:spPr>
          <a:xfrm rot="9000000">
            <a:off x="7291888" y="5024628"/>
            <a:ext cx="475488" cy="256032"/>
          </a:xfrm>
          <a:prstGeom prst="rightArrow">
            <a:avLst/>
          </a:prstGeom>
          <a:solidFill>
            <a:srgbClr val="8FB566"/>
          </a:solidFill>
          <a:ln/>
        </p:spPr>
      </p:sp>
      <p:sp>
        <p:nvSpPr>
          <p:cNvPr id="30" name="Shape 28"/>
          <p:cNvSpPr/>
          <p:nvPr/>
        </p:nvSpPr>
        <p:spPr>
          <a:xfrm rot="12600000">
            <a:off x="4425233" y="5024628"/>
            <a:ext cx="475488" cy="256032"/>
          </a:xfrm>
          <a:prstGeom prst="rightArrow">
            <a:avLst/>
          </a:prstGeom>
          <a:solidFill>
            <a:srgbClr val="8FB566"/>
          </a:solidFill>
          <a:ln/>
        </p:spPr>
      </p:sp>
      <p:sp>
        <p:nvSpPr>
          <p:cNvPr id="31" name="Shape 29"/>
          <p:cNvSpPr/>
          <p:nvPr/>
        </p:nvSpPr>
        <p:spPr>
          <a:xfrm rot="16200000">
            <a:off x="2991906" y="3666744"/>
            <a:ext cx="475488" cy="256032"/>
          </a:xfrm>
          <a:prstGeom prst="rightArrow">
            <a:avLst/>
          </a:prstGeom>
          <a:solidFill>
            <a:srgbClr val="8FB566"/>
          </a:solidFill>
          <a:ln/>
        </p:spPr>
      </p:sp>
      <p:sp>
        <p:nvSpPr>
          <p:cNvPr id="32" name="Shape 30"/>
          <p:cNvSpPr/>
          <p:nvPr/>
        </p:nvSpPr>
        <p:spPr>
          <a:xfrm rot="19800000">
            <a:off x="4425233" y="2308860"/>
            <a:ext cx="475488" cy="256032"/>
          </a:xfrm>
          <a:prstGeom prst="rightArrow">
            <a:avLst/>
          </a:prstGeom>
          <a:solidFill>
            <a:srgbClr val="8FB566"/>
          </a:solidFill>
          <a:ln/>
        </p:spPr>
      </p:sp>
      <p:sp>
        <p:nvSpPr>
          <p:cNvPr id="33" name="Shape 31"/>
          <p:cNvSpPr/>
          <p:nvPr/>
        </p:nvSpPr>
        <p:spPr>
          <a:xfrm>
            <a:off x="5053889" y="2752344"/>
            <a:ext cx="2084832" cy="2084832"/>
          </a:xfrm>
          <a:prstGeom prst="ellipse">
            <a:avLst/>
          </a:prstGeom>
          <a:solidFill>
            <a:srgbClr val="24512F"/>
          </a:solidFill>
          <a:ln/>
        </p:spPr>
      </p:sp>
      <p:sp>
        <p:nvSpPr>
          <p:cNvPr id="34" name="Shape 32"/>
          <p:cNvSpPr/>
          <p:nvPr/>
        </p:nvSpPr>
        <p:spPr>
          <a:xfrm>
            <a:off x="5181905" y="2880360"/>
            <a:ext cx="1828800" cy="1828800"/>
          </a:xfrm>
          <a:prstGeom prst="ellipse">
            <a:avLst/>
          </a:prstGeom>
          <a:solidFill>
            <a:srgbClr val="FFFFFF">
              <a:alpha val="0"/>
            </a:srgbClr>
          </a:solidFill>
          <a:ln w="12700">
            <a:solidFill>
              <a:srgbClr val="8FB566">
                <a:alpha val="45000"/>
              </a:srgbClr>
            </a:solidFill>
            <a:prstDash val="solid"/>
          </a:ln>
        </p:spPr>
      </p:sp>
      <p:sp>
        <p:nvSpPr>
          <p:cNvPr id="35" name="Text 33"/>
          <p:cNvSpPr txBox="1"/>
          <p:nvPr/>
        </p:nvSpPr>
        <p:spPr>
          <a:xfrm>
            <a:off x="5053889" y="2752344"/>
            <a:ext cx="2084832" cy="2084832"/>
          </a:xfrm>
          <a:prstGeom prst="rect">
            <a:avLst/>
          </a:prstGeom>
          <a:noFill/>
          <a:ln/>
        </p:spPr>
        <p:txBody>
          <a:bodyPr wrap="square" lIns="0" tIns="0" rIns="0" bIns="0" rtlCol="0" anchor="ctr"/>
          <a:lstStyle/>
          <a:p>
            <a:pPr algn="ctr" indent="0" marL="0">
              <a:lnSpc>
                <a:spcPts val="2400"/>
              </a:lnSpc>
              <a:buNone/>
            </a:pPr>
            <a:r>
              <a:rPr lang="en-US" sz="1500" b="1" dirty="0">
                <a:solidFill>
                  <a:srgbClr val="FFFFFF"/>
                </a:solidFill>
                <a:latin typeface="Meiryo" pitchFamily="34" charset="0"/>
                <a:ea typeface="Meiryo" pitchFamily="34" charset="-122"/>
                <a:cs typeface="Meiryo" pitchFamily="34" charset="-120"/>
              </a:rPr>
              <a:t>森の</a:t>
            </a:r>
            <a:endParaRPr lang="en-US" sz="1500" dirty="0"/>
          </a:p>
          <a:p>
            <a:pPr algn="ctr" indent="0" marL="0">
              <a:lnSpc>
                <a:spcPts val="2400"/>
              </a:lnSpc>
              <a:buNone/>
            </a:pPr>
            <a:r>
              <a:rPr lang="en-US" sz="1500" b="1" dirty="0">
                <a:solidFill>
                  <a:srgbClr val="FFFFFF"/>
                </a:solidFill>
                <a:latin typeface="Meiryo" pitchFamily="34" charset="0"/>
                <a:ea typeface="Meiryo" pitchFamily="34" charset="-122"/>
                <a:cs typeface="Meiryo" pitchFamily="34" charset="-120"/>
              </a:rPr>
              <a:t>地域内循環</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51A"/>
        </a:solidFill>
      </p:bgPr>
    </p:bg>
    <p:spTree>
      <p:nvGrpSpPr>
        <p:cNvPr id="1" name=""/>
        <p:cNvGrpSpPr/>
        <p:nvPr/>
      </p:nvGrpSpPr>
      <p:grpSpPr>
        <a:xfrm>
          <a:off x="0" y="0"/>
          <a:ext cx="0" cy="0"/>
          <a:chOff x="0" y="0"/>
          <a:chExt cx="0" cy="0"/>
        </a:xfrm>
      </p:grpSpPr>
      <p:sp>
        <p:nvSpPr>
          <p:cNvPr id="2" name="Shape 0"/>
          <p:cNvSpPr/>
          <p:nvPr/>
        </p:nvSpPr>
        <p:spPr>
          <a:xfrm>
            <a:off x="10058400" y="2606040"/>
            <a:ext cx="1645920" cy="1645920"/>
          </a:xfrm>
          <a:prstGeom prst="ellipse">
            <a:avLst/>
          </a:prstGeom>
          <a:solidFill>
            <a:srgbClr val="FFFFFF">
              <a:alpha val="0"/>
            </a:srgbClr>
          </a:solidFill>
          <a:ln w="15875">
            <a:solidFill>
              <a:srgbClr val="8FB566">
                <a:alpha val="24000"/>
              </a:srgbClr>
            </a:solidFill>
            <a:prstDash val="solid"/>
          </a:ln>
        </p:spPr>
      </p:sp>
      <p:sp>
        <p:nvSpPr>
          <p:cNvPr id="3" name="Shape 1"/>
          <p:cNvSpPr/>
          <p:nvPr/>
        </p:nvSpPr>
        <p:spPr>
          <a:xfrm>
            <a:off x="9464040" y="2011680"/>
            <a:ext cx="2834640" cy="2834640"/>
          </a:xfrm>
          <a:prstGeom prst="ellipse">
            <a:avLst/>
          </a:prstGeom>
          <a:solidFill>
            <a:srgbClr val="FFFFFF">
              <a:alpha val="0"/>
            </a:srgbClr>
          </a:solidFill>
          <a:ln w="15875">
            <a:solidFill>
              <a:srgbClr val="8FB566">
                <a:alpha val="24000"/>
              </a:srgbClr>
            </a:solidFill>
            <a:prstDash val="solid"/>
          </a:ln>
        </p:spPr>
      </p:sp>
      <p:sp>
        <p:nvSpPr>
          <p:cNvPr id="4" name="Shape 2"/>
          <p:cNvSpPr/>
          <p:nvPr/>
        </p:nvSpPr>
        <p:spPr>
          <a:xfrm>
            <a:off x="8869680" y="1417320"/>
            <a:ext cx="4023360" cy="4023360"/>
          </a:xfrm>
          <a:prstGeom prst="ellipse">
            <a:avLst/>
          </a:prstGeom>
          <a:solidFill>
            <a:srgbClr val="FFFFFF">
              <a:alpha val="0"/>
            </a:srgbClr>
          </a:solidFill>
          <a:ln w="15875">
            <a:solidFill>
              <a:srgbClr val="8FB566">
                <a:alpha val="24000"/>
              </a:srgbClr>
            </a:solidFill>
            <a:prstDash val="solid"/>
          </a:ln>
        </p:spPr>
      </p:sp>
      <p:sp>
        <p:nvSpPr>
          <p:cNvPr id="5" name="Shape 3"/>
          <p:cNvSpPr/>
          <p:nvPr/>
        </p:nvSpPr>
        <p:spPr>
          <a:xfrm>
            <a:off x="8275320" y="822960"/>
            <a:ext cx="5212080" cy="5212080"/>
          </a:xfrm>
          <a:prstGeom prst="ellipse">
            <a:avLst/>
          </a:prstGeom>
          <a:solidFill>
            <a:srgbClr val="FFFFFF">
              <a:alpha val="0"/>
            </a:srgbClr>
          </a:solidFill>
          <a:ln w="15875">
            <a:solidFill>
              <a:srgbClr val="8FB566">
                <a:alpha val="24000"/>
              </a:srgbClr>
            </a:solidFill>
            <a:prstDash val="solid"/>
          </a:ln>
        </p:spPr>
      </p:sp>
      <p:sp>
        <p:nvSpPr>
          <p:cNvPr id="6" name="Shape 4"/>
          <p:cNvSpPr/>
          <p:nvPr/>
        </p:nvSpPr>
        <p:spPr>
          <a:xfrm>
            <a:off x="7680960" y="228600"/>
            <a:ext cx="6400800" cy="6400800"/>
          </a:xfrm>
          <a:prstGeom prst="ellipse">
            <a:avLst/>
          </a:prstGeom>
          <a:solidFill>
            <a:srgbClr val="FFFFFF">
              <a:alpha val="0"/>
            </a:srgbClr>
          </a:solidFill>
          <a:ln w="15875">
            <a:solidFill>
              <a:srgbClr val="8FB566">
                <a:alpha val="24000"/>
              </a:srgbClr>
            </a:solidFill>
            <a:prstDash val="solid"/>
          </a:ln>
        </p:spPr>
      </p:sp>
      <p:sp>
        <p:nvSpPr>
          <p:cNvPr id="7" name="Text 5"/>
          <p:cNvSpPr txBox="1"/>
          <p:nvPr/>
        </p:nvSpPr>
        <p:spPr>
          <a:xfrm>
            <a:off x="658368" y="1737360"/>
            <a:ext cx="2743200" cy="1325880"/>
          </a:xfrm>
          <a:prstGeom prst="rect">
            <a:avLst/>
          </a:prstGeom>
          <a:noFill/>
          <a:ln/>
        </p:spPr>
        <p:txBody>
          <a:bodyPr wrap="square" lIns="0" tIns="0" rIns="0" bIns="0" rtlCol="0" anchor="t"/>
          <a:lstStyle/>
          <a:p>
            <a:pPr indent="0" marL="0">
              <a:buNone/>
            </a:pPr>
            <a:r>
              <a:rPr lang="en-US" sz="7600" b="1" dirty="0">
                <a:solidFill>
                  <a:srgbClr val="C1762C"/>
                </a:solidFill>
                <a:latin typeface="Meiryo" pitchFamily="34" charset="0"/>
                <a:ea typeface="Meiryo" pitchFamily="34" charset="-122"/>
                <a:cs typeface="Meiryo" pitchFamily="34" charset="-120"/>
              </a:rPr>
              <a:t>04</a:t>
            </a:r>
            <a:endParaRPr lang="en-US" sz="7600" dirty="0"/>
          </a:p>
        </p:txBody>
      </p:sp>
      <p:sp>
        <p:nvSpPr>
          <p:cNvPr id="8" name="Text 6"/>
          <p:cNvSpPr txBox="1"/>
          <p:nvPr/>
        </p:nvSpPr>
        <p:spPr>
          <a:xfrm>
            <a:off x="658368" y="3035808"/>
            <a:ext cx="7680960" cy="822960"/>
          </a:xfrm>
          <a:prstGeom prst="rect">
            <a:avLst/>
          </a:prstGeom>
          <a:noFill/>
          <a:ln/>
        </p:spPr>
        <p:txBody>
          <a:bodyPr wrap="square" lIns="0" tIns="0" rIns="0" bIns="0" rtlCol="0" anchor="t"/>
          <a:lstStyle/>
          <a:p>
            <a:pPr indent="0" marL="0">
              <a:buNone/>
            </a:pPr>
            <a:r>
              <a:rPr lang="en-US" sz="3400" b="1" dirty="0">
                <a:solidFill>
                  <a:srgbClr val="FFFFFF"/>
                </a:solidFill>
                <a:latin typeface="Meiryo" pitchFamily="34" charset="0"/>
                <a:ea typeface="Meiryo" pitchFamily="34" charset="-122"/>
                <a:cs typeface="Meiryo" pitchFamily="34" charset="-120"/>
              </a:rPr>
              <a:t>企業版ふるさと納税で何を変えるか</a:t>
            </a:r>
            <a:endParaRPr lang="en-US" sz="3400" dirty="0"/>
          </a:p>
        </p:txBody>
      </p:sp>
      <p:sp>
        <p:nvSpPr>
          <p:cNvPr id="9" name="Text 7"/>
          <p:cNvSpPr txBox="1"/>
          <p:nvPr/>
        </p:nvSpPr>
        <p:spPr>
          <a:xfrm>
            <a:off x="658368" y="4023360"/>
            <a:ext cx="6675120" cy="640080"/>
          </a:xfrm>
          <a:prstGeom prst="rect">
            <a:avLst/>
          </a:prstGeom>
          <a:noFill/>
          <a:ln/>
        </p:spPr>
        <p:txBody>
          <a:bodyPr wrap="square" lIns="0" tIns="0" rIns="0" bIns="0" rtlCol="0" anchor="t"/>
          <a:lstStyle/>
          <a:p>
            <a:pPr indent="0" marL="0">
              <a:lnSpc>
                <a:spcPts val="2200"/>
              </a:lnSpc>
              <a:buNone/>
            </a:pPr>
            <a:r>
              <a:rPr lang="en-US" sz="1350" dirty="0">
                <a:solidFill>
                  <a:srgbClr val="8FB566"/>
                </a:solidFill>
                <a:latin typeface="Meiryo" pitchFamily="34" charset="0"/>
                <a:ea typeface="Meiryo" pitchFamily="34" charset="-122"/>
                <a:cs typeface="Meiryo" pitchFamily="34" charset="-120"/>
              </a:rPr>
              <a:t>森林から生まれる価値を、地域内で循環させる仕組みをつくるための初期投資として活用する。</a:t>
            </a:r>
            <a:endParaRPr lang="en-US" sz="1350" dirty="0"/>
          </a:p>
        </p:txBody>
      </p:sp>
      <p:sp>
        <p:nvSpPr>
          <p:cNvPr id="10" name="Shape 8"/>
          <p:cNvSpPr/>
          <p:nvPr/>
        </p:nvSpPr>
        <p:spPr>
          <a:xfrm>
            <a:off x="658368" y="4864608"/>
            <a:ext cx="1385316" cy="347472"/>
          </a:xfrm>
          <a:prstGeom prst="roundRect">
            <a:avLst>
              <a:gd name="adj" fmla="val 47368"/>
            </a:avLst>
          </a:prstGeom>
          <a:solidFill>
            <a:srgbClr val="1E3327"/>
          </a:solidFill>
          <a:ln w="9525">
            <a:solidFill>
              <a:srgbClr val="5E7F3C"/>
            </a:solidFill>
            <a:prstDash val="solid"/>
          </a:ln>
        </p:spPr>
      </p:sp>
      <p:sp>
        <p:nvSpPr>
          <p:cNvPr id="11" name="Text 9"/>
          <p:cNvSpPr txBox="1"/>
          <p:nvPr/>
        </p:nvSpPr>
        <p:spPr>
          <a:xfrm>
            <a:off x="658368" y="4864608"/>
            <a:ext cx="1385316"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事業コンセプト</a:t>
            </a:r>
            <a:endParaRPr lang="en-US" sz="1050" dirty="0"/>
          </a:p>
        </p:txBody>
      </p:sp>
      <p:sp>
        <p:nvSpPr>
          <p:cNvPr id="12" name="Shape 10"/>
          <p:cNvSpPr/>
          <p:nvPr/>
        </p:nvSpPr>
        <p:spPr>
          <a:xfrm>
            <a:off x="2171700" y="4864608"/>
            <a:ext cx="1687068" cy="347472"/>
          </a:xfrm>
          <a:prstGeom prst="roundRect">
            <a:avLst>
              <a:gd name="adj" fmla="val 47368"/>
            </a:avLst>
          </a:prstGeom>
          <a:solidFill>
            <a:srgbClr val="1E3327"/>
          </a:solidFill>
          <a:ln w="9525">
            <a:solidFill>
              <a:srgbClr val="5E7F3C"/>
            </a:solidFill>
            <a:prstDash val="solid"/>
          </a:ln>
        </p:spPr>
      </p:sp>
      <p:sp>
        <p:nvSpPr>
          <p:cNvPr id="13" name="Text 11"/>
          <p:cNvSpPr txBox="1"/>
          <p:nvPr/>
        </p:nvSpPr>
        <p:spPr>
          <a:xfrm>
            <a:off x="2171700" y="4864608"/>
            <a:ext cx="1687068"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制度上の3つの制約</a:t>
            </a:r>
            <a:endParaRPr lang="en-US" sz="1050" dirty="0"/>
          </a:p>
        </p:txBody>
      </p:sp>
      <p:sp>
        <p:nvSpPr>
          <p:cNvPr id="14" name="Shape 12"/>
          <p:cNvSpPr/>
          <p:nvPr/>
        </p:nvSpPr>
        <p:spPr>
          <a:xfrm>
            <a:off x="3986784" y="4864608"/>
            <a:ext cx="1083564" cy="347472"/>
          </a:xfrm>
          <a:prstGeom prst="roundRect">
            <a:avLst>
              <a:gd name="adj" fmla="val 47368"/>
            </a:avLst>
          </a:prstGeom>
          <a:solidFill>
            <a:srgbClr val="1E3327"/>
          </a:solidFill>
          <a:ln w="9525">
            <a:solidFill>
              <a:srgbClr val="5E7F3C"/>
            </a:solidFill>
            <a:prstDash val="solid"/>
          </a:ln>
        </p:spPr>
      </p:sp>
      <p:sp>
        <p:nvSpPr>
          <p:cNvPr id="15" name="Text 13"/>
          <p:cNvSpPr txBox="1"/>
          <p:nvPr/>
        </p:nvSpPr>
        <p:spPr>
          <a:xfrm>
            <a:off x="3986784" y="4864608"/>
            <a:ext cx="1083564"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6つの施策</a:t>
            </a:r>
            <a:endParaRPr lang="en-US" sz="1050" dirty="0"/>
          </a:p>
        </p:txBody>
      </p:sp>
      <p:sp>
        <p:nvSpPr>
          <p:cNvPr id="16" name="Shape 14"/>
          <p:cNvSpPr/>
          <p:nvPr/>
        </p:nvSpPr>
        <p:spPr>
          <a:xfrm>
            <a:off x="5198364" y="4864608"/>
            <a:ext cx="1687068" cy="347472"/>
          </a:xfrm>
          <a:prstGeom prst="roundRect">
            <a:avLst>
              <a:gd name="adj" fmla="val 47368"/>
            </a:avLst>
          </a:prstGeom>
          <a:solidFill>
            <a:srgbClr val="1E3327"/>
          </a:solidFill>
          <a:ln w="9525">
            <a:solidFill>
              <a:srgbClr val="5E7F3C"/>
            </a:solidFill>
            <a:prstDash val="solid"/>
          </a:ln>
        </p:spPr>
      </p:sp>
      <p:sp>
        <p:nvSpPr>
          <p:cNvPr id="17" name="Text 15"/>
          <p:cNvSpPr txBox="1"/>
          <p:nvPr/>
        </p:nvSpPr>
        <p:spPr>
          <a:xfrm>
            <a:off x="5198364" y="4864608"/>
            <a:ext cx="1687068" cy="347472"/>
          </a:xfrm>
          <a:prstGeom prst="rect">
            <a:avLst/>
          </a:prstGeom>
          <a:noFill/>
          <a:ln/>
        </p:spPr>
        <p:txBody>
          <a:bodyPr wrap="square" lIns="0" tIns="0" rIns="0" bIns="0" rtlCol="0" anchor="ctr"/>
          <a:lstStyle/>
          <a:p>
            <a:pPr algn="ctr" indent="0" marL="0">
              <a:buNone/>
            </a:pPr>
            <a:r>
              <a:rPr lang="en-US" sz="1050" dirty="0">
                <a:solidFill>
                  <a:srgbClr val="D7E5CB"/>
                </a:solidFill>
                <a:latin typeface="Meiryo" pitchFamily="34" charset="0"/>
                <a:ea typeface="Meiryo" pitchFamily="34" charset="-122"/>
                <a:cs typeface="Meiryo" pitchFamily="34" charset="-120"/>
              </a:rPr>
              <a:t>5年のロードマップ</a:t>
            </a:r>
            <a:endParaRPr lang="en-US" sz="1050" dirty="0"/>
          </a:p>
        </p:txBody>
      </p:sp>
      <p:sp>
        <p:nvSpPr>
          <p:cNvPr id="18" name="Text 16"/>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19" name="Text 17"/>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CONCEPT</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事業コンセプト</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17</a:t>
            </a:r>
            <a:endParaRPr lang="en-US" sz="900" dirty="0"/>
          </a:p>
        </p:txBody>
      </p:sp>
      <p:sp>
        <p:nvSpPr>
          <p:cNvPr id="6" name="Shape 4"/>
          <p:cNvSpPr/>
          <p:nvPr/>
        </p:nvSpPr>
        <p:spPr>
          <a:xfrm>
            <a:off x="658368" y="1645920"/>
            <a:ext cx="10874959" cy="1417320"/>
          </a:xfrm>
          <a:prstGeom prst="roundRect">
            <a:avLst>
              <a:gd name="adj" fmla="val 5806"/>
            </a:avLst>
          </a:prstGeom>
          <a:solidFill>
            <a:srgbClr val="24512F"/>
          </a:solidFill>
          <a:ln/>
          <a:effectLst>
            <a:outerShdw sx="100000" sy="100000" kx="0" ky="0" algn="bl" rotWithShape="0" blurRad="127000" dist="25400" dir="5400000">
              <a:srgbClr val="1B3D24">
                <a:alpha val="10000"/>
              </a:srgbClr>
            </a:outerShdw>
          </a:effectLst>
        </p:spPr>
      </p:sp>
      <p:sp>
        <p:nvSpPr>
          <p:cNvPr id="7" name="Text 5"/>
          <p:cNvSpPr txBox="1"/>
          <p:nvPr/>
        </p:nvSpPr>
        <p:spPr>
          <a:xfrm>
            <a:off x="1069848" y="1847088"/>
            <a:ext cx="2743200" cy="237744"/>
          </a:xfrm>
          <a:prstGeom prst="rect">
            <a:avLst/>
          </a:prstGeom>
          <a:noFill/>
          <a:ln/>
        </p:spPr>
        <p:txBody>
          <a:bodyPr wrap="square" lIns="0" tIns="0" rIns="0" bIns="0" rtlCol="0" anchor="t"/>
          <a:lstStyle/>
          <a:p>
            <a:pPr indent="0" marL="0">
              <a:buNone/>
            </a:pPr>
            <a:r>
              <a:rPr lang="en-US" sz="1050" b="1" spc="150" kern="0" dirty="0">
                <a:solidFill>
                  <a:srgbClr val="8FB566"/>
                </a:solidFill>
                <a:latin typeface="Meiryo" pitchFamily="34" charset="0"/>
                <a:ea typeface="Meiryo" pitchFamily="34" charset="-122"/>
                <a:cs typeface="Meiryo" pitchFamily="34" charset="-120"/>
              </a:rPr>
              <a:t>CONCEPT</a:t>
            </a:r>
            <a:endParaRPr lang="en-US" sz="1050" dirty="0"/>
          </a:p>
        </p:txBody>
      </p:sp>
      <p:sp>
        <p:nvSpPr>
          <p:cNvPr id="8" name="Text 6"/>
          <p:cNvSpPr txBox="1"/>
          <p:nvPr/>
        </p:nvSpPr>
        <p:spPr>
          <a:xfrm>
            <a:off x="1069848" y="2176272"/>
            <a:ext cx="10051999" cy="640080"/>
          </a:xfrm>
          <a:prstGeom prst="rect">
            <a:avLst/>
          </a:prstGeom>
          <a:noFill/>
          <a:ln/>
        </p:spPr>
        <p:txBody>
          <a:bodyPr wrap="square" lIns="0" tIns="0" rIns="0" bIns="0" rtlCol="0" anchor="t"/>
          <a:lstStyle/>
          <a:p>
            <a:pPr indent="0" marL="0">
              <a:buNone/>
            </a:pPr>
            <a:r>
              <a:rPr lang="en-US" sz="2900" b="1" dirty="0">
                <a:solidFill>
                  <a:srgbClr val="FFFFFF"/>
                </a:solidFill>
                <a:latin typeface="Meiryo" pitchFamily="34" charset="0"/>
                <a:ea typeface="Meiryo" pitchFamily="34" charset="-122"/>
                <a:cs typeface="Meiryo" pitchFamily="34" charset="-120"/>
              </a:rPr>
              <a:t>八王子の森を、地域産業の資源に再設計する</a:t>
            </a:r>
            <a:endParaRPr lang="en-US" sz="2900" dirty="0"/>
          </a:p>
        </p:txBody>
      </p:sp>
      <p:sp>
        <p:nvSpPr>
          <p:cNvPr id="9" name="Text 7"/>
          <p:cNvSpPr txBox="1"/>
          <p:nvPr/>
        </p:nvSpPr>
        <p:spPr>
          <a:xfrm>
            <a:off x="658368" y="3310128"/>
            <a:ext cx="10874959"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なぜ、企業版ふるさと納税なのか</a:t>
            </a:r>
            <a:endParaRPr lang="en-US" sz="1500" dirty="0"/>
          </a:p>
        </p:txBody>
      </p:sp>
      <p:sp>
        <p:nvSpPr>
          <p:cNvPr id="10" name="Shape 8"/>
          <p:cNvSpPr/>
          <p:nvPr/>
        </p:nvSpPr>
        <p:spPr>
          <a:xfrm>
            <a:off x="658368" y="3703320"/>
            <a:ext cx="3465576" cy="1938528"/>
          </a:xfrm>
          <a:prstGeom prst="roundRect">
            <a:avLst>
              <a:gd name="adj" fmla="val 4245"/>
            </a:avLst>
          </a:prstGeom>
          <a:solidFill>
            <a:srgbClr val="F4F6F1"/>
          </a:solidFill>
          <a:ln w="12700">
            <a:solidFill>
              <a:srgbClr val="DCE3D8"/>
            </a:solidFill>
            <a:prstDash val="solid"/>
          </a:ln>
        </p:spPr>
      </p:sp>
      <p:sp>
        <p:nvSpPr>
          <p:cNvPr id="11" name="Shape 9"/>
          <p:cNvSpPr/>
          <p:nvPr/>
        </p:nvSpPr>
        <p:spPr>
          <a:xfrm>
            <a:off x="978408" y="3950208"/>
            <a:ext cx="502920" cy="502920"/>
          </a:xfrm>
          <a:prstGeom prst="ellipse">
            <a:avLst/>
          </a:prstGeom>
          <a:solidFill>
            <a:srgbClr val="C1762C"/>
          </a:solidFill>
          <a:ln/>
        </p:spPr>
      </p:sp>
      <p:sp>
        <p:nvSpPr>
          <p:cNvPr id="12" name="Text 10"/>
          <p:cNvSpPr txBox="1"/>
          <p:nvPr/>
        </p:nvSpPr>
        <p:spPr>
          <a:xfrm>
            <a:off x="978408" y="395020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3" name="Text 11"/>
          <p:cNvSpPr txBox="1"/>
          <p:nvPr/>
        </p:nvSpPr>
        <p:spPr>
          <a:xfrm>
            <a:off x="1618488" y="3913632"/>
            <a:ext cx="2185416" cy="640080"/>
          </a:xfrm>
          <a:prstGeom prst="rect">
            <a:avLst/>
          </a:prstGeom>
          <a:noFill/>
          <a:ln/>
        </p:spPr>
        <p:txBody>
          <a:bodyPr wrap="square" lIns="0" tIns="0" rIns="0" bIns="0" rtlCol="0" anchor="t"/>
          <a:lstStyle/>
          <a:p>
            <a:pPr indent="0" marL="0">
              <a:lnSpc>
                <a:spcPts val="2000"/>
              </a:lnSpc>
              <a:buNone/>
            </a:pPr>
            <a:r>
              <a:rPr lang="en-US" sz="1350" b="1" dirty="0">
                <a:solidFill>
                  <a:srgbClr val="1B3D24"/>
                </a:solidFill>
                <a:latin typeface="Meiryo" pitchFamily="34" charset="0"/>
                <a:ea typeface="Meiryo" pitchFamily="34" charset="-122"/>
                <a:cs typeface="Meiryo" pitchFamily="34" charset="-120"/>
              </a:rPr>
              <a:t>収益化前の</a:t>
            </a:r>
            <a:endParaRPr lang="en-US" sz="1350" dirty="0"/>
          </a:p>
          <a:p>
            <a:pPr indent="0" marL="0">
              <a:lnSpc>
                <a:spcPts val="2000"/>
              </a:lnSpc>
              <a:buNone/>
            </a:pPr>
            <a:r>
              <a:rPr lang="en-US" sz="1350" b="1" dirty="0">
                <a:solidFill>
                  <a:srgbClr val="1B3D24"/>
                </a:solidFill>
                <a:latin typeface="Meiryo" pitchFamily="34" charset="0"/>
                <a:ea typeface="Meiryo" pitchFamily="34" charset="-122"/>
                <a:cs typeface="Meiryo" pitchFamily="34" charset="-120"/>
              </a:rPr>
              <a:t>「仕込み」に使える</a:t>
            </a:r>
            <a:endParaRPr lang="en-US" sz="1350" dirty="0"/>
          </a:p>
        </p:txBody>
      </p:sp>
      <p:sp>
        <p:nvSpPr>
          <p:cNvPr id="14" name="Text 12"/>
          <p:cNvSpPr txBox="1"/>
          <p:nvPr/>
        </p:nvSpPr>
        <p:spPr>
          <a:xfrm>
            <a:off x="978408" y="4681728"/>
            <a:ext cx="2825496" cy="86868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調査・構想・データ基盤・需要開拓・制度設計——整備費でも施設費でもない部分に充てられる。</a:t>
            </a:r>
            <a:endParaRPr lang="en-US" sz="1100" dirty="0"/>
          </a:p>
        </p:txBody>
      </p:sp>
      <p:sp>
        <p:nvSpPr>
          <p:cNvPr id="15" name="Shape 13"/>
          <p:cNvSpPr/>
          <p:nvPr/>
        </p:nvSpPr>
        <p:spPr>
          <a:xfrm>
            <a:off x="4379976" y="3703320"/>
            <a:ext cx="3465576" cy="1938528"/>
          </a:xfrm>
          <a:prstGeom prst="roundRect">
            <a:avLst>
              <a:gd name="adj" fmla="val 4245"/>
            </a:avLst>
          </a:prstGeom>
          <a:solidFill>
            <a:srgbClr val="F4F6F1"/>
          </a:solidFill>
          <a:ln w="12700">
            <a:solidFill>
              <a:srgbClr val="DCE3D8"/>
            </a:solidFill>
            <a:prstDash val="solid"/>
          </a:ln>
        </p:spPr>
      </p:sp>
      <p:sp>
        <p:nvSpPr>
          <p:cNvPr id="16" name="Shape 14"/>
          <p:cNvSpPr/>
          <p:nvPr/>
        </p:nvSpPr>
        <p:spPr>
          <a:xfrm>
            <a:off x="4700016" y="3950208"/>
            <a:ext cx="502920" cy="502920"/>
          </a:xfrm>
          <a:prstGeom prst="ellipse">
            <a:avLst/>
          </a:prstGeom>
          <a:solidFill>
            <a:srgbClr val="C1762C"/>
          </a:solidFill>
          <a:ln/>
        </p:spPr>
      </p:sp>
      <p:sp>
        <p:nvSpPr>
          <p:cNvPr id="17" name="Text 15"/>
          <p:cNvSpPr txBox="1"/>
          <p:nvPr/>
        </p:nvSpPr>
        <p:spPr>
          <a:xfrm>
            <a:off x="4700016" y="395020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8" name="Text 16"/>
          <p:cNvSpPr txBox="1"/>
          <p:nvPr/>
        </p:nvSpPr>
        <p:spPr>
          <a:xfrm>
            <a:off x="5340096" y="3913632"/>
            <a:ext cx="2185416" cy="640080"/>
          </a:xfrm>
          <a:prstGeom prst="rect">
            <a:avLst/>
          </a:prstGeom>
          <a:noFill/>
          <a:ln/>
        </p:spPr>
        <p:txBody>
          <a:bodyPr wrap="square" lIns="0" tIns="0" rIns="0" bIns="0" rtlCol="0" anchor="t"/>
          <a:lstStyle/>
          <a:p>
            <a:pPr indent="0" marL="0">
              <a:lnSpc>
                <a:spcPts val="2000"/>
              </a:lnSpc>
              <a:buNone/>
            </a:pPr>
            <a:r>
              <a:rPr lang="en-US" sz="1350" b="1" dirty="0">
                <a:solidFill>
                  <a:srgbClr val="1B3D24"/>
                </a:solidFill>
                <a:latin typeface="Meiryo" pitchFamily="34" charset="0"/>
                <a:ea typeface="Meiryo" pitchFamily="34" charset="-122"/>
                <a:cs typeface="Meiryo" pitchFamily="34" charset="-120"/>
              </a:rPr>
              <a:t>資金だけでなく</a:t>
            </a:r>
            <a:endParaRPr lang="en-US" sz="1350" dirty="0"/>
          </a:p>
          <a:p>
            <a:pPr indent="0" marL="0">
              <a:lnSpc>
                <a:spcPts val="2000"/>
              </a:lnSpc>
              <a:buNone/>
            </a:pPr>
            <a:r>
              <a:rPr lang="en-US" sz="1350" b="1" dirty="0">
                <a:solidFill>
                  <a:srgbClr val="1B3D24"/>
                </a:solidFill>
                <a:latin typeface="Meiryo" pitchFamily="34" charset="0"/>
                <a:ea typeface="Meiryo" pitchFamily="34" charset="-122"/>
                <a:cs typeface="Meiryo" pitchFamily="34" charset="-120"/>
              </a:rPr>
              <a:t>「企業」が入ってくる</a:t>
            </a:r>
            <a:endParaRPr lang="en-US" sz="1350" dirty="0"/>
          </a:p>
        </p:txBody>
      </p:sp>
      <p:sp>
        <p:nvSpPr>
          <p:cNvPr id="19" name="Text 17"/>
          <p:cNvSpPr txBox="1"/>
          <p:nvPr/>
        </p:nvSpPr>
        <p:spPr>
          <a:xfrm>
            <a:off x="4700016" y="4681728"/>
            <a:ext cx="2825496" cy="86868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需要・販路・技術・人材を持つ企業との関係が同時に生まれる。人材派遣型を使えば人も迎えられる。</a:t>
            </a:r>
            <a:endParaRPr lang="en-US" sz="1100" dirty="0"/>
          </a:p>
        </p:txBody>
      </p:sp>
      <p:sp>
        <p:nvSpPr>
          <p:cNvPr id="20" name="Shape 18"/>
          <p:cNvSpPr/>
          <p:nvPr/>
        </p:nvSpPr>
        <p:spPr>
          <a:xfrm>
            <a:off x="8101584" y="3703320"/>
            <a:ext cx="3465576" cy="1938528"/>
          </a:xfrm>
          <a:prstGeom prst="roundRect">
            <a:avLst>
              <a:gd name="adj" fmla="val 4245"/>
            </a:avLst>
          </a:prstGeom>
          <a:solidFill>
            <a:srgbClr val="F4F6F1"/>
          </a:solidFill>
          <a:ln w="12700">
            <a:solidFill>
              <a:srgbClr val="DCE3D8"/>
            </a:solidFill>
            <a:prstDash val="solid"/>
          </a:ln>
        </p:spPr>
      </p:sp>
      <p:sp>
        <p:nvSpPr>
          <p:cNvPr id="21" name="Shape 19"/>
          <p:cNvSpPr/>
          <p:nvPr/>
        </p:nvSpPr>
        <p:spPr>
          <a:xfrm>
            <a:off x="8421624" y="3950208"/>
            <a:ext cx="502920" cy="502920"/>
          </a:xfrm>
          <a:prstGeom prst="ellipse">
            <a:avLst/>
          </a:prstGeom>
          <a:solidFill>
            <a:srgbClr val="C1762C"/>
          </a:solidFill>
          <a:ln/>
        </p:spPr>
      </p:sp>
      <p:sp>
        <p:nvSpPr>
          <p:cNvPr id="22" name="Text 20"/>
          <p:cNvSpPr txBox="1"/>
          <p:nvPr/>
        </p:nvSpPr>
        <p:spPr>
          <a:xfrm>
            <a:off x="8421624" y="395020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3" name="Text 21"/>
          <p:cNvSpPr txBox="1"/>
          <p:nvPr/>
        </p:nvSpPr>
        <p:spPr>
          <a:xfrm>
            <a:off x="9061704" y="3913632"/>
            <a:ext cx="2185416" cy="640080"/>
          </a:xfrm>
          <a:prstGeom prst="rect">
            <a:avLst/>
          </a:prstGeom>
          <a:noFill/>
          <a:ln/>
        </p:spPr>
        <p:txBody>
          <a:bodyPr wrap="square" lIns="0" tIns="0" rIns="0" bIns="0" rtlCol="0" anchor="t"/>
          <a:lstStyle/>
          <a:p>
            <a:pPr indent="0" marL="0">
              <a:lnSpc>
                <a:spcPts val="2000"/>
              </a:lnSpc>
              <a:buNone/>
            </a:pPr>
            <a:r>
              <a:rPr lang="en-US" sz="1350" b="1" dirty="0">
                <a:solidFill>
                  <a:srgbClr val="1B3D24"/>
                </a:solidFill>
                <a:latin typeface="Meiryo" pitchFamily="34" charset="0"/>
                <a:ea typeface="Meiryo" pitchFamily="34" charset="-122"/>
                <a:cs typeface="Meiryo" pitchFamily="34" charset="-120"/>
              </a:rPr>
              <a:t>単年度ではなく</a:t>
            </a:r>
            <a:endParaRPr lang="en-US" sz="1350" dirty="0"/>
          </a:p>
          <a:p>
            <a:pPr indent="0" marL="0">
              <a:lnSpc>
                <a:spcPts val="2000"/>
              </a:lnSpc>
              <a:buNone/>
            </a:pPr>
            <a:r>
              <a:rPr lang="en-US" sz="1350" b="1" dirty="0">
                <a:solidFill>
                  <a:srgbClr val="1B3D24"/>
                </a:solidFill>
                <a:latin typeface="Meiryo" pitchFamily="34" charset="0"/>
                <a:ea typeface="Meiryo" pitchFamily="34" charset="-122"/>
                <a:cs typeface="Meiryo" pitchFamily="34" charset="-120"/>
              </a:rPr>
              <a:t>「複数年度」で描ける</a:t>
            </a:r>
            <a:endParaRPr lang="en-US" sz="1350" dirty="0"/>
          </a:p>
        </p:txBody>
      </p:sp>
      <p:sp>
        <p:nvSpPr>
          <p:cNvPr id="24" name="Text 22"/>
          <p:cNvSpPr txBox="1"/>
          <p:nvPr/>
        </p:nvSpPr>
        <p:spPr>
          <a:xfrm>
            <a:off x="8421624" y="4681728"/>
            <a:ext cx="2825496" cy="86868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5年スパンの事業として設計でき、循環が自走するまでの助走期間を確保できる。</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PRECONDITIONS</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設計を左右する、制度上の3つの制約</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18</a:t>
            </a:r>
            <a:endParaRPr lang="en-US" sz="900" dirty="0"/>
          </a:p>
        </p:txBody>
      </p:sp>
      <p:sp>
        <p:nvSpPr>
          <p:cNvPr id="6" name="Text 4"/>
          <p:cNvSpPr txBox="1"/>
          <p:nvPr/>
        </p:nvSpPr>
        <p:spPr>
          <a:xfrm>
            <a:off x="658368" y="1353312"/>
            <a:ext cx="10874959" cy="274320"/>
          </a:xfrm>
          <a:prstGeom prst="rect">
            <a:avLst/>
          </a:prstGeom>
          <a:noFill/>
          <a:ln/>
        </p:spPr>
        <p:txBody>
          <a:bodyPr wrap="square" lIns="0" tIns="0" rIns="0" bIns="0" rtlCol="0" anchor="t"/>
          <a:lstStyle/>
          <a:p>
            <a:pPr indent="0" marL="0">
              <a:buNone/>
            </a:pPr>
            <a:r>
              <a:rPr lang="en-US" sz="1150" dirty="0">
                <a:solidFill>
                  <a:srgbClr val="5F6B64"/>
                </a:solidFill>
                <a:latin typeface="Meiryo" pitchFamily="34" charset="0"/>
                <a:ea typeface="Meiryo" pitchFamily="34" charset="-122"/>
                <a:cs typeface="Meiryo" pitchFamily="34" charset="-120"/>
              </a:rPr>
              <a:t>企業版ふるさと納税は「寄付を集める」制度である前に「事業を認定してもらう」制度。設計の前に前提を押さえる。</a:t>
            </a:r>
            <a:endParaRPr lang="en-US" sz="1150" dirty="0"/>
          </a:p>
        </p:txBody>
      </p:sp>
      <p:sp>
        <p:nvSpPr>
          <p:cNvPr id="7" name="Shape 5"/>
          <p:cNvSpPr/>
          <p:nvPr/>
        </p:nvSpPr>
        <p:spPr>
          <a:xfrm>
            <a:off x="658368" y="1755648"/>
            <a:ext cx="3465576" cy="3611880"/>
          </a:xfrm>
          <a:prstGeom prst="roundRect">
            <a:avLst>
              <a:gd name="adj" fmla="val 2375"/>
            </a:avLst>
          </a:prstGeom>
          <a:solidFill>
            <a:srgbClr val="FAEEDF"/>
          </a:solidFill>
          <a:ln/>
        </p:spPr>
      </p:sp>
      <p:sp>
        <p:nvSpPr>
          <p:cNvPr id="8" name="Shape 6"/>
          <p:cNvSpPr/>
          <p:nvPr/>
        </p:nvSpPr>
        <p:spPr>
          <a:xfrm>
            <a:off x="978408" y="1993392"/>
            <a:ext cx="969264" cy="292608"/>
          </a:xfrm>
          <a:prstGeom prst="roundRect">
            <a:avLst>
              <a:gd name="adj" fmla="val 46875"/>
            </a:avLst>
          </a:prstGeom>
          <a:solidFill>
            <a:srgbClr val="C1762C"/>
          </a:solidFill>
          <a:ln/>
        </p:spPr>
      </p:sp>
      <p:sp>
        <p:nvSpPr>
          <p:cNvPr id="9" name="Text 7"/>
          <p:cNvSpPr txBox="1"/>
          <p:nvPr/>
        </p:nvSpPr>
        <p:spPr>
          <a:xfrm>
            <a:off x="978408" y="1993392"/>
            <a:ext cx="969264"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制約 01</a:t>
            </a:r>
            <a:endParaRPr lang="en-US" sz="1050" dirty="0"/>
          </a:p>
        </p:txBody>
      </p:sp>
      <p:sp>
        <p:nvSpPr>
          <p:cNvPr id="10" name="Text 8"/>
          <p:cNvSpPr txBox="1"/>
          <p:nvPr/>
        </p:nvSpPr>
        <p:spPr>
          <a:xfrm>
            <a:off x="978408" y="2432304"/>
            <a:ext cx="2825496" cy="868680"/>
          </a:xfrm>
          <a:prstGeom prst="rect">
            <a:avLst/>
          </a:prstGeom>
          <a:noFill/>
          <a:ln/>
        </p:spPr>
        <p:txBody>
          <a:bodyPr wrap="square" lIns="0" tIns="0" rIns="0" bIns="0" rtlCol="0" anchor="t"/>
          <a:lstStyle/>
          <a:p>
            <a:pPr indent="0" marL="0">
              <a:lnSpc>
                <a:spcPts val="2300"/>
              </a:lnSpc>
              <a:buNone/>
            </a:pPr>
            <a:r>
              <a:rPr lang="en-US" sz="1450" b="1" dirty="0">
                <a:solidFill>
                  <a:srgbClr val="1B3D24"/>
                </a:solidFill>
                <a:latin typeface="Meiryo" pitchFamily="34" charset="0"/>
                <a:ea typeface="Meiryo" pitchFamily="34" charset="-122"/>
                <a:cs typeface="Meiryo" pitchFamily="34" charset="-120"/>
              </a:rPr>
              <a:t>本社所在地の自治体には</a:t>
            </a:r>
            <a:endParaRPr lang="en-US" sz="1450" dirty="0"/>
          </a:p>
          <a:p>
            <a:pPr indent="0" marL="0">
              <a:lnSpc>
                <a:spcPts val="2300"/>
              </a:lnSpc>
              <a:buNone/>
            </a:pPr>
            <a:r>
              <a:rPr lang="en-US" sz="1450" b="1" dirty="0">
                <a:solidFill>
                  <a:srgbClr val="1B3D24"/>
                </a:solidFill>
                <a:latin typeface="Meiryo" pitchFamily="34" charset="0"/>
                <a:ea typeface="Meiryo" pitchFamily="34" charset="-122"/>
                <a:cs typeface="Meiryo" pitchFamily="34" charset="-120"/>
              </a:rPr>
              <a:t>寄付できない</a:t>
            </a:r>
            <a:endParaRPr lang="en-US" sz="1450" dirty="0"/>
          </a:p>
        </p:txBody>
      </p:sp>
      <p:sp>
        <p:nvSpPr>
          <p:cNvPr id="11" name="Text 9"/>
          <p:cNvSpPr txBox="1"/>
          <p:nvPr/>
        </p:nvSpPr>
        <p:spPr>
          <a:xfrm>
            <a:off x="978408" y="3401568"/>
            <a:ext cx="2825496" cy="566928"/>
          </a:xfrm>
          <a:prstGeom prst="rect">
            <a:avLst/>
          </a:prstGeom>
          <a:noFill/>
          <a:ln/>
        </p:spPr>
        <p:txBody>
          <a:bodyPr wrap="square" lIns="0" tIns="0" rIns="0" bIns="0" rtlCol="0" anchor="t"/>
          <a:lstStyle/>
          <a:p>
            <a:pPr indent="0" marL="0">
              <a:lnSpc>
                <a:spcPts val="1700"/>
              </a:lnSpc>
              <a:buNone/>
            </a:pPr>
            <a:r>
              <a:rPr lang="en-US" sz="1100" b="1" dirty="0">
                <a:solidFill>
                  <a:srgbClr val="C1762C"/>
                </a:solidFill>
                <a:latin typeface="Meiryo" pitchFamily="34" charset="0"/>
                <a:ea typeface="Meiryo" pitchFamily="34" charset="-122"/>
                <a:cs typeface="Meiryo" pitchFamily="34" charset="-120"/>
              </a:rPr>
              <a:t>八王子市に本社を置く企業からは、この制度で寄付を受けられない。</a:t>
            </a:r>
            <a:endParaRPr lang="en-US" sz="1100" dirty="0"/>
          </a:p>
        </p:txBody>
      </p:sp>
      <p:sp>
        <p:nvSpPr>
          <p:cNvPr id="12" name="Text 10"/>
          <p:cNvSpPr txBox="1"/>
          <p:nvPr/>
        </p:nvSpPr>
        <p:spPr>
          <a:xfrm>
            <a:off x="978408" y="4059936"/>
            <a:ext cx="2825496" cy="1325880"/>
          </a:xfrm>
          <a:prstGeom prst="rect">
            <a:avLst/>
          </a:prstGeom>
          <a:noFill/>
          <a:ln/>
        </p:spPr>
        <p:txBody>
          <a:bodyPr wrap="square" lIns="0" tIns="0" rIns="0" bIns="0" rtlCol="0" anchor="t"/>
          <a:lstStyle/>
          <a:p>
            <a:pPr indent="0" marL="0">
              <a:lnSpc>
                <a:spcPts val="1650"/>
              </a:lnSpc>
              <a:buNone/>
            </a:pPr>
            <a:r>
              <a:rPr lang="en-US" sz="1050" dirty="0">
                <a:solidFill>
                  <a:srgbClr val="23302A"/>
                </a:solidFill>
                <a:latin typeface="Meiryo" pitchFamily="34" charset="0"/>
                <a:ea typeface="Meiryo" pitchFamily="34" charset="-122"/>
                <a:cs typeface="Meiryo" pitchFamily="34" charset="-120"/>
              </a:rPr>
              <a:t>→ 寄付の相手は「市外に本社を持つ企業」。八王子に事業所・工場・顧客・従業員を持つ企業が有力候補。市内企業は“寄付者”ではなく“八王子の木を買うパートナー”として設計する。</a:t>
            </a:r>
            <a:endParaRPr lang="en-US" sz="1050" dirty="0"/>
          </a:p>
        </p:txBody>
      </p:sp>
      <p:sp>
        <p:nvSpPr>
          <p:cNvPr id="13" name="Shape 11"/>
          <p:cNvSpPr/>
          <p:nvPr/>
        </p:nvSpPr>
        <p:spPr>
          <a:xfrm>
            <a:off x="4379976" y="1755648"/>
            <a:ext cx="3465576" cy="3611880"/>
          </a:xfrm>
          <a:prstGeom prst="roundRect">
            <a:avLst>
              <a:gd name="adj" fmla="val 2375"/>
            </a:avLst>
          </a:prstGeom>
          <a:solidFill>
            <a:srgbClr val="FAEEDF"/>
          </a:solidFill>
          <a:ln/>
        </p:spPr>
      </p:sp>
      <p:sp>
        <p:nvSpPr>
          <p:cNvPr id="14" name="Shape 12"/>
          <p:cNvSpPr/>
          <p:nvPr/>
        </p:nvSpPr>
        <p:spPr>
          <a:xfrm>
            <a:off x="4700016" y="1993392"/>
            <a:ext cx="969264" cy="292608"/>
          </a:xfrm>
          <a:prstGeom prst="roundRect">
            <a:avLst>
              <a:gd name="adj" fmla="val 46875"/>
            </a:avLst>
          </a:prstGeom>
          <a:solidFill>
            <a:srgbClr val="C1762C"/>
          </a:solidFill>
          <a:ln/>
        </p:spPr>
      </p:sp>
      <p:sp>
        <p:nvSpPr>
          <p:cNvPr id="15" name="Text 13"/>
          <p:cNvSpPr txBox="1"/>
          <p:nvPr/>
        </p:nvSpPr>
        <p:spPr>
          <a:xfrm>
            <a:off x="4700016" y="1993392"/>
            <a:ext cx="969264"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制約 02</a:t>
            </a:r>
            <a:endParaRPr lang="en-US" sz="1050" dirty="0"/>
          </a:p>
        </p:txBody>
      </p:sp>
      <p:sp>
        <p:nvSpPr>
          <p:cNvPr id="16" name="Text 14"/>
          <p:cNvSpPr txBox="1"/>
          <p:nvPr/>
        </p:nvSpPr>
        <p:spPr>
          <a:xfrm>
            <a:off x="4700016" y="2432304"/>
            <a:ext cx="2825496" cy="868680"/>
          </a:xfrm>
          <a:prstGeom prst="rect">
            <a:avLst/>
          </a:prstGeom>
          <a:noFill/>
          <a:ln/>
        </p:spPr>
        <p:txBody>
          <a:bodyPr wrap="square" lIns="0" tIns="0" rIns="0" bIns="0" rtlCol="0" anchor="t"/>
          <a:lstStyle/>
          <a:p>
            <a:pPr indent="0" marL="0">
              <a:lnSpc>
                <a:spcPts val="2300"/>
              </a:lnSpc>
              <a:buNone/>
            </a:pPr>
            <a:r>
              <a:rPr lang="en-US" sz="1450" b="1" dirty="0">
                <a:solidFill>
                  <a:srgbClr val="1B3D24"/>
                </a:solidFill>
                <a:latin typeface="Meiryo" pitchFamily="34" charset="0"/>
                <a:ea typeface="Meiryo" pitchFamily="34" charset="-122"/>
                <a:cs typeface="Meiryo" pitchFamily="34" charset="-120"/>
              </a:rPr>
              <a:t>寄付企業への</a:t>
            </a:r>
            <a:endParaRPr lang="en-US" sz="1450" dirty="0"/>
          </a:p>
          <a:p>
            <a:pPr indent="0" marL="0">
              <a:lnSpc>
                <a:spcPts val="2300"/>
              </a:lnSpc>
              <a:buNone/>
            </a:pPr>
            <a:r>
              <a:rPr lang="en-US" sz="1450" b="1" dirty="0">
                <a:solidFill>
                  <a:srgbClr val="1B3D24"/>
                </a:solidFill>
                <a:latin typeface="Meiryo" pitchFamily="34" charset="0"/>
                <a:ea typeface="Meiryo" pitchFamily="34" charset="-122"/>
                <a:cs typeface="Meiryo" pitchFamily="34" charset="-120"/>
              </a:rPr>
              <a:t>経済的な見返りは禁止</a:t>
            </a:r>
            <a:endParaRPr lang="en-US" sz="1450" dirty="0"/>
          </a:p>
        </p:txBody>
      </p:sp>
      <p:sp>
        <p:nvSpPr>
          <p:cNvPr id="17" name="Text 15"/>
          <p:cNvSpPr txBox="1"/>
          <p:nvPr/>
        </p:nvSpPr>
        <p:spPr>
          <a:xfrm>
            <a:off x="4700016" y="3401568"/>
            <a:ext cx="2825496" cy="566928"/>
          </a:xfrm>
          <a:prstGeom prst="rect">
            <a:avLst/>
          </a:prstGeom>
          <a:noFill/>
          <a:ln/>
        </p:spPr>
        <p:txBody>
          <a:bodyPr wrap="square" lIns="0" tIns="0" rIns="0" bIns="0" rtlCol="0" anchor="t"/>
          <a:lstStyle/>
          <a:p>
            <a:pPr indent="0" marL="0">
              <a:lnSpc>
                <a:spcPts val="1700"/>
              </a:lnSpc>
              <a:buNone/>
            </a:pPr>
            <a:r>
              <a:rPr lang="en-US" sz="1100" b="1" dirty="0">
                <a:solidFill>
                  <a:srgbClr val="C1762C"/>
                </a:solidFill>
                <a:latin typeface="Meiryo" pitchFamily="34" charset="0"/>
                <a:ea typeface="Meiryo" pitchFamily="34" charset="-122"/>
                <a:cs typeface="Meiryo" pitchFamily="34" charset="-120"/>
              </a:rPr>
              <a:t>返礼品や便宜供与は認められない。</a:t>
            </a:r>
            <a:endParaRPr lang="en-US" sz="1100" dirty="0"/>
          </a:p>
        </p:txBody>
      </p:sp>
      <p:sp>
        <p:nvSpPr>
          <p:cNvPr id="18" name="Text 16"/>
          <p:cNvSpPr txBox="1"/>
          <p:nvPr/>
        </p:nvSpPr>
        <p:spPr>
          <a:xfrm>
            <a:off x="4700016" y="4059936"/>
            <a:ext cx="2825496" cy="1325880"/>
          </a:xfrm>
          <a:prstGeom prst="rect">
            <a:avLst/>
          </a:prstGeom>
          <a:noFill/>
          <a:ln/>
        </p:spPr>
        <p:txBody>
          <a:bodyPr wrap="square" lIns="0" tIns="0" rIns="0" bIns="0" rtlCol="0" anchor="t"/>
          <a:lstStyle/>
          <a:p>
            <a:pPr indent="0" marL="0">
              <a:lnSpc>
                <a:spcPts val="1650"/>
              </a:lnSpc>
              <a:buNone/>
            </a:pPr>
            <a:r>
              <a:rPr lang="en-US" sz="1050" dirty="0">
                <a:solidFill>
                  <a:srgbClr val="23302A"/>
                </a:solidFill>
                <a:latin typeface="Meiryo" pitchFamily="34" charset="0"/>
                <a:ea typeface="Meiryo" pitchFamily="34" charset="-122"/>
                <a:cs typeface="Meiryo" pitchFamily="34" charset="-120"/>
              </a:rPr>
              <a:t>→ 企業への価値は、共同発信・ロゴ掲出・CO2等の環境価値レポートといった非経済的なものに限る。木材の購入やクレジット取得は、寄付とは別建ての商取引として明確に切り分ける。</a:t>
            </a:r>
            <a:endParaRPr lang="en-US" sz="1050" dirty="0"/>
          </a:p>
        </p:txBody>
      </p:sp>
      <p:sp>
        <p:nvSpPr>
          <p:cNvPr id="19" name="Shape 17"/>
          <p:cNvSpPr/>
          <p:nvPr/>
        </p:nvSpPr>
        <p:spPr>
          <a:xfrm>
            <a:off x="8101584" y="1755648"/>
            <a:ext cx="3465576" cy="3611880"/>
          </a:xfrm>
          <a:prstGeom prst="roundRect">
            <a:avLst>
              <a:gd name="adj" fmla="val 2375"/>
            </a:avLst>
          </a:prstGeom>
          <a:solidFill>
            <a:srgbClr val="FAEEDF"/>
          </a:solidFill>
          <a:ln/>
        </p:spPr>
      </p:sp>
      <p:sp>
        <p:nvSpPr>
          <p:cNvPr id="20" name="Shape 18"/>
          <p:cNvSpPr/>
          <p:nvPr/>
        </p:nvSpPr>
        <p:spPr>
          <a:xfrm>
            <a:off x="8421624" y="1993392"/>
            <a:ext cx="969264" cy="292608"/>
          </a:xfrm>
          <a:prstGeom prst="roundRect">
            <a:avLst>
              <a:gd name="adj" fmla="val 46875"/>
            </a:avLst>
          </a:prstGeom>
          <a:solidFill>
            <a:srgbClr val="C1762C"/>
          </a:solidFill>
          <a:ln/>
        </p:spPr>
      </p:sp>
      <p:sp>
        <p:nvSpPr>
          <p:cNvPr id="21" name="Text 19"/>
          <p:cNvSpPr txBox="1"/>
          <p:nvPr/>
        </p:nvSpPr>
        <p:spPr>
          <a:xfrm>
            <a:off x="8421624" y="1993392"/>
            <a:ext cx="969264"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制約 03</a:t>
            </a:r>
            <a:endParaRPr lang="en-US" sz="1050" dirty="0"/>
          </a:p>
        </p:txBody>
      </p:sp>
      <p:sp>
        <p:nvSpPr>
          <p:cNvPr id="22" name="Text 20"/>
          <p:cNvSpPr txBox="1"/>
          <p:nvPr/>
        </p:nvSpPr>
        <p:spPr>
          <a:xfrm>
            <a:off x="8421624" y="2432304"/>
            <a:ext cx="2825496" cy="868680"/>
          </a:xfrm>
          <a:prstGeom prst="rect">
            <a:avLst/>
          </a:prstGeom>
          <a:noFill/>
          <a:ln/>
        </p:spPr>
        <p:txBody>
          <a:bodyPr wrap="square" lIns="0" tIns="0" rIns="0" bIns="0" rtlCol="0" anchor="t"/>
          <a:lstStyle/>
          <a:p>
            <a:pPr indent="0" marL="0">
              <a:lnSpc>
                <a:spcPts val="2300"/>
              </a:lnSpc>
              <a:buNone/>
            </a:pPr>
            <a:r>
              <a:rPr lang="en-US" sz="1450" b="1" dirty="0">
                <a:solidFill>
                  <a:srgbClr val="1B3D24"/>
                </a:solidFill>
                <a:latin typeface="Meiryo" pitchFamily="34" charset="0"/>
                <a:ea typeface="Meiryo" pitchFamily="34" charset="-122"/>
                <a:cs typeface="Meiryo" pitchFamily="34" charset="-120"/>
              </a:rPr>
              <a:t>地域再生計画への位置づけと</a:t>
            </a:r>
            <a:endParaRPr lang="en-US" sz="1450" dirty="0"/>
          </a:p>
          <a:p>
            <a:pPr indent="0" marL="0">
              <a:lnSpc>
                <a:spcPts val="2300"/>
              </a:lnSpc>
              <a:buNone/>
            </a:pPr>
            <a:r>
              <a:rPr lang="en-US" sz="1450" b="1" dirty="0">
                <a:solidFill>
                  <a:srgbClr val="1B3D24"/>
                </a:solidFill>
                <a:latin typeface="Meiryo" pitchFamily="34" charset="0"/>
                <a:ea typeface="Meiryo" pitchFamily="34" charset="-122"/>
                <a:cs typeface="Meiryo" pitchFamily="34" charset="-120"/>
              </a:rPr>
              <a:t>適用期限</a:t>
            </a:r>
            <a:endParaRPr lang="en-US" sz="1450" dirty="0"/>
          </a:p>
        </p:txBody>
      </p:sp>
      <p:sp>
        <p:nvSpPr>
          <p:cNvPr id="23" name="Text 21"/>
          <p:cNvSpPr txBox="1"/>
          <p:nvPr/>
        </p:nvSpPr>
        <p:spPr>
          <a:xfrm>
            <a:off x="8421624" y="3401568"/>
            <a:ext cx="2825496" cy="566928"/>
          </a:xfrm>
          <a:prstGeom prst="rect">
            <a:avLst/>
          </a:prstGeom>
          <a:noFill/>
          <a:ln/>
        </p:spPr>
        <p:txBody>
          <a:bodyPr wrap="square" lIns="0" tIns="0" rIns="0" bIns="0" rtlCol="0" anchor="t"/>
          <a:lstStyle/>
          <a:p>
            <a:pPr indent="0" marL="0">
              <a:lnSpc>
                <a:spcPts val="1700"/>
              </a:lnSpc>
              <a:buNone/>
            </a:pPr>
            <a:r>
              <a:rPr lang="en-US" sz="1100" b="1" dirty="0">
                <a:solidFill>
                  <a:srgbClr val="C1762C"/>
                </a:solidFill>
                <a:latin typeface="Meiryo" pitchFamily="34" charset="0"/>
                <a:ea typeface="Meiryo" pitchFamily="34" charset="-122"/>
                <a:cs typeface="Meiryo" pitchFamily="34" charset="-120"/>
              </a:rPr>
              <a:t>市の地域再生計画に事業を位置づけ、国の認定を受ける必要がある。</a:t>
            </a:r>
            <a:endParaRPr lang="en-US" sz="1100" dirty="0"/>
          </a:p>
        </p:txBody>
      </p:sp>
      <p:sp>
        <p:nvSpPr>
          <p:cNvPr id="24" name="Text 22"/>
          <p:cNvSpPr txBox="1"/>
          <p:nvPr/>
        </p:nvSpPr>
        <p:spPr>
          <a:xfrm>
            <a:off x="8421624" y="4059936"/>
            <a:ext cx="2825496" cy="1325880"/>
          </a:xfrm>
          <a:prstGeom prst="rect">
            <a:avLst/>
          </a:prstGeom>
          <a:noFill/>
          <a:ln/>
        </p:spPr>
        <p:txBody>
          <a:bodyPr wrap="square" lIns="0" tIns="0" rIns="0" bIns="0" rtlCol="0" anchor="t"/>
          <a:lstStyle/>
          <a:p>
            <a:pPr indent="0" marL="0">
              <a:lnSpc>
                <a:spcPts val="1650"/>
              </a:lnSpc>
              <a:buNone/>
            </a:pPr>
            <a:r>
              <a:rPr lang="en-US" sz="1050" dirty="0">
                <a:solidFill>
                  <a:srgbClr val="23302A"/>
                </a:solidFill>
                <a:latin typeface="Meiryo" pitchFamily="34" charset="0"/>
                <a:ea typeface="Meiryo" pitchFamily="34" charset="-122"/>
                <a:cs typeface="Meiryo" pitchFamily="34" charset="-120"/>
              </a:rPr>
              <a:t>→ 税額控除の特例には適用期限があるため、認定申請の時期から逆算した準備が要る。第4章の施策は、この認定単位に収まるよう組み立てる。</a:t>
            </a:r>
            <a:endParaRPr lang="en-US" sz="1050" dirty="0"/>
          </a:p>
        </p:txBody>
      </p:sp>
      <p:sp>
        <p:nvSpPr>
          <p:cNvPr id="25" name="Text 23"/>
          <p:cNvSpPr txBox="1"/>
          <p:nvPr/>
        </p:nvSpPr>
        <p:spPr>
          <a:xfrm>
            <a:off x="658368" y="5715000"/>
            <a:ext cx="10874959" cy="274320"/>
          </a:xfrm>
          <a:prstGeom prst="rect">
            <a:avLst/>
          </a:prstGeom>
          <a:noFill/>
          <a:ln/>
        </p:spPr>
        <p:txBody>
          <a:bodyPr wrap="square" lIns="0" tIns="0" rIns="0" bIns="0" rtlCol="0" anchor="t"/>
          <a:lstStyle/>
          <a:p>
            <a:pPr indent="0" marL="0">
              <a:buNone/>
            </a:pPr>
            <a:r>
              <a:rPr lang="en-US" sz="950" dirty="0">
                <a:solidFill>
                  <a:srgbClr val="5F6B64"/>
                </a:solidFill>
                <a:latin typeface="Meiryo" pitchFamily="34" charset="0"/>
                <a:ea typeface="Meiryo" pitchFamily="34" charset="-122"/>
                <a:cs typeface="Meiryo" pitchFamily="34" charset="-120"/>
              </a:rPr>
              <a:t>※ 制度要件（対象事業・寄付下限額・税額控除の水準・適用期限等）は、内閣府「企業版ふるさと納税ポータルサイト」および東京都・八王子市の運用で最終確認する。</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OVERVIEW</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事業の全体像｜6つの施策</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19</a:t>
            </a:r>
            <a:endParaRPr lang="en-US" sz="900" dirty="0"/>
          </a:p>
        </p:txBody>
      </p:sp>
      <p:sp>
        <p:nvSpPr>
          <p:cNvPr id="6" name="Shape 4"/>
          <p:cNvSpPr/>
          <p:nvPr/>
        </p:nvSpPr>
        <p:spPr>
          <a:xfrm>
            <a:off x="658368" y="1664208"/>
            <a:ext cx="3465576" cy="3200400"/>
          </a:xfrm>
          <a:prstGeom prst="roundRect">
            <a:avLst>
              <a:gd name="adj" fmla="val 2571"/>
            </a:avLst>
          </a:prstGeom>
          <a:solidFill>
            <a:srgbClr val="EAF1E0"/>
          </a:solidFill>
          <a:ln/>
        </p:spPr>
      </p:sp>
      <p:sp>
        <p:nvSpPr>
          <p:cNvPr id="7" name="Text 5"/>
          <p:cNvSpPr txBox="1"/>
          <p:nvPr/>
        </p:nvSpPr>
        <p:spPr>
          <a:xfrm>
            <a:off x="978408" y="1901952"/>
            <a:ext cx="2825496" cy="237744"/>
          </a:xfrm>
          <a:prstGeom prst="rect">
            <a:avLst/>
          </a:prstGeom>
          <a:noFill/>
          <a:ln/>
        </p:spPr>
        <p:txBody>
          <a:bodyPr wrap="square" lIns="0" tIns="0" rIns="0" bIns="0" rtlCol="0" anchor="t"/>
          <a:lstStyle/>
          <a:p>
            <a:pPr indent="0" marL="0">
              <a:buNone/>
            </a:pPr>
            <a:r>
              <a:rPr lang="en-US" sz="1050" b="1" spc="120" kern="0" dirty="0">
                <a:solidFill>
                  <a:srgbClr val="C1762C"/>
                </a:solidFill>
                <a:latin typeface="Meiryo" pitchFamily="34" charset="0"/>
                <a:ea typeface="Meiryo" pitchFamily="34" charset="-122"/>
                <a:cs typeface="Meiryo" pitchFamily="34" charset="-120"/>
              </a:rPr>
              <a:t>STEP 1</a:t>
            </a:r>
            <a:endParaRPr lang="en-US" sz="1050" dirty="0"/>
          </a:p>
        </p:txBody>
      </p:sp>
      <p:sp>
        <p:nvSpPr>
          <p:cNvPr id="8" name="Text 6"/>
          <p:cNvSpPr txBox="1"/>
          <p:nvPr/>
        </p:nvSpPr>
        <p:spPr>
          <a:xfrm>
            <a:off x="978408" y="2194560"/>
            <a:ext cx="2825496" cy="365760"/>
          </a:xfrm>
          <a:prstGeom prst="rect">
            <a:avLst/>
          </a:prstGeom>
          <a:noFill/>
          <a:ln/>
        </p:spPr>
        <p:txBody>
          <a:bodyPr wrap="square" lIns="0" tIns="0" rIns="0" bIns="0" rtlCol="0" anchor="t"/>
          <a:lstStyle/>
          <a:p>
            <a:pPr indent="0" marL="0">
              <a:buNone/>
            </a:pPr>
            <a:r>
              <a:rPr lang="en-US" sz="1800" b="1" dirty="0">
                <a:solidFill>
                  <a:srgbClr val="1B3D24"/>
                </a:solidFill>
                <a:latin typeface="Meiryo" pitchFamily="34" charset="0"/>
                <a:ea typeface="Meiryo" pitchFamily="34" charset="-122"/>
                <a:cs typeface="Meiryo" pitchFamily="34" charset="-120"/>
              </a:rPr>
              <a:t>基盤をつくる</a:t>
            </a:r>
            <a:endParaRPr lang="en-US" sz="1800" dirty="0"/>
          </a:p>
        </p:txBody>
      </p:sp>
      <p:sp>
        <p:nvSpPr>
          <p:cNvPr id="9" name="Shape 7"/>
          <p:cNvSpPr/>
          <p:nvPr/>
        </p:nvSpPr>
        <p:spPr>
          <a:xfrm>
            <a:off x="978408" y="2761488"/>
            <a:ext cx="2825496" cy="594360"/>
          </a:xfrm>
          <a:prstGeom prst="roundRect">
            <a:avLst>
              <a:gd name="adj" fmla="val 12308"/>
            </a:avLst>
          </a:prstGeom>
          <a:solidFill>
            <a:srgbClr val="FFFFFF"/>
          </a:solidFill>
          <a:ln/>
        </p:spPr>
      </p:sp>
      <p:sp>
        <p:nvSpPr>
          <p:cNvPr id="10" name="Text 8"/>
          <p:cNvSpPr txBox="1"/>
          <p:nvPr/>
        </p:nvSpPr>
        <p:spPr>
          <a:xfrm>
            <a:off x="1069848" y="2761488"/>
            <a:ext cx="365760" cy="594360"/>
          </a:xfrm>
          <a:prstGeom prst="rect">
            <a:avLst/>
          </a:prstGeom>
          <a:noFill/>
          <a:ln/>
        </p:spPr>
        <p:txBody>
          <a:bodyPr wrap="square" lIns="0" tIns="0" rIns="0" bIns="0" rtlCol="0" anchor="ctr"/>
          <a:lstStyle/>
          <a:p>
            <a:pPr indent="0" marL="0">
              <a:buNone/>
            </a:pPr>
            <a:r>
              <a:rPr lang="en-US" sz="1300" b="1" dirty="0">
                <a:solidFill>
                  <a:srgbClr val="C1762C"/>
                </a:solidFill>
                <a:latin typeface="Meiryo" pitchFamily="34" charset="0"/>
                <a:ea typeface="Meiryo" pitchFamily="34" charset="-122"/>
                <a:cs typeface="Meiryo" pitchFamily="34" charset="-120"/>
              </a:rPr>
              <a:t>①</a:t>
            </a:r>
            <a:endParaRPr lang="en-US" sz="1300" dirty="0"/>
          </a:p>
        </p:txBody>
      </p:sp>
      <p:sp>
        <p:nvSpPr>
          <p:cNvPr id="11" name="Text 9"/>
          <p:cNvSpPr txBox="1"/>
          <p:nvPr/>
        </p:nvSpPr>
        <p:spPr>
          <a:xfrm>
            <a:off x="1463040" y="2761488"/>
            <a:ext cx="2295144" cy="594360"/>
          </a:xfrm>
          <a:prstGeom prst="rect">
            <a:avLst/>
          </a:prstGeom>
          <a:noFill/>
          <a:ln/>
        </p:spPr>
        <p:txBody>
          <a:bodyPr wrap="square" lIns="0" tIns="0" rIns="0" bIns="0" rtlCol="0" anchor="ctr"/>
          <a:lstStyle/>
          <a:p>
            <a:pPr indent="0" marL="0">
              <a:lnSpc>
                <a:spcPts val="1500"/>
              </a:lnSpc>
              <a:buNone/>
            </a:pPr>
            <a:r>
              <a:rPr lang="en-US" sz="1050" b="1" dirty="0">
                <a:solidFill>
                  <a:srgbClr val="1B3D24"/>
                </a:solidFill>
                <a:latin typeface="Meiryo" pitchFamily="34" charset="0"/>
                <a:ea typeface="Meiryo" pitchFamily="34" charset="-122"/>
                <a:cs typeface="Meiryo" pitchFamily="34" charset="-120"/>
              </a:rPr>
              <a:t>八王子「森の50年ビジョン」</a:t>
            </a:r>
            <a:endParaRPr lang="en-US" sz="1050" dirty="0"/>
          </a:p>
        </p:txBody>
      </p:sp>
      <p:sp>
        <p:nvSpPr>
          <p:cNvPr id="12" name="Shape 10"/>
          <p:cNvSpPr/>
          <p:nvPr/>
        </p:nvSpPr>
        <p:spPr>
          <a:xfrm>
            <a:off x="978408" y="3474720"/>
            <a:ext cx="2825496" cy="594360"/>
          </a:xfrm>
          <a:prstGeom prst="roundRect">
            <a:avLst>
              <a:gd name="adj" fmla="val 12308"/>
            </a:avLst>
          </a:prstGeom>
          <a:solidFill>
            <a:srgbClr val="FFFFFF"/>
          </a:solidFill>
          <a:ln/>
        </p:spPr>
      </p:sp>
      <p:sp>
        <p:nvSpPr>
          <p:cNvPr id="13" name="Text 11"/>
          <p:cNvSpPr txBox="1"/>
          <p:nvPr/>
        </p:nvSpPr>
        <p:spPr>
          <a:xfrm>
            <a:off x="1069848" y="3474720"/>
            <a:ext cx="365760" cy="594360"/>
          </a:xfrm>
          <a:prstGeom prst="rect">
            <a:avLst/>
          </a:prstGeom>
          <a:noFill/>
          <a:ln/>
        </p:spPr>
        <p:txBody>
          <a:bodyPr wrap="square" lIns="0" tIns="0" rIns="0" bIns="0" rtlCol="0" anchor="ctr"/>
          <a:lstStyle/>
          <a:p>
            <a:pPr indent="0" marL="0">
              <a:buNone/>
            </a:pPr>
            <a:r>
              <a:rPr lang="en-US" sz="1300" b="1" dirty="0">
                <a:solidFill>
                  <a:srgbClr val="C1762C"/>
                </a:solidFill>
                <a:latin typeface="Meiryo" pitchFamily="34" charset="0"/>
                <a:ea typeface="Meiryo" pitchFamily="34" charset="-122"/>
                <a:cs typeface="Meiryo" pitchFamily="34" charset="-120"/>
              </a:rPr>
              <a:t>②</a:t>
            </a:r>
            <a:endParaRPr lang="en-US" sz="1300" dirty="0"/>
          </a:p>
        </p:txBody>
      </p:sp>
      <p:sp>
        <p:nvSpPr>
          <p:cNvPr id="14" name="Text 12"/>
          <p:cNvSpPr txBox="1"/>
          <p:nvPr/>
        </p:nvSpPr>
        <p:spPr>
          <a:xfrm>
            <a:off x="1463040" y="3474720"/>
            <a:ext cx="2295144" cy="594360"/>
          </a:xfrm>
          <a:prstGeom prst="rect">
            <a:avLst/>
          </a:prstGeom>
          <a:noFill/>
          <a:ln/>
        </p:spPr>
        <p:txBody>
          <a:bodyPr wrap="square" lIns="0" tIns="0" rIns="0" bIns="0" rtlCol="0" anchor="ctr"/>
          <a:lstStyle/>
          <a:p>
            <a:pPr indent="0" marL="0">
              <a:lnSpc>
                <a:spcPts val="1500"/>
              </a:lnSpc>
              <a:buNone/>
            </a:pPr>
            <a:r>
              <a:rPr lang="en-US" sz="1050" b="1" dirty="0">
                <a:solidFill>
                  <a:srgbClr val="1B3D24"/>
                </a:solidFill>
                <a:latin typeface="Meiryo" pitchFamily="34" charset="0"/>
                <a:ea typeface="Meiryo" pitchFamily="34" charset="-122"/>
                <a:cs typeface="Meiryo" pitchFamily="34" charset="-120"/>
              </a:rPr>
              <a:t>「森のカルテ」森林データ基盤</a:t>
            </a:r>
            <a:endParaRPr lang="en-US" sz="1050" dirty="0"/>
          </a:p>
        </p:txBody>
      </p:sp>
      <p:sp>
        <p:nvSpPr>
          <p:cNvPr id="15" name="Shape 13"/>
          <p:cNvSpPr/>
          <p:nvPr/>
        </p:nvSpPr>
        <p:spPr>
          <a:xfrm>
            <a:off x="4142232" y="3063240"/>
            <a:ext cx="219456" cy="219456"/>
          </a:xfrm>
          <a:prstGeom prst="rightArrow">
            <a:avLst/>
          </a:prstGeom>
          <a:solidFill>
            <a:srgbClr val="C1762C"/>
          </a:solidFill>
          <a:ln/>
        </p:spPr>
      </p:sp>
      <p:sp>
        <p:nvSpPr>
          <p:cNvPr id="16" name="Shape 14"/>
          <p:cNvSpPr/>
          <p:nvPr/>
        </p:nvSpPr>
        <p:spPr>
          <a:xfrm>
            <a:off x="4379976" y="1664208"/>
            <a:ext cx="3465576" cy="3200400"/>
          </a:xfrm>
          <a:prstGeom prst="roundRect">
            <a:avLst>
              <a:gd name="adj" fmla="val 2571"/>
            </a:avLst>
          </a:prstGeom>
          <a:solidFill>
            <a:srgbClr val="F4F6F1"/>
          </a:solidFill>
          <a:ln w="12700">
            <a:solidFill>
              <a:srgbClr val="DCE3D8"/>
            </a:solidFill>
            <a:prstDash val="solid"/>
          </a:ln>
        </p:spPr>
      </p:sp>
      <p:sp>
        <p:nvSpPr>
          <p:cNvPr id="17" name="Text 15"/>
          <p:cNvSpPr txBox="1"/>
          <p:nvPr/>
        </p:nvSpPr>
        <p:spPr>
          <a:xfrm>
            <a:off x="4700016" y="1901952"/>
            <a:ext cx="2825496" cy="237744"/>
          </a:xfrm>
          <a:prstGeom prst="rect">
            <a:avLst/>
          </a:prstGeom>
          <a:noFill/>
          <a:ln/>
        </p:spPr>
        <p:txBody>
          <a:bodyPr wrap="square" lIns="0" tIns="0" rIns="0" bIns="0" rtlCol="0" anchor="t"/>
          <a:lstStyle/>
          <a:p>
            <a:pPr indent="0" marL="0">
              <a:buNone/>
            </a:pPr>
            <a:r>
              <a:rPr lang="en-US" sz="1050" b="1" spc="120" kern="0" dirty="0">
                <a:solidFill>
                  <a:srgbClr val="C1762C"/>
                </a:solidFill>
                <a:latin typeface="Meiryo" pitchFamily="34" charset="0"/>
                <a:ea typeface="Meiryo" pitchFamily="34" charset="-122"/>
                <a:cs typeface="Meiryo" pitchFamily="34" charset="-120"/>
              </a:rPr>
              <a:t>STEP 2</a:t>
            </a:r>
            <a:endParaRPr lang="en-US" sz="1050" dirty="0"/>
          </a:p>
        </p:txBody>
      </p:sp>
      <p:sp>
        <p:nvSpPr>
          <p:cNvPr id="18" name="Text 16"/>
          <p:cNvSpPr txBox="1"/>
          <p:nvPr/>
        </p:nvSpPr>
        <p:spPr>
          <a:xfrm>
            <a:off x="4700016" y="2194560"/>
            <a:ext cx="2825496" cy="365760"/>
          </a:xfrm>
          <a:prstGeom prst="rect">
            <a:avLst/>
          </a:prstGeom>
          <a:noFill/>
          <a:ln/>
        </p:spPr>
        <p:txBody>
          <a:bodyPr wrap="square" lIns="0" tIns="0" rIns="0" bIns="0" rtlCol="0" anchor="t"/>
          <a:lstStyle/>
          <a:p>
            <a:pPr indent="0" marL="0">
              <a:buNone/>
            </a:pPr>
            <a:r>
              <a:rPr lang="en-US" sz="1800" b="1" dirty="0">
                <a:solidFill>
                  <a:srgbClr val="1B3D24"/>
                </a:solidFill>
                <a:latin typeface="Meiryo" pitchFamily="34" charset="0"/>
                <a:ea typeface="Meiryo" pitchFamily="34" charset="-122"/>
                <a:cs typeface="Meiryo" pitchFamily="34" charset="-120"/>
              </a:rPr>
              <a:t>出口をつくる</a:t>
            </a:r>
            <a:endParaRPr lang="en-US" sz="1800" dirty="0"/>
          </a:p>
        </p:txBody>
      </p:sp>
      <p:sp>
        <p:nvSpPr>
          <p:cNvPr id="19" name="Shape 17"/>
          <p:cNvSpPr/>
          <p:nvPr/>
        </p:nvSpPr>
        <p:spPr>
          <a:xfrm>
            <a:off x="4700016" y="2761488"/>
            <a:ext cx="2825496" cy="594360"/>
          </a:xfrm>
          <a:prstGeom prst="roundRect">
            <a:avLst>
              <a:gd name="adj" fmla="val 12308"/>
            </a:avLst>
          </a:prstGeom>
          <a:solidFill>
            <a:srgbClr val="FFFFFF"/>
          </a:solidFill>
          <a:ln/>
        </p:spPr>
      </p:sp>
      <p:sp>
        <p:nvSpPr>
          <p:cNvPr id="20" name="Text 18"/>
          <p:cNvSpPr txBox="1"/>
          <p:nvPr/>
        </p:nvSpPr>
        <p:spPr>
          <a:xfrm>
            <a:off x="4791456" y="2761488"/>
            <a:ext cx="365760" cy="594360"/>
          </a:xfrm>
          <a:prstGeom prst="rect">
            <a:avLst/>
          </a:prstGeom>
          <a:noFill/>
          <a:ln/>
        </p:spPr>
        <p:txBody>
          <a:bodyPr wrap="square" lIns="0" tIns="0" rIns="0" bIns="0" rtlCol="0" anchor="ctr"/>
          <a:lstStyle/>
          <a:p>
            <a:pPr indent="0" marL="0">
              <a:buNone/>
            </a:pPr>
            <a:r>
              <a:rPr lang="en-US" sz="1300" b="1" dirty="0">
                <a:solidFill>
                  <a:srgbClr val="C1762C"/>
                </a:solidFill>
                <a:latin typeface="Meiryo" pitchFamily="34" charset="0"/>
                <a:ea typeface="Meiryo" pitchFamily="34" charset="-122"/>
                <a:cs typeface="Meiryo" pitchFamily="34" charset="-120"/>
              </a:rPr>
              <a:t>③</a:t>
            </a:r>
            <a:endParaRPr lang="en-US" sz="1300" dirty="0"/>
          </a:p>
        </p:txBody>
      </p:sp>
      <p:sp>
        <p:nvSpPr>
          <p:cNvPr id="21" name="Text 19"/>
          <p:cNvSpPr txBox="1"/>
          <p:nvPr/>
        </p:nvSpPr>
        <p:spPr>
          <a:xfrm>
            <a:off x="5184648" y="2761488"/>
            <a:ext cx="2295144" cy="594360"/>
          </a:xfrm>
          <a:prstGeom prst="rect">
            <a:avLst/>
          </a:prstGeom>
          <a:noFill/>
          <a:ln/>
        </p:spPr>
        <p:txBody>
          <a:bodyPr wrap="square" lIns="0" tIns="0" rIns="0" bIns="0" rtlCol="0" anchor="ctr"/>
          <a:lstStyle/>
          <a:p>
            <a:pPr indent="0" marL="0">
              <a:lnSpc>
                <a:spcPts val="1500"/>
              </a:lnSpc>
              <a:buNone/>
            </a:pPr>
            <a:r>
              <a:rPr lang="en-US" sz="1050" b="1" dirty="0">
                <a:solidFill>
                  <a:srgbClr val="1B3D24"/>
                </a:solidFill>
                <a:latin typeface="Meiryo" pitchFamily="34" charset="0"/>
                <a:ea typeface="Meiryo" pitchFamily="34" charset="-122"/>
                <a:cs typeface="Meiryo" pitchFamily="34" charset="-120"/>
              </a:rPr>
              <a:t>八王子産材の需要先を“先に”つくる</a:t>
            </a:r>
            <a:endParaRPr lang="en-US" sz="1050" dirty="0"/>
          </a:p>
        </p:txBody>
      </p:sp>
      <p:sp>
        <p:nvSpPr>
          <p:cNvPr id="22" name="Shape 20"/>
          <p:cNvSpPr/>
          <p:nvPr/>
        </p:nvSpPr>
        <p:spPr>
          <a:xfrm>
            <a:off x="4700016" y="3474720"/>
            <a:ext cx="2825496" cy="594360"/>
          </a:xfrm>
          <a:prstGeom prst="roundRect">
            <a:avLst>
              <a:gd name="adj" fmla="val 12308"/>
            </a:avLst>
          </a:prstGeom>
          <a:solidFill>
            <a:srgbClr val="FFFFFF"/>
          </a:solidFill>
          <a:ln/>
        </p:spPr>
      </p:sp>
      <p:sp>
        <p:nvSpPr>
          <p:cNvPr id="23" name="Text 21"/>
          <p:cNvSpPr txBox="1"/>
          <p:nvPr/>
        </p:nvSpPr>
        <p:spPr>
          <a:xfrm>
            <a:off x="4791456" y="3474720"/>
            <a:ext cx="365760" cy="594360"/>
          </a:xfrm>
          <a:prstGeom prst="rect">
            <a:avLst/>
          </a:prstGeom>
          <a:noFill/>
          <a:ln/>
        </p:spPr>
        <p:txBody>
          <a:bodyPr wrap="square" lIns="0" tIns="0" rIns="0" bIns="0" rtlCol="0" anchor="ctr"/>
          <a:lstStyle/>
          <a:p>
            <a:pPr indent="0" marL="0">
              <a:buNone/>
            </a:pPr>
            <a:r>
              <a:rPr lang="en-US" sz="1300" b="1" dirty="0">
                <a:solidFill>
                  <a:srgbClr val="C1762C"/>
                </a:solidFill>
                <a:latin typeface="Meiryo" pitchFamily="34" charset="0"/>
                <a:ea typeface="Meiryo" pitchFamily="34" charset="-122"/>
                <a:cs typeface="Meiryo" pitchFamily="34" charset="-120"/>
              </a:rPr>
              <a:t>④</a:t>
            </a:r>
            <a:endParaRPr lang="en-US" sz="1300" dirty="0"/>
          </a:p>
        </p:txBody>
      </p:sp>
      <p:sp>
        <p:nvSpPr>
          <p:cNvPr id="24" name="Text 22"/>
          <p:cNvSpPr txBox="1"/>
          <p:nvPr/>
        </p:nvSpPr>
        <p:spPr>
          <a:xfrm>
            <a:off x="5184648" y="3474720"/>
            <a:ext cx="2295144" cy="594360"/>
          </a:xfrm>
          <a:prstGeom prst="rect">
            <a:avLst/>
          </a:prstGeom>
          <a:noFill/>
          <a:ln/>
        </p:spPr>
        <p:txBody>
          <a:bodyPr wrap="square" lIns="0" tIns="0" rIns="0" bIns="0" rtlCol="0" anchor="ctr"/>
          <a:lstStyle/>
          <a:p>
            <a:pPr indent="0" marL="0">
              <a:lnSpc>
                <a:spcPts val="1500"/>
              </a:lnSpc>
              <a:buNone/>
            </a:pPr>
            <a:r>
              <a:rPr lang="en-US" sz="1050" b="1" dirty="0">
                <a:solidFill>
                  <a:srgbClr val="1B3D24"/>
                </a:solidFill>
                <a:latin typeface="Meiryo" pitchFamily="34" charset="0"/>
                <a:ea typeface="Meiryo" pitchFamily="34" charset="-122"/>
                <a:cs typeface="Meiryo" pitchFamily="34" charset="-120"/>
              </a:rPr>
              <a:t>人生の節目 × 八王子の森</a:t>
            </a:r>
            <a:endParaRPr lang="en-US" sz="1050" dirty="0"/>
          </a:p>
        </p:txBody>
      </p:sp>
      <p:sp>
        <p:nvSpPr>
          <p:cNvPr id="25" name="Shape 23"/>
          <p:cNvSpPr/>
          <p:nvPr/>
        </p:nvSpPr>
        <p:spPr>
          <a:xfrm>
            <a:off x="4700016" y="4187952"/>
            <a:ext cx="2825496" cy="594360"/>
          </a:xfrm>
          <a:prstGeom prst="roundRect">
            <a:avLst>
              <a:gd name="adj" fmla="val 12308"/>
            </a:avLst>
          </a:prstGeom>
          <a:solidFill>
            <a:srgbClr val="FFFFFF"/>
          </a:solidFill>
          <a:ln/>
        </p:spPr>
      </p:sp>
      <p:sp>
        <p:nvSpPr>
          <p:cNvPr id="26" name="Text 24"/>
          <p:cNvSpPr txBox="1"/>
          <p:nvPr/>
        </p:nvSpPr>
        <p:spPr>
          <a:xfrm>
            <a:off x="4791456" y="4187952"/>
            <a:ext cx="365760" cy="594360"/>
          </a:xfrm>
          <a:prstGeom prst="rect">
            <a:avLst/>
          </a:prstGeom>
          <a:noFill/>
          <a:ln/>
        </p:spPr>
        <p:txBody>
          <a:bodyPr wrap="square" lIns="0" tIns="0" rIns="0" bIns="0" rtlCol="0" anchor="ctr"/>
          <a:lstStyle/>
          <a:p>
            <a:pPr indent="0" marL="0">
              <a:buNone/>
            </a:pPr>
            <a:r>
              <a:rPr lang="en-US" sz="1300" b="1" dirty="0">
                <a:solidFill>
                  <a:srgbClr val="C1762C"/>
                </a:solidFill>
                <a:latin typeface="Meiryo" pitchFamily="34" charset="0"/>
                <a:ea typeface="Meiryo" pitchFamily="34" charset="-122"/>
                <a:cs typeface="Meiryo" pitchFamily="34" charset="-120"/>
              </a:rPr>
              <a:t>⑤</a:t>
            </a:r>
            <a:endParaRPr lang="en-US" sz="1300" dirty="0"/>
          </a:p>
        </p:txBody>
      </p:sp>
      <p:sp>
        <p:nvSpPr>
          <p:cNvPr id="27" name="Text 25"/>
          <p:cNvSpPr txBox="1"/>
          <p:nvPr/>
        </p:nvSpPr>
        <p:spPr>
          <a:xfrm>
            <a:off x="5184648" y="4187952"/>
            <a:ext cx="2295144" cy="594360"/>
          </a:xfrm>
          <a:prstGeom prst="rect">
            <a:avLst/>
          </a:prstGeom>
          <a:noFill/>
          <a:ln/>
        </p:spPr>
        <p:txBody>
          <a:bodyPr wrap="square" lIns="0" tIns="0" rIns="0" bIns="0" rtlCol="0" anchor="ctr"/>
          <a:lstStyle/>
          <a:p>
            <a:pPr indent="0" marL="0">
              <a:lnSpc>
                <a:spcPts val="1500"/>
              </a:lnSpc>
              <a:buNone/>
            </a:pPr>
            <a:r>
              <a:rPr lang="en-US" sz="1050" b="1" dirty="0">
                <a:solidFill>
                  <a:srgbClr val="1B3D24"/>
                </a:solidFill>
                <a:latin typeface="Meiryo" pitchFamily="34" charset="0"/>
                <a:ea typeface="Meiryo" pitchFamily="34" charset="-122"/>
                <a:cs typeface="Meiryo" pitchFamily="34" charset="-120"/>
              </a:rPr>
              <a:t>「森のパートナー企業」制度</a:t>
            </a:r>
            <a:endParaRPr lang="en-US" sz="1050" dirty="0"/>
          </a:p>
        </p:txBody>
      </p:sp>
      <p:sp>
        <p:nvSpPr>
          <p:cNvPr id="28" name="Shape 26"/>
          <p:cNvSpPr/>
          <p:nvPr/>
        </p:nvSpPr>
        <p:spPr>
          <a:xfrm>
            <a:off x="7863840" y="3063240"/>
            <a:ext cx="219456" cy="219456"/>
          </a:xfrm>
          <a:prstGeom prst="rightArrow">
            <a:avLst/>
          </a:prstGeom>
          <a:solidFill>
            <a:srgbClr val="C1762C"/>
          </a:solidFill>
          <a:ln/>
        </p:spPr>
      </p:sp>
      <p:sp>
        <p:nvSpPr>
          <p:cNvPr id="29" name="Shape 27"/>
          <p:cNvSpPr/>
          <p:nvPr/>
        </p:nvSpPr>
        <p:spPr>
          <a:xfrm>
            <a:off x="8101584" y="1664208"/>
            <a:ext cx="3465576" cy="3200400"/>
          </a:xfrm>
          <a:prstGeom prst="roundRect">
            <a:avLst>
              <a:gd name="adj" fmla="val 2571"/>
            </a:avLst>
          </a:prstGeom>
          <a:solidFill>
            <a:srgbClr val="EAF1E0"/>
          </a:solidFill>
          <a:ln/>
        </p:spPr>
      </p:sp>
      <p:sp>
        <p:nvSpPr>
          <p:cNvPr id="30" name="Text 28"/>
          <p:cNvSpPr txBox="1"/>
          <p:nvPr/>
        </p:nvSpPr>
        <p:spPr>
          <a:xfrm>
            <a:off x="8421624" y="1901952"/>
            <a:ext cx="2825496" cy="237744"/>
          </a:xfrm>
          <a:prstGeom prst="rect">
            <a:avLst/>
          </a:prstGeom>
          <a:noFill/>
          <a:ln/>
        </p:spPr>
        <p:txBody>
          <a:bodyPr wrap="square" lIns="0" tIns="0" rIns="0" bIns="0" rtlCol="0" anchor="t"/>
          <a:lstStyle/>
          <a:p>
            <a:pPr indent="0" marL="0">
              <a:buNone/>
            </a:pPr>
            <a:r>
              <a:rPr lang="en-US" sz="1050" b="1" spc="120" kern="0" dirty="0">
                <a:solidFill>
                  <a:srgbClr val="C1762C"/>
                </a:solidFill>
                <a:latin typeface="Meiryo" pitchFamily="34" charset="0"/>
                <a:ea typeface="Meiryo" pitchFamily="34" charset="-122"/>
                <a:cs typeface="Meiryo" pitchFamily="34" charset="-120"/>
              </a:rPr>
              <a:t>STEP 3</a:t>
            </a:r>
            <a:endParaRPr lang="en-US" sz="1050" dirty="0"/>
          </a:p>
        </p:txBody>
      </p:sp>
      <p:sp>
        <p:nvSpPr>
          <p:cNvPr id="31" name="Text 29"/>
          <p:cNvSpPr txBox="1"/>
          <p:nvPr/>
        </p:nvSpPr>
        <p:spPr>
          <a:xfrm>
            <a:off x="8421624" y="2194560"/>
            <a:ext cx="2825496" cy="365760"/>
          </a:xfrm>
          <a:prstGeom prst="rect">
            <a:avLst/>
          </a:prstGeom>
          <a:noFill/>
          <a:ln/>
        </p:spPr>
        <p:txBody>
          <a:bodyPr wrap="square" lIns="0" tIns="0" rIns="0" bIns="0" rtlCol="0" anchor="t"/>
          <a:lstStyle/>
          <a:p>
            <a:pPr indent="0" marL="0">
              <a:buNone/>
            </a:pPr>
            <a:r>
              <a:rPr lang="en-US" sz="1800" b="1" dirty="0">
                <a:solidFill>
                  <a:srgbClr val="1B3D24"/>
                </a:solidFill>
                <a:latin typeface="Meiryo" pitchFamily="34" charset="0"/>
                <a:ea typeface="Meiryo" pitchFamily="34" charset="-122"/>
                <a:cs typeface="Meiryo" pitchFamily="34" charset="-120"/>
              </a:rPr>
              <a:t>価値を売り、森に還す</a:t>
            </a:r>
            <a:endParaRPr lang="en-US" sz="1800" dirty="0"/>
          </a:p>
        </p:txBody>
      </p:sp>
      <p:sp>
        <p:nvSpPr>
          <p:cNvPr id="32" name="Shape 30"/>
          <p:cNvSpPr/>
          <p:nvPr/>
        </p:nvSpPr>
        <p:spPr>
          <a:xfrm>
            <a:off x="8421624" y="2761488"/>
            <a:ext cx="2825496" cy="594360"/>
          </a:xfrm>
          <a:prstGeom prst="roundRect">
            <a:avLst>
              <a:gd name="adj" fmla="val 12308"/>
            </a:avLst>
          </a:prstGeom>
          <a:solidFill>
            <a:srgbClr val="FFFFFF"/>
          </a:solidFill>
          <a:ln/>
        </p:spPr>
      </p:sp>
      <p:sp>
        <p:nvSpPr>
          <p:cNvPr id="33" name="Text 31"/>
          <p:cNvSpPr txBox="1"/>
          <p:nvPr/>
        </p:nvSpPr>
        <p:spPr>
          <a:xfrm>
            <a:off x="8513064" y="2761488"/>
            <a:ext cx="365760" cy="594360"/>
          </a:xfrm>
          <a:prstGeom prst="rect">
            <a:avLst/>
          </a:prstGeom>
          <a:noFill/>
          <a:ln/>
        </p:spPr>
        <p:txBody>
          <a:bodyPr wrap="square" lIns="0" tIns="0" rIns="0" bIns="0" rtlCol="0" anchor="ctr"/>
          <a:lstStyle/>
          <a:p>
            <a:pPr indent="0" marL="0">
              <a:buNone/>
            </a:pPr>
            <a:r>
              <a:rPr lang="en-US" sz="1300" b="1" dirty="0">
                <a:solidFill>
                  <a:srgbClr val="C1762C"/>
                </a:solidFill>
                <a:latin typeface="Meiryo" pitchFamily="34" charset="0"/>
                <a:ea typeface="Meiryo" pitchFamily="34" charset="-122"/>
                <a:cs typeface="Meiryo" pitchFamily="34" charset="-120"/>
              </a:rPr>
              <a:t>⑥</a:t>
            </a:r>
            <a:endParaRPr lang="en-US" sz="1300" dirty="0"/>
          </a:p>
        </p:txBody>
      </p:sp>
      <p:sp>
        <p:nvSpPr>
          <p:cNvPr id="34" name="Text 32"/>
          <p:cNvSpPr txBox="1"/>
          <p:nvPr/>
        </p:nvSpPr>
        <p:spPr>
          <a:xfrm>
            <a:off x="8906256" y="2761488"/>
            <a:ext cx="2295144" cy="594360"/>
          </a:xfrm>
          <a:prstGeom prst="rect">
            <a:avLst/>
          </a:prstGeom>
          <a:noFill/>
          <a:ln/>
        </p:spPr>
        <p:txBody>
          <a:bodyPr wrap="square" lIns="0" tIns="0" rIns="0" bIns="0" rtlCol="0" anchor="ctr"/>
          <a:lstStyle/>
          <a:p>
            <a:pPr indent="0" marL="0">
              <a:lnSpc>
                <a:spcPts val="1500"/>
              </a:lnSpc>
              <a:buNone/>
            </a:pPr>
            <a:r>
              <a:rPr lang="en-US" sz="1050" b="1" dirty="0">
                <a:solidFill>
                  <a:srgbClr val="1B3D24"/>
                </a:solidFill>
                <a:latin typeface="Meiryo" pitchFamily="34" charset="0"/>
                <a:ea typeface="Meiryo" pitchFamily="34" charset="-122"/>
                <a:cs typeface="Meiryo" pitchFamily="34" charset="-120"/>
              </a:rPr>
              <a:t>J-クレジット・環境価値との接続</a:t>
            </a:r>
            <a:endParaRPr lang="en-US" sz="1050" dirty="0"/>
          </a:p>
        </p:txBody>
      </p:sp>
      <p:sp>
        <p:nvSpPr>
          <p:cNvPr id="35" name="Shape 33"/>
          <p:cNvSpPr/>
          <p:nvPr/>
        </p:nvSpPr>
        <p:spPr>
          <a:xfrm>
            <a:off x="8421624" y="3474720"/>
            <a:ext cx="2825496" cy="594360"/>
          </a:xfrm>
          <a:prstGeom prst="roundRect">
            <a:avLst>
              <a:gd name="adj" fmla="val 12308"/>
            </a:avLst>
          </a:prstGeom>
          <a:solidFill>
            <a:srgbClr val="FFFFFF"/>
          </a:solidFill>
          <a:ln/>
        </p:spPr>
      </p:sp>
      <p:sp>
        <p:nvSpPr>
          <p:cNvPr id="36" name="Text 34"/>
          <p:cNvSpPr txBox="1"/>
          <p:nvPr/>
        </p:nvSpPr>
        <p:spPr>
          <a:xfrm>
            <a:off x="8513064" y="3474720"/>
            <a:ext cx="365760" cy="594360"/>
          </a:xfrm>
          <a:prstGeom prst="rect">
            <a:avLst/>
          </a:prstGeom>
          <a:noFill/>
          <a:ln/>
        </p:spPr>
        <p:txBody>
          <a:bodyPr wrap="square" lIns="0" tIns="0" rIns="0" bIns="0" rtlCol="0" anchor="ctr"/>
          <a:lstStyle/>
          <a:p>
            <a:pPr indent="0" marL="0">
              <a:buNone/>
            </a:pPr>
            <a:endParaRPr lang="en-US" sz="1300" dirty="0"/>
          </a:p>
        </p:txBody>
      </p:sp>
      <p:sp>
        <p:nvSpPr>
          <p:cNvPr id="37" name="Text 35"/>
          <p:cNvSpPr txBox="1"/>
          <p:nvPr/>
        </p:nvSpPr>
        <p:spPr>
          <a:xfrm>
            <a:off x="8906256" y="3474720"/>
            <a:ext cx="2295144" cy="594360"/>
          </a:xfrm>
          <a:prstGeom prst="rect">
            <a:avLst/>
          </a:prstGeom>
          <a:noFill/>
          <a:ln/>
        </p:spPr>
        <p:txBody>
          <a:bodyPr wrap="square" lIns="0" tIns="0" rIns="0" bIns="0" rtlCol="0" anchor="ctr"/>
          <a:lstStyle/>
          <a:p>
            <a:pPr indent="0" marL="0">
              <a:lnSpc>
                <a:spcPts val="1500"/>
              </a:lnSpc>
              <a:buNone/>
            </a:pPr>
            <a:r>
              <a:rPr lang="en-US" sz="1050" b="1" dirty="0">
                <a:solidFill>
                  <a:srgbClr val="1B3D24"/>
                </a:solidFill>
                <a:latin typeface="Meiryo" pitchFamily="34" charset="0"/>
                <a:ea typeface="Meiryo" pitchFamily="34" charset="-122"/>
                <a:cs typeface="Meiryo" pitchFamily="34" charset="-120"/>
              </a:rPr>
              <a:t>収益の森林整備への還元スキーム</a:t>
            </a:r>
            <a:endParaRPr lang="en-US" sz="1050" dirty="0"/>
          </a:p>
        </p:txBody>
      </p:sp>
      <p:sp>
        <p:nvSpPr>
          <p:cNvPr id="38" name="Shape 36"/>
          <p:cNvSpPr/>
          <p:nvPr/>
        </p:nvSpPr>
        <p:spPr>
          <a:xfrm>
            <a:off x="658368" y="5047488"/>
            <a:ext cx="10874959" cy="777240"/>
          </a:xfrm>
          <a:prstGeom prst="roundRect">
            <a:avLst>
              <a:gd name="adj" fmla="val 10588"/>
            </a:avLst>
          </a:prstGeom>
          <a:solidFill>
            <a:srgbClr val="24512F"/>
          </a:solidFill>
          <a:ln/>
        </p:spPr>
      </p:sp>
      <p:sp>
        <p:nvSpPr>
          <p:cNvPr id="39" name="Text 37"/>
          <p:cNvSpPr txBox="1"/>
          <p:nvPr/>
        </p:nvSpPr>
        <p:spPr>
          <a:xfrm>
            <a:off x="658368" y="5047488"/>
            <a:ext cx="10874959"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調べる　→　描く　→　整備する　→　売る　→　還す　　この一連を、ひとつの事業として設計・運営する。</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ACTION 01 / 02</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基盤をつくる｜森の50年ビジョンと「森のカルテ」</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20</a:t>
            </a:r>
            <a:endParaRPr lang="en-US" sz="900" dirty="0"/>
          </a:p>
        </p:txBody>
      </p:sp>
      <p:sp>
        <p:nvSpPr>
          <p:cNvPr id="6" name="Shape 4"/>
          <p:cNvSpPr/>
          <p:nvPr/>
        </p:nvSpPr>
        <p:spPr>
          <a:xfrm>
            <a:off x="658368" y="1645920"/>
            <a:ext cx="5294376" cy="3977640"/>
          </a:xfrm>
          <a:prstGeom prst="roundRect">
            <a:avLst>
              <a:gd name="adj" fmla="val 2069"/>
            </a:avLst>
          </a:prstGeom>
          <a:solidFill>
            <a:srgbClr val="F4F6F1"/>
          </a:solidFill>
          <a:ln w="12700">
            <a:solidFill>
              <a:srgbClr val="DCE3D8"/>
            </a:solidFill>
            <a:prstDash val="solid"/>
          </a:ln>
        </p:spPr>
      </p:sp>
      <p:sp>
        <p:nvSpPr>
          <p:cNvPr id="7" name="Shape 5"/>
          <p:cNvSpPr/>
          <p:nvPr/>
        </p:nvSpPr>
        <p:spPr>
          <a:xfrm>
            <a:off x="978408" y="1901952"/>
            <a:ext cx="548640" cy="548640"/>
          </a:xfrm>
          <a:prstGeom prst="ellipse">
            <a:avLst/>
          </a:prstGeom>
          <a:solidFill>
            <a:srgbClr val="24512F"/>
          </a:solidFill>
          <a:ln/>
        </p:spPr>
      </p:sp>
      <p:sp>
        <p:nvSpPr>
          <p:cNvPr id="8" name="Text 6"/>
          <p:cNvSpPr txBox="1"/>
          <p:nvPr/>
        </p:nvSpPr>
        <p:spPr>
          <a:xfrm>
            <a:off x="978408" y="190195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①</a:t>
            </a:r>
            <a:endParaRPr lang="en-US" sz="1500" dirty="0"/>
          </a:p>
        </p:txBody>
      </p:sp>
      <p:sp>
        <p:nvSpPr>
          <p:cNvPr id="9" name="Text 7"/>
          <p:cNvSpPr txBox="1"/>
          <p:nvPr/>
        </p:nvSpPr>
        <p:spPr>
          <a:xfrm>
            <a:off x="1682496" y="1975104"/>
            <a:ext cx="3931920" cy="329184"/>
          </a:xfrm>
          <a:prstGeom prst="rect">
            <a:avLst/>
          </a:prstGeom>
          <a:noFill/>
          <a:ln/>
        </p:spPr>
        <p:txBody>
          <a:bodyPr wrap="square" lIns="0" tIns="0" rIns="0" bIns="0" rtlCol="0" anchor="t"/>
          <a:lstStyle/>
          <a:p>
            <a:pPr indent="0" marL="0">
              <a:buNone/>
            </a:pPr>
            <a:r>
              <a:rPr lang="en-US" sz="1600" b="1" dirty="0">
                <a:solidFill>
                  <a:srgbClr val="1B3D24"/>
                </a:solidFill>
                <a:latin typeface="Meiryo" pitchFamily="34" charset="0"/>
                <a:ea typeface="Meiryo" pitchFamily="34" charset="-122"/>
                <a:cs typeface="Meiryo" pitchFamily="34" charset="-120"/>
              </a:rPr>
              <a:t>八王子「森の50年ビジョン」</a:t>
            </a:r>
            <a:endParaRPr lang="en-US" sz="1600" dirty="0"/>
          </a:p>
        </p:txBody>
      </p:sp>
      <p:sp>
        <p:nvSpPr>
          <p:cNvPr id="10" name="Text 8"/>
          <p:cNvSpPr txBox="1"/>
          <p:nvPr/>
        </p:nvSpPr>
        <p:spPr>
          <a:xfrm>
            <a:off x="978408" y="2606040"/>
            <a:ext cx="4663440" cy="123444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23302A"/>
                </a:solidFill>
                <a:latin typeface="Meiryo" pitchFamily="34" charset="0"/>
                <a:ea typeface="Meiryo" pitchFamily="34" charset="-122"/>
                <a:cs typeface="Meiryo" pitchFamily="34" charset="-120"/>
              </a:rPr>
              <a:t>森林所有者・林業事業者・市民・企業・専門家を巻き込み、「50年後の八王子の森をどうするか」を描く</a:t>
            </a:r>
            <a:endParaRPr lang="en-US" sz="1150" dirty="0"/>
          </a:p>
          <a:p>
            <a:pPr marL="342900" indent="-342900">
              <a:lnSpc>
                <a:spcPts val="1800"/>
              </a:lnSpc>
              <a:spcAft>
                <a:spcPts val="700"/>
              </a:spcAft>
              <a:buSzPct val="100000"/>
              <a:buChar char="▪"/>
            </a:pPr>
            <a:r>
              <a:rPr lang="en-US" sz="1150" dirty="0">
                <a:solidFill>
                  <a:srgbClr val="23302A"/>
                </a:solidFill>
                <a:latin typeface="Meiryo" pitchFamily="34" charset="0"/>
                <a:ea typeface="Meiryo" pitchFamily="34" charset="-122"/>
                <a:cs typeface="Meiryo" pitchFamily="34" charset="-120"/>
              </a:rPr>
              <a:t>「伐る／伐らない」の二択ではなく、森林ごとに役割を配分する</a:t>
            </a:r>
            <a:endParaRPr lang="en-US" sz="1150" dirty="0"/>
          </a:p>
        </p:txBody>
      </p:sp>
      <p:sp>
        <p:nvSpPr>
          <p:cNvPr id="11" name="Text 9"/>
          <p:cNvSpPr txBox="1"/>
          <p:nvPr/>
        </p:nvSpPr>
        <p:spPr>
          <a:xfrm>
            <a:off x="978408" y="3913632"/>
            <a:ext cx="4663440" cy="256032"/>
          </a:xfrm>
          <a:prstGeom prst="rect">
            <a:avLst/>
          </a:prstGeom>
          <a:noFill/>
          <a:ln/>
        </p:spPr>
        <p:txBody>
          <a:bodyPr wrap="square" lIns="0" tIns="0" rIns="0" bIns="0" rtlCol="0" anchor="t"/>
          <a:lstStyle/>
          <a:p>
            <a:pPr indent="0" marL="0">
              <a:buNone/>
            </a:pPr>
            <a:r>
              <a:rPr lang="en-US" sz="1100" b="1" dirty="0">
                <a:solidFill>
                  <a:srgbClr val="5E7F3C"/>
                </a:solidFill>
                <a:latin typeface="Meiryo" pitchFamily="34" charset="0"/>
                <a:ea typeface="Meiryo" pitchFamily="34" charset="-122"/>
                <a:cs typeface="Meiryo" pitchFamily="34" charset="-120"/>
              </a:rPr>
              <a:t>森林ごとに整理する役割</a:t>
            </a:r>
            <a:endParaRPr lang="en-US" sz="1100" dirty="0"/>
          </a:p>
        </p:txBody>
      </p:sp>
      <p:sp>
        <p:nvSpPr>
          <p:cNvPr id="12" name="Shape 10"/>
          <p:cNvSpPr/>
          <p:nvPr/>
        </p:nvSpPr>
        <p:spPr>
          <a:xfrm>
            <a:off x="978408" y="4224528"/>
            <a:ext cx="869594" cy="274320"/>
          </a:xfrm>
          <a:prstGeom prst="roundRect">
            <a:avLst>
              <a:gd name="adj" fmla="val 46667"/>
            </a:avLst>
          </a:prstGeom>
          <a:solidFill>
            <a:srgbClr val="EAF1E0"/>
          </a:solidFill>
          <a:ln/>
        </p:spPr>
      </p:sp>
      <p:sp>
        <p:nvSpPr>
          <p:cNvPr id="13" name="Text 11"/>
          <p:cNvSpPr txBox="1"/>
          <p:nvPr/>
        </p:nvSpPr>
        <p:spPr>
          <a:xfrm>
            <a:off x="978408" y="4224528"/>
            <a:ext cx="869594"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木材生産</a:t>
            </a:r>
            <a:endParaRPr lang="en-US" sz="1050" dirty="0"/>
          </a:p>
        </p:txBody>
      </p:sp>
      <p:sp>
        <p:nvSpPr>
          <p:cNvPr id="14" name="Shape 12"/>
          <p:cNvSpPr/>
          <p:nvPr/>
        </p:nvSpPr>
        <p:spPr>
          <a:xfrm>
            <a:off x="1948586" y="4224528"/>
            <a:ext cx="1018413" cy="274320"/>
          </a:xfrm>
          <a:prstGeom prst="roundRect">
            <a:avLst>
              <a:gd name="adj" fmla="val 46667"/>
            </a:avLst>
          </a:prstGeom>
          <a:solidFill>
            <a:srgbClr val="EAF1E0"/>
          </a:solidFill>
          <a:ln/>
        </p:spPr>
      </p:sp>
      <p:sp>
        <p:nvSpPr>
          <p:cNvPr id="15" name="Text 13"/>
          <p:cNvSpPr txBox="1"/>
          <p:nvPr/>
        </p:nvSpPr>
        <p:spPr>
          <a:xfrm>
            <a:off x="1948586" y="4224528"/>
            <a:ext cx="1018413"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生物多様性</a:t>
            </a:r>
            <a:endParaRPr lang="en-US" sz="1050" dirty="0"/>
          </a:p>
        </p:txBody>
      </p:sp>
      <p:sp>
        <p:nvSpPr>
          <p:cNvPr id="16" name="Shape 14"/>
          <p:cNvSpPr/>
          <p:nvPr/>
        </p:nvSpPr>
        <p:spPr>
          <a:xfrm>
            <a:off x="3067583" y="4224528"/>
            <a:ext cx="571957" cy="274320"/>
          </a:xfrm>
          <a:prstGeom prst="roundRect">
            <a:avLst>
              <a:gd name="adj" fmla="val 46667"/>
            </a:avLst>
          </a:prstGeom>
          <a:solidFill>
            <a:srgbClr val="EAF1E0"/>
          </a:solidFill>
          <a:ln/>
        </p:spPr>
      </p:sp>
      <p:sp>
        <p:nvSpPr>
          <p:cNvPr id="17" name="Text 15"/>
          <p:cNvSpPr txBox="1"/>
          <p:nvPr/>
        </p:nvSpPr>
        <p:spPr>
          <a:xfrm>
            <a:off x="3067583" y="4224528"/>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防災</a:t>
            </a:r>
            <a:endParaRPr lang="en-US" sz="1050" dirty="0"/>
          </a:p>
        </p:txBody>
      </p:sp>
      <p:sp>
        <p:nvSpPr>
          <p:cNvPr id="18" name="Shape 16"/>
          <p:cNvSpPr/>
          <p:nvPr/>
        </p:nvSpPr>
        <p:spPr>
          <a:xfrm>
            <a:off x="3740125" y="4224528"/>
            <a:ext cx="869594" cy="274320"/>
          </a:xfrm>
          <a:prstGeom prst="roundRect">
            <a:avLst>
              <a:gd name="adj" fmla="val 46667"/>
            </a:avLst>
          </a:prstGeom>
          <a:solidFill>
            <a:srgbClr val="EAF1E0"/>
          </a:solidFill>
          <a:ln/>
        </p:spPr>
      </p:sp>
      <p:sp>
        <p:nvSpPr>
          <p:cNvPr id="19" name="Text 17"/>
          <p:cNvSpPr txBox="1"/>
          <p:nvPr/>
        </p:nvSpPr>
        <p:spPr>
          <a:xfrm>
            <a:off x="3740125" y="4224528"/>
            <a:ext cx="869594"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水源涵養</a:t>
            </a:r>
            <a:endParaRPr lang="en-US" sz="1050" dirty="0"/>
          </a:p>
        </p:txBody>
      </p:sp>
      <p:sp>
        <p:nvSpPr>
          <p:cNvPr id="20" name="Shape 18"/>
          <p:cNvSpPr/>
          <p:nvPr/>
        </p:nvSpPr>
        <p:spPr>
          <a:xfrm>
            <a:off x="4710303" y="4224528"/>
            <a:ext cx="571957" cy="274320"/>
          </a:xfrm>
          <a:prstGeom prst="roundRect">
            <a:avLst>
              <a:gd name="adj" fmla="val 46667"/>
            </a:avLst>
          </a:prstGeom>
          <a:solidFill>
            <a:srgbClr val="EAF1E0"/>
          </a:solidFill>
          <a:ln/>
        </p:spPr>
      </p:sp>
      <p:sp>
        <p:nvSpPr>
          <p:cNvPr id="21" name="Text 19"/>
          <p:cNvSpPr txBox="1"/>
          <p:nvPr/>
        </p:nvSpPr>
        <p:spPr>
          <a:xfrm>
            <a:off x="4710303" y="4224528"/>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景観</a:t>
            </a:r>
            <a:endParaRPr lang="en-US" sz="1050" dirty="0"/>
          </a:p>
        </p:txBody>
      </p:sp>
      <p:sp>
        <p:nvSpPr>
          <p:cNvPr id="22" name="Shape 20"/>
          <p:cNvSpPr/>
          <p:nvPr/>
        </p:nvSpPr>
        <p:spPr>
          <a:xfrm>
            <a:off x="978408" y="4599432"/>
            <a:ext cx="1464869" cy="274320"/>
          </a:xfrm>
          <a:prstGeom prst="roundRect">
            <a:avLst>
              <a:gd name="adj" fmla="val 46667"/>
            </a:avLst>
          </a:prstGeom>
          <a:solidFill>
            <a:srgbClr val="EAF1E0"/>
          </a:solidFill>
          <a:ln/>
        </p:spPr>
      </p:sp>
      <p:sp>
        <p:nvSpPr>
          <p:cNvPr id="23" name="Text 21"/>
          <p:cNvSpPr txBox="1"/>
          <p:nvPr/>
        </p:nvSpPr>
        <p:spPr>
          <a:xfrm>
            <a:off x="978408" y="4599432"/>
            <a:ext cx="1464869"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レクリエーション</a:t>
            </a:r>
            <a:endParaRPr lang="en-US" sz="1050" dirty="0"/>
          </a:p>
        </p:txBody>
      </p:sp>
      <p:sp>
        <p:nvSpPr>
          <p:cNvPr id="24" name="Shape 22"/>
          <p:cNvSpPr/>
          <p:nvPr/>
        </p:nvSpPr>
        <p:spPr>
          <a:xfrm>
            <a:off x="2543861" y="4599432"/>
            <a:ext cx="571957" cy="274320"/>
          </a:xfrm>
          <a:prstGeom prst="roundRect">
            <a:avLst>
              <a:gd name="adj" fmla="val 46667"/>
            </a:avLst>
          </a:prstGeom>
          <a:solidFill>
            <a:srgbClr val="EAF1E0"/>
          </a:solidFill>
          <a:ln/>
        </p:spPr>
      </p:sp>
      <p:sp>
        <p:nvSpPr>
          <p:cNvPr id="25" name="Text 23"/>
          <p:cNvSpPr txBox="1"/>
          <p:nvPr/>
        </p:nvSpPr>
        <p:spPr>
          <a:xfrm>
            <a:off x="2543861" y="4599432"/>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教育</a:t>
            </a:r>
            <a:endParaRPr lang="en-US" sz="1050" dirty="0"/>
          </a:p>
        </p:txBody>
      </p:sp>
      <p:sp>
        <p:nvSpPr>
          <p:cNvPr id="26" name="Shape 24"/>
          <p:cNvSpPr/>
          <p:nvPr/>
        </p:nvSpPr>
        <p:spPr>
          <a:xfrm>
            <a:off x="3216402" y="4599432"/>
            <a:ext cx="1018413" cy="274320"/>
          </a:xfrm>
          <a:prstGeom prst="roundRect">
            <a:avLst>
              <a:gd name="adj" fmla="val 46667"/>
            </a:avLst>
          </a:prstGeom>
          <a:solidFill>
            <a:srgbClr val="EAF1E0"/>
          </a:solidFill>
          <a:ln/>
        </p:spPr>
      </p:sp>
      <p:sp>
        <p:nvSpPr>
          <p:cNvPr id="27" name="Text 25"/>
          <p:cNvSpPr txBox="1"/>
          <p:nvPr/>
        </p:nvSpPr>
        <p:spPr>
          <a:xfrm>
            <a:off x="3216402" y="4599432"/>
            <a:ext cx="1018413"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CO2吸収</a:t>
            </a:r>
            <a:endParaRPr lang="en-US" sz="1050" dirty="0"/>
          </a:p>
        </p:txBody>
      </p:sp>
      <p:sp>
        <p:nvSpPr>
          <p:cNvPr id="28" name="Shape 26"/>
          <p:cNvSpPr/>
          <p:nvPr/>
        </p:nvSpPr>
        <p:spPr>
          <a:xfrm>
            <a:off x="6245352" y="1645920"/>
            <a:ext cx="5294376" cy="3977640"/>
          </a:xfrm>
          <a:prstGeom prst="roundRect">
            <a:avLst>
              <a:gd name="adj" fmla="val 2069"/>
            </a:avLst>
          </a:prstGeom>
          <a:solidFill>
            <a:srgbClr val="F4F6F1"/>
          </a:solidFill>
          <a:ln w="12700">
            <a:solidFill>
              <a:srgbClr val="DCE3D8"/>
            </a:solidFill>
            <a:prstDash val="solid"/>
          </a:ln>
        </p:spPr>
      </p:sp>
      <p:sp>
        <p:nvSpPr>
          <p:cNvPr id="29" name="Shape 27"/>
          <p:cNvSpPr/>
          <p:nvPr/>
        </p:nvSpPr>
        <p:spPr>
          <a:xfrm>
            <a:off x="6565392" y="1901952"/>
            <a:ext cx="548640" cy="548640"/>
          </a:xfrm>
          <a:prstGeom prst="ellipse">
            <a:avLst/>
          </a:prstGeom>
          <a:solidFill>
            <a:srgbClr val="24512F"/>
          </a:solidFill>
          <a:ln/>
        </p:spPr>
      </p:sp>
      <p:sp>
        <p:nvSpPr>
          <p:cNvPr id="30" name="Text 28"/>
          <p:cNvSpPr txBox="1"/>
          <p:nvPr/>
        </p:nvSpPr>
        <p:spPr>
          <a:xfrm>
            <a:off x="6565392" y="190195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②</a:t>
            </a:r>
            <a:endParaRPr lang="en-US" sz="1500" dirty="0"/>
          </a:p>
        </p:txBody>
      </p:sp>
      <p:sp>
        <p:nvSpPr>
          <p:cNvPr id="31" name="Text 29"/>
          <p:cNvSpPr txBox="1"/>
          <p:nvPr/>
        </p:nvSpPr>
        <p:spPr>
          <a:xfrm>
            <a:off x="7269480" y="1975104"/>
            <a:ext cx="3931920" cy="329184"/>
          </a:xfrm>
          <a:prstGeom prst="rect">
            <a:avLst/>
          </a:prstGeom>
          <a:noFill/>
          <a:ln/>
        </p:spPr>
        <p:txBody>
          <a:bodyPr wrap="square" lIns="0" tIns="0" rIns="0" bIns="0" rtlCol="0" anchor="t"/>
          <a:lstStyle/>
          <a:p>
            <a:pPr indent="0" marL="0">
              <a:buNone/>
            </a:pPr>
            <a:r>
              <a:rPr lang="en-US" sz="1600" b="1" dirty="0">
                <a:solidFill>
                  <a:srgbClr val="1B3D24"/>
                </a:solidFill>
                <a:latin typeface="Meiryo" pitchFamily="34" charset="0"/>
                <a:ea typeface="Meiryo" pitchFamily="34" charset="-122"/>
                <a:cs typeface="Meiryo" pitchFamily="34" charset="-120"/>
              </a:rPr>
              <a:t>「森のカルテ」＝森林データ基盤</a:t>
            </a:r>
            <a:endParaRPr lang="en-US" sz="1600" dirty="0"/>
          </a:p>
        </p:txBody>
      </p:sp>
      <p:sp>
        <p:nvSpPr>
          <p:cNvPr id="32" name="Text 30"/>
          <p:cNvSpPr txBox="1"/>
          <p:nvPr/>
        </p:nvSpPr>
        <p:spPr>
          <a:xfrm>
            <a:off x="6565392" y="2606040"/>
            <a:ext cx="4663440" cy="256032"/>
          </a:xfrm>
          <a:prstGeom prst="rect">
            <a:avLst/>
          </a:prstGeom>
          <a:noFill/>
          <a:ln/>
        </p:spPr>
        <p:txBody>
          <a:bodyPr wrap="square" lIns="0" tIns="0" rIns="0" bIns="0" rtlCol="0" anchor="t"/>
          <a:lstStyle/>
          <a:p>
            <a:pPr indent="0" marL="0">
              <a:buNone/>
            </a:pPr>
            <a:r>
              <a:rPr lang="en-US" sz="1150" dirty="0">
                <a:solidFill>
                  <a:srgbClr val="23302A"/>
                </a:solidFill>
                <a:latin typeface="Meiryo" pitchFamily="34" charset="0"/>
                <a:ea typeface="Meiryo" pitchFamily="34" charset="-122"/>
                <a:cs typeface="Meiryo" pitchFamily="34" charset="-120"/>
              </a:rPr>
              <a:t>森林ごとに、次の情報を可視化する。</a:t>
            </a:r>
            <a:endParaRPr lang="en-US" sz="1150" dirty="0"/>
          </a:p>
        </p:txBody>
      </p:sp>
      <p:sp>
        <p:nvSpPr>
          <p:cNvPr id="33" name="Shape 31"/>
          <p:cNvSpPr/>
          <p:nvPr/>
        </p:nvSpPr>
        <p:spPr>
          <a:xfrm>
            <a:off x="6565392" y="2944368"/>
            <a:ext cx="571957" cy="274320"/>
          </a:xfrm>
          <a:prstGeom prst="roundRect">
            <a:avLst>
              <a:gd name="adj" fmla="val 46667"/>
            </a:avLst>
          </a:prstGeom>
          <a:solidFill>
            <a:srgbClr val="EAF1E0"/>
          </a:solidFill>
          <a:ln/>
        </p:spPr>
      </p:sp>
      <p:sp>
        <p:nvSpPr>
          <p:cNvPr id="34" name="Text 32"/>
          <p:cNvSpPr txBox="1"/>
          <p:nvPr/>
        </p:nvSpPr>
        <p:spPr>
          <a:xfrm>
            <a:off x="6565392" y="2944368"/>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樹種</a:t>
            </a:r>
            <a:endParaRPr lang="en-US" sz="1050" dirty="0"/>
          </a:p>
        </p:txBody>
      </p:sp>
      <p:sp>
        <p:nvSpPr>
          <p:cNvPr id="35" name="Shape 33"/>
          <p:cNvSpPr/>
          <p:nvPr/>
        </p:nvSpPr>
        <p:spPr>
          <a:xfrm>
            <a:off x="7237933" y="2944368"/>
            <a:ext cx="571957" cy="274320"/>
          </a:xfrm>
          <a:prstGeom prst="roundRect">
            <a:avLst>
              <a:gd name="adj" fmla="val 46667"/>
            </a:avLst>
          </a:prstGeom>
          <a:solidFill>
            <a:srgbClr val="EAF1E0"/>
          </a:solidFill>
          <a:ln/>
        </p:spPr>
      </p:sp>
      <p:sp>
        <p:nvSpPr>
          <p:cNvPr id="36" name="Text 34"/>
          <p:cNvSpPr txBox="1"/>
          <p:nvPr/>
        </p:nvSpPr>
        <p:spPr>
          <a:xfrm>
            <a:off x="7237933" y="2944368"/>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林齢</a:t>
            </a:r>
            <a:endParaRPr lang="en-US" sz="1050" dirty="0"/>
          </a:p>
        </p:txBody>
      </p:sp>
      <p:sp>
        <p:nvSpPr>
          <p:cNvPr id="37" name="Shape 35"/>
          <p:cNvSpPr/>
          <p:nvPr/>
        </p:nvSpPr>
        <p:spPr>
          <a:xfrm>
            <a:off x="7910474" y="2944368"/>
            <a:ext cx="571957" cy="274320"/>
          </a:xfrm>
          <a:prstGeom prst="roundRect">
            <a:avLst>
              <a:gd name="adj" fmla="val 46667"/>
            </a:avLst>
          </a:prstGeom>
          <a:solidFill>
            <a:srgbClr val="EAF1E0"/>
          </a:solidFill>
          <a:ln/>
        </p:spPr>
      </p:sp>
      <p:sp>
        <p:nvSpPr>
          <p:cNvPr id="38" name="Text 36"/>
          <p:cNvSpPr txBox="1"/>
          <p:nvPr/>
        </p:nvSpPr>
        <p:spPr>
          <a:xfrm>
            <a:off x="7910474" y="2944368"/>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面積</a:t>
            </a:r>
            <a:endParaRPr lang="en-US" sz="1050" dirty="0"/>
          </a:p>
        </p:txBody>
      </p:sp>
      <p:sp>
        <p:nvSpPr>
          <p:cNvPr id="39" name="Shape 37"/>
          <p:cNvSpPr/>
          <p:nvPr/>
        </p:nvSpPr>
        <p:spPr>
          <a:xfrm>
            <a:off x="8583016" y="2944368"/>
            <a:ext cx="720776" cy="274320"/>
          </a:xfrm>
          <a:prstGeom prst="roundRect">
            <a:avLst>
              <a:gd name="adj" fmla="val 46667"/>
            </a:avLst>
          </a:prstGeom>
          <a:solidFill>
            <a:srgbClr val="EAF1E0"/>
          </a:solidFill>
          <a:ln/>
        </p:spPr>
      </p:sp>
      <p:sp>
        <p:nvSpPr>
          <p:cNvPr id="40" name="Text 38"/>
          <p:cNvSpPr txBox="1"/>
          <p:nvPr/>
        </p:nvSpPr>
        <p:spPr>
          <a:xfrm>
            <a:off x="8583016" y="2944368"/>
            <a:ext cx="720776"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所有者</a:t>
            </a:r>
            <a:endParaRPr lang="en-US" sz="1050" dirty="0"/>
          </a:p>
        </p:txBody>
      </p:sp>
      <p:sp>
        <p:nvSpPr>
          <p:cNvPr id="41" name="Shape 39"/>
          <p:cNvSpPr/>
          <p:nvPr/>
        </p:nvSpPr>
        <p:spPr>
          <a:xfrm>
            <a:off x="9404375" y="2944368"/>
            <a:ext cx="1018413" cy="274320"/>
          </a:xfrm>
          <a:prstGeom prst="roundRect">
            <a:avLst>
              <a:gd name="adj" fmla="val 46667"/>
            </a:avLst>
          </a:prstGeom>
          <a:solidFill>
            <a:srgbClr val="EAF1E0"/>
          </a:solidFill>
          <a:ln/>
        </p:spPr>
      </p:sp>
      <p:sp>
        <p:nvSpPr>
          <p:cNvPr id="42" name="Text 40"/>
          <p:cNvSpPr txBox="1"/>
          <p:nvPr/>
        </p:nvSpPr>
        <p:spPr>
          <a:xfrm>
            <a:off x="9404375" y="2944368"/>
            <a:ext cx="1018413"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森林の状態</a:t>
            </a:r>
            <a:endParaRPr lang="en-US" sz="1050" dirty="0"/>
          </a:p>
        </p:txBody>
      </p:sp>
      <p:sp>
        <p:nvSpPr>
          <p:cNvPr id="43" name="Shape 41"/>
          <p:cNvSpPr/>
          <p:nvPr/>
        </p:nvSpPr>
        <p:spPr>
          <a:xfrm>
            <a:off x="6565392" y="3319272"/>
            <a:ext cx="1018413" cy="274320"/>
          </a:xfrm>
          <a:prstGeom prst="roundRect">
            <a:avLst>
              <a:gd name="adj" fmla="val 46667"/>
            </a:avLst>
          </a:prstGeom>
          <a:solidFill>
            <a:srgbClr val="EAF1E0"/>
          </a:solidFill>
          <a:ln/>
        </p:spPr>
      </p:sp>
      <p:sp>
        <p:nvSpPr>
          <p:cNvPr id="44" name="Text 42"/>
          <p:cNvSpPr txBox="1"/>
          <p:nvPr/>
        </p:nvSpPr>
        <p:spPr>
          <a:xfrm>
            <a:off x="6565392" y="3319272"/>
            <a:ext cx="1018413"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施業可能性</a:t>
            </a:r>
            <a:endParaRPr lang="en-US" sz="1050" dirty="0"/>
          </a:p>
        </p:txBody>
      </p:sp>
      <p:sp>
        <p:nvSpPr>
          <p:cNvPr id="45" name="Shape 43"/>
          <p:cNvSpPr/>
          <p:nvPr/>
        </p:nvSpPr>
        <p:spPr>
          <a:xfrm>
            <a:off x="7684389" y="3319272"/>
            <a:ext cx="1018413" cy="274320"/>
          </a:xfrm>
          <a:prstGeom prst="roundRect">
            <a:avLst>
              <a:gd name="adj" fmla="val 46667"/>
            </a:avLst>
          </a:prstGeom>
          <a:solidFill>
            <a:srgbClr val="EAF1E0"/>
          </a:solidFill>
          <a:ln/>
        </p:spPr>
      </p:sp>
      <p:sp>
        <p:nvSpPr>
          <p:cNvPr id="46" name="Text 44"/>
          <p:cNvSpPr txBox="1"/>
          <p:nvPr/>
        </p:nvSpPr>
        <p:spPr>
          <a:xfrm>
            <a:off x="7684389" y="3319272"/>
            <a:ext cx="1018413"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搬出可能性</a:t>
            </a:r>
            <a:endParaRPr lang="en-US" sz="1050" dirty="0"/>
          </a:p>
        </p:txBody>
      </p:sp>
      <p:sp>
        <p:nvSpPr>
          <p:cNvPr id="47" name="Shape 45"/>
          <p:cNvSpPr/>
          <p:nvPr/>
        </p:nvSpPr>
        <p:spPr>
          <a:xfrm>
            <a:off x="8803386" y="3319272"/>
            <a:ext cx="1316050" cy="274320"/>
          </a:xfrm>
          <a:prstGeom prst="roundRect">
            <a:avLst>
              <a:gd name="adj" fmla="val 46667"/>
            </a:avLst>
          </a:prstGeom>
          <a:solidFill>
            <a:srgbClr val="EAF1E0"/>
          </a:solidFill>
          <a:ln/>
        </p:spPr>
      </p:sp>
      <p:sp>
        <p:nvSpPr>
          <p:cNvPr id="48" name="Text 46"/>
          <p:cNvSpPr txBox="1"/>
          <p:nvPr/>
        </p:nvSpPr>
        <p:spPr>
          <a:xfrm>
            <a:off x="8803386" y="3319272"/>
            <a:ext cx="1316050"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将来的な木材量</a:t>
            </a:r>
            <a:endParaRPr lang="en-US" sz="1050" dirty="0"/>
          </a:p>
        </p:txBody>
      </p:sp>
      <p:sp>
        <p:nvSpPr>
          <p:cNvPr id="49" name="Shape 47"/>
          <p:cNvSpPr/>
          <p:nvPr/>
        </p:nvSpPr>
        <p:spPr>
          <a:xfrm>
            <a:off x="6565392" y="3694176"/>
            <a:ext cx="1464869" cy="274320"/>
          </a:xfrm>
          <a:prstGeom prst="roundRect">
            <a:avLst>
              <a:gd name="adj" fmla="val 46667"/>
            </a:avLst>
          </a:prstGeom>
          <a:solidFill>
            <a:srgbClr val="EAF1E0"/>
          </a:solidFill>
          <a:ln/>
        </p:spPr>
      </p:sp>
      <p:sp>
        <p:nvSpPr>
          <p:cNvPr id="50" name="Text 48"/>
          <p:cNvSpPr txBox="1"/>
          <p:nvPr/>
        </p:nvSpPr>
        <p:spPr>
          <a:xfrm>
            <a:off x="6565392" y="3694176"/>
            <a:ext cx="1464869"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木材としての用途</a:t>
            </a:r>
            <a:endParaRPr lang="en-US" sz="1050" dirty="0"/>
          </a:p>
        </p:txBody>
      </p:sp>
      <p:sp>
        <p:nvSpPr>
          <p:cNvPr id="51" name="Shape 49"/>
          <p:cNvSpPr/>
          <p:nvPr/>
        </p:nvSpPr>
        <p:spPr>
          <a:xfrm>
            <a:off x="8130845" y="3694176"/>
            <a:ext cx="869594" cy="274320"/>
          </a:xfrm>
          <a:prstGeom prst="roundRect">
            <a:avLst>
              <a:gd name="adj" fmla="val 46667"/>
            </a:avLst>
          </a:prstGeom>
          <a:solidFill>
            <a:srgbClr val="EAF1E0"/>
          </a:solidFill>
          <a:ln/>
        </p:spPr>
      </p:sp>
      <p:sp>
        <p:nvSpPr>
          <p:cNvPr id="52" name="Text 50"/>
          <p:cNvSpPr txBox="1"/>
          <p:nvPr/>
        </p:nvSpPr>
        <p:spPr>
          <a:xfrm>
            <a:off x="8130845" y="3694176"/>
            <a:ext cx="869594"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環境価値</a:t>
            </a:r>
            <a:endParaRPr lang="en-US" sz="1050" dirty="0"/>
          </a:p>
        </p:txBody>
      </p:sp>
      <p:sp>
        <p:nvSpPr>
          <p:cNvPr id="53" name="Shape 51"/>
          <p:cNvSpPr/>
          <p:nvPr/>
        </p:nvSpPr>
        <p:spPr>
          <a:xfrm>
            <a:off x="6565392" y="4224528"/>
            <a:ext cx="4663440" cy="1143000"/>
          </a:xfrm>
          <a:prstGeom prst="roundRect">
            <a:avLst>
              <a:gd name="adj" fmla="val 7200"/>
            </a:avLst>
          </a:prstGeom>
          <a:solidFill>
            <a:srgbClr val="24512F"/>
          </a:solidFill>
          <a:ln/>
        </p:spPr>
      </p:sp>
      <p:sp>
        <p:nvSpPr>
          <p:cNvPr id="54" name="Text 52"/>
          <p:cNvSpPr txBox="1"/>
          <p:nvPr/>
        </p:nvSpPr>
        <p:spPr>
          <a:xfrm>
            <a:off x="6766560" y="4389120"/>
            <a:ext cx="4261104" cy="868680"/>
          </a:xfrm>
          <a:prstGeom prst="rect">
            <a:avLst/>
          </a:prstGeom>
          <a:noFill/>
          <a:ln/>
        </p:spPr>
        <p:txBody>
          <a:bodyPr wrap="square" lIns="0" tIns="0" rIns="0" bIns="0" rtlCol="0" anchor="t"/>
          <a:lstStyle/>
          <a:p>
            <a:pPr indent="0" marL="0">
              <a:lnSpc>
                <a:spcPts val="1700"/>
              </a:lnSpc>
              <a:buNone/>
            </a:pPr>
            <a:r>
              <a:rPr lang="en-US" sz="1100" dirty="0">
                <a:solidFill>
                  <a:srgbClr val="FFFFFF"/>
                </a:solidFill>
                <a:latin typeface="Meiryo" pitchFamily="34" charset="0"/>
                <a:ea typeface="Meiryo" pitchFamily="34" charset="-122"/>
                <a:cs typeface="Meiryo" pitchFamily="34" charset="-120"/>
              </a:rPr>
              <a:t>「八王子のどこに、どんな森があり、そこから何を生み出せるのか」をデータにする。ビジョンづくりと需要設計、双方の共通言語になる。</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ACTION 03</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出口をつくる｜八王子産材の「需要先」を先につくる</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21</a:t>
            </a:r>
            <a:endParaRPr lang="en-US" sz="900" dirty="0"/>
          </a:p>
        </p:txBody>
      </p:sp>
      <p:sp>
        <p:nvSpPr>
          <p:cNvPr id="6" name="Text 4"/>
          <p:cNvSpPr txBox="1"/>
          <p:nvPr/>
        </p:nvSpPr>
        <p:spPr>
          <a:xfrm>
            <a:off x="658368" y="1353312"/>
            <a:ext cx="10874959" cy="274320"/>
          </a:xfrm>
          <a:prstGeom prst="rect">
            <a:avLst/>
          </a:prstGeom>
          <a:noFill/>
          <a:ln/>
        </p:spPr>
        <p:txBody>
          <a:bodyPr wrap="square" lIns="0" tIns="0" rIns="0" bIns="0" rtlCol="0" anchor="t"/>
          <a:lstStyle/>
          <a:p>
            <a:pPr indent="0" marL="0">
              <a:buNone/>
            </a:pPr>
            <a:r>
              <a:rPr lang="en-US" sz="1150" dirty="0">
                <a:solidFill>
                  <a:srgbClr val="5F6B64"/>
                </a:solidFill>
                <a:latin typeface="Meiryo" pitchFamily="34" charset="0"/>
                <a:ea typeface="Meiryo" pitchFamily="34" charset="-122"/>
                <a:cs typeface="Meiryo" pitchFamily="34" charset="-120"/>
              </a:rPr>
              <a:t>「出せる木材」から売り先を探すのではなく、「買う人」を先に決めてから森を整備する。ここが今回の事業の中心。</a:t>
            </a:r>
            <a:endParaRPr lang="en-US" sz="1150" dirty="0"/>
          </a:p>
        </p:txBody>
      </p:sp>
      <p:sp>
        <p:nvSpPr>
          <p:cNvPr id="7" name="Shape 5"/>
          <p:cNvSpPr/>
          <p:nvPr/>
        </p:nvSpPr>
        <p:spPr>
          <a:xfrm>
            <a:off x="658368" y="1755648"/>
            <a:ext cx="2578608" cy="2880360"/>
          </a:xfrm>
          <a:prstGeom prst="roundRect">
            <a:avLst>
              <a:gd name="adj" fmla="val 3191"/>
            </a:avLst>
          </a:prstGeom>
          <a:solidFill>
            <a:srgbClr val="EAF1E0"/>
          </a:solidFill>
          <a:ln/>
        </p:spPr>
      </p:sp>
      <p:sp>
        <p:nvSpPr>
          <p:cNvPr id="8" name="Shape 6"/>
          <p:cNvSpPr/>
          <p:nvPr/>
        </p:nvSpPr>
        <p:spPr>
          <a:xfrm>
            <a:off x="960120" y="1993392"/>
            <a:ext cx="475488" cy="475488"/>
          </a:xfrm>
          <a:prstGeom prst="ellipse">
            <a:avLst/>
          </a:prstGeom>
          <a:solidFill>
            <a:srgbClr val="24512F"/>
          </a:solidFill>
          <a:ln/>
        </p:spPr>
      </p:sp>
      <p:sp>
        <p:nvSpPr>
          <p:cNvPr id="9" name="Text 7"/>
          <p:cNvSpPr txBox="1"/>
          <p:nvPr/>
        </p:nvSpPr>
        <p:spPr>
          <a:xfrm>
            <a:off x="960120" y="19933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10" name="Text 8"/>
          <p:cNvSpPr txBox="1"/>
          <p:nvPr/>
        </p:nvSpPr>
        <p:spPr>
          <a:xfrm>
            <a:off x="960120" y="2615184"/>
            <a:ext cx="1975104"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建築・内装</a:t>
            </a:r>
            <a:endParaRPr lang="en-US" sz="1500" dirty="0"/>
          </a:p>
        </p:txBody>
      </p:sp>
      <p:sp>
        <p:nvSpPr>
          <p:cNvPr id="11" name="Shape 9"/>
          <p:cNvSpPr/>
          <p:nvPr/>
        </p:nvSpPr>
        <p:spPr>
          <a:xfrm>
            <a:off x="960120" y="3017520"/>
            <a:ext cx="1975104" cy="292608"/>
          </a:xfrm>
          <a:prstGeom prst="roundRect">
            <a:avLst>
              <a:gd name="adj" fmla="val 46875"/>
            </a:avLst>
          </a:prstGeom>
          <a:solidFill>
            <a:srgbClr val="FFFFFF"/>
          </a:solidFill>
          <a:ln/>
        </p:spPr>
      </p:sp>
      <p:sp>
        <p:nvSpPr>
          <p:cNvPr id="12" name="Text 10"/>
          <p:cNvSpPr txBox="1"/>
          <p:nvPr/>
        </p:nvSpPr>
        <p:spPr>
          <a:xfrm>
            <a:off x="960120" y="301752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公共施設</a:t>
            </a:r>
            <a:endParaRPr lang="en-US" sz="1050" dirty="0"/>
          </a:p>
        </p:txBody>
      </p:sp>
      <p:sp>
        <p:nvSpPr>
          <p:cNvPr id="13" name="Shape 11"/>
          <p:cNvSpPr/>
          <p:nvPr/>
        </p:nvSpPr>
        <p:spPr>
          <a:xfrm>
            <a:off x="960120" y="3383280"/>
            <a:ext cx="1975104" cy="292608"/>
          </a:xfrm>
          <a:prstGeom prst="roundRect">
            <a:avLst>
              <a:gd name="adj" fmla="val 46875"/>
            </a:avLst>
          </a:prstGeom>
          <a:solidFill>
            <a:srgbClr val="FFFFFF"/>
          </a:solidFill>
          <a:ln/>
        </p:spPr>
      </p:sp>
      <p:sp>
        <p:nvSpPr>
          <p:cNvPr id="14" name="Text 12"/>
          <p:cNvSpPr txBox="1"/>
          <p:nvPr/>
        </p:nvSpPr>
        <p:spPr>
          <a:xfrm>
            <a:off x="960120" y="338328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学校</a:t>
            </a:r>
            <a:endParaRPr lang="en-US" sz="1050" dirty="0"/>
          </a:p>
        </p:txBody>
      </p:sp>
      <p:sp>
        <p:nvSpPr>
          <p:cNvPr id="15" name="Shape 13"/>
          <p:cNvSpPr/>
          <p:nvPr/>
        </p:nvSpPr>
        <p:spPr>
          <a:xfrm>
            <a:off x="960120" y="3749040"/>
            <a:ext cx="1975104" cy="292608"/>
          </a:xfrm>
          <a:prstGeom prst="roundRect">
            <a:avLst>
              <a:gd name="adj" fmla="val 46875"/>
            </a:avLst>
          </a:prstGeom>
          <a:solidFill>
            <a:srgbClr val="FFFFFF"/>
          </a:solidFill>
          <a:ln/>
        </p:spPr>
      </p:sp>
      <p:sp>
        <p:nvSpPr>
          <p:cNvPr id="16" name="Text 14"/>
          <p:cNvSpPr txBox="1"/>
          <p:nvPr/>
        </p:nvSpPr>
        <p:spPr>
          <a:xfrm>
            <a:off x="960120" y="374904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オフィス</a:t>
            </a:r>
            <a:endParaRPr lang="en-US" sz="1050" dirty="0"/>
          </a:p>
        </p:txBody>
      </p:sp>
      <p:sp>
        <p:nvSpPr>
          <p:cNvPr id="17" name="Shape 15"/>
          <p:cNvSpPr/>
          <p:nvPr/>
        </p:nvSpPr>
        <p:spPr>
          <a:xfrm>
            <a:off x="960120" y="4114800"/>
            <a:ext cx="1975104" cy="292608"/>
          </a:xfrm>
          <a:prstGeom prst="roundRect">
            <a:avLst>
              <a:gd name="adj" fmla="val 46875"/>
            </a:avLst>
          </a:prstGeom>
          <a:solidFill>
            <a:srgbClr val="FFFFFF"/>
          </a:solidFill>
          <a:ln/>
        </p:spPr>
      </p:sp>
      <p:sp>
        <p:nvSpPr>
          <p:cNvPr id="18" name="Text 16"/>
          <p:cNvSpPr txBox="1"/>
          <p:nvPr/>
        </p:nvSpPr>
        <p:spPr>
          <a:xfrm>
            <a:off x="960120" y="411480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店舗</a:t>
            </a:r>
            <a:endParaRPr lang="en-US" sz="1050" dirty="0"/>
          </a:p>
        </p:txBody>
      </p:sp>
      <p:sp>
        <p:nvSpPr>
          <p:cNvPr id="19" name="Shape 17"/>
          <p:cNvSpPr/>
          <p:nvPr/>
        </p:nvSpPr>
        <p:spPr>
          <a:xfrm>
            <a:off x="960120" y="4480560"/>
            <a:ext cx="1975104" cy="292608"/>
          </a:xfrm>
          <a:prstGeom prst="roundRect">
            <a:avLst>
              <a:gd name="adj" fmla="val 46875"/>
            </a:avLst>
          </a:prstGeom>
          <a:solidFill>
            <a:srgbClr val="FFFFFF"/>
          </a:solidFill>
          <a:ln/>
        </p:spPr>
      </p:sp>
      <p:sp>
        <p:nvSpPr>
          <p:cNvPr id="20" name="Text 18"/>
          <p:cNvSpPr txBox="1"/>
          <p:nvPr/>
        </p:nvSpPr>
        <p:spPr>
          <a:xfrm>
            <a:off x="960120" y="448056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ホテル</a:t>
            </a:r>
            <a:endParaRPr lang="en-US" sz="1050" dirty="0"/>
          </a:p>
        </p:txBody>
      </p:sp>
      <p:sp>
        <p:nvSpPr>
          <p:cNvPr id="21" name="Shape 19"/>
          <p:cNvSpPr/>
          <p:nvPr/>
        </p:nvSpPr>
        <p:spPr>
          <a:xfrm>
            <a:off x="960120" y="4846320"/>
            <a:ext cx="1975104" cy="292608"/>
          </a:xfrm>
          <a:prstGeom prst="roundRect">
            <a:avLst>
              <a:gd name="adj" fmla="val 46875"/>
            </a:avLst>
          </a:prstGeom>
          <a:solidFill>
            <a:srgbClr val="FFFFFF"/>
          </a:solidFill>
          <a:ln/>
        </p:spPr>
      </p:sp>
      <p:sp>
        <p:nvSpPr>
          <p:cNvPr id="22" name="Text 20"/>
          <p:cNvSpPr txBox="1"/>
          <p:nvPr/>
        </p:nvSpPr>
        <p:spPr>
          <a:xfrm>
            <a:off x="960120" y="484632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住宅</a:t>
            </a:r>
            <a:endParaRPr lang="en-US" sz="1050" dirty="0"/>
          </a:p>
        </p:txBody>
      </p:sp>
      <p:sp>
        <p:nvSpPr>
          <p:cNvPr id="23" name="Shape 21"/>
          <p:cNvSpPr/>
          <p:nvPr/>
        </p:nvSpPr>
        <p:spPr>
          <a:xfrm>
            <a:off x="3451860" y="1755648"/>
            <a:ext cx="2578608" cy="2880360"/>
          </a:xfrm>
          <a:prstGeom prst="roundRect">
            <a:avLst>
              <a:gd name="adj" fmla="val 3191"/>
            </a:avLst>
          </a:prstGeom>
          <a:solidFill>
            <a:srgbClr val="F4F6F1"/>
          </a:solidFill>
          <a:ln w="12700">
            <a:solidFill>
              <a:srgbClr val="DCE3D8"/>
            </a:solidFill>
            <a:prstDash val="solid"/>
          </a:ln>
        </p:spPr>
      </p:sp>
      <p:sp>
        <p:nvSpPr>
          <p:cNvPr id="24" name="Shape 22"/>
          <p:cNvSpPr/>
          <p:nvPr/>
        </p:nvSpPr>
        <p:spPr>
          <a:xfrm>
            <a:off x="3753612" y="1993392"/>
            <a:ext cx="475488" cy="475488"/>
          </a:xfrm>
          <a:prstGeom prst="ellipse">
            <a:avLst/>
          </a:prstGeom>
          <a:solidFill>
            <a:srgbClr val="24512F"/>
          </a:solidFill>
          <a:ln/>
        </p:spPr>
      </p:sp>
      <p:sp>
        <p:nvSpPr>
          <p:cNvPr id="25" name="Text 23"/>
          <p:cNvSpPr txBox="1"/>
          <p:nvPr/>
        </p:nvSpPr>
        <p:spPr>
          <a:xfrm>
            <a:off x="3753612" y="19933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26" name="Text 24"/>
          <p:cNvSpPr txBox="1"/>
          <p:nvPr/>
        </p:nvSpPr>
        <p:spPr>
          <a:xfrm>
            <a:off x="3753612" y="2615184"/>
            <a:ext cx="1975104"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暮らし</a:t>
            </a:r>
            <a:endParaRPr lang="en-US" sz="1500" dirty="0"/>
          </a:p>
        </p:txBody>
      </p:sp>
      <p:sp>
        <p:nvSpPr>
          <p:cNvPr id="27" name="Shape 25"/>
          <p:cNvSpPr/>
          <p:nvPr/>
        </p:nvSpPr>
        <p:spPr>
          <a:xfrm>
            <a:off x="3753612" y="3017520"/>
            <a:ext cx="1975104" cy="292608"/>
          </a:xfrm>
          <a:prstGeom prst="roundRect">
            <a:avLst>
              <a:gd name="adj" fmla="val 46875"/>
            </a:avLst>
          </a:prstGeom>
          <a:solidFill>
            <a:srgbClr val="FFFFFF"/>
          </a:solidFill>
          <a:ln/>
        </p:spPr>
      </p:sp>
      <p:sp>
        <p:nvSpPr>
          <p:cNvPr id="28" name="Text 26"/>
          <p:cNvSpPr txBox="1"/>
          <p:nvPr/>
        </p:nvSpPr>
        <p:spPr>
          <a:xfrm>
            <a:off x="3753612" y="301752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家具</a:t>
            </a:r>
            <a:endParaRPr lang="en-US" sz="1050" dirty="0"/>
          </a:p>
        </p:txBody>
      </p:sp>
      <p:sp>
        <p:nvSpPr>
          <p:cNvPr id="29" name="Shape 27"/>
          <p:cNvSpPr/>
          <p:nvPr/>
        </p:nvSpPr>
        <p:spPr>
          <a:xfrm>
            <a:off x="3753612" y="3383280"/>
            <a:ext cx="1975104" cy="292608"/>
          </a:xfrm>
          <a:prstGeom prst="roundRect">
            <a:avLst>
              <a:gd name="adj" fmla="val 46875"/>
            </a:avLst>
          </a:prstGeom>
          <a:solidFill>
            <a:srgbClr val="FFFFFF"/>
          </a:solidFill>
          <a:ln/>
        </p:spPr>
      </p:sp>
      <p:sp>
        <p:nvSpPr>
          <p:cNvPr id="30" name="Text 28"/>
          <p:cNvSpPr txBox="1"/>
          <p:nvPr/>
        </p:nvSpPr>
        <p:spPr>
          <a:xfrm>
            <a:off x="3753612" y="338328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木製品</a:t>
            </a:r>
            <a:endParaRPr lang="en-US" sz="1050" dirty="0"/>
          </a:p>
        </p:txBody>
      </p:sp>
      <p:sp>
        <p:nvSpPr>
          <p:cNvPr id="31" name="Shape 29"/>
          <p:cNvSpPr/>
          <p:nvPr/>
        </p:nvSpPr>
        <p:spPr>
          <a:xfrm>
            <a:off x="3753612" y="3749040"/>
            <a:ext cx="1975104" cy="292608"/>
          </a:xfrm>
          <a:prstGeom prst="roundRect">
            <a:avLst>
              <a:gd name="adj" fmla="val 46875"/>
            </a:avLst>
          </a:prstGeom>
          <a:solidFill>
            <a:srgbClr val="FFFFFF"/>
          </a:solidFill>
          <a:ln/>
        </p:spPr>
      </p:sp>
      <p:sp>
        <p:nvSpPr>
          <p:cNvPr id="32" name="Text 30"/>
          <p:cNvSpPr txBox="1"/>
          <p:nvPr/>
        </p:nvSpPr>
        <p:spPr>
          <a:xfrm>
            <a:off x="3753612" y="374904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出産・結婚記念品</a:t>
            </a:r>
            <a:endParaRPr lang="en-US" sz="1050" dirty="0"/>
          </a:p>
        </p:txBody>
      </p:sp>
      <p:sp>
        <p:nvSpPr>
          <p:cNvPr id="33" name="Shape 31"/>
          <p:cNvSpPr/>
          <p:nvPr/>
        </p:nvSpPr>
        <p:spPr>
          <a:xfrm>
            <a:off x="3753612" y="4114800"/>
            <a:ext cx="1975104" cy="292608"/>
          </a:xfrm>
          <a:prstGeom prst="roundRect">
            <a:avLst>
              <a:gd name="adj" fmla="val 46875"/>
            </a:avLst>
          </a:prstGeom>
          <a:solidFill>
            <a:srgbClr val="FFFFFF"/>
          </a:solidFill>
          <a:ln/>
        </p:spPr>
      </p:sp>
      <p:sp>
        <p:nvSpPr>
          <p:cNvPr id="34" name="Text 32"/>
          <p:cNvSpPr txBox="1"/>
          <p:nvPr/>
        </p:nvSpPr>
        <p:spPr>
          <a:xfrm>
            <a:off x="3753612" y="411480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ノベルティ</a:t>
            </a:r>
            <a:endParaRPr lang="en-US" sz="1050" dirty="0"/>
          </a:p>
        </p:txBody>
      </p:sp>
      <p:sp>
        <p:nvSpPr>
          <p:cNvPr id="35" name="Shape 33"/>
          <p:cNvSpPr/>
          <p:nvPr/>
        </p:nvSpPr>
        <p:spPr>
          <a:xfrm>
            <a:off x="6245352" y="1755648"/>
            <a:ext cx="2578608" cy="2880360"/>
          </a:xfrm>
          <a:prstGeom prst="roundRect">
            <a:avLst>
              <a:gd name="adj" fmla="val 3191"/>
            </a:avLst>
          </a:prstGeom>
          <a:solidFill>
            <a:srgbClr val="EAF1E0"/>
          </a:solidFill>
          <a:ln/>
        </p:spPr>
      </p:sp>
      <p:sp>
        <p:nvSpPr>
          <p:cNvPr id="36" name="Shape 34"/>
          <p:cNvSpPr/>
          <p:nvPr/>
        </p:nvSpPr>
        <p:spPr>
          <a:xfrm>
            <a:off x="6547104" y="1993392"/>
            <a:ext cx="475488" cy="475488"/>
          </a:xfrm>
          <a:prstGeom prst="ellipse">
            <a:avLst/>
          </a:prstGeom>
          <a:solidFill>
            <a:srgbClr val="24512F"/>
          </a:solidFill>
          <a:ln/>
        </p:spPr>
      </p:sp>
      <p:sp>
        <p:nvSpPr>
          <p:cNvPr id="37" name="Text 35"/>
          <p:cNvSpPr txBox="1"/>
          <p:nvPr/>
        </p:nvSpPr>
        <p:spPr>
          <a:xfrm>
            <a:off x="6547104" y="19933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38" name="Text 36"/>
          <p:cNvSpPr txBox="1"/>
          <p:nvPr/>
        </p:nvSpPr>
        <p:spPr>
          <a:xfrm>
            <a:off x="6547104" y="2615184"/>
            <a:ext cx="1975104"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エネルギー</a:t>
            </a:r>
            <a:endParaRPr lang="en-US" sz="1500" dirty="0"/>
          </a:p>
        </p:txBody>
      </p:sp>
      <p:sp>
        <p:nvSpPr>
          <p:cNvPr id="39" name="Shape 37"/>
          <p:cNvSpPr/>
          <p:nvPr/>
        </p:nvSpPr>
        <p:spPr>
          <a:xfrm>
            <a:off x="6547104" y="3017520"/>
            <a:ext cx="1975104" cy="292608"/>
          </a:xfrm>
          <a:prstGeom prst="roundRect">
            <a:avLst>
              <a:gd name="adj" fmla="val 46875"/>
            </a:avLst>
          </a:prstGeom>
          <a:solidFill>
            <a:srgbClr val="FFFFFF"/>
          </a:solidFill>
          <a:ln/>
        </p:spPr>
      </p:sp>
      <p:sp>
        <p:nvSpPr>
          <p:cNvPr id="40" name="Text 38"/>
          <p:cNvSpPr txBox="1"/>
          <p:nvPr/>
        </p:nvSpPr>
        <p:spPr>
          <a:xfrm>
            <a:off x="6547104" y="301752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薪</a:t>
            </a:r>
            <a:endParaRPr lang="en-US" sz="1050" dirty="0"/>
          </a:p>
        </p:txBody>
      </p:sp>
      <p:sp>
        <p:nvSpPr>
          <p:cNvPr id="41" name="Shape 39"/>
          <p:cNvSpPr/>
          <p:nvPr/>
        </p:nvSpPr>
        <p:spPr>
          <a:xfrm>
            <a:off x="6547104" y="3383280"/>
            <a:ext cx="1975104" cy="292608"/>
          </a:xfrm>
          <a:prstGeom prst="roundRect">
            <a:avLst>
              <a:gd name="adj" fmla="val 46875"/>
            </a:avLst>
          </a:prstGeom>
          <a:solidFill>
            <a:srgbClr val="FFFFFF"/>
          </a:solidFill>
          <a:ln/>
        </p:spPr>
      </p:sp>
      <p:sp>
        <p:nvSpPr>
          <p:cNvPr id="42" name="Text 40"/>
          <p:cNvSpPr txBox="1"/>
          <p:nvPr/>
        </p:nvSpPr>
        <p:spPr>
          <a:xfrm>
            <a:off x="6547104" y="338328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チップ</a:t>
            </a:r>
            <a:endParaRPr lang="en-US" sz="1050" dirty="0"/>
          </a:p>
        </p:txBody>
      </p:sp>
      <p:sp>
        <p:nvSpPr>
          <p:cNvPr id="43" name="Shape 41"/>
          <p:cNvSpPr/>
          <p:nvPr/>
        </p:nvSpPr>
        <p:spPr>
          <a:xfrm>
            <a:off x="6547104" y="3749040"/>
            <a:ext cx="1975104" cy="292608"/>
          </a:xfrm>
          <a:prstGeom prst="roundRect">
            <a:avLst>
              <a:gd name="adj" fmla="val 46875"/>
            </a:avLst>
          </a:prstGeom>
          <a:solidFill>
            <a:srgbClr val="FFFFFF"/>
          </a:solidFill>
          <a:ln/>
        </p:spPr>
      </p:sp>
      <p:sp>
        <p:nvSpPr>
          <p:cNvPr id="44" name="Text 42"/>
          <p:cNvSpPr txBox="1"/>
          <p:nvPr/>
        </p:nvSpPr>
        <p:spPr>
          <a:xfrm>
            <a:off x="6547104" y="374904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バイオマス熱</a:t>
            </a:r>
            <a:endParaRPr lang="en-US" sz="1050" dirty="0"/>
          </a:p>
        </p:txBody>
      </p:sp>
      <p:sp>
        <p:nvSpPr>
          <p:cNvPr id="45" name="Shape 43"/>
          <p:cNvSpPr/>
          <p:nvPr/>
        </p:nvSpPr>
        <p:spPr>
          <a:xfrm>
            <a:off x="9038844" y="1755648"/>
            <a:ext cx="2578608" cy="2880360"/>
          </a:xfrm>
          <a:prstGeom prst="roundRect">
            <a:avLst>
              <a:gd name="adj" fmla="val 3191"/>
            </a:avLst>
          </a:prstGeom>
          <a:solidFill>
            <a:srgbClr val="F4F6F1"/>
          </a:solidFill>
          <a:ln w="12700">
            <a:solidFill>
              <a:srgbClr val="DCE3D8"/>
            </a:solidFill>
            <a:prstDash val="solid"/>
          </a:ln>
        </p:spPr>
      </p:sp>
      <p:sp>
        <p:nvSpPr>
          <p:cNvPr id="46" name="Shape 44"/>
          <p:cNvSpPr/>
          <p:nvPr/>
        </p:nvSpPr>
        <p:spPr>
          <a:xfrm>
            <a:off x="9340596" y="1993392"/>
            <a:ext cx="475488" cy="475488"/>
          </a:xfrm>
          <a:prstGeom prst="ellipse">
            <a:avLst/>
          </a:prstGeom>
          <a:solidFill>
            <a:srgbClr val="24512F"/>
          </a:solidFill>
          <a:ln/>
        </p:spPr>
      </p:sp>
      <p:sp>
        <p:nvSpPr>
          <p:cNvPr id="47" name="Text 45"/>
          <p:cNvSpPr txBox="1"/>
          <p:nvPr/>
        </p:nvSpPr>
        <p:spPr>
          <a:xfrm>
            <a:off x="9340596" y="19933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48" name="Text 46"/>
          <p:cNvSpPr txBox="1"/>
          <p:nvPr/>
        </p:nvSpPr>
        <p:spPr>
          <a:xfrm>
            <a:off x="9340596" y="2615184"/>
            <a:ext cx="1975104"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企業活動</a:t>
            </a:r>
            <a:endParaRPr lang="en-US" sz="1500" dirty="0"/>
          </a:p>
        </p:txBody>
      </p:sp>
      <p:sp>
        <p:nvSpPr>
          <p:cNvPr id="49" name="Shape 47"/>
          <p:cNvSpPr/>
          <p:nvPr/>
        </p:nvSpPr>
        <p:spPr>
          <a:xfrm>
            <a:off x="9340596" y="3017520"/>
            <a:ext cx="1975104" cy="292608"/>
          </a:xfrm>
          <a:prstGeom prst="roundRect">
            <a:avLst>
              <a:gd name="adj" fmla="val 46875"/>
            </a:avLst>
          </a:prstGeom>
          <a:solidFill>
            <a:srgbClr val="FFFFFF"/>
          </a:solidFill>
          <a:ln/>
        </p:spPr>
      </p:sp>
      <p:sp>
        <p:nvSpPr>
          <p:cNvPr id="50" name="Text 48"/>
          <p:cNvSpPr txBox="1"/>
          <p:nvPr/>
        </p:nvSpPr>
        <p:spPr>
          <a:xfrm>
            <a:off x="9340596" y="301752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オフィス家具</a:t>
            </a:r>
            <a:endParaRPr lang="en-US" sz="1050" dirty="0"/>
          </a:p>
        </p:txBody>
      </p:sp>
      <p:sp>
        <p:nvSpPr>
          <p:cNvPr id="51" name="Shape 49"/>
          <p:cNvSpPr/>
          <p:nvPr/>
        </p:nvSpPr>
        <p:spPr>
          <a:xfrm>
            <a:off x="9340596" y="3383280"/>
            <a:ext cx="1975104" cy="292608"/>
          </a:xfrm>
          <a:prstGeom prst="roundRect">
            <a:avLst>
              <a:gd name="adj" fmla="val 46875"/>
            </a:avLst>
          </a:prstGeom>
          <a:solidFill>
            <a:srgbClr val="FFFFFF"/>
          </a:solidFill>
          <a:ln/>
        </p:spPr>
      </p:sp>
      <p:sp>
        <p:nvSpPr>
          <p:cNvPr id="52" name="Text 50"/>
          <p:cNvSpPr txBox="1"/>
          <p:nvPr/>
        </p:nvSpPr>
        <p:spPr>
          <a:xfrm>
            <a:off x="9340596" y="338328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展示会・イベント什器</a:t>
            </a:r>
            <a:endParaRPr lang="en-US" sz="1050" dirty="0"/>
          </a:p>
        </p:txBody>
      </p:sp>
      <p:sp>
        <p:nvSpPr>
          <p:cNvPr id="53" name="Shape 51"/>
          <p:cNvSpPr/>
          <p:nvPr/>
        </p:nvSpPr>
        <p:spPr>
          <a:xfrm>
            <a:off x="9340596" y="3749040"/>
            <a:ext cx="1975104" cy="292608"/>
          </a:xfrm>
          <a:prstGeom prst="roundRect">
            <a:avLst>
              <a:gd name="adj" fmla="val 46875"/>
            </a:avLst>
          </a:prstGeom>
          <a:solidFill>
            <a:srgbClr val="FFFFFF"/>
          </a:solidFill>
          <a:ln/>
        </p:spPr>
      </p:sp>
      <p:sp>
        <p:nvSpPr>
          <p:cNvPr id="54" name="Text 52"/>
          <p:cNvSpPr txBox="1"/>
          <p:nvPr/>
        </p:nvSpPr>
        <p:spPr>
          <a:xfrm>
            <a:off x="9340596" y="374904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製品・パッケージ</a:t>
            </a:r>
            <a:endParaRPr lang="en-US" sz="1050" dirty="0"/>
          </a:p>
        </p:txBody>
      </p:sp>
      <p:sp>
        <p:nvSpPr>
          <p:cNvPr id="55" name="Shape 53"/>
          <p:cNvSpPr/>
          <p:nvPr/>
        </p:nvSpPr>
        <p:spPr>
          <a:xfrm>
            <a:off x="9340596" y="4114800"/>
            <a:ext cx="1975104" cy="292608"/>
          </a:xfrm>
          <a:prstGeom prst="roundRect">
            <a:avLst>
              <a:gd name="adj" fmla="val 46875"/>
            </a:avLst>
          </a:prstGeom>
          <a:solidFill>
            <a:srgbClr val="FFFFFF"/>
          </a:solidFill>
          <a:ln/>
        </p:spPr>
      </p:sp>
      <p:sp>
        <p:nvSpPr>
          <p:cNvPr id="56" name="Text 54"/>
          <p:cNvSpPr txBox="1"/>
          <p:nvPr/>
        </p:nvSpPr>
        <p:spPr>
          <a:xfrm>
            <a:off x="9340596" y="4114800"/>
            <a:ext cx="1975104" cy="292608"/>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CSR・環境価値</a:t>
            </a:r>
            <a:endParaRPr lang="en-US" sz="1050" dirty="0"/>
          </a:p>
        </p:txBody>
      </p:sp>
      <p:sp>
        <p:nvSpPr>
          <p:cNvPr id="57" name="Shape 55"/>
          <p:cNvSpPr/>
          <p:nvPr/>
        </p:nvSpPr>
        <p:spPr>
          <a:xfrm>
            <a:off x="658368" y="4828032"/>
            <a:ext cx="10874959" cy="960120"/>
          </a:xfrm>
          <a:prstGeom prst="roundRect">
            <a:avLst>
              <a:gd name="adj" fmla="val 8571"/>
            </a:avLst>
          </a:prstGeom>
          <a:solidFill>
            <a:srgbClr val="FAEEDF"/>
          </a:solidFill>
          <a:ln/>
        </p:spPr>
      </p:sp>
      <p:sp>
        <p:nvSpPr>
          <p:cNvPr id="58" name="Text 56"/>
          <p:cNvSpPr txBox="1"/>
          <p:nvPr/>
        </p:nvSpPr>
        <p:spPr>
          <a:xfrm>
            <a:off x="1024128" y="4992624"/>
            <a:ext cx="3291840" cy="237744"/>
          </a:xfrm>
          <a:prstGeom prst="rect">
            <a:avLst/>
          </a:prstGeom>
          <a:noFill/>
          <a:ln/>
        </p:spPr>
        <p:txBody>
          <a:bodyPr wrap="square" lIns="0" tIns="0" rIns="0" bIns="0" rtlCol="0" anchor="t"/>
          <a:lstStyle/>
          <a:p>
            <a:pPr indent="0" marL="0">
              <a:buNone/>
            </a:pPr>
            <a:r>
              <a:rPr lang="en-US" sz="1050" b="1" dirty="0">
                <a:solidFill>
                  <a:srgbClr val="C1762C"/>
                </a:solidFill>
                <a:latin typeface="Meiryo" pitchFamily="34" charset="0"/>
                <a:ea typeface="Meiryo" pitchFamily="34" charset="-122"/>
                <a:cs typeface="Meiryo" pitchFamily="34" charset="-120"/>
              </a:rPr>
              <a:t>企業版ふるさと納税の使いどころ</a:t>
            </a:r>
            <a:endParaRPr lang="en-US" sz="1050" dirty="0"/>
          </a:p>
        </p:txBody>
      </p:sp>
      <p:sp>
        <p:nvSpPr>
          <p:cNvPr id="59" name="Text 57"/>
          <p:cNvSpPr txBox="1"/>
          <p:nvPr/>
        </p:nvSpPr>
        <p:spPr>
          <a:xfrm>
            <a:off x="1024128" y="5266944"/>
            <a:ext cx="10143439" cy="329184"/>
          </a:xfrm>
          <a:prstGeom prst="rect">
            <a:avLst/>
          </a:prstGeom>
          <a:noFill/>
          <a:ln/>
        </p:spPr>
        <p:txBody>
          <a:bodyPr wrap="square" lIns="0" tIns="0" rIns="0" bIns="0" rtlCol="0" anchor="t"/>
          <a:lstStyle/>
          <a:p>
            <a:pPr indent="0" marL="0">
              <a:buNone/>
            </a:pPr>
            <a:r>
              <a:rPr lang="en-US" sz="1250" b="1" dirty="0">
                <a:solidFill>
                  <a:srgbClr val="1B3D24"/>
                </a:solidFill>
                <a:latin typeface="Meiryo" pitchFamily="34" charset="0"/>
                <a:ea typeface="Meiryo" pitchFamily="34" charset="-122"/>
                <a:cs typeface="Meiryo" pitchFamily="34" charset="-120"/>
              </a:rPr>
              <a:t>「誰が八王子の木を買うのか」を、企業と一緒に先に設計する。この需要開拓と合意形成のプロセスこそ、既存財源では手当てしにくい部分。</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ACTION 04</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出口をつくる｜人生の節目 × 八王子の森</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22</a:t>
            </a:r>
            <a:endParaRPr lang="en-US" sz="900" dirty="0"/>
          </a:p>
        </p:txBody>
      </p:sp>
      <p:sp>
        <p:nvSpPr>
          <p:cNvPr id="6" name="Shape 4"/>
          <p:cNvSpPr/>
          <p:nvPr/>
        </p:nvSpPr>
        <p:spPr>
          <a:xfrm>
            <a:off x="658368" y="1645920"/>
            <a:ext cx="1847088" cy="566928"/>
          </a:xfrm>
          <a:prstGeom prst="roundRect">
            <a:avLst>
              <a:gd name="adj" fmla="val 14516"/>
            </a:avLst>
          </a:prstGeom>
          <a:solidFill>
            <a:srgbClr val="24512F"/>
          </a:solidFill>
          <a:ln/>
        </p:spPr>
      </p:sp>
      <p:sp>
        <p:nvSpPr>
          <p:cNvPr id="7" name="Text 5"/>
          <p:cNvSpPr txBox="1"/>
          <p:nvPr/>
        </p:nvSpPr>
        <p:spPr>
          <a:xfrm>
            <a:off x="658368" y="1645920"/>
            <a:ext cx="18470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出生</a:t>
            </a:r>
            <a:endParaRPr lang="en-US" sz="1300" dirty="0"/>
          </a:p>
        </p:txBody>
      </p:sp>
      <p:sp>
        <p:nvSpPr>
          <p:cNvPr id="8" name="Shape 6"/>
          <p:cNvSpPr/>
          <p:nvPr/>
        </p:nvSpPr>
        <p:spPr>
          <a:xfrm>
            <a:off x="2560320" y="1819656"/>
            <a:ext cx="274320" cy="219456"/>
          </a:xfrm>
          <a:prstGeom prst="rightArrow">
            <a:avLst/>
          </a:prstGeom>
          <a:solidFill>
            <a:srgbClr val="8FB566"/>
          </a:solidFill>
          <a:ln/>
        </p:spPr>
      </p:sp>
      <p:sp>
        <p:nvSpPr>
          <p:cNvPr id="9" name="Shape 7"/>
          <p:cNvSpPr/>
          <p:nvPr/>
        </p:nvSpPr>
        <p:spPr>
          <a:xfrm>
            <a:off x="2889504" y="1645920"/>
            <a:ext cx="1847088" cy="566928"/>
          </a:xfrm>
          <a:prstGeom prst="roundRect">
            <a:avLst>
              <a:gd name="adj" fmla="val 14516"/>
            </a:avLst>
          </a:prstGeom>
          <a:solidFill>
            <a:srgbClr val="F4F6F1"/>
          </a:solidFill>
          <a:ln w="12700">
            <a:solidFill>
              <a:srgbClr val="DCE3D8"/>
            </a:solidFill>
            <a:prstDash val="solid"/>
          </a:ln>
        </p:spPr>
      </p:sp>
      <p:sp>
        <p:nvSpPr>
          <p:cNvPr id="10" name="Text 8"/>
          <p:cNvSpPr txBox="1"/>
          <p:nvPr/>
        </p:nvSpPr>
        <p:spPr>
          <a:xfrm>
            <a:off x="2889504" y="1645920"/>
            <a:ext cx="1847088" cy="566928"/>
          </a:xfrm>
          <a:prstGeom prst="rect">
            <a:avLst/>
          </a:prstGeom>
          <a:noFill/>
          <a:ln/>
        </p:spPr>
        <p:txBody>
          <a:bodyPr wrap="square" lIns="0" tIns="0" rIns="0" bIns="0" rtlCol="0" anchor="ctr"/>
          <a:lstStyle/>
          <a:p>
            <a:pPr algn="ctr" indent="0" marL="0">
              <a:buNone/>
            </a:pPr>
            <a:r>
              <a:rPr lang="en-US" sz="1300" b="1" dirty="0">
                <a:solidFill>
                  <a:srgbClr val="5F6B64"/>
                </a:solidFill>
                <a:latin typeface="Meiryo" pitchFamily="34" charset="0"/>
                <a:ea typeface="Meiryo" pitchFamily="34" charset="-122"/>
                <a:cs typeface="Meiryo" pitchFamily="34" charset="-120"/>
              </a:rPr>
              <a:t>入園・入学</a:t>
            </a:r>
            <a:endParaRPr lang="en-US" sz="1300" dirty="0"/>
          </a:p>
        </p:txBody>
      </p:sp>
      <p:sp>
        <p:nvSpPr>
          <p:cNvPr id="11" name="Shape 9"/>
          <p:cNvSpPr/>
          <p:nvPr/>
        </p:nvSpPr>
        <p:spPr>
          <a:xfrm>
            <a:off x="4791456" y="1819656"/>
            <a:ext cx="274320" cy="219456"/>
          </a:xfrm>
          <a:prstGeom prst="rightArrow">
            <a:avLst/>
          </a:prstGeom>
          <a:solidFill>
            <a:srgbClr val="8FB566"/>
          </a:solidFill>
          <a:ln/>
        </p:spPr>
      </p:sp>
      <p:sp>
        <p:nvSpPr>
          <p:cNvPr id="12" name="Shape 10"/>
          <p:cNvSpPr/>
          <p:nvPr/>
        </p:nvSpPr>
        <p:spPr>
          <a:xfrm>
            <a:off x="5120640" y="1645920"/>
            <a:ext cx="1847088" cy="566928"/>
          </a:xfrm>
          <a:prstGeom prst="roundRect">
            <a:avLst>
              <a:gd name="adj" fmla="val 14516"/>
            </a:avLst>
          </a:prstGeom>
          <a:solidFill>
            <a:srgbClr val="F4F6F1"/>
          </a:solidFill>
          <a:ln w="12700">
            <a:solidFill>
              <a:srgbClr val="DCE3D8"/>
            </a:solidFill>
            <a:prstDash val="solid"/>
          </a:ln>
        </p:spPr>
      </p:sp>
      <p:sp>
        <p:nvSpPr>
          <p:cNvPr id="13" name="Text 11"/>
          <p:cNvSpPr txBox="1"/>
          <p:nvPr/>
        </p:nvSpPr>
        <p:spPr>
          <a:xfrm>
            <a:off x="5120640" y="1645920"/>
            <a:ext cx="1847088" cy="566928"/>
          </a:xfrm>
          <a:prstGeom prst="rect">
            <a:avLst/>
          </a:prstGeom>
          <a:noFill/>
          <a:ln/>
        </p:spPr>
        <p:txBody>
          <a:bodyPr wrap="square" lIns="0" tIns="0" rIns="0" bIns="0" rtlCol="0" anchor="ctr"/>
          <a:lstStyle/>
          <a:p>
            <a:pPr algn="ctr" indent="0" marL="0">
              <a:buNone/>
            </a:pPr>
            <a:r>
              <a:rPr lang="en-US" sz="1300" b="1" dirty="0">
                <a:solidFill>
                  <a:srgbClr val="5F6B64"/>
                </a:solidFill>
                <a:latin typeface="Meiryo" pitchFamily="34" charset="0"/>
                <a:ea typeface="Meiryo" pitchFamily="34" charset="-122"/>
                <a:cs typeface="Meiryo" pitchFamily="34" charset="-120"/>
              </a:rPr>
              <a:t>成人</a:t>
            </a:r>
            <a:endParaRPr lang="en-US" sz="1300" dirty="0"/>
          </a:p>
        </p:txBody>
      </p:sp>
      <p:sp>
        <p:nvSpPr>
          <p:cNvPr id="14" name="Shape 12"/>
          <p:cNvSpPr/>
          <p:nvPr/>
        </p:nvSpPr>
        <p:spPr>
          <a:xfrm>
            <a:off x="7022592" y="1819656"/>
            <a:ext cx="274320" cy="219456"/>
          </a:xfrm>
          <a:prstGeom prst="rightArrow">
            <a:avLst/>
          </a:prstGeom>
          <a:solidFill>
            <a:srgbClr val="8FB566"/>
          </a:solidFill>
          <a:ln/>
        </p:spPr>
      </p:sp>
      <p:sp>
        <p:nvSpPr>
          <p:cNvPr id="15" name="Shape 13"/>
          <p:cNvSpPr/>
          <p:nvPr/>
        </p:nvSpPr>
        <p:spPr>
          <a:xfrm>
            <a:off x="7351776" y="1645920"/>
            <a:ext cx="1847088" cy="566928"/>
          </a:xfrm>
          <a:prstGeom prst="roundRect">
            <a:avLst>
              <a:gd name="adj" fmla="val 14516"/>
            </a:avLst>
          </a:prstGeom>
          <a:solidFill>
            <a:srgbClr val="24512F"/>
          </a:solidFill>
          <a:ln/>
        </p:spPr>
      </p:sp>
      <p:sp>
        <p:nvSpPr>
          <p:cNvPr id="16" name="Text 14"/>
          <p:cNvSpPr txBox="1"/>
          <p:nvPr/>
        </p:nvSpPr>
        <p:spPr>
          <a:xfrm>
            <a:off x="7351776" y="1645920"/>
            <a:ext cx="18470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結婚</a:t>
            </a:r>
            <a:endParaRPr lang="en-US" sz="1300" dirty="0"/>
          </a:p>
        </p:txBody>
      </p:sp>
      <p:sp>
        <p:nvSpPr>
          <p:cNvPr id="17" name="Shape 15"/>
          <p:cNvSpPr/>
          <p:nvPr/>
        </p:nvSpPr>
        <p:spPr>
          <a:xfrm>
            <a:off x="9253728" y="1819656"/>
            <a:ext cx="274320" cy="219456"/>
          </a:xfrm>
          <a:prstGeom prst="rightArrow">
            <a:avLst/>
          </a:prstGeom>
          <a:solidFill>
            <a:srgbClr val="8FB566"/>
          </a:solidFill>
          <a:ln/>
        </p:spPr>
      </p:sp>
      <p:sp>
        <p:nvSpPr>
          <p:cNvPr id="18" name="Shape 16"/>
          <p:cNvSpPr/>
          <p:nvPr/>
        </p:nvSpPr>
        <p:spPr>
          <a:xfrm>
            <a:off x="9582912" y="1645920"/>
            <a:ext cx="1847088" cy="566928"/>
          </a:xfrm>
          <a:prstGeom prst="roundRect">
            <a:avLst>
              <a:gd name="adj" fmla="val 14516"/>
            </a:avLst>
          </a:prstGeom>
          <a:solidFill>
            <a:srgbClr val="F4F6F1"/>
          </a:solidFill>
          <a:ln w="12700">
            <a:solidFill>
              <a:srgbClr val="DCE3D8"/>
            </a:solidFill>
            <a:prstDash val="solid"/>
          </a:ln>
        </p:spPr>
      </p:sp>
      <p:sp>
        <p:nvSpPr>
          <p:cNvPr id="19" name="Text 17"/>
          <p:cNvSpPr txBox="1"/>
          <p:nvPr/>
        </p:nvSpPr>
        <p:spPr>
          <a:xfrm>
            <a:off x="9582912" y="1645920"/>
            <a:ext cx="1847088" cy="566928"/>
          </a:xfrm>
          <a:prstGeom prst="rect">
            <a:avLst/>
          </a:prstGeom>
          <a:noFill/>
          <a:ln/>
        </p:spPr>
        <p:txBody>
          <a:bodyPr wrap="square" lIns="0" tIns="0" rIns="0" bIns="0" rtlCol="0" anchor="ctr"/>
          <a:lstStyle/>
          <a:p>
            <a:pPr algn="ctr" indent="0" marL="0">
              <a:buNone/>
            </a:pPr>
            <a:r>
              <a:rPr lang="en-US" sz="1300" b="1" dirty="0">
                <a:solidFill>
                  <a:srgbClr val="5F6B64"/>
                </a:solidFill>
                <a:latin typeface="Meiryo" pitchFamily="34" charset="0"/>
                <a:ea typeface="Meiryo" pitchFamily="34" charset="-122"/>
                <a:cs typeface="Meiryo" pitchFamily="34" charset="-120"/>
              </a:rPr>
              <a:t>子育て</a:t>
            </a:r>
            <a:endParaRPr lang="en-US" sz="1300" dirty="0"/>
          </a:p>
        </p:txBody>
      </p:sp>
      <p:sp>
        <p:nvSpPr>
          <p:cNvPr id="20" name="Shape 18"/>
          <p:cNvSpPr/>
          <p:nvPr/>
        </p:nvSpPr>
        <p:spPr>
          <a:xfrm>
            <a:off x="658368" y="2487168"/>
            <a:ext cx="6720840" cy="3154680"/>
          </a:xfrm>
          <a:prstGeom prst="roundRect">
            <a:avLst>
              <a:gd name="adj" fmla="val 2609"/>
            </a:avLst>
          </a:prstGeom>
          <a:solidFill>
            <a:srgbClr val="F4F6F1"/>
          </a:solidFill>
          <a:ln w="12700">
            <a:solidFill>
              <a:srgbClr val="DCE3D8"/>
            </a:solidFill>
            <a:prstDash val="solid"/>
          </a:ln>
        </p:spPr>
      </p:sp>
      <p:sp>
        <p:nvSpPr>
          <p:cNvPr id="21" name="Shape 19"/>
          <p:cNvSpPr/>
          <p:nvPr/>
        </p:nvSpPr>
        <p:spPr>
          <a:xfrm>
            <a:off x="1005840" y="2743200"/>
            <a:ext cx="1371600" cy="292608"/>
          </a:xfrm>
          <a:prstGeom prst="roundRect">
            <a:avLst>
              <a:gd name="adj" fmla="val 46875"/>
            </a:avLst>
          </a:prstGeom>
          <a:solidFill>
            <a:srgbClr val="C1762C"/>
          </a:solidFill>
          <a:ln/>
        </p:spPr>
      </p:sp>
      <p:sp>
        <p:nvSpPr>
          <p:cNvPr id="22" name="Text 20"/>
          <p:cNvSpPr txBox="1"/>
          <p:nvPr/>
        </p:nvSpPr>
        <p:spPr>
          <a:xfrm>
            <a:off x="1005840" y="2743200"/>
            <a:ext cx="13716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中核メニュー</a:t>
            </a:r>
            <a:endParaRPr lang="en-US" sz="1000" dirty="0"/>
          </a:p>
        </p:txBody>
      </p:sp>
      <p:sp>
        <p:nvSpPr>
          <p:cNvPr id="23" name="Text 21"/>
          <p:cNvSpPr txBox="1"/>
          <p:nvPr/>
        </p:nvSpPr>
        <p:spPr>
          <a:xfrm>
            <a:off x="1005840" y="3163824"/>
            <a:ext cx="6035040" cy="411480"/>
          </a:xfrm>
          <a:prstGeom prst="rect">
            <a:avLst/>
          </a:prstGeom>
          <a:noFill/>
          <a:ln/>
        </p:spPr>
        <p:txBody>
          <a:bodyPr wrap="square" lIns="0" tIns="0" rIns="0" bIns="0" rtlCol="0" anchor="t"/>
          <a:lstStyle/>
          <a:p>
            <a:pPr indent="0" marL="0">
              <a:buNone/>
            </a:pPr>
            <a:r>
              <a:rPr lang="en-US" sz="2200" b="1" dirty="0">
                <a:solidFill>
                  <a:srgbClr val="1B3D24"/>
                </a:solidFill>
                <a:latin typeface="Meiryo" pitchFamily="34" charset="0"/>
                <a:ea typeface="Meiryo" pitchFamily="34" charset="-122"/>
                <a:cs typeface="Meiryo" pitchFamily="34" charset="-120"/>
              </a:rPr>
              <a:t>森の結婚証明書</a:t>
            </a:r>
            <a:endParaRPr lang="en-US" sz="2200" dirty="0"/>
          </a:p>
        </p:txBody>
      </p:sp>
      <p:sp>
        <p:nvSpPr>
          <p:cNvPr id="24" name="Text 22"/>
          <p:cNvSpPr txBox="1"/>
          <p:nvPr/>
        </p:nvSpPr>
        <p:spPr>
          <a:xfrm>
            <a:off x="1005840" y="3675888"/>
            <a:ext cx="6035040" cy="566928"/>
          </a:xfrm>
          <a:prstGeom prst="rect">
            <a:avLst/>
          </a:prstGeom>
          <a:noFill/>
          <a:ln/>
        </p:spPr>
        <p:txBody>
          <a:bodyPr wrap="square" lIns="0" tIns="0" rIns="0" bIns="0" rtlCol="0" anchor="t"/>
          <a:lstStyle/>
          <a:p>
            <a:pPr indent="0" marL="0">
              <a:lnSpc>
                <a:spcPts val="1800"/>
              </a:lnSpc>
              <a:buNone/>
            </a:pPr>
            <a:r>
              <a:rPr lang="en-US" sz="1150" dirty="0">
                <a:solidFill>
                  <a:srgbClr val="23302A"/>
                </a:solidFill>
                <a:latin typeface="Meiryo" pitchFamily="34" charset="0"/>
                <a:ea typeface="Meiryo" pitchFamily="34" charset="-122"/>
                <a:cs typeface="Meiryo" pitchFamily="34" charset="-120"/>
              </a:rPr>
              <a:t>年間約1,600組の婚姻がある八王子で、婚姻届を提出した方に八王子産材の証明書を贈る。単なる記念品ではなく、森とのつながりを可視化する媒体にする。</a:t>
            </a:r>
            <a:endParaRPr lang="en-US" sz="1150" dirty="0"/>
          </a:p>
        </p:txBody>
      </p:sp>
      <p:sp>
        <p:nvSpPr>
          <p:cNvPr id="25" name="Text 23"/>
          <p:cNvSpPr txBox="1"/>
          <p:nvPr/>
        </p:nvSpPr>
        <p:spPr>
          <a:xfrm>
            <a:off x="1005840" y="4370832"/>
            <a:ext cx="6035040" cy="237744"/>
          </a:xfrm>
          <a:prstGeom prst="rect">
            <a:avLst/>
          </a:prstGeom>
          <a:noFill/>
          <a:ln/>
        </p:spPr>
        <p:txBody>
          <a:bodyPr wrap="square" lIns="0" tIns="0" rIns="0" bIns="0" rtlCol="0" anchor="t"/>
          <a:lstStyle/>
          <a:p>
            <a:pPr indent="0" marL="0">
              <a:buNone/>
            </a:pPr>
            <a:r>
              <a:rPr lang="en-US" sz="1050" b="1" dirty="0">
                <a:solidFill>
                  <a:srgbClr val="5E7F3C"/>
                </a:solidFill>
                <a:latin typeface="Meiryo" pitchFamily="34" charset="0"/>
                <a:ea typeface="Meiryo" pitchFamily="34" charset="-122"/>
                <a:cs typeface="Meiryo" pitchFamily="34" charset="-120"/>
              </a:rPr>
              <a:t>記載する情報</a:t>
            </a:r>
            <a:endParaRPr lang="en-US" sz="1050" dirty="0"/>
          </a:p>
        </p:txBody>
      </p:sp>
      <p:sp>
        <p:nvSpPr>
          <p:cNvPr id="26" name="Shape 24"/>
          <p:cNvSpPr/>
          <p:nvPr/>
        </p:nvSpPr>
        <p:spPr>
          <a:xfrm>
            <a:off x="1005840" y="4663440"/>
            <a:ext cx="869594" cy="274320"/>
          </a:xfrm>
          <a:prstGeom prst="roundRect">
            <a:avLst>
              <a:gd name="adj" fmla="val 46667"/>
            </a:avLst>
          </a:prstGeom>
          <a:solidFill>
            <a:srgbClr val="EAF1E0"/>
          </a:solidFill>
          <a:ln/>
        </p:spPr>
      </p:sp>
      <p:sp>
        <p:nvSpPr>
          <p:cNvPr id="27" name="Text 25"/>
          <p:cNvSpPr txBox="1"/>
          <p:nvPr/>
        </p:nvSpPr>
        <p:spPr>
          <a:xfrm>
            <a:off x="1005840" y="4663440"/>
            <a:ext cx="869594"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木の産地</a:t>
            </a:r>
            <a:endParaRPr lang="en-US" sz="1050" dirty="0"/>
          </a:p>
        </p:txBody>
      </p:sp>
      <p:sp>
        <p:nvSpPr>
          <p:cNvPr id="28" name="Shape 26"/>
          <p:cNvSpPr/>
          <p:nvPr/>
        </p:nvSpPr>
        <p:spPr>
          <a:xfrm>
            <a:off x="1976018" y="4663440"/>
            <a:ext cx="571957" cy="274320"/>
          </a:xfrm>
          <a:prstGeom prst="roundRect">
            <a:avLst>
              <a:gd name="adj" fmla="val 46667"/>
            </a:avLst>
          </a:prstGeom>
          <a:solidFill>
            <a:srgbClr val="EAF1E0"/>
          </a:solidFill>
          <a:ln/>
        </p:spPr>
      </p:sp>
      <p:sp>
        <p:nvSpPr>
          <p:cNvPr id="29" name="Text 27"/>
          <p:cNvSpPr txBox="1"/>
          <p:nvPr/>
        </p:nvSpPr>
        <p:spPr>
          <a:xfrm>
            <a:off x="1976018" y="4663440"/>
            <a:ext cx="57195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樹種</a:t>
            </a:r>
            <a:endParaRPr lang="en-US" sz="1050" dirty="0"/>
          </a:p>
        </p:txBody>
      </p:sp>
      <p:sp>
        <p:nvSpPr>
          <p:cNvPr id="30" name="Shape 28"/>
          <p:cNvSpPr/>
          <p:nvPr/>
        </p:nvSpPr>
        <p:spPr>
          <a:xfrm>
            <a:off x="2648560" y="4663440"/>
            <a:ext cx="1018413" cy="274320"/>
          </a:xfrm>
          <a:prstGeom prst="roundRect">
            <a:avLst>
              <a:gd name="adj" fmla="val 46667"/>
            </a:avLst>
          </a:prstGeom>
          <a:solidFill>
            <a:srgbClr val="EAF1E0"/>
          </a:solidFill>
          <a:ln/>
        </p:spPr>
      </p:sp>
      <p:sp>
        <p:nvSpPr>
          <p:cNvPr id="31" name="Text 29"/>
          <p:cNvSpPr txBox="1"/>
          <p:nvPr/>
        </p:nvSpPr>
        <p:spPr>
          <a:xfrm>
            <a:off x="2648560" y="4663440"/>
            <a:ext cx="1018413"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森林所有者</a:t>
            </a:r>
            <a:endParaRPr lang="en-US" sz="1050" dirty="0"/>
          </a:p>
        </p:txBody>
      </p:sp>
      <p:sp>
        <p:nvSpPr>
          <p:cNvPr id="32" name="Shape 30"/>
          <p:cNvSpPr/>
          <p:nvPr/>
        </p:nvSpPr>
        <p:spPr>
          <a:xfrm>
            <a:off x="3767557" y="4663440"/>
            <a:ext cx="1613687" cy="274320"/>
          </a:xfrm>
          <a:prstGeom prst="roundRect">
            <a:avLst>
              <a:gd name="adj" fmla="val 46667"/>
            </a:avLst>
          </a:prstGeom>
          <a:solidFill>
            <a:srgbClr val="EAF1E0"/>
          </a:solidFill>
          <a:ln/>
        </p:spPr>
      </p:sp>
      <p:sp>
        <p:nvSpPr>
          <p:cNvPr id="33" name="Text 31"/>
          <p:cNvSpPr txBox="1"/>
          <p:nvPr/>
        </p:nvSpPr>
        <p:spPr>
          <a:xfrm>
            <a:off x="3767557" y="4663440"/>
            <a:ext cx="1613687"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森林整備への還元額</a:t>
            </a:r>
            <a:endParaRPr lang="en-US" sz="1050" dirty="0"/>
          </a:p>
        </p:txBody>
      </p:sp>
      <p:sp>
        <p:nvSpPr>
          <p:cNvPr id="34" name="Shape 32"/>
          <p:cNvSpPr/>
          <p:nvPr/>
        </p:nvSpPr>
        <p:spPr>
          <a:xfrm>
            <a:off x="1005840" y="5038344"/>
            <a:ext cx="1911325" cy="274320"/>
          </a:xfrm>
          <a:prstGeom prst="roundRect">
            <a:avLst>
              <a:gd name="adj" fmla="val 46667"/>
            </a:avLst>
          </a:prstGeom>
          <a:solidFill>
            <a:srgbClr val="EAF1E0"/>
          </a:solidFill>
          <a:ln/>
        </p:spPr>
      </p:sp>
      <p:sp>
        <p:nvSpPr>
          <p:cNvPr id="35" name="Text 33"/>
          <p:cNvSpPr txBox="1"/>
          <p:nvPr/>
        </p:nvSpPr>
        <p:spPr>
          <a:xfrm>
            <a:off x="1005840" y="5038344"/>
            <a:ext cx="1911325" cy="274320"/>
          </a:xfrm>
          <a:prstGeom prst="rect">
            <a:avLst/>
          </a:prstGeom>
          <a:noFill/>
          <a:ln/>
        </p:spPr>
        <p:txBody>
          <a:bodyPr wrap="square" lIns="0" tIns="0" rIns="0" bIns="0" rtlCol="0" anchor="ctr"/>
          <a:lstStyle/>
          <a:p>
            <a:pPr algn="ctr" indent="0" marL="0">
              <a:buNone/>
            </a:pPr>
            <a:r>
              <a:rPr lang="en-US" sz="1050" dirty="0">
                <a:solidFill>
                  <a:srgbClr val="1B3D24"/>
                </a:solidFill>
                <a:latin typeface="Meiryo" pitchFamily="34" charset="0"/>
                <a:ea typeface="Meiryo" pitchFamily="34" charset="-122"/>
                <a:cs typeface="Meiryo" pitchFamily="34" charset="-120"/>
              </a:rPr>
              <a:t>QRコードで森の情報へ</a:t>
            </a:r>
            <a:endParaRPr lang="en-US" sz="1050" dirty="0"/>
          </a:p>
        </p:txBody>
      </p:sp>
      <p:sp>
        <p:nvSpPr>
          <p:cNvPr id="36" name="Shape 34"/>
          <p:cNvSpPr/>
          <p:nvPr/>
        </p:nvSpPr>
        <p:spPr>
          <a:xfrm>
            <a:off x="7699248" y="2487168"/>
            <a:ext cx="3840480" cy="3154680"/>
          </a:xfrm>
          <a:prstGeom prst="roundRect">
            <a:avLst>
              <a:gd name="adj" fmla="val 2609"/>
            </a:avLst>
          </a:prstGeom>
          <a:solidFill>
            <a:srgbClr val="24512F"/>
          </a:solidFill>
          <a:ln/>
          <a:effectLst>
            <a:outerShdw sx="100000" sy="100000" kx="0" ky="0" algn="bl" rotWithShape="0" blurRad="127000" dist="25400" dir="5400000">
              <a:srgbClr val="1B3D24">
                <a:alpha val="10000"/>
              </a:srgbClr>
            </a:outerShdw>
          </a:effectLst>
        </p:spPr>
      </p:sp>
      <p:sp>
        <p:nvSpPr>
          <p:cNvPr id="37" name="Text 35"/>
          <p:cNvSpPr txBox="1"/>
          <p:nvPr/>
        </p:nvSpPr>
        <p:spPr>
          <a:xfrm>
            <a:off x="8028432" y="2743200"/>
            <a:ext cx="3200400" cy="256032"/>
          </a:xfrm>
          <a:prstGeom prst="rect">
            <a:avLst/>
          </a:prstGeom>
          <a:noFill/>
          <a:ln/>
        </p:spPr>
        <p:txBody>
          <a:bodyPr wrap="square" lIns="0" tIns="0" rIns="0" bIns="0" rtlCol="0" anchor="t"/>
          <a:lstStyle/>
          <a:p>
            <a:pPr indent="0" marL="0">
              <a:buNone/>
            </a:pPr>
            <a:r>
              <a:rPr lang="en-US" sz="1100" b="1" dirty="0">
                <a:solidFill>
                  <a:srgbClr val="8FB566"/>
                </a:solidFill>
                <a:latin typeface="Meiryo" pitchFamily="34" charset="0"/>
                <a:ea typeface="Meiryo" pitchFamily="34" charset="-122"/>
                <a:cs typeface="Meiryo" pitchFamily="34" charset="-120"/>
              </a:rPr>
              <a:t>既存事業からの発展</a:t>
            </a:r>
            <a:endParaRPr lang="en-US" sz="1100" dirty="0"/>
          </a:p>
        </p:txBody>
      </p:sp>
      <p:sp>
        <p:nvSpPr>
          <p:cNvPr id="38" name="Text 36"/>
          <p:cNvSpPr txBox="1"/>
          <p:nvPr/>
        </p:nvSpPr>
        <p:spPr>
          <a:xfrm>
            <a:off x="8028432" y="3072384"/>
            <a:ext cx="3200400" cy="1005840"/>
          </a:xfrm>
          <a:prstGeom prst="rect">
            <a:avLst/>
          </a:prstGeom>
          <a:noFill/>
          <a:ln/>
        </p:spPr>
        <p:txBody>
          <a:bodyPr wrap="square" lIns="0" tIns="0" rIns="0" bIns="0" rtlCol="0" anchor="t"/>
          <a:lstStyle/>
          <a:p>
            <a:pPr indent="0" marL="0">
              <a:lnSpc>
                <a:spcPts val="1700"/>
              </a:lnSpc>
              <a:buNone/>
            </a:pPr>
            <a:r>
              <a:rPr lang="en-US" sz="1100" dirty="0">
                <a:solidFill>
                  <a:srgbClr val="DCE9D2"/>
                </a:solidFill>
                <a:latin typeface="Meiryo" pitchFamily="34" charset="0"/>
                <a:ea typeface="Meiryo" pitchFamily="34" charset="-122"/>
                <a:cs typeface="Meiryo" pitchFamily="34" charset="-120"/>
              </a:rPr>
              <a:t>八王子には「はち★ベビギフト」で多摩産材の木製玩具を届ける取り組みがある。これを起点に、人生と森をつなぐ仕組みへ発展させる。</a:t>
            </a:r>
            <a:endParaRPr lang="en-US" sz="1100" dirty="0"/>
          </a:p>
        </p:txBody>
      </p:sp>
      <p:sp>
        <p:nvSpPr>
          <p:cNvPr id="39" name="Text 37"/>
          <p:cNvSpPr txBox="1"/>
          <p:nvPr/>
        </p:nvSpPr>
        <p:spPr>
          <a:xfrm>
            <a:off x="8028432" y="4133088"/>
            <a:ext cx="3200400" cy="256032"/>
          </a:xfrm>
          <a:prstGeom prst="rect">
            <a:avLst/>
          </a:prstGeom>
          <a:noFill/>
          <a:ln/>
        </p:spPr>
        <p:txBody>
          <a:bodyPr wrap="square" lIns="0" tIns="0" rIns="0" bIns="0" rtlCol="0" anchor="t"/>
          <a:lstStyle/>
          <a:p>
            <a:pPr indent="0" marL="0">
              <a:buNone/>
            </a:pPr>
            <a:r>
              <a:rPr lang="en-US" sz="1100" b="1" dirty="0">
                <a:solidFill>
                  <a:srgbClr val="8FB566"/>
                </a:solidFill>
                <a:latin typeface="Meiryo" pitchFamily="34" charset="0"/>
                <a:ea typeface="Meiryo" pitchFamily="34" charset="-122"/>
                <a:cs typeface="Meiryo" pitchFamily="34" charset="-120"/>
              </a:rPr>
              <a:t>この施策が効く理由</a:t>
            </a:r>
            <a:endParaRPr lang="en-US" sz="1100" dirty="0"/>
          </a:p>
        </p:txBody>
      </p:sp>
      <p:sp>
        <p:nvSpPr>
          <p:cNvPr id="40" name="Text 38"/>
          <p:cNvSpPr txBox="1"/>
          <p:nvPr/>
        </p:nvSpPr>
        <p:spPr>
          <a:xfrm>
            <a:off x="8028432" y="4462272"/>
            <a:ext cx="3200400" cy="109728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50" dirty="0">
                <a:solidFill>
                  <a:srgbClr val="DCE9D2"/>
                </a:solidFill>
                <a:latin typeface="Meiryo" pitchFamily="34" charset="0"/>
                <a:ea typeface="Meiryo" pitchFamily="34" charset="-122"/>
                <a:cs typeface="Meiryo" pitchFamily="34" charset="-120"/>
              </a:rPr>
              <a:t>毎年発生する、予測可能な小口需要になる</a:t>
            </a:r>
            <a:endParaRPr lang="en-US" sz="1050" dirty="0"/>
          </a:p>
          <a:p>
            <a:pPr marL="342900" indent="-342900">
              <a:lnSpc>
                <a:spcPts val="1500"/>
              </a:lnSpc>
              <a:spcAft>
                <a:spcPts val="700"/>
              </a:spcAft>
              <a:buSzPct val="100000"/>
              <a:buChar char="▪"/>
            </a:pPr>
            <a:r>
              <a:rPr lang="en-US" sz="1050" dirty="0">
                <a:solidFill>
                  <a:srgbClr val="DCE9D2"/>
                </a:solidFill>
                <a:latin typeface="Meiryo" pitchFamily="34" charset="0"/>
                <a:ea typeface="Meiryo" pitchFamily="34" charset="-122"/>
                <a:cs typeface="Meiryo" pitchFamily="34" charset="-120"/>
              </a:rPr>
              <a:t>市民が「森の当事者」になる入口になる</a:t>
            </a:r>
            <a:endParaRPr lang="en-US" sz="1050" dirty="0"/>
          </a:p>
          <a:p>
            <a:pPr marL="342900" indent="-342900">
              <a:lnSpc>
                <a:spcPts val="1500"/>
              </a:lnSpc>
              <a:spcAft>
                <a:spcPts val="700"/>
              </a:spcAft>
              <a:buSzPct val="100000"/>
              <a:buChar char="▪"/>
            </a:pPr>
            <a:r>
              <a:rPr lang="en-US" sz="1050" dirty="0">
                <a:solidFill>
                  <a:srgbClr val="DCE9D2"/>
                </a:solidFill>
                <a:latin typeface="Meiryo" pitchFamily="34" charset="0"/>
                <a:ea typeface="Meiryo" pitchFamily="34" charset="-122"/>
                <a:cs typeface="Meiryo" pitchFamily="34" charset="-120"/>
              </a:rPr>
              <a:t>寄付企業にも成果が説明しやすい</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ACTION 05 / 06</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買う関係へ｜パートナー企業制度と環境価値の販売</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23</a:t>
            </a:r>
            <a:endParaRPr lang="en-US" sz="900" dirty="0"/>
          </a:p>
        </p:txBody>
      </p:sp>
      <p:sp>
        <p:nvSpPr>
          <p:cNvPr id="6" name="Shape 4"/>
          <p:cNvSpPr/>
          <p:nvPr/>
        </p:nvSpPr>
        <p:spPr>
          <a:xfrm>
            <a:off x="658368" y="1645920"/>
            <a:ext cx="5294376" cy="3977640"/>
          </a:xfrm>
          <a:prstGeom prst="roundRect">
            <a:avLst>
              <a:gd name="adj" fmla="val 2069"/>
            </a:avLst>
          </a:prstGeom>
          <a:solidFill>
            <a:srgbClr val="F4F6F1"/>
          </a:solidFill>
          <a:ln w="12700">
            <a:solidFill>
              <a:srgbClr val="DCE3D8"/>
            </a:solidFill>
            <a:prstDash val="solid"/>
          </a:ln>
        </p:spPr>
      </p:sp>
      <p:sp>
        <p:nvSpPr>
          <p:cNvPr id="7" name="Shape 5"/>
          <p:cNvSpPr/>
          <p:nvPr/>
        </p:nvSpPr>
        <p:spPr>
          <a:xfrm>
            <a:off x="978408" y="1901952"/>
            <a:ext cx="548640" cy="548640"/>
          </a:xfrm>
          <a:prstGeom prst="ellipse">
            <a:avLst/>
          </a:prstGeom>
          <a:solidFill>
            <a:srgbClr val="24512F"/>
          </a:solidFill>
          <a:ln/>
        </p:spPr>
      </p:sp>
      <p:sp>
        <p:nvSpPr>
          <p:cNvPr id="8" name="Text 6"/>
          <p:cNvSpPr txBox="1"/>
          <p:nvPr/>
        </p:nvSpPr>
        <p:spPr>
          <a:xfrm>
            <a:off x="978408" y="190195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⑤</a:t>
            </a:r>
            <a:endParaRPr lang="en-US" sz="1500" dirty="0"/>
          </a:p>
        </p:txBody>
      </p:sp>
      <p:sp>
        <p:nvSpPr>
          <p:cNvPr id="9" name="Text 7"/>
          <p:cNvSpPr txBox="1"/>
          <p:nvPr/>
        </p:nvSpPr>
        <p:spPr>
          <a:xfrm>
            <a:off x="1682496" y="1975104"/>
            <a:ext cx="3931920" cy="329184"/>
          </a:xfrm>
          <a:prstGeom prst="rect">
            <a:avLst/>
          </a:prstGeom>
          <a:noFill/>
          <a:ln/>
        </p:spPr>
        <p:txBody>
          <a:bodyPr wrap="square" lIns="0" tIns="0" rIns="0" bIns="0" rtlCol="0" anchor="t"/>
          <a:lstStyle/>
          <a:p>
            <a:pPr indent="0" marL="0">
              <a:buNone/>
            </a:pPr>
            <a:r>
              <a:rPr lang="en-US" sz="1600" b="1" dirty="0">
                <a:solidFill>
                  <a:srgbClr val="1B3D24"/>
                </a:solidFill>
                <a:latin typeface="Meiryo" pitchFamily="34" charset="0"/>
                <a:ea typeface="Meiryo" pitchFamily="34" charset="-122"/>
                <a:cs typeface="Meiryo" pitchFamily="34" charset="-120"/>
              </a:rPr>
              <a:t>「八王子の森パートナー企業」</a:t>
            </a:r>
            <a:endParaRPr lang="en-US" sz="1600" dirty="0"/>
          </a:p>
        </p:txBody>
      </p:sp>
      <p:sp>
        <p:nvSpPr>
          <p:cNvPr id="10" name="Shape 8"/>
          <p:cNvSpPr/>
          <p:nvPr/>
        </p:nvSpPr>
        <p:spPr>
          <a:xfrm>
            <a:off x="978408" y="2615184"/>
            <a:ext cx="4663440" cy="457200"/>
          </a:xfrm>
          <a:prstGeom prst="roundRect">
            <a:avLst>
              <a:gd name="adj" fmla="val 16000"/>
            </a:avLst>
          </a:prstGeom>
          <a:solidFill>
            <a:srgbClr val="EAF1E0"/>
          </a:solidFill>
          <a:ln/>
        </p:spPr>
      </p:sp>
      <p:sp>
        <p:nvSpPr>
          <p:cNvPr id="11" name="Text 9"/>
          <p:cNvSpPr txBox="1"/>
          <p:nvPr/>
        </p:nvSpPr>
        <p:spPr>
          <a:xfrm>
            <a:off x="1115568" y="2615184"/>
            <a:ext cx="4389120" cy="457200"/>
          </a:xfrm>
          <a:prstGeom prst="rect">
            <a:avLst/>
          </a:prstGeom>
          <a:noFill/>
          <a:ln/>
        </p:spPr>
        <p:txBody>
          <a:bodyPr wrap="square" lIns="0" tIns="0" rIns="0" bIns="0" rtlCol="0" anchor="ctr"/>
          <a:lstStyle/>
          <a:p>
            <a:pPr indent="0" marL="0">
              <a:buNone/>
            </a:pPr>
            <a:r>
              <a:rPr lang="en-US" sz="1100" dirty="0">
                <a:solidFill>
                  <a:srgbClr val="1B3D24"/>
                </a:solidFill>
                <a:latin typeface="Meiryo" pitchFamily="34" charset="0"/>
                <a:ea typeface="Meiryo" pitchFamily="34" charset="-122"/>
                <a:cs typeface="Meiryo" pitchFamily="34" charset="-120"/>
              </a:rPr>
              <a:t>年間○m³の八王子産材を利用する</a:t>
            </a:r>
            <a:endParaRPr lang="en-US" sz="1100" dirty="0"/>
          </a:p>
        </p:txBody>
      </p:sp>
      <p:sp>
        <p:nvSpPr>
          <p:cNvPr id="12" name="Shape 10"/>
          <p:cNvSpPr/>
          <p:nvPr/>
        </p:nvSpPr>
        <p:spPr>
          <a:xfrm>
            <a:off x="3200400" y="3072384"/>
            <a:ext cx="219456" cy="109728"/>
          </a:xfrm>
          <a:prstGeom prst="downArrow">
            <a:avLst/>
          </a:prstGeom>
          <a:solidFill>
            <a:srgbClr val="8FB566"/>
          </a:solidFill>
          <a:ln/>
        </p:spPr>
      </p:sp>
      <p:sp>
        <p:nvSpPr>
          <p:cNvPr id="13" name="Shape 11"/>
          <p:cNvSpPr/>
          <p:nvPr/>
        </p:nvSpPr>
        <p:spPr>
          <a:xfrm>
            <a:off x="978408" y="3182112"/>
            <a:ext cx="4663440" cy="457200"/>
          </a:xfrm>
          <a:prstGeom prst="roundRect">
            <a:avLst>
              <a:gd name="adj" fmla="val 16000"/>
            </a:avLst>
          </a:prstGeom>
          <a:solidFill>
            <a:srgbClr val="EAF1E0"/>
          </a:solidFill>
          <a:ln/>
        </p:spPr>
      </p:sp>
      <p:sp>
        <p:nvSpPr>
          <p:cNvPr id="14" name="Text 12"/>
          <p:cNvSpPr txBox="1"/>
          <p:nvPr/>
        </p:nvSpPr>
        <p:spPr>
          <a:xfrm>
            <a:off x="1115568" y="3182112"/>
            <a:ext cx="4389120" cy="457200"/>
          </a:xfrm>
          <a:prstGeom prst="rect">
            <a:avLst/>
          </a:prstGeom>
          <a:noFill/>
          <a:ln/>
        </p:spPr>
        <p:txBody>
          <a:bodyPr wrap="square" lIns="0" tIns="0" rIns="0" bIns="0" rtlCol="0" anchor="ctr"/>
          <a:lstStyle/>
          <a:p>
            <a:pPr indent="0" marL="0">
              <a:buNone/>
            </a:pPr>
            <a:r>
              <a:rPr lang="en-US" sz="1100" dirty="0">
                <a:solidFill>
                  <a:srgbClr val="1B3D24"/>
                </a:solidFill>
                <a:latin typeface="Meiryo" pitchFamily="34" charset="0"/>
                <a:ea typeface="Meiryo" pitchFamily="34" charset="-122"/>
                <a:cs typeface="Meiryo" pitchFamily="34" charset="-120"/>
              </a:rPr>
              <a:t>利用量に応じて森林整備へ一定額を還元</a:t>
            </a:r>
            <a:endParaRPr lang="en-US" sz="1100" dirty="0"/>
          </a:p>
        </p:txBody>
      </p:sp>
      <p:sp>
        <p:nvSpPr>
          <p:cNvPr id="15" name="Shape 13"/>
          <p:cNvSpPr/>
          <p:nvPr/>
        </p:nvSpPr>
        <p:spPr>
          <a:xfrm>
            <a:off x="3200400" y="3639312"/>
            <a:ext cx="219456" cy="109728"/>
          </a:xfrm>
          <a:prstGeom prst="downArrow">
            <a:avLst/>
          </a:prstGeom>
          <a:solidFill>
            <a:srgbClr val="8FB566"/>
          </a:solidFill>
          <a:ln/>
        </p:spPr>
      </p:sp>
      <p:sp>
        <p:nvSpPr>
          <p:cNvPr id="16" name="Shape 14"/>
          <p:cNvSpPr/>
          <p:nvPr/>
        </p:nvSpPr>
        <p:spPr>
          <a:xfrm>
            <a:off x="978408" y="3749040"/>
            <a:ext cx="4663440" cy="457200"/>
          </a:xfrm>
          <a:prstGeom prst="roundRect">
            <a:avLst>
              <a:gd name="adj" fmla="val 16000"/>
            </a:avLst>
          </a:prstGeom>
          <a:solidFill>
            <a:srgbClr val="EAF1E0"/>
          </a:solidFill>
          <a:ln/>
        </p:spPr>
      </p:sp>
      <p:sp>
        <p:nvSpPr>
          <p:cNvPr id="17" name="Text 15"/>
          <p:cNvSpPr txBox="1"/>
          <p:nvPr/>
        </p:nvSpPr>
        <p:spPr>
          <a:xfrm>
            <a:off x="1115568" y="3749040"/>
            <a:ext cx="4389120" cy="457200"/>
          </a:xfrm>
          <a:prstGeom prst="rect">
            <a:avLst/>
          </a:prstGeom>
          <a:noFill/>
          <a:ln/>
        </p:spPr>
        <p:txBody>
          <a:bodyPr wrap="square" lIns="0" tIns="0" rIns="0" bIns="0" rtlCol="0" anchor="ctr"/>
          <a:lstStyle/>
          <a:p>
            <a:pPr indent="0" marL="0">
              <a:buNone/>
            </a:pPr>
            <a:r>
              <a:rPr lang="en-US" sz="1100" dirty="0">
                <a:solidFill>
                  <a:srgbClr val="1B3D24"/>
                </a:solidFill>
                <a:latin typeface="Meiryo" pitchFamily="34" charset="0"/>
                <a:ea typeface="Meiryo" pitchFamily="34" charset="-122"/>
                <a:cs typeface="Meiryo" pitchFamily="34" charset="-120"/>
              </a:rPr>
              <a:t>地域材利用・森林保全・CO2として企業が発信</a:t>
            </a:r>
            <a:endParaRPr lang="en-US" sz="1100" dirty="0"/>
          </a:p>
        </p:txBody>
      </p:sp>
      <p:sp>
        <p:nvSpPr>
          <p:cNvPr id="18" name="Text 16"/>
          <p:cNvSpPr txBox="1"/>
          <p:nvPr/>
        </p:nvSpPr>
        <p:spPr>
          <a:xfrm>
            <a:off x="978408" y="4407408"/>
            <a:ext cx="4663440" cy="1005840"/>
          </a:xfrm>
          <a:prstGeom prst="rect">
            <a:avLst/>
          </a:prstGeom>
          <a:noFill/>
          <a:ln/>
        </p:spPr>
        <p:txBody>
          <a:bodyPr wrap="square" lIns="0" tIns="0" rIns="0" bIns="0" rtlCol="0" anchor="t"/>
          <a:lstStyle/>
          <a:p>
            <a:pPr indent="0" marL="0">
              <a:lnSpc>
                <a:spcPts val="1700"/>
              </a:lnSpc>
              <a:buNone/>
            </a:pPr>
            <a:r>
              <a:rPr lang="en-US" sz="1100" b="1" dirty="0">
                <a:solidFill>
                  <a:srgbClr val="C1762C"/>
                </a:solidFill>
                <a:latin typeface="Meiryo" pitchFamily="34" charset="0"/>
                <a:ea typeface="Meiryo" pitchFamily="34" charset="-122"/>
                <a:cs typeface="Meiryo" pitchFamily="34" charset="-120"/>
              </a:rPr>
              <a:t>寄付で終わらせず、将来的に「企業が森の木を買う」関係へ変えていく。※制度上、寄付と取引は別建てで設計する（制約02）。</a:t>
            </a:r>
            <a:endParaRPr lang="en-US" sz="1100" dirty="0"/>
          </a:p>
        </p:txBody>
      </p:sp>
      <p:sp>
        <p:nvSpPr>
          <p:cNvPr id="19" name="Shape 17"/>
          <p:cNvSpPr/>
          <p:nvPr/>
        </p:nvSpPr>
        <p:spPr>
          <a:xfrm>
            <a:off x="6245352" y="1645920"/>
            <a:ext cx="5294376" cy="3977640"/>
          </a:xfrm>
          <a:prstGeom prst="roundRect">
            <a:avLst>
              <a:gd name="adj" fmla="val 2069"/>
            </a:avLst>
          </a:prstGeom>
          <a:solidFill>
            <a:srgbClr val="F4F6F1"/>
          </a:solidFill>
          <a:ln w="12700">
            <a:solidFill>
              <a:srgbClr val="DCE3D8"/>
            </a:solidFill>
            <a:prstDash val="solid"/>
          </a:ln>
        </p:spPr>
      </p:sp>
      <p:sp>
        <p:nvSpPr>
          <p:cNvPr id="20" name="Shape 18"/>
          <p:cNvSpPr/>
          <p:nvPr/>
        </p:nvSpPr>
        <p:spPr>
          <a:xfrm>
            <a:off x="6565392" y="1901952"/>
            <a:ext cx="548640" cy="548640"/>
          </a:xfrm>
          <a:prstGeom prst="ellipse">
            <a:avLst/>
          </a:prstGeom>
          <a:solidFill>
            <a:srgbClr val="24512F"/>
          </a:solidFill>
          <a:ln/>
        </p:spPr>
      </p:sp>
      <p:sp>
        <p:nvSpPr>
          <p:cNvPr id="21" name="Text 19"/>
          <p:cNvSpPr txBox="1"/>
          <p:nvPr/>
        </p:nvSpPr>
        <p:spPr>
          <a:xfrm>
            <a:off x="6565392" y="190195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⑥</a:t>
            </a:r>
            <a:endParaRPr lang="en-US" sz="1500" dirty="0"/>
          </a:p>
        </p:txBody>
      </p:sp>
      <p:sp>
        <p:nvSpPr>
          <p:cNvPr id="22" name="Text 20"/>
          <p:cNvSpPr txBox="1"/>
          <p:nvPr/>
        </p:nvSpPr>
        <p:spPr>
          <a:xfrm>
            <a:off x="7269480" y="1975104"/>
            <a:ext cx="4023360" cy="329184"/>
          </a:xfrm>
          <a:prstGeom prst="rect">
            <a:avLst/>
          </a:prstGeom>
          <a:noFill/>
          <a:ln/>
        </p:spPr>
        <p:txBody>
          <a:bodyPr wrap="square" lIns="0" tIns="0" rIns="0" bIns="0" rtlCol="0" anchor="t"/>
          <a:lstStyle/>
          <a:p>
            <a:pPr indent="0" marL="0">
              <a:buNone/>
            </a:pPr>
            <a:r>
              <a:rPr lang="en-US" sz="1600" b="1" dirty="0">
                <a:solidFill>
                  <a:srgbClr val="1B3D24"/>
                </a:solidFill>
                <a:latin typeface="Meiryo" pitchFamily="34" charset="0"/>
                <a:ea typeface="Meiryo" pitchFamily="34" charset="-122"/>
                <a:cs typeface="Meiryo" pitchFamily="34" charset="-120"/>
              </a:rPr>
              <a:t>J-クレジット・環境価値との接続</a:t>
            </a:r>
            <a:endParaRPr lang="en-US" sz="1600" dirty="0"/>
          </a:p>
        </p:txBody>
      </p:sp>
      <p:sp>
        <p:nvSpPr>
          <p:cNvPr id="23" name="Shape 21"/>
          <p:cNvSpPr/>
          <p:nvPr/>
        </p:nvSpPr>
        <p:spPr>
          <a:xfrm>
            <a:off x="6565392" y="2615184"/>
            <a:ext cx="4663440" cy="420624"/>
          </a:xfrm>
          <a:prstGeom prst="roundRect">
            <a:avLst>
              <a:gd name="adj" fmla="val 17391"/>
            </a:avLst>
          </a:prstGeom>
          <a:solidFill>
            <a:srgbClr val="EAF1E0"/>
          </a:solidFill>
          <a:ln/>
        </p:spPr>
      </p:sp>
      <p:sp>
        <p:nvSpPr>
          <p:cNvPr id="24" name="Text 22"/>
          <p:cNvSpPr txBox="1"/>
          <p:nvPr/>
        </p:nvSpPr>
        <p:spPr>
          <a:xfrm>
            <a:off x="6702552" y="2615184"/>
            <a:ext cx="4389120" cy="420624"/>
          </a:xfrm>
          <a:prstGeom prst="rect">
            <a:avLst/>
          </a:prstGeom>
          <a:noFill/>
          <a:ln/>
        </p:spPr>
        <p:txBody>
          <a:bodyPr wrap="square" lIns="0" tIns="0" rIns="0" bIns="0" rtlCol="0" anchor="ctr"/>
          <a:lstStyle/>
          <a:p>
            <a:pPr indent="0" marL="0">
              <a:buNone/>
            </a:pPr>
            <a:r>
              <a:rPr lang="en-US" sz="1100" dirty="0">
                <a:solidFill>
                  <a:srgbClr val="1B3D24"/>
                </a:solidFill>
                <a:latin typeface="Meiryo" pitchFamily="34" charset="0"/>
                <a:ea typeface="Meiryo" pitchFamily="34" charset="-122"/>
                <a:cs typeface="Meiryo" pitchFamily="34" charset="-120"/>
              </a:rPr>
              <a:t>八王子の森林整備</a:t>
            </a:r>
            <a:endParaRPr lang="en-US" sz="1100" dirty="0"/>
          </a:p>
        </p:txBody>
      </p:sp>
      <p:sp>
        <p:nvSpPr>
          <p:cNvPr id="25" name="Shape 23"/>
          <p:cNvSpPr/>
          <p:nvPr/>
        </p:nvSpPr>
        <p:spPr>
          <a:xfrm>
            <a:off x="8787384" y="3035808"/>
            <a:ext cx="219456" cy="91440"/>
          </a:xfrm>
          <a:prstGeom prst="downArrow">
            <a:avLst/>
          </a:prstGeom>
          <a:solidFill>
            <a:srgbClr val="8FB566"/>
          </a:solidFill>
          <a:ln/>
        </p:spPr>
      </p:sp>
      <p:sp>
        <p:nvSpPr>
          <p:cNvPr id="26" name="Shape 24"/>
          <p:cNvSpPr/>
          <p:nvPr/>
        </p:nvSpPr>
        <p:spPr>
          <a:xfrm>
            <a:off x="6565392" y="3127248"/>
            <a:ext cx="4663440" cy="420624"/>
          </a:xfrm>
          <a:prstGeom prst="roundRect">
            <a:avLst>
              <a:gd name="adj" fmla="val 17391"/>
            </a:avLst>
          </a:prstGeom>
          <a:solidFill>
            <a:srgbClr val="EAF1E0"/>
          </a:solidFill>
          <a:ln/>
        </p:spPr>
      </p:sp>
      <p:sp>
        <p:nvSpPr>
          <p:cNvPr id="27" name="Text 25"/>
          <p:cNvSpPr txBox="1"/>
          <p:nvPr/>
        </p:nvSpPr>
        <p:spPr>
          <a:xfrm>
            <a:off x="6702552" y="3127248"/>
            <a:ext cx="4389120" cy="420624"/>
          </a:xfrm>
          <a:prstGeom prst="rect">
            <a:avLst/>
          </a:prstGeom>
          <a:noFill/>
          <a:ln/>
        </p:spPr>
        <p:txBody>
          <a:bodyPr wrap="square" lIns="0" tIns="0" rIns="0" bIns="0" rtlCol="0" anchor="ctr"/>
          <a:lstStyle/>
          <a:p>
            <a:pPr indent="0" marL="0">
              <a:buNone/>
            </a:pPr>
            <a:r>
              <a:rPr lang="en-US" sz="1100" dirty="0">
                <a:solidFill>
                  <a:srgbClr val="1B3D24"/>
                </a:solidFill>
                <a:latin typeface="Meiryo" pitchFamily="34" charset="0"/>
                <a:ea typeface="Meiryo" pitchFamily="34" charset="-122"/>
                <a:cs typeface="Meiryo" pitchFamily="34" charset="-120"/>
              </a:rPr>
              <a:t>CO2吸収・J-クレジット等の環境価値</a:t>
            </a:r>
            <a:endParaRPr lang="en-US" sz="1100" dirty="0"/>
          </a:p>
        </p:txBody>
      </p:sp>
      <p:sp>
        <p:nvSpPr>
          <p:cNvPr id="28" name="Shape 26"/>
          <p:cNvSpPr/>
          <p:nvPr/>
        </p:nvSpPr>
        <p:spPr>
          <a:xfrm>
            <a:off x="8787384" y="3547872"/>
            <a:ext cx="219456" cy="91440"/>
          </a:xfrm>
          <a:prstGeom prst="downArrow">
            <a:avLst/>
          </a:prstGeom>
          <a:solidFill>
            <a:srgbClr val="8FB566"/>
          </a:solidFill>
          <a:ln/>
        </p:spPr>
      </p:sp>
      <p:sp>
        <p:nvSpPr>
          <p:cNvPr id="29" name="Shape 27"/>
          <p:cNvSpPr/>
          <p:nvPr/>
        </p:nvSpPr>
        <p:spPr>
          <a:xfrm>
            <a:off x="6565392" y="3639312"/>
            <a:ext cx="4663440" cy="420624"/>
          </a:xfrm>
          <a:prstGeom prst="roundRect">
            <a:avLst>
              <a:gd name="adj" fmla="val 17391"/>
            </a:avLst>
          </a:prstGeom>
          <a:solidFill>
            <a:srgbClr val="EAF1E0"/>
          </a:solidFill>
          <a:ln/>
        </p:spPr>
      </p:sp>
      <p:sp>
        <p:nvSpPr>
          <p:cNvPr id="30" name="Text 28"/>
          <p:cNvSpPr txBox="1"/>
          <p:nvPr/>
        </p:nvSpPr>
        <p:spPr>
          <a:xfrm>
            <a:off x="6702552" y="3639312"/>
            <a:ext cx="4389120" cy="420624"/>
          </a:xfrm>
          <a:prstGeom prst="rect">
            <a:avLst/>
          </a:prstGeom>
          <a:noFill/>
          <a:ln/>
        </p:spPr>
        <p:txBody>
          <a:bodyPr wrap="square" lIns="0" tIns="0" rIns="0" bIns="0" rtlCol="0" anchor="ctr"/>
          <a:lstStyle/>
          <a:p>
            <a:pPr indent="0" marL="0">
              <a:buNone/>
            </a:pPr>
            <a:r>
              <a:rPr lang="en-US" sz="1100" dirty="0">
                <a:solidFill>
                  <a:srgbClr val="1B3D24"/>
                </a:solidFill>
                <a:latin typeface="Meiryo" pitchFamily="34" charset="0"/>
                <a:ea typeface="Meiryo" pitchFamily="34" charset="-122"/>
                <a:cs typeface="Meiryo" pitchFamily="34" charset="-120"/>
              </a:rPr>
              <a:t>企業が購入し、自社の環境価値として活用</a:t>
            </a:r>
            <a:endParaRPr lang="en-US" sz="1100" dirty="0"/>
          </a:p>
        </p:txBody>
      </p:sp>
      <p:sp>
        <p:nvSpPr>
          <p:cNvPr id="31" name="Shape 29"/>
          <p:cNvSpPr/>
          <p:nvPr/>
        </p:nvSpPr>
        <p:spPr>
          <a:xfrm>
            <a:off x="8787384" y="4059936"/>
            <a:ext cx="219456" cy="91440"/>
          </a:xfrm>
          <a:prstGeom prst="downArrow">
            <a:avLst/>
          </a:prstGeom>
          <a:solidFill>
            <a:srgbClr val="8FB566"/>
          </a:solidFill>
          <a:ln/>
        </p:spPr>
      </p:sp>
      <p:sp>
        <p:nvSpPr>
          <p:cNvPr id="32" name="Shape 30"/>
          <p:cNvSpPr/>
          <p:nvPr/>
        </p:nvSpPr>
        <p:spPr>
          <a:xfrm>
            <a:off x="6565392" y="4151376"/>
            <a:ext cx="4663440" cy="420624"/>
          </a:xfrm>
          <a:prstGeom prst="roundRect">
            <a:avLst>
              <a:gd name="adj" fmla="val 17391"/>
            </a:avLst>
          </a:prstGeom>
          <a:solidFill>
            <a:srgbClr val="24512F"/>
          </a:solidFill>
          <a:ln/>
        </p:spPr>
      </p:sp>
      <p:sp>
        <p:nvSpPr>
          <p:cNvPr id="33" name="Text 31"/>
          <p:cNvSpPr txBox="1"/>
          <p:nvPr/>
        </p:nvSpPr>
        <p:spPr>
          <a:xfrm>
            <a:off x="6702552" y="4151376"/>
            <a:ext cx="4389120" cy="420624"/>
          </a:xfrm>
          <a:prstGeom prst="rect">
            <a:avLst/>
          </a:prstGeom>
          <a:noFill/>
          <a:ln/>
        </p:spPr>
        <p:txBody>
          <a:bodyPr wrap="square" lIns="0" tIns="0" rIns="0" bIns="0" rtlCol="0" anchor="ctr"/>
          <a:lstStyle/>
          <a:p>
            <a:pPr indent="0" marL="0">
              <a:buNone/>
            </a:pPr>
            <a:r>
              <a:rPr lang="en-US" sz="1100" dirty="0">
                <a:solidFill>
                  <a:srgbClr val="FFFFFF"/>
                </a:solidFill>
                <a:latin typeface="Meiryo" pitchFamily="34" charset="0"/>
                <a:ea typeface="Meiryo" pitchFamily="34" charset="-122"/>
                <a:cs typeface="Meiryo" pitchFamily="34" charset="-120"/>
              </a:rPr>
              <a:t>収益を森林整備へ還元</a:t>
            </a:r>
            <a:endParaRPr lang="en-US" sz="1100" dirty="0"/>
          </a:p>
        </p:txBody>
      </p:sp>
      <p:sp>
        <p:nvSpPr>
          <p:cNvPr id="34" name="Text 32"/>
          <p:cNvSpPr txBox="1"/>
          <p:nvPr/>
        </p:nvSpPr>
        <p:spPr>
          <a:xfrm>
            <a:off x="6565392" y="4791456"/>
            <a:ext cx="4663440" cy="822960"/>
          </a:xfrm>
          <a:prstGeom prst="rect">
            <a:avLst/>
          </a:prstGeom>
          <a:noFill/>
          <a:ln/>
        </p:spPr>
        <p:txBody>
          <a:bodyPr wrap="square" lIns="0" tIns="0" rIns="0" bIns="0" rtlCol="0" anchor="t"/>
          <a:lstStyle/>
          <a:p>
            <a:pPr indent="0" marL="0">
              <a:lnSpc>
                <a:spcPts val="1700"/>
              </a:lnSpc>
              <a:buNone/>
            </a:pPr>
            <a:r>
              <a:rPr lang="en-US" sz="1100" b="1" dirty="0">
                <a:solidFill>
                  <a:srgbClr val="C1762C"/>
                </a:solidFill>
                <a:latin typeface="Meiryo" pitchFamily="34" charset="0"/>
                <a:ea typeface="Meiryo" pitchFamily="34" charset="-122"/>
                <a:cs typeface="Meiryo" pitchFamily="34" charset="-120"/>
              </a:rPr>
              <a:t>木材が出しにくい森（急傾斜地・保安林など）も「稼ぐ森」にできる。多摩の森活性化プロジェクトのCO2吸収量認証とも接続できる。</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ROADMAP</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5年のロードマップ</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24</a:t>
            </a:r>
            <a:endParaRPr lang="en-US" sz="900" dirty="0"/>
          </a:p>
        </p:txBody>
      </p:sp>
      <p:sp>
        <p:nvSpPr>
          <p:cNvPr id="6" name="Shape 4"/>
          <p:cNvSpPr/>
          <p:nvPr/>
        </p:nvSpPr>
        <p:spPr>
          <a:xfrm>
            <a:off x="658368" y="1691640"/>
            <a:ext cx="3465576" cy="3063240"/>
          </a:xfrm>
          <a:prstGeom prst="roundRect">
            <a:avLst>
              <a:gd name="adj" fmla="val 2687"/>
            </a:avLst>
          </a:prstGeom>
          <a:solidFill>
            <a:srgbClr val="24512F"/>
          </a:solidFill>
          <a:ln/>
          <a:effectLst>
            <a:outerShdw sx="100000" sy="100000" kx="0" ky="0" algn="bl" rotWithShape="0" blurRad="127000" dist="25400" dir="5400000">
              <a:srgbClr val="1B3D24">
                <a:alpha val="10000"/>
              </a:srgbClr>
            </a:outerShdw>
          </a:effectLst>
        </p:spPr>
      </p:sp>
      <p:sp>
        <p:nvSpPr>
          <p:cNvPr id="7" name="Text 5"/>
          <p:cNvSpPr txBox="1"/>
          <p:nvPr/>
        </p:nvSpPr>
        <p:spPr>
          <a:xfrm>
            <a:off x="978408" y="1938528"/>
            <a:ext cx="2825496" cy="237744"/>
          </a:xfrm>
          <a:prstGeom prst="rect">
            <a:avLst/>
          </a:prstGeom>
          <a:noFill/>
          <a:ln/>
        </p:spPr>
        <p:txBody>
          <a:bodyPr wrap="square" lIns="0" tIns="0" rIns="0" bIns="0" rtlCol="0" anchor="t"/>
          <a:lstStyle/>
          <a:p>
            <a:pPr indent="0" marL="0">
              <a:buNone/>
            </a:pPr>
            <a:r>
              <a:rPr lang="en-US" sz="1050" b="1" spc="120" kern="0" dirty="0">
                <a:solidFill>
                  <a:srgbClr val="8FB566"/>
                </a:solidFill>
                <a:latin typeface="Meiryo" pitchFamily="34" charset="0"/>
                <a:ea typeface="Meiryo" pitchFamily="34" charset="-122"/>
                <a:cs typeface="Meiryo" pitchFamily="34" charset="-120"/>
              </a:rPr>
              <a:t>PHASE 1</a:t>
            </a:r>
            <a:endParaRPr lang="en-US" sz="1050" dirty="0"/>
          </a:p>
        </p:txBody>
      </p:sp>
      <p:sp>
        <p:nvSpPr>
          <p:cNvPr id="8" name="Text 6"/>
          <p:cNvSpPr txBox="1"/>
          <p:nvPr/>
        </p:nvSpPr>
        <p:spPr>
          <a:xfrm>
            <a:off x="978408" y="2231136"/>
            <a:ext cx="2825496" cy="411480"/>
          </a:xfrm>
          <a:prstGeom prst="rect">
            <a:avLst/>
          </a:prstGeom>
          <a:noFill/>
          <a:ln/>
        </p:spPr>
        <p:txBody>
          <a:bodyPr wrap="square" lIns="0" tIns="0" rIns="0" bIns="0" rtlCol="0" anchor="t"/>
          <a:lstStyle/>
          <a:p>
            <a:pPr indent="0" marL="0">
              <a:buNone/>
            </a:pPr>
            <a:r>
              <a:rPr lang="en-US" sz="2100" b="1" dirty="0">
                <a:solidFill>
                  <a:srgbClr val="FFFFFF"/>
                </a:solidFill>
                <a:latin typeface="Meiryo" pitchFamily="34" charset="0"/>
                <a:ea typeface="Meiryo" pitchFamily="34" charset="-122"/>
                <a:cs typeface="Meiryo" pitchFamily="34" charset="-120"/>
              </a:rPr>
              <a:t>基盤づくり</a:t>
            </a:r>
            <a:endParaRPr lang="en-US" sz="2100" dirty="0"/>
          </a:p>
        </p:txBody>
      </p:sp>
      <p:sp>
        <p:nvSpPr>
          <p:cNvPr id="9" name="Text 7"/>
          <p:cNvSpPr txBox="1"/>
          <p:nvPr/>
        </p:nvSpPr>
        <p:spPr>
          <a:xfrm>
            <a:off x="978408" y="2697480"/>
            <a:ext cx="2825496" cy="274320"/>
          </a:xfrm>
          <a:prstGeom prst="rect">
            <a:avLst/>
          </a:prstGeom>
          <a:noFill/>
          <a:ln/>
        </p:spPr>
        <p:txBody>
          <a:bodyPr wrap="square" lIns="0" tIns="0" rIns="0" bIns="0" rtlCol="0" anchor="t"/>
          <a:lstStyle/>
          <a:p>
            <a:pPr indent="0" marL="0">
              <a:buNone/>
            </a:pPr>
            <a:r>
              <a:rPr lang="en-US" sz="1150" dirty="0">
                <a:solidFill>
                  <a:srgbClr val="DCE9D2"/>
                </a:solidFill>
                <a:latin typeface="Meiryo" pitchFamily="34" charset="0"/>
                <a:ea typeface="Meiryo" pitchFamily="34" charset="-122"/>
                <a:cs typeface="Meiryo" pitchFamily="34" charset="-120"/>
              </a:rPr>
              <a:t>1〜2年目</a:t>
            </a:r>
            <a:endParaRPr lang="en-US" sz="1150" dirty="0"/>
          </a:p>
        </p:txBody>
      </p:sp>
      <p:sp>
        <p:nvSpPr>
          <p:cNvPr id="10" name="Text 8"/>
          <p:cNvSpPr txBox="1"/>
          <p:nvPr/>
        </p:nvSpPr>
        <p:spPr>
          <a:xfrm>
            <a:off x="978408" y="3127248"/>
            <a:ext cx="2825496" cy="201168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EAF1E0"/>
                </a:solidFill>
                <a:latin typeface="Meiryo" pitchFamily="34" charset="0"/>
                <a:ea typeface="Meiryo" pitchFamily="34" charset="-122"/>
                <a:cs typeface="Meiryo" pitchFamily="34" charset="-120"/>
              </a:rPr>
              <a:t>森のカルテ（モデル林から着手）</a:t>
            </a:r>
            <a:endParaRPr lang="en-US" sz="1100" dirty="0"/>
          </a:p>
          <a:p>
            <a:pPr marL="342900" indent="-342900">
              <a:lnSpc>
                <a:spcPts val="1700"/>
              </a:lnSpc>
              <a:spcAft>
                <a:spcPts val="700"/>
              </a:spcAft>
              <a:buSzPct val="100000"/>
              <a:buChar char="▪"/>
            </a:pPr>
            <a:r>
              <a:rPr lang="en-US" sz="1100" dirty="0">
                <a:solidFill>
                  <a:srgbClr val="EAF1E0"/>
                </a:solidFill>
                <a:latin typeface="Meiryo" pitchFamily="34" charset="0"/>
                <a:ea typeface="Meiryo" pitchFamily="34" charset="-122"/>
                <a:cs typeface="Meiryo" pitchFamily="34" charset="-120"/>
              </a:rPr>
              <a:t>「森の50年ビジョン」の策定</a:t>
            </a:r>
            <a:endParaRPr lang="en-US" sz="1100" dirty="0"/>
          </a:p>
          <a:p>
            <a:pPr marL="342900" indent="-342900">
              <a:lnSpc>
                <a:spcPts val="1700"/>
              </a:lnSpc>
              <a:spcAft>
                <a:spcPts val="700"/>
              </a:spcAft>
              <a:buSzPct val="100000"/>
              <a:buChar char="▪"/>
            </a:pPr>
            <a:r>
              <a:rPr lang="en-US" sz="1100" dirty="0">
                <a:solidFill>
                  <a:srgbClr val="EAF1E0"/>
                </a:solidFill>
                <a:latin typeface="Meiryo" pitchFamily="34" charset="0"/>
                <a:ea typeface="Meiryo" pitchFamily="34" charset="-122"/>
                <a:cs typeface="Meiryo" pitchFamily="34" charset="-120"/>
              </a:rPr>
              <a:t>需要企業の発掘・意向調査</a:t>
            </a:r>
            <a:endParaRPr lang="en-US" sz="1100" dirty="0"/>
          </a:p>
          <a:p>
            <a:pPr marL="342900" indent="-342900">
              <a:lnSpc>
                <a:spcPts val="1700"/>
              </a:lnSpc>
              <a:spcAft>
                <a:spcPts val="700"/>
              </a:spcAft>
              <a:buSzPct val="100000"/>
              <a:buChar char="▪"/>
            </a:pPr>
            <a:r>
              <a:rPr lang="en-US" sz="1100" dirty="0">
                <a:solidFill>
                  <a:srgbClr val="EAF1E0"/>
                </a:solidFill>
                <a:latin typeface="Meiryo" pitchFamily="34" charset="0"/>
                <a:ea typeface="Meiryo" pitchFamily="34" charset="-122"/>
                <a:cs typeface="Meiryo" pitchFamily="34" charset="-120"/>
              </a:rPr>
              <a:t>地域再生計画への位置づけ・認定申請</a:t>
            </a:r>
            <a:endParaRPr lang="en-US" sz="1100" dirty="0"/>
          </a:p>
        </p:txBody>
      </p:sp>
      <p:sp>
        <p:nvSpPr>
          <p:cNvPr id="11" name="Shape 9"/>
          <p:cNvSpPr/>
          <p:nvPr/>
        </p:nvSpPr>
        <p:spPr>
          <a:xfrm>
            <a:off x="4379976" y="1691640"/>
            <a:ext cx="3465576" cy="3063240"/>
          </a:xfrm>
          <a:prstGeom prst="roundRect">
            <a:avLst>
              <a:gd name="adj" fmla="val 2687"/>
            </a:avLst>
          </a:prstGeom>
          <a:solidFill>
            <a:srgbClr val="EAF1E0"/>
          </a:solidFill>
          <a:ln/>
        </p:spPr>
      </p:sp>
      <p:sp>
        <p:nvSpPr>
          <p:cNvPr id="12" name="Text 10"/>
          <p:cNvSpPr txBox="1"/>
          <p:nvPr/>
        </p:nvSpPr>
        <p:spPr>
          <a:xfrm>
            <a:off x="4700016" y="1938528"/>
            <a:ext cx="2825496" cy="237744"/>
          </a:xfrm>
          <a:prstGeom prst="rect">
            <a:avLst/>
          </a:prstGeom>
          <a:noFill/>
          <a:ln/>
        </p:spPr>
        <p:txBody>
          <a:bodyPr wrap="square" lIns="0" tIns="0" rIns="0" bIns="0" rtlCol="0" anchor="t"/>
          <a:lstStyle/>
          <a:p>
            <a:pPr indent="0" marL="0">
              <a:buNone/>
            </a:pPr>
            <a:r>
              <a:rPr lang="en-US" sz="1050" b="1" spc="120" kern="0" dirty="0">
                <a:solidFill>
                  <a:srgbClr val="5E7F3C"/>
                </a:solidFill>
                <a:latin typeface="Meiryo" pitchFamily="34" charset="0"/>
                <a:ea typeface="Meiryo" pitchFamily="34" charset="-122"/>
                <a:cs typeface="Meiryo" pitchFamily="34" charset="-120"/>
              </a:rPr>
              <a:t>PHASE 2</a:t>
            </a:r>
            <a:endParaRPr lang="en-US" sz="1050" dirty="0"/>
          </a:p>
        </p:txBody>
      </p:sp>
      <p:sp>
        <p:nvSpPr>
          <p:cNvPr id="13" name="Text 11"/>
          <p:cNvSpPr txBox="1"/>
          <p:nvPr/>
        </p:nvSpPr>
        <p:spPr>
          <a:xfrm>
            <a:off x="4700016" y="2231136"/>
            <a:ext cx="2825496" cy="411480"/>
          </a:xfrm>
          <a:prstGeom prst="rect">
            <a:avLst/>
          </a:prstGeom>
          <a:noFill/>
          <a:ln/>
        </p:spPr>
        <p:txBody>
          <a:bodyPr wrap="square" lIns="0" tIns="0" rIns="0" bIns="0" rtlCol="0" anchor="t"/>
          <a:lstStyle/>
          <a:p>
            <a:pPr indent="0" marL="0">
              <a:buNone/>
            </a:pPr>
            <a:r>
              <a:rPr lang="en-US" sz="2100" b="1" dirty="0">
                <a:solidFill>
                  <a:srgbClr val="1B3D24"/>
                </a:solidFill>
                <a:latin typeface="Meiryo" pitchFamily="34" charset="0"/>
                <a:ea typeface="Meiryo" pitchFamily="34" charset="-122"/>
                <a:cs typeface="Meiryo" pitchFamily="34" charset="-120"/>
              </a:rPr>
              <a:t>出口づくり</a:t>
            </a:r>
            <a:endParaRPr lang="en-US" sz="2100" dirty="0"/>
          </a:p>
        </p:txBody>
      </p:sp>
      <p:sp>
        <p:nvSpPr>
          <p:cNvPr id="14" name="Text 12"/>
          <p:cNvSpPr txBox="1"/>
          <p:nvPr/>
        </p:nvSpPr>
        <p:spPr>
          <a:xfrm>
            <a:off x="4700016" y="2697480"/>
            <a:ext cx="2825496" cy="274320"/>
          </a:xfrm>
          <a:prstGeom prst="rect">
            <a:avLst/>
          </a:prstGeom>
          <a:noFill/>
          <a:ln/>
        </p:spPr>
        <p:txBody>
          <a:bodyPr wrap="square" lIns="0" tIns="0" rIns="0" bIns="0" rtlCol="0" anchor="t"/>
          <a:lstStyle/>
          <a:p>
            <a:pPr indent="0" marL="0">
              <a:buNone/>
            </a:pPr>
            <a:r>
              <a:rPr lang="en-US" sz="1150" dirty="0">
                <a:solidFill>
                  <a:srgbClr val="5F6B64"/>
                </a:solidFill>
                <a:latin typeface="Meiryo" pitchFamily="34" charset="0"/>
                <a:ea typeface="Meiryo" pitchFamily="34" charset="-122"/>
                <a:cs typeface="Meiryo" pitchFamily="34" charset="-120"/>
              </a:rPr>
              <a:t>2〜4年目</a:t>
            </a:r>
            <a:endParaRPr lang="en-US" sz="1150" dirty="0"/>
          </a:p>
        </p:txBody>
      </p:sp>
      <p:sp>
        <p:nvSpPr>
          <p:cNvPr id="15" name="Text 13"/>
          <p:cNvSpPr txBox="1"/>
          <p:nvPr/>
        </p:nvSpPr>
        <p:spPr>
          <a:xfrm>
            <a:off x="4700016" y="3127248"/>
            <a:ext cx="2825496" cy="201168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パートナー企業制度の運用開始</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森の結婚証明書など生活シーンへの実装</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公共・民間の利用先マッチング</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流通・加工体制の整備</a:t>
            </a:r>
            <a:endParaRPr lang="en-US" sz="1100" dirty="0"/>
          </a:p>
        </p:txBody>
      </p:sp>
      <p:sp>
        <p:nvSpPr>
          <p:cNvPr id="16" name="Shape 14"/>
          <p:cNvSpPr/>
          <p:nvPr/>
        </p:nvSpPr>
        <p:spPr>
          <a:xfrm>
            <a:off x="8101584" y="1691640"/>
            <a:ext cx="3465576" cy="3063240"/>
          </a:xfrm>
          <a:prstGeom prst="roundRect">
            <a:avLst>
              <a:gd name="adj" fmla="val 2687"/>
            </a:avLst>
          </a:prstGeom>
          <a:solidFill>
            <a:srgbClr val="F4F6F1"/>
          </a:solidFill>
          <a:ln w="12700">
            <a:solidFill>
              <a:srgbClr val="DCE3D8"/>
            </a:solidFill>
            <a:prstDash val="solid"/>
          </a:ln>
        </p:spPr>
      </p:sp>
      <p:sp>
        <p:nvSpPr>
          <p:cNvPr id="17" name="Text 15"/>
          <p:cNvSpPr txBox="1"/>
          <p:nvPr/>
        </p:nvSpPr>
        <p:spPr>
          <a:xfrm>
            <a:off x="8421624" y="1938528"/>
            <a:ext cx="2825496" cy="237744"/>
          </a:xfrm>
          <a:prstGeom prst="rect">
            <a:avLst/>
          </a:prstGeom>
          <a:noFill/>
          <a:ln/>
        </p:spPr>
        <p:txBody>
          <a:bodyPr wrap="square" lIns="0" tIns="0" rIns="0" bIns="0" rtlCol="0" anchor="t"/>
          <a:lstStyle/>
          <a:p>
            <a:pPr indent="0" marL="0">
              <a:buNone/>
            </a:pPr>
            <a:r>
              <a:rPr lang="en-US" sz="1050" b="1" spc="120" kern="0" dirty="0">
                <a:solidFill>
                  <a:srgbClr val="5E7F3C"/>
                </a:solidFill>
                <a:latin typeface="Meiryo" pitchFamily="34" charset="0"/>
                <a:ea typeface="Meiryo" pitchFamily="34" charset="-122"/>
                <a:cs typeface="Meiryo" pitchFamily="34" charset="-120"/>
              </a:rPr>
              <a:t>PHASE 3</a:t>
            </a:r>
            <a:endParaRPr lang="en-US" sz="1050" dirty="0"/>
          </a:p>
        </p:txBody>
      </p:sp>
      <p:sp>
        <p:nvSpPr>
          <p:cNvPr id="18" name="Text 16"/>
          <p:cNvSpPr txBox="1"/>
          <p:nvPr/>
        </p:nvSpPr>
        <p:spPr>
          <a:xfrm>
            <a:off x="8421624" y="2231136"/>
            <a:ext cx="2825496" cy="411480"/>
          </a:xfrm>
          <a:prstGeom prst="rect">
            <a:avLst/>
          </a:prstGeom>
          <a:noFill/>
          <a:ln/>
        </p:spPr>
        <p:txBody>
          <a:bodyPr wrap="square" lIns="0" tIns="0" rIns="0" bIns="0" rtlCol="0" anchor="t"/>
          <a:lstStyle/>
          <a:p>
            <a:pPr indent="0" marL="0">
              <a:buNone/>
            </a:pPr>
            <a:r>
              <a:rPr lang="en-US" sz="2100" b="1" dirty="0">
                <a:solidFill>
                  <a:srgbClr val="1B3D24"/>
                </a:solidFill>
                <a:latin typeface="Meiryo" pitchFamily="34" charset="0"/>
                <a:ea typeface="Meiryo" pitchFamily="34" charset="-122"/>
                <a:cs typeface="Meiryo" pitchFamily="34" charset="-120"/>
              </a:rPr>
              <a:t>循環の定着</a:t>
            </a:r>
            <a:endParaRPr lang="en-US" sz="2100" dirty="0"/>
          </a:p>
        </p:txBody>
      </p:sp>
      <p:sp>
        <p:nvSpPr>
          <p:cNvPr id="19" name="Text 17"/>
          <p:cNvSpPr txBox="1"/>
          <p:nvPr/>
        </p:nvSpPr>
        <p:spPr>
          <a:xfrm>
            <a:off x="8421624" y="2697480"/>
            <a:ext cx="2825496" cy="274320"/>
          </a:xfrm>
          <a:prstGeom prst="rect">
            <a:avLst/>
          </a:prstGeom>
          <a:noFill/>
          <a:ln/>
        </p:spPr>
        <p:txBody>
          <a:bodyPr wrap="square" lIns="0" tIns="0" rIns="0" bIns="0" rtlCol="0" anchor="t"/>
          <a:lstStyle/>
          <a:p>
            <a:pPr indent="0" marL="0">
              <a:buNone/>
            </a:pPr>
            <a:r>
              <a:rPr lang="en-US" sz="1150" dirty="0">
                <a:solidFill>
                  <a:srgbClr val="5F6B64"/>
                </a:solidFill>
                <a:latin typeface="Meiryo" pitchFamily="34" charset="0"/>
                <a:ea typeface="Meiryo" pitchFamily="34" charset="-122"/>
                <a:cs typeface="Meiryo" pitchFamily="34" charset="-120"/>
              </a:rPr>
              <a:t>4〜5年目〜</a:t>
            </a:r>
            <a:endParaRPr lang="en-US" sz="1150" dirty="0"/>
          </a:p>
        </p:txBody>
      </p:sp>
      <p:sp>
        <p:nvSpPr>
          <p:cNvPr id="20" name="Text 18"/>
          <p:cNvSpPr txBox="1"/>
          <p:nvPr/>
        </p:nvSpPr>
        <p:spPr>
          <a:xfrm>
            <a:off x="8421624" y="3127248"/>
            <a:ext cx="2825496" cy="201168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収益の森林還元スキームを確立</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J-クレジット等の運用開始</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対象林分の段階的な拡大</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自走化（寄付依存度の低減）</a:t>
            </a:r>
            <a:endParaRPr lang="en-US" sz="1100" dirty="0"/>
          </a:p>
        </p:txBody>
      </p:sp>
      <p:sp>
        <p:nvSpPr>
          <p:cNvPr id="21" name="Shape 19"/>
          <p:cNvSpPr/>
          <p:nvPr/>
        </p:nvSpPr>
        <p:spPr>
          <a:xfrm>
            <a:off x="658368" y="5047488"/>
            <a:ext cx="10874959" cy="402336"/>
          </a:xfrm>
          <a:prstGeom prst="rightArrow">
            <a:avLst/>
          </a:prstGeom>
          <a:solidFill>
            <a:srgbClr val="EAF1E0"/>
          </a:solidFill>
          <a:ln/>
        </p:spPr>
      </p:sp>
      <p:sp>
        <p:nvSpPr>
          <p:cNvPr id="22" name="Text 20"/>
          <p:cNvSpPr txBox="1"/>
          <p:nvPr/>
        </p:nvSpPr>
        <p:spPr>
          <a:xfrm>
            <a:off x="658368" y="5047488"/>
            <a:ext cx="10417759" cy="402336"/>
          </a:xfrm>
          <a:prstGeom prst="rect">
            <a:avLst/>
          </a:prstGeom>
          <a:noFill/>
          <a:ln/>
        </p:spPr>
        <p:txBody>
          <a:bodyPr wrap="square" lIns="0" tIns="0" rIns="0" bIns="0" rtlCol="0" anchor="ctr"/>
          <a:lstStyle/>
          <a:p>
            <a:pPr algn="ctr" indent="0" marL="0">
              <a:buNone/>
            </a:pPr>
            <a:r>
              <a:rPr lang="en-US" sz="1150" b="1" dirty="0">
                <a:solidFill>
                  <a:srgbClr val="1B3D24"/>
                </a:solidFill>
                <a:latin typeface="Meiryo" pitchFamily="34" charset="0"/>
                <a:ea typeface="Meiryo" pitchFamily="34" charset="-122"/>
                <a:cs typeface="Meiryo" pitchFamily="34" charset="-120"/>
              </a:rPr>
              <a:t>寄付への依存度を下げながら、木材と環境価値の収益で回る構造へ</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KPI</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成果指標（案）</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25</a:t>
            </a:r>
            <a:endParaRPr lang="en-US" sz="900" dirty="0"/>
          </a:p>
        </p:txBody>
      </p:sp>
      <p:sp>
        <p:nvSpPr>
          <p:cNvPr id="6" name="Text 4"/>
          <p:cNvSpPr txBox="1"/>
          <p:nvPr/>
        </p:nvSpPr>
        <p:spPr>
          <a:xfrm>
            <a:off x="658368" y="1353312"/>
            <a:ext cx="10874959" cy="274320"/>
          </a:xfrm>
          <a:prstGeom prst="rect">
            <a:avLst/>
          </a:prstGeom>
          <a:noFill/>
          <a:ln/>
        </p:spPr>
        <p:txBody>
          <a:bodyPr wrap="square" lIns="0" tIns="0" rIns="0" bIns="0" rtlCol="0" anchor="t"/>
          <a:lstStyle/>
          <a:p>
            <a:pPr indent="0" marL="0">
              <a:buNone/>
            </a:pPr>
            <a:r>
              <a:rPr lang="en-US" sz="1150" dirty="0">
                <a:solidFill>
                  <a:srgbClr val="5F6B64"/>
                </a:solidFill>
                <a:latin typeface="Meiryo" pitchFamily="34" charset="0"/>
                <a:ea typeface="Meiryo" pitchFamily="34" charset="-122"/>
                <a:cs typeface="Meiryo" pitchFamily="34" charset="-120"/>
              </a:rPr>
              <a:t>目標値そのものはPhase 1の「森のカルテ」整備によって初めて確定できる。まず測る対象を決める。</a:t>
            </a:r>
            <a:endParaRPr lang="en-US" sz="1150" dirty="0"/>
          </a:p>
        </p:txBody>
      </p:sp>
      <p:sp>
        <p:nvSpPr>
          <p:cNvPr id="7" name="Shape 5"/>
          <p:cNvSpPr/>
          <p:nvPr/>
        </p:nvSpPr>
        <p:spPr>
          <a:xfrm>
            <a:off x="658368" y="1755648"/>
            <a:ext cx="5294376" cy="1170432"/>
          </a:xfrm>
          <a:prstGeom prst="roundRect">
            <a:avLst>
              <a:gd name="adj" fmla="val 7031"/>
            </a:avLst>
          </a:prstGeom>
          <a:solidFill>
            <a:srgbClr val="F4F6F1"/>
          </a:solidFill>
          <a:ln w="12700">
            <a:solidFill>
              <a:srgbClr val="DCE3D8"/>
            </a:solidFill>
            <a:prstDash val="solid"/>
          </a:ln>
        </p:spPr>
      </p:sp>
      <p:sp>
        <p:nvSpPr>
          <p:cNvPr id="8" name="Shape 6"/>
          <p:cNvSpPr/>
          <p:nvPr/>
        </p:nvSpPr>
        <p:spPr>
          <a:xfrm>
            <a:off x="950976" y="2066544"/>
            <a:ext cx="530352" cy="530352"/>
          </a:xfrm>
          <a:prstGeom prst="ellipse">
            <a:avLst/>
          </a:prstGeom>
          <a:solidFill>
            <a:srgbClr val="24512F"/>
          </a:solidFill>
          <a:ln/>
        </p:spPr>
      </p:sp>
      <p:sp>
        <p:nvSpPr>
          <p:cNvPr id="9" name="Text 7"/>
          <p:cNvSpPr txBox="1"/>
          <p:nvPr/>
        </p:nvSpPr>
        <p:spPr>
          <a:xfrm>
            <a:off x="950976" y="2066544"/>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0" name="Text 8"/>
          <p:cNvSpPr txBox="1"/>
          <p:nvPr/>
        </p:nvSpPr>
        <p:spPr>
          <a:xfrm>
            <a:off x="1627632" y="1956816"/>
            <a:ext cx="3099816" cy="292608"/>
          </a:xfrm>
          <a:prstGeom prst="rect">
            <a:avLst/>
          </a:prstGeom>
          <a:noFill/>
          <a:ln/>
        </p:spPr>
        <p:txBody>
          <a:bodyPr wrap="square" lIns="0" tIns="0" rIns="0" bIns="0" rtlCol="0" anchor="t"/>
          <a:lstStyle/>
          <a:p>
            <a:pPr indent="0" marL="0">
              <a:buNone/>
            </a:pPr>
            <a:r>
              <a:rPr lang="en-US" sz="1400" b="1" dirty="0">
                <a:solidFill>
                  <a:srgbClr val="1B3D24"/>
                </a:solidFill>
                <a:latin typeface="Meiryo" pitchFamily="34" charset="0"/>
                <a:ea typeface="Meiryo" pitchFamily="34" charset="-122"/>
                <a:cs typeface="Meiryo" pitchFamily="34" charset="-120"/>
              </a:rPr>
              <a:t>森のカルテ整備</a:t>
            </a:r>
            <a:endParaRPr lang="en-US" sz="1400" dirty="0"/>
          </a:p>
        </p:txBody>
      </p:sp>
      <p:sp>
        <p:nvSpPr>
          <p:cNvPr id="11" name="Text 9"/>
          <p:cNvSpPr txBox="1"/>
          <p:nvPr/>
        </p:nvSpPr>
        <p:spPr>
          <a:xfrm>
            <a:off x="1627632" y="2304288"/>
            <a:ext cx="4014216" cy="50292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対象森林面積（ha）／市内森林に占めるカバー率</a:t>
            </a:r>
            <a:endParaRPr lang="en-US" sz="1050" dirty="0"/>
          </a:p>
        </p:txBody>
      </p:sp>
      <p:sp>
        <p:nvSpPr>
          <p:cNvPr id="12" name="Shape 10"/>
          <p:cNvSpPr/>
          <p:nvPr/>
        </p:nvSpPr>
        <p:spPr>
          <a:xfrm>
            <a:off x="4837176" y="1956816"/>
            <a:ext cx="822960" cy="274320"/>
          </a:xfrm>
          <a:prstGeom prst="roundRect">
            <a:avLst>
              <a:gd name="adj" fmla="val 46667"/>
            </a:avLst>
          </a:prstGeom>
          <a:solidFill>
            <a:srgbClr val="FAEEDF"/>
          </a:solidFill>
          <a:ln/>
        </p:spPr>
      </p:sp>
      <p:sp>
        <p:nvSpPr>
          <p:cNvPr id="13" name="Text 11"/>
          <p:cNvSpPr txBox="1"/>
          <p:nvPr/>
        </p:nvSpPr>
        <p:spPr>
          <a:xfrm>
            <a:off x="4837176" y="1956816"/>
            <a:ext cx="822960" cy="274320"/>
          </a:xfrm>
          <a:prstGeom prst="rect">
            <a:avLst/>
          </a:prstGeom>
          <a:noFill/>
          <a:ln/>
        </p:spPr>
        <p:txBody>
          <a:bodyPr wrap="square" lIns="0" tIns="0" rIns="0" bIns="0" rtlCol="0" anchor="ctr"/>
          <a:lstStyle/>
          <a:p>
            <a:pPr algn="ctr" indent="0" marL="0">
              <a:buNone/>
            </a:pPr>
            <a:r>
              <a:rPr lang="en-US" sz="950" b="1" dirty="0">
                <a:solidFill>
                  <a:srgbClr val="C1762C"/>
                </a:solidFill>
                <a:latin typeface="Meiryo" pitchFamily="34" charset="0"/>
                <a:ea typeface="Meiryo" pitchFamily="34" charset="-122"/>
                <a:cs typeface="Meiryo" pitchFamily="34" charset="-120"/>
              </a:rPr>
              <a:t>Phase 1</a:t>
            </a:r>
            <a:endParaRPr lang="en-US" sz="950" dirty="0"/>
          </a:p>
        </p:txBody>
      </p:sp>
      <p:sp>
        <p:nvSpPr>
          <p:cNvPr id="14" name="Shape 12"/>
          <p:cNvSpPr/>
          <p:nvPr/>
        </p:nvSpPr>
        <p:spPr>
          <a:xfrm>
            <a:off x="6245352" y="1755648"/>
            <a:ext cx="5294376" cy="1170432"/>
          </a:xfrm>
          <a:prstGeom prst="roundRect">
            <a:avLst>
              <a:gd name="adj" fmla="val 7031"/>
            </a:avLst>
          </a:prstGeom>
          <a:solidFill>
            <a:srgbClr val="F4F6F1"/>
          </a:solidFill>
          <a:ln w="12700">
            <a:solidFill>
              <a:srgbClr val="DCE3D8"/>
            </a:solidFill>
            <a:prstDash val="solid"/>
          </a:ln>
        </p:spPr>
      </p:sp>
      <p:sp>
        <p:nvSpPr>
          <p:cNvPr id="15" name="Shape 13"/>
          <p:cNvSpPr/>
          <p:nvPr/>
        </p:nvSpPr>
        <p:spPr>
          <a:xfrm>
            <a:off x="6537960" y="2066544"/>
            <a:ext cx="530352" cy="530352"/>
          </a:xfrm>
          <a:prstGeom prst="ellipse">
            <a:avLst/>
          </a:prstGeom>
          <a:solidFill>
            <a:srgbClr val="24512F"/>
          </a:solidFill>
          <a:ln/>
        </p:spPr>
      </p:sp>
      <p:sp>
        <p:nvSpPr>
          <p:cNvPr id="16" name="Text 14"/>
          <p:cNvSpPr txBox="1"/>
          <p:nvPr/>
        </p:nvSpPr>
        <p:spPr>
          <a:xfrm>
            <a:off x="6537960" y="2066544"/>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7" name="Text 15"/>
          <p:cNvSpPr txBox="1"/>
          <p:nvPr/>
        </p:nvSpPr>
        <p:spPr>
          <a:xfrm>
            <a:off x="7214616" y="1956816"/>
            <a:ext cx="3099816" cy="292608"/>
          </a:xfrm>
          <a:prstGeom prst="rect">
            <a:avLst/>
          </a:prstGeom>
          <a:noFill/>
          <a:ln/>
        </p:spPr>
        <p:txBody>
          <a:bodyPr wrap="square" lIns="0" tIns="0" rIns="0" bIns="0" rtlCol="0" anchor="t"/>
          <a:lstStyle/>
          <a:p>
            <a:pPr indent="0" marL="0">
              <a:buNone/>
            </a:pPr>
            <a:r>
              <a:rPr lang="en-US" sz="1400" b="1" dirty="0">
                <a:solidFill>
                  <a:srgbClr val="1B3D24"/>
                </a:solidFill>
                <a:latin typeface="Meiryo" pitchFamily="34" charset="0"/>
                <a:ea typeface="Meiryo" pitchFamily="34" charset="-122"/>
                <a:cs typeface="Meiryo" pitchFamily="34" charset="-120"/>
              </a:rPr>
              <a:t>八王子産材の出材量</a:t>
            </a:r>
            <a:endParaRPr lang="en-US" sz="1400" dirty="0"/>
          </a:p>
        </p:txBody>
      </p:sp>
      <p:sp>
        <p:nvSpPr>
          <p:cNvPr id="18" name="Text 16"/>
          <p:cNvSpPr txBox="1"/>
          <p:nvPr/>
        </p:nvSpPr>
        <p:spPr>
          <a:xfrm>
            <a:off x="7214616" y="2304288"/>
            <a:ext cx="4014216" cy="50292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年間出材量（m³）／うち市内で消費された量</a:t>
            </a:r>
            <a:endParaRPr lang="en-US" sz="1050" dirty="0"/>
          </a:p>
        </p:txBody>
      </p:sp>
      <p:sp>
        <p:nvSpPr>
          <p:cNvPr id="19" name="Shape 17"/>
          <p:cNvSpPr/>
          <p:nvPr/>
        </p:nvSpPr>
        <p:spPr>
          <a:xfrm>
            <a:off x="10424160" y="1956816"/>
            <a:ext cx="822960" cy="274320"/>
          </a:xfrm>
          <a:prstGeom prst="roundRect">
            <a:avLst>
              <a:gd name="adj" fmla="val 46667"/>
            </a:avLst>
          </a:prstGeom>
          <a:solidFill>
            <a:srgbClr val="FAEEDF"/>
          </a:solidFill>
          <a:ln/>
        </p:spPr>
      </p:sp>
      <p:sp>
        <p:nvSpPr>
          <p:cNvPr id="20" name="Text 18"/>
          <p:cNvSpPr txBox="1"/>
          <p:nvPr/>
        </p:nvSpPr>
        <p:spPr>
          <a:xfrm>
            <a:off x="10424160" y="1956816"/>
            <a:ext cx="822960" cy="274320"/>
          </a:xfrm>
          <a:prstGeom prst="rect">
            <a:avLst/>
          </a:prstGeom>
          <a:noFill/>
          <a:ln/>
        </p:spPr>
        <p:txBody>
          <a:bodyPr wrap="square" lIns="0" tIns="0" rIns="0" bIns="0" rtlCol="0" anchor="ctr"/>
          <a:lstStyle/>
          <a:p>
            <a:pPr algn="ctr" indent="0" marL="0">
              <a:buNone/>
            </a:pPr>
            <a:r>
              <a:rPr lang="en-US" sz="950" b="1" dirty="0">
                <a:solidFill>
                  <a:srgbClr val="C1762C"/>
                </a:solidFill>
                <a:latin typeface="Meiryo" pitchFamily="34" charset="0"/>
                <a:ea typeface="Meiryo" pitchFamily="34" charset="-122"/>
                <a:cs typeface="Meiryo" pitchFamily="34" charset="-120"/>
              </a:rPr>
              <a:t>Phase 2</a:t>
            </a:r>
            <a:endParaRPr lang="en-US" sz="950" dirty="0"/>
          </a:p>
        </p:txBody>
      </p:sp>
      <p:sp>
        <p:nvSpPr>
          <p:cNvPr id="21" name="Shape 19"/>
          <p:cNvSpPr/>
          <p:nvPr/>
        </p:nvSpPr>
        <p:spPr>
          <a:xfrm>
            <a:off x="658368" y="3108960"/>
            <a:ext cx="5294376" cy="1170432"/>
          </a:xfrm>
          <a:prstGeom prst="roundRect">
            <a:avLst>
              <a:gd name="adj" fmla="val 7031"/>
            </a:avLst>
          </a:prstGeom>
          <a:solidFill>
            <a:srgbClr val="F4F6F1"/>
          </a:solidFill>
          <a:ln w="12700">
            <a:solidFill>
              <a:srgbClr val="DCE3D8"/>
            </a:solidFill>
            <a:prstDash val="solid"/>
          </a:ln>
        </p:spPr>
      </p:sp>
      <p:sp>
        <p:nvSpPr>
          <p:cNvPr id="22" name="Shape 20"/>
          <p:cNvSpPr/>
          <p:nvPr/>
        </p:nvSpPr>
        <p:spPr>
          <a:xfrm>
            <a:off x="950976" y="3419856"/>
            <a:ext cx="530352" cy="530352"/>
          </a:xfrm>
          <a:prstGeom prst="ellipse">
            <a:avLst/>
          </a:prstGeom>
          <a:solidFill>
            <a:srgbClr val="8FB566"/>
          </a:solidFill>
          <a:ln/>
        </p:spPr>
      </p:sp>
      <p:sp>
        <p:nvSpPr>
          <p:cNvPr id="23" name="Text 21"/>
          <p:cNvSpPr txBox="1"/>
          <p:nvPr/>
        </p:nvSpPr>
        <p:spPr>
          <a:xfrm>
            <a:off x="950976" y="3419856"/>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4" name="Text 22"/>
          <p:cNvSpPr txBox="1"/>
          <p:nvPr/>
        </p:nvSpPr>
        <p:spPr>
          <a:xfrm>
            <a:off x="1627632" y="3310128"/>
            <a:ext cx="3099816" cy="292608"/>
          </a:xfrm>
          <a:prstGeom prst="rect">
            <a:avLst/>
          </a:prstGeom>
          <a:noFill/>
          <a:ln/>
        </p:spPr>
        <p:txBody>
          <a:bodyPr wrap="square" lIns="0" tIns="0" rIns="0" bIns="0" rtlCol="0" anchor="t"/>
          <a:lstStyle/>
          <a:p>
            <a:pPr indent="0" marL="0">
              <a:buNone/>
            </a:pPr>
            <a:r>
              <a:rPr lang="en-US" sz="1400" b="1" dirty="0">
                <a:solidFill>
                  <a:srgbClr val="1B3D24"/>
                </a:solidFill>
                <a:latin typeface="Meiryo" pitchFamily="34" charset="0"/>
                <a:ea typeface="Meiryo" pitchFamily="34" charset="-122"/>
                <a:cs typeface="Meiryo" pitchFamily="34" charset="-120"/>
              </a:rPr>
              <a:t>継続利用の主体数</a:t>
            </a:r>
            <a:endParaRPr lang="en-US" sz="1400" dirty="0"/>
          </a:p>
        </p:txBody>
      </p:sp>
      <p:sp>
        <p:nvSpPr>
          <p:cNvPr id="25" name="Text 23"/>
          <p:cNvSpPr txBox="1"/>
          <p:nvPr/>
        </p:nvSpPr>
        <p:spPr>
          <a:xfrm>
            <a:off x="1627632" y="3657600"/>
            <a:ext cx="4014216" cy="50292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八王子産材を継続的に利用する企業・施設数（社・件）</a:t>
            </a:r>
            <a:endParaRPr lang="en-US" sz="1050" dirty="0"/>
          </a:p>
        </p:txBody>
      </p:sp>
      <p:sp>
        <p:nvSpPr>
          <p:cNvPr id="26" name="Shape 24"/>
          <p:cNvSpPr/>
          <p:nvPr/>
        </p:nvSpPr>
        <p:spPr>
          <a:xfrm>
            <a:off x="4837176" y="3310128"/>
            <a:ext cx="822960" cy="274320"/>
          </a:xfrm>
          <a:prstGeom prst="roundRect">
            <a:avLst>
              <a:gd name="adj" fmla="val 46667"/>
            </a:avLst>
          </a:prstGeom>
          <a:solidFill>
            <a:srgbClr val="FAEEDF"/>
          </a:solidFill>
          <a:ln/>
        </p:spPr>
      </p:sp>
      <p:sp>
        <p:nvSpPr>
          <p:cNvPr id="27" name="Text 25"/>
          <p:cNvSpPr txBox="1"/>
          <p:nvPr/>
        </p:nvSpPr>
        <p:spPr>
          <a:xfrm>
            <a:off x="4837176" y="3310128"/>
            <a:ext cx="822960" cy="274320"/>
          </a:xfrm>
          <a:prstGeom prst="rect">
            <a:avLst/>
          </a:prstGeom>
          <a:noFill/>
          <a:ln/>
        </p:spPr>
        <p:txBody>
          <a:bodyPr wrap="square" lIns="0" tIns="0" rIns="0" bIns="0" rtlCol="0" anchor="ctr"/>
          <a:lstStyle/>
          <a:p>
            <a:pPr algn="ctr" indent="0" marL="0">
              <a:buNone/>
            </a:pPr>
            <a:r>
              <a:rPr lang="en-US" sz="950" b="1" dirty="0">
                <a:solidFill>
                  <a:srgbClr val="C1762C"/>
                </a:solidFill>
                <a:latin typeface="Meiryo" pitchFamily="34" charset="0"/>
                <a:ea typeface="Meiryo" pitchFamily="34" charset="-122"/>
                <a:cs typeface="Meiryo" pitchFamily="34" charset="-120"/>
              </a:rPr>
              <a:t>Phase 2</a:t>
            </a:r>
            <a:endParaRPr lang="en-US" sz="950" dirty="0"/>
          </a:p>
        </p:txBody>
      </p:sp>
      <p:sp>
        <p:nvSpPr>
          <p:cNvPr id="28" name="Shape 26"/>
          <p:cNvSpPr/>
          <p:nvPr/>
        </p:nvSpPr>
        <p:spPr>
          <a:xfrm>
            <a:off x="6245352" y="3108960"/>
            <a:ext cx="5294376" cy="1170432"/>
          </a:xfrm>
          <a:prstGeom prst="roundRect">
            <a:avLst>
              <a:gd name="adj" fmla="val 7031"/>
            </a:avLst>
          </a:prstGeom>
          <a:solidFill>
            <a:srgbClr val="F4F6F1"/>
          </a:solidFill>
          <a:ln w="12700">
            <a:solidFill>
              <a:srgbClr val="DCE3D8"/>
            </a:solidFill>
            <a:prstDash val="solid"/>
          </a:ln>
        </p:spPr>
      </p:sp>
      <p:sp>
        <p:nvSpPr>
          <p:cNvPr id="29" name="Shape 27"/>
          <p:cNvSpPr/>
          <p:nvPr/>
        </p:nvSpPr>
        <p:spPr>
          <a:xfrm>
            <a:off x="6537960" y="3419856"/>
            <a:ext cx="530352" cy="530352"/>
          </a:xfrm>
          <a:prstGeom prst="ellipse">
            <a:avLst/>
          </a:prstGeom>
          <a:solidFill>
            <a:srgbClr val="8FB566"/>
          </a:solidFill>
          <a:ln/>
        </p:spPr>
      </p:sp>
      <p:sp>
        <p:nvSpPr>
          <p:cNvPr id="30" name="Text 28"/>
          <p:cNvSpPr txBox="1"/>
          <p:nvPr/>
        </p:nvSpPr>
        <p:spPr>
          <a:xfrm>
            <a:off x="6537960" y="3419856"/>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31" name="Text 29"/>
          <p:cNvSpPr txBox="1"/>
          <p:nvPr/>
        </p:nvSpPr>
        <p:spPr>
          <a:xfrm>
            <a:off x="7214616" y="3310128"/>
            <a:ext cx="3099816" cy="292608"/>
          </a:xfrm>
          <a:prstGeom prst="rect">
            <a:avLst/>
          </a:prstGeom>
          <a:noFill/>
          <a:ln/>
        </p:spPr>
        <p:txBody>
          <a:bodyPr wrap="square" lIns="0" tIns="0" rIns="0" bIns="0" rtlCol="0" anchor="t"/>
          <a:lstStyle/>
          <a:p>
            <a:pPr indent="0" marL="0">
              <a:buNone/>
            </a:pPr>
            <a:r>
              <a:rPr lang="en-US" sz="1400" b="1" dirty="0">
                <a:solidFill>
                  <a:srgbClr val="1B3D24"/>
                </a:solidFill>
                <a:latin typeface="Meiryo" pitchFamily="34" charset="0"/>
                <a:ea typeface="Meiryo" pitchFamily="34" charset="-122"/>
                <a:cs typeface="Meiryo" pitchFamily="34" charset="-120"/>
              </a:rPr>
              <a:t>市民との接点</a:t>
            </a:r>
            <a:endParaRPr lang="en-US" sz="1400" dirty="0"/>
          </a:p>
        </p:txBody>
      </p:sp>
      <p:sp>
        <p:nvSpPr>
          <p:cNvPr id="32" name="Text 30"/>
          <p:cNvSpPr txBox="1"/>
          <p:nvPr/>
        </p:nvSpPr>
        <p:spPr>
          <a:xfrm>
            <a:off x="7214616" y="3657600"/>
            <a:ext cx="4014216" cy="50292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森林由来製品が市民に届いた件数（結婚証明書・ベビギフト等）</a:t>
            </a:r>
            <a:endParaRPr lang="en-US" sz="1050" dirty="0"/>
          </a:p>
        </p:txBody>
      </p:sp>
      <p:sp>
        <p:nvSpPr>
          <p:cNvPr id="33" name="Shape 31"/>
          <p:cNvSpPr/>
          <p:nvPr/>
        </p:nvSpPr>
        <p:spPr>
          <a:xfrm>
            <a:off x="10424160" y="3310128"/>
            <a:ext cx="822960" cy="274320"/>
          </a:xfrm>
          <a:prstGeom prst="roundRect">
            <a:avLst>
              <a:gd name="adj" fmla="val 46667"/>
            </a:avLst>
          </a:prstGeom>
          <a:solidFill>
            <a:srgbClr val="FAEEDF"/>
          </a:solidFill>
          <a:ln/>
        </p:spPr>
      </p:sp>
      <p:sp>
        <p:nvSpPr>
          <p:cNvPr id="34" name="Text 32"/>
          <p:cNvSpPr txBox="1"/>
          <p:nvPr/>
        </p:nvSpPr>
        <p:spPr>
          <a:xfrm>
            <a:off x="10424160" y="3310128"/>
            <a:ext cx="822960" cy="274320"/>
          </a:xfrm>
          <a:prstGeom prst="rect">
            <a:avLst/>
          </a:prstGeom>
          <a:noFill/>
          <a:ln/>
        </p:spPr>
        <p:txBody>
          <a:bodyPr wrap="square" lIns="0" tIns="0" rIns="0" bIns="0" rtlCol="0" anchor="ctr"/>
          <a:lstStyle/>
          <a:p>
            <a:pPr algn="ctr" indent="0" marL="0">
              <a:buNone/>
            </a:pPr>
            <a:r>
              <a:rPr lang="en-US" sz="950" b="1" dirty="0">
                <a:solidFill>
                  <a:srgbClr val="C1762C"/>
                </a:solidFill>
                <a:latin typeface="Meiryo" pitchFamily="34" charset="0"/>
                <a:ea typeface="Meiryo" pitchFamily="34" charset="-122"/>
                <a:cs typeface="Meiryo" pitchFamily="34" charset="-120"/>
              </a:rPr>
              <a:t>Phase 2</a:t>
            </a:r>
            <a:endParaRPr lang="en-US" sz="950" dirty="0"/>
          </a:p>
        </p:txBody>
      </p:sp>
      <p:sp>
        <p:nvSpPr>
          <p:cNvPr id="35" name="Shape 33"/>
          <p:cNvSpPr/>
          <p:nvPr/>
        </p:nvSpPr>
        <p:spPr>
          <a:xfrm>
            <a:off x="658368" y="4462272"/>
            <a:ext cx="5294376" cy="1170432"/>
          </a:xfrm>
          <a:prstGeom prst="roundRect">
            <a:avLst>
              <a:gd name="adj" fmla="val 7031"/>
            </a:avLst>
          </a:prstGeom>
          <a:solidFill>
            <a:srgbClr val="F4F6F1"/>
          </a:solidFill>
          <a:ln w="12700">
            <a:solidFill>
              <a:srgbClr val="DCE3D8"/>
            </a:solidFill>
            <a:prstDash val="solid"/>
          </a:ln>
        </p:spPr>
      </p:sp>
      <p:sp>
        <p:nvSpPr>
          <p:cNvPr id="36" name="Shape 34"/>
          <p:cNvSpPr/>
          <p:nvPr/>
        </p:nvSpPr>
        <p:spPr>
          <a:xfrm>
            <a:off x="950976" y="4773168"/>
            <a:ext cx="530352" cy="530352"/>
          </a:xfrm>
          <a:prstGeom prst="ellipse">
            <a:avLst/>
          </a:prstGeom>
          <a:solidFill>
            <a:srgbClr val="8FB566"/>
          </a:solidFill>
          <a:ln/>
        </p:spPr>
      </p:sp>
      <p:sp>
        <p:nvSpPr>
          <p:cNvPr id="37" name="Text 35"/>
          <p:cNvSpPr txBox="1"/>
          <p:nvPr/>
        </p:nvSpPr>
        <p:spPr>
          <a:xfrm>
            <a:off x="950976" y="4773168"/>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5</a:t>
            </a:r>
            <a:endParaRPr lang="en-US" sz="1400" dirty="0"/>
          </a:p>
        </p:txBody>
      </p:sp>
      <p:sp>
        <p:nvSpPr>
          <p:cNvPr id="38" name="Text 36"/>
          <p:cNvSpPr txBox="1"/>
          <p:nvPr/>
        </p:nvSpPr>
        <p:spPr>
          <a:xfrm>
            <a:off x="1627632" y="4663440"/>
            <a:ext cx="3099816" cy="292608"/>
          </a:xfrm>
          <a:prstGeom prst="rect">
            <a:avLst/>
          </a:prstGeom>
          <a:noFill/>
          <a:ln/>
        </p:spPr>
        <p:txBody>
          <a:bodyPr wrap="square" lIns="0" tIns="0" rIns="0" bIns="0" rtlCol="0" anchor="t"/>
          <a:lstStyle/>
          <a:p>
            <a:pPr indent="0" marL="0">
              <a:buNone/>
            </a:pPr>
            <a:r>
              <a:rPr lang="en-US" sz="1400" b="1" dirty="0">
                <a:solidFill>
                  <a:srgbClr val="1B3D24"/>
                </a:solidFill>
                <a:latin typeface="Meiryo" pitchFamily="34" charset="0"/>
                <a:ea typeface="Meiryo" pitchFamily="34" charset="-122"/>
                <a:cs typeface="Meiryo" pitchFamily="34" charset="-120"/>
              </a:rPr>
              <a:t>森林への還元額</a:t>
            </a:r>
            <a:endParaRPr lang="en-US" sz="1400" dirty="0"/>
          </a:p>
        </p:txBody>
      </p:sp>
      <p:sp>
        <p:nvSpPr>
          <p:cNvPr id="39" name="Text 37"/>
          <p:cNvSpPr txBox="1"/>
          <p:nvPr/>
        </p:nvSpPr>
        <p:spPr>
          <a:xfrm>
            <a:off x="1627632" y="5010912"/>
            <a:ext cx="4014216" cy="50292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木材販売・環境価値の収益から森林整備に還元された額（円／年）</a:t>
            </a:r>
            <a:endParaRPr lang="en-US" sz="1050" dirty="0"/>
          </a:p>
        </p:txBody>
      </p:sp>
      <p:sp>
        <p:nvSpPr>
          <p:cNvPr id="40" name="Shape 38"/>
          <p:cNvSpPr/>
          <p:nvPr/>
        </p:nvSpPr>
        <p:spPr>
          <a:xfrm>
            <a:off x="4837176" y="4663440"/>
            <a:ext cx="822960" cy="274320"/>
          </a:xfrm>
          <a:prstGeom prst="roundRect">
            <a:avLst>
              <a:gd name="adj" fmla="val 46667"/>
            </a:avLst>
          </a:prstGeom>
          <a:solidFill>
            <a:srgbClr val="FAEEDF"/>
          </a:solidFill>
          <a:ln/>
        </p:spPr>
      </p:sp>
      <p:sp>
        <p:nvSpPr>
          <p:cNvPr id="41" name="Text 39"/>
          <p:cNvSpPr txBox="1"/>
          <p:nvPr/>
        </p:nvSpPr>
        <p:spPr>
          <a:xfrm>
            <a:off x="4837176" y="4663440"/>
            <a:ext cx="822960" cy="274320"/>
          </a:xfrm>
          <a:prstGeom prst="rect">
            <a:avLst/>
          </a:prstGeom>
          <a:noFill/>
          <a:ln/>
        </p:spPr>
        <p:txBody>
          <a:bodyPr wrap="square" lIns="0" tIns="0" rIns="0" bIns="0" rtlCol="0" anchor="ctr"/>
          <a:lstStyle/>
          <a:p>
            <a:pPr algn="ctr" indent="0" marL="0">
              <a:buNone/>
            </a:pPr>
            <a:r>
              <a:rPr lang="en-US" sz="950" b="1" dirty="0">
                <a:solidFill>
                  <a:srgbClr val="C1762C"/>
                </a:solidFill>
                <a:latin typeface="Meiryo" pitchFamily="34" charset="0"/>
                <a:ea typeface="Meiryo" pitchFamily="34" charset="-122"/>
                <a:cs typeface="Meiryo" pitchFamily="34" charset="-120"/>
              </a:rPr>
              <a:t>Phase 3</a:t>
            </a:r>
            <a:endParaRPr lang="en-US" sz="950" dirty="0"/>
          </a:p>
        </p:txBody>
      </p:sp>
      <p:sp>
        <p:nvSpPr>
          <p:cNvPr id="42" name="Shape 40"/>
          <p:cNvSpPr/>
          <p:nvPr/>
        </p:nvSpPr>
        <p:spPr>
          <a:xfrm>
            <a:off x="6245352" y="4462272"/>
            <a:ext cx="5294376" cy="1170432"/>
          </a:xfrm>
          <a:prstGeom prst="roundRect">
            <a:avLst>
              <a:gd name="adj" fmla="val 7031"/>
            </a:avLst>
          </a:prstGeom>
          <a:solidFill>
            <a:srgbClr val="F4F6F1"/>
          </a:solidFill>
          <a:ln w="12700">
            <a:solidFill>
              <a:srgbClr val="DCE3D8"/>
            </a:solidFill>
            <a:prstDash val="solid"/>
          </a:ln>
        </p:spPr>
      </p:sp>
      <p:sp>
        <p:nvSpPr>
          <p:cNvPr id="43" name="Shape 41"/>
          <p:cNvSpPr/>
          <p:nvPr/>
        </p:nvSpPr>
        <p:spPr>
          <a:xfrm>
            <a:off x="6537960" y="4773168"/>
            <a:ext cx="530352" cy="530352"/>
          </a:xfrm>
          <a:prstGeom prst="ellipse">
            <a:avLst/>
          </a:prstGeom>
          <a:solidFill>
            <a:srgbClr val="8FB566"/>
          </a:solidFill>
          <a:ln/>
        </p:spPr>
      </p:sp>
      <p:sp>
        <p:nvSpPr>
          <p:cNvPr id="44" name="Text 42"/>
          <p:cNvSpPr txBox="1"/>
          <p:nvPr/>
        </p:nvSpPr>
        <p:spPr>
          <a:xfrm>
            <a:off x="6537960" y="4773168"/>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6</a:t>
            </a:r>
            <a:endParaRPr lang="en-US" sz="1400" dirty="0"/>
          </a:p>
        </p:txBody>
      </p:sp>
      <p:sp>
        <p:nvSpPr>
          <p:cNvPr id="45" name="Text 43"/>
          <p:cNvSpPr txBox="1"/>
          <p:nvPr/>
        </p:nvSpPr>
        <p:spPr>
          <a:xfrm>
            <a:off x="7214616" y="4663440"/>
            <a:ext cx="3099816" cy="292608"/>
          </a:xfrm>
          <a:prstGeom prst="rect">
            <a:avLst/>
          </a:prstGeom>
          <a:noFill/>
          <a:ln/>
        </p:spPr>
        <p:txBody>
          <a:bodyPr wrap="square" lIns="0" tIns="0" rIns="0" bIns="0" rtlCol="0" anchor="t"/>
          <a:lstStyle/>
          <a:p>
            <a:pPr indent="0" marL="0">
              <a:buNone/>
            </a:pPr>
            <a:r>
              <a:rPr lang="en-US" sz="1400" b="1" dirty="0">
                <a:solidFill>
                  <a:srgbClr val="1B3D24"/>
                </a:solidFill>
                <a:latin typeface="Meiryo" pitchFamily="34" charset="0"/>
                <a:ea typeface="Meiryo" pitchFamily="34" charset="-122"/>
                <a:cs typeface="Meiryo" pitchFamily="34" charset="-120"/>
              </a:rPr>
              <a:t>環境価値</a:t>
            </a:r>
            <a:endParaRPr lang="en-US" sz="1400" dirty="0"/>
          </a:p>
        </p:txBody>
      </p:sp>
      <p:sp>
        <p:nvSpPr>
          <p:cNvPr id="46" name="Text 44"/>
          <p:cNvSpPr txBox="1"/>
          <p:nvPr/>
        </p:nvSpPr>
        <p:spPr>
          <a:xfrm>
            <a:off x="7214616" y="5010912"/>
            <a:ext cx="4014216" cy="50292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CO2吸収量・クレジット創出量（t-CO2）と販売量</a:t>
            </a:r>
            <a:endParaRPr lang="en-US" sz="1050" dirty="0"/>
          </a:p>
        </p:txBody>
      </p:sp>
      <p:sp>
        <p:nvSpPr>
          <p:cNvPr id="47" name="Shape 45"/>
          <p:cNvSpPr/>
          <p:nvPr/>
        </p:nvSpPr>
        <p:spPr>
          <a:xfrm>
            <a:off x="10424160" y="4663440"/>
            <a:ext cx="822960" cy="274320"/>
          </a:xfrm>
          <a:prstGeom prst="roundRect">
            <a:avLst>
              <a:gd name="adj" fmla="val 46667"/>
            </a:avLst>
          </a:prstGeom>
          <a:solidFill>
            <a:srgbClr val="FAEEDF"/>
          </a:solidFill>
          <a:ln/>
        </p:spPr>
      </p:sp>
      <p:sp>
        <p:nvSpPr>
          <p:cNvPr id="48" name="Text 46"/>
          <p:cNvSpPr txBox="1"/>
          <p:nvPr/>
        </p:nvSpPr>
        <p:spPr>
          <a:xfrm>
            <a:off x="10424160" y="4663440"/>
            <a:ext cx="822960" cy="274320"/>
          </a:xfrm>
          <a:prstGeom prst="rect">
            <a:avLst/>
          </a:prstGeom>
          <a:noFill/>
          <a:ln/>
        </p:spPr>
        <p:txBody>
          <a:bodyPr wrap="square" lIns="0" tIns="0" rIns="0" bIns="0" rtlCol="0" anchor="ctr"/>
          <a:lstStyle/>
          <a:p>
            <a:pPr algn="ctr" indent="0" marL="0">
              <a:buNone/>
            </a:pPr>
            <a:r>
              <a:rPr lang="en-US" sz="950" b="1" dirty="0">
                <a:solidFill>
                  <a:srgbClr val="C1762C"/>
                </a:solidFill>
                <a:latin typeface="Meiryo" pitchFamily="34" charset="0"/>
                <a:ea typeface="Meiryo" pitchFamily="34" charset="-122"/>
                <a:cs typeface="Meiryo" pitchFamily="34" charset="-120"/>
              </a:rPr>
              <a:t>Phase 3</a:t>
            </a:r>
            <a:endParaRPr lang="en-US" sz="950" dirty="0"/>
          </a:p>
        </p:txBody>
      </p:sp>
      <p:sp>
        <p:nvSpPr>
          <p:cNvPr id="49" name="Text 47"/>
          <p:cNvSpPr txBox="1"/>
          <p:nvPr/>
        </p:nvSpPr>
        <p:spPr>
          <a:xfrm>
            <a:off x="658368" y="5779008"/>
            <a:ext cx="10874959" cy="274320"/>
          </a:xfrm>
          <a:prstGeom prst="rect">
            <a:avLst/>
          </a:prstGeom>
          <a:noFill/>
          <a:ln/>
        </p:spPr>
        <p:txBody>
          <a:bodyPr wrap="square" lIns="0" tIns="0" rIns="0" bIns="0" rtlCol="0" anchor="t"/>
          <a:lstStyle/>
          <a:p>
            <a:pPr indent="0" marL="0">
              <a:buNone/>
            </a:pPr>
            <a:r>
              <a:rPr lang="en-US" sz="950" dirty="0">
                <a:solidFill>
                  <a:srgbClr val="5F6B64"/>
                </a:solidFill>
                <a:latin typeface="Meiryo" pitchFamily="34" charset="0"/>
                <a:ea typeface="Meiryo" pitchFamily="34" charset="-122"/>
                <a:cs typeface="Meiryo" pitchFamily="34" charset="-120"/>
              </a:rPr>
              <a:t>※ 各指標の目標水準は、カルテ整備の結果と需要側企業の意向調査を踏まえて設定する。</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FUNDING</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財源の役割分担｜3つを重ねず、役割で分ける</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26</a:t>
            </a:r>
            <a:endParaRPr lang="en-US" sz="900" dirty="0"/>
          </a:p>
        </p:txBody>
      </p:sp>
      <p:sp>
        <p:nvSpPr>
          <p:cNvPr id="6" name="Shape 4"/>
          <p:cNvSpPr/>
          <p:nvPr/>
        </p:nvSpPr>
        <p:spPr>
          <a:xfrm>
            <a:off x="658368" y="1664208"/>
            <a:ext cx="3465576" cy="2880360"/>
          </a:xfrm>
          <a:prstGeom prst="roundRect">
            <a:avLst>
              <a:gd name="adj" fmla="val 2857"/>
            </a:avLst>
          </a:prstGeom>
          <a:solidFill>
            <a:srgbClr val="24512F"/>
          </a:solidFill>
          <a:ln/>
          <a:effectLst>
            <a:outerShdw sx="100000" sy="100000" kx="0" ky="0" algn="bl" rotWithShape="0" blurRad="127000" dist="25400" dir="5400000">
              <a:srgbClr val="1B3D24">
                <a:alpha val="10000"/>
              </a:srgbClr>
            </a:outerShdw>
          </a:effectLst>
        </p:spPr>
      </p:sp>
      <p:sp>
        <p:nvSpPr>
          <p:cNvPr id="7" name="Text 5"/>
          <p:cNvSpPr txBox="1"/>
          <p:nvPr/>
        </p:nvSpPr>
        <p:spPr>
          <a:xfrm>
            <a:off x="978408" y="1901952"/>
            <a:ext cx="2825496" cy="329184"/>
          </a:xfrm>
          <a:prstGeom prst="rect">
            <a:avLst/>
          </a:prstGeom>
          <a:noFill/>
          <a:ln/>
        </p:spPr>
        <p:txBody>
          <a:bodyPr wrap="square" lIns="0" tIns="0" rIns="0" bIns="0" rtlCol="0" anchor="t"/>
          <a:lstStyle/>
          <a:p>
            <a:pPr indent="0" marL="0">
              <a:buNone/>
            </a:pPr>
            <a:r>
              <a:rPr lang="en-US" sz="1550" b="1" dirty="0">
                <a:solidFill>
                  <a:srgbClr val="FFFFFF"/>
                </a:solidFill>
                <a:latin typeface="Meiryo" pitchFamily="34" charset="0"/>
                <a:ea typeface="Meiryo" pitchFamily="34" charset="-122"/>
                <a:cs typeface="Meiryo" pitchFamily="34" charset="-120"/>
              </a:rPr>
              <a:t>企業版ふるさと納税</a:t>
            </a:r>
            <a:endParaRPr lang="en-US" sz="1550" dirty="0"/>
          </a:p>
        </p:txBody>
      </p:sp>
      <p:sp>
        <p:nvSpPr>
          <p:cNvPr id="8" name="Text 6"/>
          <p:cNvSpPr txBox="1"/>
          <p:nvPr/>
        </p:nvSpPr>
        <p:spPr>
          <a:xfrm>
            <a:off x="978408" y="2304288"/>
            <a:ext cx="2825496" cy="256032"/>
          </a:xfrm>
          <a:prstGeom prst="rect">
            <a:avLst/>
          </a:prstGeom>
          <a:noFill/>
          <a:ln/>
        </p:spPr>
        <p:txBody>
          <a:bodyPr wrap="square" lIns="0" tIns="0" rIns="0" bIns="0" rtlCol="0" anchor="t"/>
          <a:lstStyle/>
          <a:p>
            <a:pPr indent="0" marL="0">
              <a:buNone/>
            </a:pPr>
            <a:r>
              <a:rPr lang="en-US" sz="1150" b="1" dirty="0">
                <a:solidFill>
                  <a:srgbClr val="8FB566"/>
                </a:solidFill>
                <a:latin typeface="Meiryo" pitchFamily="34" charset="0"/>
                <a:ea typeface="Meiryo" pitchFamily="34" charset="-122"/>
                <a:cs typeface="Meiryo" pitchFamily="34" charset="-120"/>
              </a:rPr>
              <a:t>収益化前の投資</a:t>
            </a:r>
            <a:endParaRPr lang="en-US" sz="1150" dirty="0"/>
          </a:p>
        </p:txBody>
      </p:sp>
      <p:sp>
        <p:nvSpPr>
          <p:cNvPr id="9" name="Text 7"/>
          <p:cNvSpPr txBox="1"/>
          <p:nvPr/>
        </p:nvSpPr>
        <p:spPr>
          <a:xfrm>
            <a:off x="978408" y="2670048"/>
            <a:ext cx="2825496" cy="21031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EAF1E0"/>
                </a:solidFill>
                <a:latin typeface="Meiryo" pitchFamily="34" charset="0"/>
                <a:ea typeface="Meiryo" pitchFamily="34" charset="-122"/>
                <a:cs typeface="Meiryo" pitchFamily="34" charset="-120"/>
              </a:rPr>
              <a:t>森のカルテ・データ基盤</a:t>
            </a:r>
            <a:endParaRPr lang="en-US" sz="1100" dirty="0"/>
          </a:p>
          <a:p>
            <a:pPr marL="342900" indent="-342900">
              <a:lnSpc>
                <a:spcPts val="1700"/>
              </a:lnSpc>
              <a:spcAft>
                <a:spcPts val="700"/>
              </a:spcAft>
              <a:buSzPct val="100000"/>
              <a:buChar char="▪"/>
            </a:pPr>
            <a:r>
              <a:rPr lang="en-US" sz="1100" dirty="0">
                <a:solidFill>
                  <a:srgbClr val="EAF1E0"/>
                </a:solidFill>
                <a:latin typeface="Meiryo" pitchFamily="34" charset="0"/>
                <a:ea typeface="Meiryo" pitchFamily="34" charset="-122"/>
                <a:cs typeface="Meiryo" pitchFamily="34" charset="-120"/>
              </a:rPr>
              <a:t>50年ビジョンの策定</a:t>
            </a:r>
            <a:endParaRPr lang="en-US" sz="1100" dirty="0"/>
          </a:p>
          <a:p>
            <a:pPr marL="342900" indent="-342900">
              <a:lnSpc>
                <a:spcPts val="1700"/>
              </a:lnSpc>
              <a:spcAft>
                <a:spcPts val="700"/>
              </a:spcAft>
              <a:buSzPct val="100000"/>
              <a:buChar char="▪"/>
            </a:pPr>
            <a:r>
              <a:rPr lang="en-US" sz="1100" dirty="0">
                <a:solidFill>
                  <a:srgbClr val="EAF1E0"/>
                </a:solidFill>
                <a:latin typeface="Meiryo" pitchFamily="34" charset="0"/>
                <a:ea typeface="Meiryo" pitchFamily="34" charset="-122"/>
                <a:cs typeface="Meiryo" pitchFamily="34" charset="-120"/>
              </a:rPr>
              <a:t>需要開拓・企業との合意形成</a:t>
            </a:r>
            <a:endParaRPr lang="en-US" sz="1100" dirty="0"/>
          </a:p>
          <a:p>
            <a:pPr marL="342900" indent="-342900">
              <a:lnSpc>
                <a:spcPts val="1700"/>
              </a:lnSpc>
              <a:spcAft>
                <a:spcPts val="700"/>
              </a:spcAft>
              <a:buSzPct val="100000"/>
              <a:buChar char="▪"/>
            </a:pPr>
            <a:r>
              <a:rPr lang="en-US" sz="1100" dirty="0">
                <a:solidFill>
                  <a:srgbClr val="EAF1E0"/>
                </a:solidFill>
                <a:latin typeface="Meiryo" pitchFamily="34" charset="0"/>
                <a:ea typeface="Meiryo" pitchFamily="34" charset="-122"/>
                <a:cs typeface="Meiryo" pitchFamily="34" charset="-120"/>
              </a:rPr>
              <a:t>制度設計・事務局機能</a:t>
            </a:r>
            <a:endParaRPr lang="en-US" sz="1100" dirty="0"/>
          </a:p>
          <a:p>
            <a:pPr marL="342900" indent="-342900">
              <a:lnSpc>
                <a:spcPts val="1700"/>
              </a:lnSpc>
              <a:spcAft>
                <a:spcPts val="700"/>
              </a:spcAft>
              <a:buSzPct val="100000"/>
              <a:buChar char="▪"/>
            </a:pPr>
            <a:r>
              <a:rPr lang="en-US" sz="1100" dirty="0">
                <a:solidFill>
                  <a:srgbClr val="EAF1E0"/>
                </a:solidFill>
                <a:latin typeface="Meiryo" pitchFamily="34" charset="0"/>
                <a:ea typeface="Meiryo" pitchFamily="34" charset="-122"/>
                <a:cs typeface="Meiryo" pitchFamily="34" charset="-120"/>
              </a:rPr>
              <a:t>人材派遣型による人の受け入れ</a:t>
            </a:r>
            <a:endParaRPr lang="en-US" sz="1100" dirty="0"/>
          </a:p>
        </p:txBody>
      </p:sp>
      <p:sp>
        <p:nvSpPr>
          <p:cNvPr id="10" name="Shape 8"/>
          <p:cNvSpPr/>
          <p:nvPr/>
        </p:nvSpPr>
        <p:spPr>
          <a:xfrm>
            <a:off x="4379976" y="1664208"/>
            <a:ext cx="3465576" cy="2880360"/>
          </a:xfrm>
          <a:prstGeom prst="roundRect">
            <a:avLst>
              <a:gd name="adj" fmla="val 2857"/>
            </a:avLst>
          </a:prstGeom>
          <a:solidFill>
            <a:srgbClr val="EAF1E0"/>
          </a:solidFill>
          <a:ln/>
        </p:spPr>
      </p:sp>
      <p:sp>
        <p:nvSpPr>
          <p:cNvPr id="11" name="Text 9"/>
          <p:cNvSpPr txBox="1"/>
          <p:nvPr/>
        </p:nvSpPr>
        <p:spPr>
          <a:xfrm>
            <a:off x="4700016" y="1901952"/>
            <a:ext cx="2825496" cy="329184"/>
          </a:xfrm>
          <a:prstGeom prst="rect">
            <a:avLst/>
          </a:prstGeom>
          <a:noFill/>
          <a:ln/>
        </p:spPr>
        <p:txBody>
          <a:bodyPr wrap="square" lIns="0" tIns="0" rIns="0" bIns="0" rtlCol="0" anchor="t"/>
          <a:lstStyle/>
          <a:p>
            <a:pPr indent="0" marL="0">
              <a:buNone/>
            </a:pPr>
            <a:r>
              <a:rPr lang="en-US" sz="1550" b="1" dirty="0">
                <a:solidFill>
                  <a:srgbClr val="1B3D24"/>
                </a:solidFill>
                <a:latin typeface="Meiryo" pitchFamily="34" charset="0"/>
                <a:ea typeface="Meiryo" pitchFamily="34" charset="-122"/>
                <a:cs typeface="Meiryo" pitchFamily="34" charset="-120"/>
              </a:rPr>
              <a:t>森林環境譲与税・市費</a:t>
            </a:r>
            <a:endParaRPr lang="en-US" sz="1550" dirty="0"/>
          </a:p>
        </p:txBody>
      </p:sp>
      <p:sp>
        <p:nvSpPr>
          <p:cNvPr id="12" name="Text 10"/>
          <p:cNvSpPr txBox="1"/>
          <p:nvPr/>
        </p:nvSpPr>
        <p:spPr>
          <a:xfrm>
            <a:off x="4700016" y="2304288"/>
            <a:ext cx="2825496" cy="256032"/>
          </a:xfrm>
          <a:prstGeom prst="rect">
            <a:avLst/>
          </a:prstGeom>
          <a:noFill/>
          <a:ln/>
        </p:spPr>
        <p:txBody>
          <a:bodyPr wrap="square" lIns="0" tIns="0" rIns="0" bIns="0" rtlCol="0" anchor="t"/>
          <a:lstStyle/>
          <a:p>
            <a:pPr indent="0" marL="0">
              <a:buNone/>
            </a:pPr>
            <a:r>
              <a:rPr lang="en-US" sz="1150" b="1" dirty="0">
                <a:solidFill>
                  <a:srgbClr val="5E7F3C"/>
                </a:solidFill>
                <a:latin typeface="Meiryo" pitchFamily="34" charset="0"/>
                <a:ea typeface="Meiryo" pitchFamily="34" charset="-122"/>
                <a:cs typeface="Meiryo" pitchFamily="34" charset="-120"/>
              </a:rPr>
              <a:t>継続的な整備と利用</a:t>
            </a:r>
            <a:endParaRPr lang="en-US" sz="1150" dirty="0"/>
          </a:p>
        </p:txBody>
      </p:sp>
      <p:sp>
        <p:nvSpPr>
          <p:cNvPr id="13" name="Text 11"/>
          <p:cNvSpPr txBox="1"/>
          <p:nvPr/>
        </p:nvSpPr>
        <p:spPr>
          <a:xfrm>
            <a:off x="4700016" y="2670048"/>
            <a:ext cx="2825496" cy="21031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森林整備・路網整備・森林保護</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公共施設での多摩産材利用</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木育・普及啓発</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所有者・境界の把握</a:t>
            </a:r>
            <a:endParaRPr lang="en-US" sz="1100" dirty="0"/>
          </a:p>
        </p:txBody>
      </p:sp>
      <p:sp>
        <p:nvSpPr>
          <p:cNvPr id="14" name="Shape 12"/>
          <p:cNvSpPr/>
          <p:nvPr/>
        </p:nvSpPr>
        <p:spPr>
          <a:xfrm>
            <a:off x="8101584" y="1664208"/>
            <a:ext cx="3465576" cy="2880360"/>
          </a:xfrm>
          <a:prstGeom prst="roundRect">
            <a:avLst>
              <a:gd name="adj" fmla="val 2857"/>
            </a:avLst>
          </a:prstGeom>
          <a:solidFill>
            <a:srgbClr val="F4F6F1"/>
          </a:solidFill>
          <a:ln w="12700">
            <a:solidFill>
              <a:srgbClr val="DCE3D8"/>
            </a:solidFill>
            <a:prstDash val="solid"/>
          </a:ln>
        </p:spPr>
      </p:sp>
      <p:sp>
        <p:nvSpPr>
          <p:cNvPr id="15" name="Text 13"/>
          <p:cNvSpPr txBox="1"/>
          <p:nvPr/>
        </p:nvSpPr>
        <p:spPr>
          <a:xfrm>
            <a:off x="8421624" y="1901952"/>
            <a:ext cx="2825496" cy="329184"/>
          </a:xfrm>
          <a:prstGeom prst="rect">
            <a:avLst/>
          </a:prstGeom>
          <a:noFill/>
          <a:ln/>
        </p:spPr>
        <p:txBody>
          <a:bodyPr wrap="square" lIns="0" tIns="0" rIns="0" bIns="0" rtlCol="0" anchor="t"/>
          <a:lstStyle/>
          <a:p>
            <a:pPr indent="0" marL="0">
              <a:buNone/>
            </a:pPr>
            <a:r>
              <a:rPr lang="en-US" sz="1550" b="1" dirty="0">
                <a:solidFill>
                  <a:srgbClr val="1B3D24"/>
                </a:solidFill>
                <a:latin typeface="Meiryo" pitchFamily="34" charset="0"/>
                <a:ea typeface="Meiryo" pitchFamily="34" charset="-122"/>
                <a:cs typeface="Meiryo" pitchFamily="34" charset="-120"/>
              </a:rPr>
              <a:t>事業収益</a:t>
            </a:r>
            <a:endParaRPr lang="en-US" sz="1550" dirty="0"/>
          </a:p>
        </p:txBody>
      </p:sp>
      <p:sp>
        <p:nvSpPr>
          <p:cNvPr id="16" name="Text 14"/>
          <p:cNvSpPr txBox="1"/>
          <p:nvPr/>
        </p:nvSpPr>
        <p:spPr>
          <a:xfrm>
            <a:off x="8421624" y="2304288"/>
            <a:ext cx="2825496" cy="256032"/>
          </a:xfrm>
          <a:prstGeom prst="rect">
            <a:avLst/>
          </a:prstGeom>
          <a:noFill/>
          <a:ln/>
        </p:spPr>
        <p:txBody>
          <a:bodyPr wrap="square" lIns="0" tIns="0" rIns="0" bIns="0" rtlCol="0" anchor="t"/>
          <a:lstStyle/>
          <a:p>
            <a:pPr indent="0" marL="0">
              <a:buNone/>
            </a:pPr>
            <a:r>
              <a:rPr lang="en-US" sz="1150" b="1" dirty="0">
                <a:solidFill>
                  <a:srgbClr val="5E7F3C"/>
                </a:solidFill>
                <a:latin typeface="Meiryo" pitchFamily="34" charset="0"/>
                <a:ea typeface="Meiryo" pitchFamily="34" charset="-122"/>
                <a:cs typeface="Meiryo" pitchFamily="34" charset="-120"/>
              </a:rPr>
              <a:t>循環の自走</a:t>
            </a:r>
            <a:endParaRPr lang="en-US" sz="1150" dirty="0"/>
          </a:p>
        </p:txBody>
      </p:sp>
      <p:sp>
        <p:nvSpPr>
          <p:cNvPr id="17" name="Text 15"/>
          <p:cNvSpPr txBox="1"/>
          <p:nvPr/>
        </p:nvSpPr>
        <p:spPr>
          <a:xfrm>
            <a:off x="8421624" y="2670048"/>
            <a:ext cx="2825496" cy="21031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木材販売の収益</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環境価値・クレジットの収益</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森林整備への還元原資</a:t>
            </a:r>
            <a:endParaRPr lang="en-US" sz="1100" dirty="0"/>
          </a:p>
          <a:p>
            <a:pPr marL="342900" indent="-342900">
              <a:lnSpc>
                <a:spcPts val="1700"/>
              </a:lnSpc>
              <a:spcAft>
                <a:spcPts val="700"/>
              </a:spcAft>
              <a:buSzPct val="100000"/>
              <a:buChar char="▪"/>
            </a:pPr>
            <a:r>
              <a:rPr lang="en-US" sz="1100" dirty="0">
                <a:solidFill>
                  <a:srgbClr val="23302A"/>
                </a:solidFill>
                <a:latin typeface="Meiryo" pitchFamily="34" charset="0"/>
                <a:ea typeface="Meiryo" pitchFamily="34" charset="-122"/>
                <a:cs typeface="Meiryo" pitchFamily="34" charset="-120"/>
              </a:rPr>
              <a:t>次期の需要開拓費</a:t>
            </a:r>
            <a:endParaRPr lang="en-US" sz="1100" dirty="0"/>
          </a:p>
        </p:txBody>
      </p:sp>
      <p:sp>
        <p:nvSpPr>
          <p:cNvPr id="18" name="Shape 16"/>
          <p:cNvSpPr/>
          <p:nvPr/>
        </p:nvSpPr>
        <p:spPr>
          <a:xfrm>
            <a:off x="658368" y="4828032"/>
            <a:ext cx="10874959" cy="822960"/>
          </a:xfrm>
          <a:prstGeom prst="roundRect">
            <a:avLst>
              <a:gd name="adj" fmla="val 10000"/>
            </a:avLst>
          </a:prstGeom>
          <a:solidFill>
            <a:srgbClr val="FAEEDF"/>
          </a:solidFill>
          <a:ln/>
        </p:spPr>
      </p:sp>
      <p:sp>
        <p:nvSpPr>
          <p:cNvPr id="19" name="Text 17"/>
          <p:cNvSpPr txBox="1"/>
          <p:nvPr/>
        </p:nvSpPr>
        <p:spPr>
          <a:xfrm>
            <a:off x="658368" y="4828032"/>
            <a:ext cx="10874959" cy="822960"/>
          </a:xfrm>
          <a:prstGeom prst="rect">
            <a:avLst/>
          </a:prstGeom>
          <a:noFill/>
          <a:ln/>
        </p:spPr>
        <p:txBody>
          <a:bodyPr wrap="square" lIns="0" tIns="0" rIns="0" bIns="0" rtlCol="0" anchor="ctr"/>
          <a:lstStyle/>
          <a:p>
            <a:pPr algn="ctr" indent="0" marL="0">
              <a:buNone/>
            </a:pPr>
            <a:r>
              <a:rPr lang="en-US" sz="1350" b="1" dirty="0">
                <a:solidFill>
                  <a:srgbClr val="1B3D24"/>
                </a:solidFill>
                <a:latin typeface="Meiryo" pitchFamily="34" charset="0"/>
                <a:ea typeface="Meiryo" pitchFamily="34" charset="-122"/>
                <a:cs typeface="Meiryo" pitchFamily="34" charset="-120"/>
              </a:rPr>
              <a:t>役割を分けることで、寄付が終わっても回る構造をつくる。企業版ふるさと納税は「呼び水」であって「運営費」ではない。</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STRUCTURE</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推進体制のイメージ</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27</a:t>
            </a:r>
            <a:endParaRPr lang="en-US" sz="900" dirty="0"/>
          </a:p>
        </p:txBody>
      </p:sp>
      <p:sp>
        <p:nvSpPr>
          <p:cNvPr id="6" name="Shape 4"/>
          <p:cNvSpPr/>
          <p:nvPr/>
        </p:nvSpPr>
        <p:spPr>
          <a:xfrm>
            <a:off x="2926080" y="1783080"/>
            <a:ext cx="2103120" cy="457200"/>
          </a:xfrm>
          <a:prstGeom prst="roundRect">
            <a:avLst>
              <a:gd name="adj" fmla="val 20000"/>
            </a:avLst>
          </a:prstGeom>
          <a:solidFill>
            <a:srgbClr val="EAF1E0"/>
          </a:solidFill>
          <a:ln/>
        </p:spPr>
      </p:sp>
      <p:sp>
        <p:nvSpPr>
          <p:cNvPr id="7" name="Text 5"/>
          <p:cNvSpPr txBox="1"/>
          <p:nvPr/>
        </p:nvSpPr>
        <p:spPr>
          <a:xfrm>
            <a:off x="2926080" y="1783080"/>
            <a:ext cx="2103120" cy="457200"/>
          </a:xfrm>
          <a:prstGeom prst="rect">
            <a:avLst/>
          </a:prstGeom>
          <a:noFill/>
          <a:ln/>
        </p:spPr>
        <p:txBody>
          <a:bodyPr wrap="square" lIns="0" tIns="0" rIns="0" bIns="0" rtlCol="0" anchor="ctr"/>
          <a:lstStyle/>
          <a:p>
            <a:pPr algn="ctr" indent="0" marL="0">
              <a:buNone/>
            </a:pPr>
            <a:r>
              <a:rPr lang="en-US" sz="1050" b="1" dirty="0">
                <a:solidFill>
                  <a:srgbClr val="1B3D24"/>
                </a:solidFill>
                <a:latin typeface="Meiryo" pitchFamily="34" charset="0"/>
                <a:ea typeface="Meiryo" pitchFamily="34" charset="-122"/>
                <a:cs typeface="Meiryo" pitchFamily="34" charset="-120"/>
              </a:rPr>
              <a:t>森林所有者・森林組合</a:t>
            </a:r>
            <a:endParaRPr lang="en-US" sz="1050" dirty="0"/>
          </a:p>
        </p:txBody>
      </p:sp>
      <p:sp>
        <p:nvSpPr>
          <p:cNvPr id="8" name="Shape 6"/>
          <p:cNvSpPr/>
          <p:nvPr/>
        </p:nvSpPr>
        <p:spPr>
          <a:xfrm>
            <a:off x="5182977" y="2674620"/>
            <a:ext cx="2103120" cy="457200"/>
          </a:xfrm>
          <a:prstGeom prst="roundRect">
            <a:avLst>
              <a:gd name="adj" fmla="val 20000"/>
            </a:avLst>
          </a:prstGeom>
          <a:solidFill>
            <a:srgbClr val="EAF1E0"/>
          </a:solidFill>
          <a:ln/>
        </p:spPr>
      </p:sp>
      <p:sp>
        <p:nvSpPr>
          <p:cNvPr id="9" name="Text 7"/>
          <p:cNvSpPr txBox="1"/>
          <p:nvPr/>
        </p:nvSpPr>
        <p:spPr>
          <a:xfrm>
            <a:off x="5182977" y="2674620"/>
            <a:ext cx="2103120" cy="457200"/>
          </a:xfrm>
          <a:prstGeom prst="rect">
            <a:avLst/>
          </a:prstGeom>
          <a:noFill/>
          <a:ln/>
        </p:spPr>
        <p:txBody>
          <a:bodyPr wrap="square" lIns="0" tIns="0" rIns="0" bIns="0" rtlCol="0" anchor="ctr"/>
          <a:lstStyle/>
          <a:p>
            <a:pPr algn="ctr" indent="0" marL="0">
              <a:buNone/>
            </a:pPr>
            <a:r>
              <a:rPr lang="en-US" sz="1050" b="1" dirty="0">
                <a:solidFill>
                  <a:srgbClr val="1B3D24"/>
                </a:solidFill>
                <a:latin typeface="Meiryo" pitchFamily="34" charset="0"/>
                <a:ea typeface="Meiryo" pitchFamily="34" charset="-122"/>
                <a:cs typeface="Meiryo" pitchFamily="34" charset="-120"/>
              </a:rPr>
              <a:t>市民・学校</a:t>
            </a:r>
            <a:endParaRPr lang="en-US" sz="1050" dirty="0"/>
          </a:p>
        </p:txBody>
      </p:sp>
      <p:sp>
        <p:nvSpPr>
          <p:cNvPr id="10" name="Shape 8"/>
          <p:cNvSpPr/>
          <p:nvPr/>
        </p:nvSpPr>
        <p:spPr>
          <a:xfrm>
            <a:off x="5182977" y="4457700"/>
            <a:ext cx="2103120" cy="457200"/>
          </a:xfrm>
          <a:prstGeom prst="roundRect">
            <a:avLst>
              <a:gd name="adj" fmla="val 20000"/>
            </a:avLst>
          </a:prstGeom>
          <a:solidFill>
            <a:srgbClr val="EAF1E0"/>
          </a:solidFill>
          <a:ln/>
        </p:spPr>
      </p:sp>
      <p:sp>
        <p:nvSpPr>
          <p:cNvPr id="11" name="Text 9"/>
          <p:cNvSpPr txBox="1"/>
          <p:nvPr/>
        </p:nvSpPr>
        <p:spPr>
          <a:xfrm>
            <a:off x="5182977" y="4457700"/>
            <a:ext cx="2103120" cy="457200"/>
          </a:xfrm>
          <a:prstGeom prst="rect">
            <a:avLst/>
          </a:prstGeom>
          <a:noFill/>
          <a:ln/>
        </p:spPr>
        <p:txBody>
          <a:bodyPr wrap="square" lIns="0" tIns="0" rIns="0" bIns="0" rtlCol="0" anchor="ctr"/>
          <a:lstStyle/>
          <a:p>
            <a:pPr algn="ctr" indent="0" marL="0">
              <a:buNone/>
            </a:pPr>
            <a:r>
              <a:rPr lang="en-US" sz="1050" b="1" dirty="0">
                <a:solidFill>
                  <a:srgbClr val="1B3D24"/>
                </a:solidFill>
                <a:latin typeface="Meiryo" pitchFamily="34" charset="0"/>
                <a:ea typeface="Meiryo" pitchFamily="34" charset="-122"/>
                <a:cs typeface="Meiryo" pitchFamily="34" charset="-120"/>
              </a:rPr>
              <a:t>東京都・多摩地域自治体</a:t>
            </a:r>
            <a:endParaRPr lang="en-US" sz="1050" dirty="0"/>
          </a:p>
        </p:txBody>
      </p:sp>
      <p:sp>
        <p:nvSpPr>
          <p:cNvPr id="12" name="Shape 10"/>
          <p:cNvSpPr/>
          <p:nvPr/>
        </p:nvSpPr>
        <p:spPr>
          <a:xfrm>
            <a:off x="2926080" y="5349240"/>
            <a:ext cx="2103120" cy="457200"/>
          </a:xfrm>
          <a:prstGeom prst="roundRect">
            <a:avLst>
              <a:gd name="adj" fmla="val 20000"/>
            </a:avLst>
          </a:prstGeom>
          <a:solidFill>
            <a:srgbClr val="EAF1E0"/>
          </a:solidFill>
          <a:ln/>
        </p:spPr>
      </p:sp>
      <p:sp>
        <p:nvSpPr>
          <p:cNvPr id="13" name="Text 11"/>
          <p:cNvSpPr txBox="1"/>
          <p:nvPr/>
        </p:nvSpPr>
        <p:spPr>
          <a:xfrm>
            <a:off x="2926080" y="5349240"/>
            <a:ext cx="2103120" cy="457200"/>
          </a:xfrm>
          <a:prstGeom prst="rect">
            <a:avLst/>
          </a:prstGeom>
          <a:noFill/>
          <a:ln/>
        </p:spPr>
        <p:txBody>
          <a:bodyPr wrap="square" lIns="0" tIns="0" rIns="0" bIns="0" rtlCol="0" anchor="ctr"/>
          <a:lstStyle/>
          <a:p>
            <a:pPr algn="ctr" indent="0" marL="0">
              <a:buNone/>
            </a:pPr>
            <a:r>
              <a:rPr lang="en-US" sz="1050" b="1" dirty="0">
                <a:solidFill>
                  <a:srgbClr val="1B3D24"/>
                </a:solidFill>
                <a:latin typeface="Meiryo" pitchFamily="34" charset="0"/>
                <a:ea typeface="Meiryo" pitchFamily="34" charset="-122"/>
                <a:cs typeface="Meiryo" pitchFamily="34" charset="-120"/>
              </a:rPr>
              <a:t>需要側企業</a:t>
            </a:r>
            <a:endParaRPr lang="en-US" sz="1050" dirty="0"/>
          </a:p>
        </p:txBody>
      </p:sp>
      <p:sp>
        <p:nvSpPr>
          <p:cNvPr id="14" name="Shape 12"/>
          <p:cNvSpPr/>
          <p:nvPr/>
        </p:nvSpPr>
        <p:spPr>
          <a:xfrm>
            <a:off x="669183" y="4457700"/>
            <a:ext cx="2103120" cy="457200"/>
          </a:xfrm>
          <a:prstGeom prst="roundRect">
            <a:avLst>
              <a:gd name="adj" fmla="val 20000"/>
            </a:avLst>
          </a:prstGeom>
          <a:solidFill>
            <a:srgbClr val="EAF1E0"/>
          </a:solidFill>
          <a:ln/>
        </p:spPr>
      </p:sp>
      <p:sp>
        <p:nvSpPr>
          <p:cNvPr id="15" name="Text 13"/>
          <p:cNvSpPr txBox="1"/>
          <p:nvPr/>
        </p:nvSpPr>
        <p:spPr>
          <a:xfrm>
            <a:off x="669183" y="4457700"/>
            <a:ext cx="2103120" cy="457200"/>
          </a:xfrm>
          <a:prstGeom prst="rect">
            <a:avLst/>
          </a:prstGeom>
          <a:noFill/>
          <a:ln/>
        </p:spPr>
        <p:txBody>
          <a:bodyPr wrap="square" lIns="0" tIns="0" rIns="0" bIns="0" rtlCol="0" anchor="ctr"/>
          <a:lstStyle/>
          <a:p>
            <a:pPr algn="ctr" indent="0" marL="0">
              <a:buNone/>
            </a:pPr>
            <a:r>
              <a:rPr lang="en-US" sz="1050" b="1" dirty="0">
                <a:solidFill>
                  <a:srgbClr val="1B3D24"/>
                </a:solidFill>
                <a:latin typeface="Meiryo" pitchFamily="34" charset="0"/>
                <a:ea typeface="Meiryo" pitchFamily="34" charset="-122"/>
                <a:cs typeface="Meiryo" pitchFamily="34" charset="-120"/>
              </a:rPr>
              <a:t>木材流通・加工事業者</a:t>
            </a:r>
            <a:endParaRPr lang="en-US" sz="1050" dirty="0"/>
          </a:p>
        </p:txBody>
      </p:sp>
      <p:sp>
        <p:nvSpPr>
          <p:cNvPr id="16" name="Shape 14"/>
          <p:cNvSpPr/>
          <p:nvPr/>
        </p:nvSpPr>
        <p:spPr>
          <a:xfrm>
            <a:off x="669183" y="2674620"/>
            <a:ext cx="2103120" cy="457200"/>
          </a:xfrm>
          <a:prstGeom prst="roundRect">
            <a:avLst>
              <a:gd name="adj" fmla="val 20000"/>
            </a:avLst>
          </a:prstGeom>
          <a:solidFill>
            <a:srgbClr val="EAF1E0"/>
          </a:solidFill>
          <a:ln/>
        </p:spPr>
      </p:sp>
      <p:sp>
        <p:nvSpPr>
          <p:cNvPr id="17" name="Text 15"/>
          <p:cNvSpPr txBox="1"/>
          <p:nvPr/>
        </p:nvSpPr>
        <p:spPr>
          <a:xfrm>
            <a:off x="669183" y="2674620"/>
            <a:ext cx="2103120" cy="457200"/>
          </a:xfrm>
          <a:prstGeom prst="rect">
            <a:avLst/>
          </a:prstGeom>
          <a:noFill/>
          <a:ln/>
        </p:spPr>
        <p:txBody>
          <a:bodyPr wrap="square" lIns="0" tIns="0" rIns="0" bIns="0" rtlCol="0" anchor="ctr"/>
          <a:lstStyle/>
          <a:p>
            <a:pPr algn="ctr" indent="0" marL="0">
              <a:buNone/>
            </a:pPr>
            <a:r>
              <a:rPr lang="en-US" sz="1050" b="1" dirty="0">
                <a:solidFill>
                  <a:srgbClr val="1B3D24"/>
                </a:solidFill>
                <a:latin typeface="Meiryo" pitchFamily="34" charset="0"/>
                <a:ea typeface="Meiryo" pitchFamily="34" charset="-122"/>
                <a:cs typeface="Meiryo" pitchFamily="34" charset="-120"/>
              </a:rPr>
              <a:t>林業事業者</a:t>
            </a:r>
            <a:endParaRPr lang="en-US" sz="1050" dirty="0"/>
          </a:p>
        </p:txBody>
      </p:sp>
      <p:sp>
        <p:nvSpPr>
          <p:cNvPr id="18" name="Shape 16"/>
          <p:cNvSpPr/>
          <p:nvPr/>
        </p:nvSpPr>
        <p:spPr>
          <a:xfrm>
            <a:off x="2926080" y="2743200"/>
            <a:ext cx="2103120" cy="2103120"/>
          </a:xfrm>
          <a:prstGeom prst="ellipse">
            <a:avLst/>
          </a:prstGeom>
          <a:solidFill>
            <a:srgbClr val="24512F"/>
          </a:solidFill>
          <a:ln/>
        </p:spPr>
      </p:sp>
      <p:sp>
        <p:nvSpPr>
          <p:cNvPr id="19" name="Shape 17"/>
          <p:cNvSpPr/>
          <p:nvPr/>
        </p:nvSpPr>
        <p:spPr>
          <a:xfrm>
            <a:off x="3063240" y="2880360"/>
            <a:ext cx="1828800" cy="1828800"/>
          </a:xfrm>
          <a:prstGeom prst="ellipse">
            <a:avLst/>
          </a:prstGeom>
          <a:solidFill>
            <a:srgbClr val="FFFFFF">
              <a:alpha val="0"/>
            </a:srgbClr>
          </a:solidFill>
          <a:ln w="12700">
            <a:solidFill>
              <a:srgbClr val="8FB566">
                <a:alpha val="45000"/>
              </a:srgbClr>
            </a:solidFill>
            <a:prstDash val="solid"/>
          </a:ln>
        </p:spPr>
      </p:sp>
      <p:sp>
        <p:nvSpPr>
          <p:cNvPr id="20" name="Text 18"/>
          <p:cNvSpPr txBox="1"/>
          <p:nvPr/>
        </p:nvSpPr>
        <p:spPr>
          <a:xfrm>
            <a:off x="2926080" y="2743200"/>
            <a:ext cx="2103120" cy="2103120"/>
          </a:xfrm>
          <a:prstGeom prst="rect">
            <a:avLst/>
          </a:prstGeom>
          <a:noFill/>
          <a:ln/>
        </p:spPr>
        <p:txBody>
          <a:bodyPr wrap="square" lIns="0" tIns="0" rIns="0" bIns="0" rtlCol="0" anchor="ctr"/>
          <a:lstStyle/>
          <a:p>
            <a:pPr algn="ctr" indent="0" marL="0">
              <a:lnSpc>
                <a:spcPts val="2000"/>
              </a:lnSpc>
              <a:buNone/>
            </a:pPr>
            <a:r>
              <a:rPr lang="en-US" sz="1250" b="1" dirty="0">
                <a:solidFill>
                  <a:srgbClr val="FFFFFF"/>
                </a:solidFill>
                <a:latin typeface="Meiryo" pitchFamily="34" charset="0"/>
                <a:ea typeface="Meiryo" pitchFamily="34" charset="-122"/>
                <a:cs typeface="Meiryo" pitchFamily="34" charset="-120"/>
              </a:rPr>
              <a:t>八王子市</a:t>
            </a:r>
            <a:endParaRPr lang="en-US" sz="1250" dirty="0"/>
          </a:p>
          <a:p>
            <a:pPr algn="ctr" indent="0" marL="0">
              <a:lnSpc>
                <a:spcPts val="2000"/>
              </a:lnSpc>
              <a:buNone/>
            </a:pPr>
            <a:r>
              <a:rPr lang="en-US" sz="1250" b="1" dirty="0">
                <a:solidFill>
                  <a:srgbClr val="FFFFFF"/>
                </a:solidFill>
                <a:latin typeface="Meiryo" pitchFamily="34" charset="0"/>
                <a:ea typeface="Meiryo" pitchFamily="34" charset="-122"/>
                <a:cs typeface="Meiryo" pitchFamily="34" charset="-120"/>
              </a:rPr>
              <a:t>（森林・産業・企画）</a:t>
            </a:r>
            <a:endParaRPr lang="en-US" sz="1250" dirty="0"/>
          </a:p>
        </p:txBody>
      </p:sp>
      <p:sp>
        <p:nvSpPr>
          <p:cNvPr id="21" name="Shape 19"/>
          <p:cNvSpPr/>
          <p:nvPr/>
        </p:nvSpPr>
        <p:spPr>
          <a:xfrm>
            <a:off x="7818120" y="1664208"/>
            <a:ext cx="3721608" cy="4069080"/>
          </a:xfrm>
          <a:prstGeom prst="roundRect">
            <a:avLst>
              <a:gd name="adj" fmla="val 2211"/>
            </a:avLst>
          </a:prstGeom>
          <a:solidFill>
            <a:srgbClr val="F4F6F1"/>
          </a:solidFill>
          <a:ln w="12700">
            <a:solidFill>
              <a:srgbClr val="DCE3D8"/>
            </a:solidFill>
            <a:prstDash val="solid"/>
          </a:ln>
        </p:spPr>
      </p:sp>
      <p:sp>
        <p:nvSpPr>
          <p:cNvPr id="22" name="Text 20"/>
          <p:cNvSpPr txBox="1"/>
          <p:nvPr/>
        </p:nvSpPr>
        <p:spPr>
          <a:xfrm>
            <a:off x="8138160" y="1920240"/>
            <a:ext cx="3108960" cy="310896"/>
          </a:xfrm>
          <a:prstGeom prst="rect">
            <a:avLst/>
          </a:prstGeom>
          <a:noFill/>
          <a:ln/>
        </p:spPr>
        <p:txBody>
          <a:bodyPr wrap="square" lIns="0" tIns="0" rIns="0" bIns="0" rtlCol="0" anchor="t"/>
          <a:lstStyle/>
          <a:p>
            <a:pPr indent="0" marL="0">
              <a:buNone/>
            </a:pPr>
            <a:r>
              <a:rPr lang="en-US" sz="1450" b="1" dirty="0">
                <a:solidFill>
                  <a:srgbClr val="1B3D24"/>
                </a:solidFill>
                <a:latin typeface="Meiryo" pitchFamily="34" charset="0"/>
                <a:ea typeface="Meiryo" pitchFamily="34" charset="-122"/>
                <a:cs typeface="Meiryo" pitchFamily="34" charset="-120"/>
              </a:rPr>
              <a:t>事務局機能（民間パートナー）</a:t>
            </a:r>
            <a:endParaRPr lang="en-US" sz="1450" dirty="0"/>
          </a:p>
        </p:txBody>
      </p:sp>
      <p:sp>
        <p:nvSpPr>
          <p:cNvPr id="23" name="Text 21"/>
          <p:cNvSpPr txBox="1"/>
          <p:nvPr/>
        </p:nvSpPr>
        <p:spPr>
          <a:xfrm>
            <a:off x="8138160" y="2304288"/>
            <a:ext cx="3108960" cy="548640"/>
          </a:xfrm>
          <a:prstGeom prst="rect">
            <a:avLst/>
          </a:prstGeom>
          <a:noFill/>
          <a:ln/>
        </p:spPr>
        <p:txBody>
          <a:bodyPr wrap="square" lIns="0" tIns="0" rIns="0" bIns="0" rtlCol="0" anchor="t"/>
          <a:lstStyle/>
          <a:p>
            <a:pPr indent="0" marL="0">
              <a:lnSpc>
                <a:spcPts val="1600"/>
              </a:lnSpc>
              <a:buNone/>
            </a:pPr>
            <a:r>
              <a:rPr lang="en-US" sz="1050" dirty="0">
                <a:solidFill>
                  <a:srgbClr val="5F6B64"/>
                </a:solidFill>
                <a:latin typeface="Meiryo" pitchFamily="34" charset="0"/>
                <a:ea typeface="Meiryo" pitchFamily="34" charset="-122"/>
                <a:cs typeface="Meiryo" pitchFamily="34" charset="-120"/>
              </a:rPr>
              <a:t>行政だけでも事業者だけでも回らない部分を担う中間機能を置く。</a:t>
            </a:r>
            <a:endParaRPr lang="en-US" sz="1050" dirty="0"/>
          </a:p>
        </p:txBody>
      </p:sp>
      <p:sp>
        <p:nvSpPr>
          <p:cNvPr id="24" name="Shape 22"/>
          <p:cNvSpPr/>
          <p:nvPr/>
        </p:nvSpPr>
        <p:spPr>
          <a:xfrm>
            <a:off x="8138160" y="2944368"/>
            <a:ext cx="3108960" cy="420624"/>
          </a:xfrm>
          <a:prstGeom prst="roundRect">
            <a:avLst>
              <a:gd name="adj" fmla="val 17391"/>
            </a:avLst>
          </a:prstGeom>
          <a:solidFill>
            <a:srgbClr val="FFFFFF"/>
          </a:solidFill>
          <a:ln/>
        </p:spPr>
      </p:sp>
      <p:sp>
        <p:nvSpPr>
          <p:cNvPr id="25" name="Shape 23"/>
          <p:cNvSpPr/>
          <p:nvPr/>
        </p:nvSpPr>
        <p:spPr>
          <a:xfrm>
            <a:off x="8247888" y="3081528"/>
            <a:ext cx="146304" cy="146304"/>
          </a:xfrm>
          <a:prstGeom prst="ellipse">
            <a:avLst/>
          </a:prstGeom>
          <a:solidFill>
            <a:srgbClr val="C1762C"/>
          </a:solidFill>
          <a:ln/>
        </p:spPr>
      </p:sp>
      <p:sp>
        <p:nvSpPr>
          <p:cNvPr id="26" name="Text 24"/>
          <p:cNvSpPr txBox="1"/>
          <p:nvPr/>
        </p:nvSpPr>
        <p:spPr>
          <a:xfrm>
            <a:off x="8503920" y="2944368"/>
            <a:ext cx="2651760" cy="420624"/>
          </a:xfrm>
          <a:prstGeom prst="rect">
            <a:avLst/>
          </a:prstGeom>
          <a:noFill/>
          <a:ln/>
        </p:spPr>
        <p:txBody>
          <a:bodyPr wrap="square" lIns="0" tIns="0" rIns="0" bIns="0" rtlCol="0" anchor="ctr"/>
          <a:lstStyle/>
          <a:p>
            <a:pPr indent="0" marL="0">
              <a:buNone/>
            </a:pPr>
            <a:r>
              <a:rPr lang="en-US" sz="1050" dirty="0">
                <a:solidFill>
                  <a:srgbClr val="1B3D24"/>
                </a:solidFill>
                <a:latin typeface="Meiryo" pitchFamily="34" charset="0"/>
                <a:ea typeface="Meiryo" pitchFamily="34" charset="-122"/>
                <a:cs typeface="Meiryo" pitchFamily="34" charset="-120"/>
              </a:rPr>
              <a:t>森のカルテの構築・運用</a:t>
            </a:r>
            <a:endParaRPr lang="en-US" sz="1050" dirty="0"/>
          </a:p>
        </p:txBody>
      </p:sp>
      <p:sp>
        <p:nvSpPr>
          <p:cNvPr id="27" name="Shape 25"/>
          <p:cNvSpPr/>
          <p:nvPr/>
        </p:nvSpPr>
        <p:spPr>
          <a:xfrm>
            <a:off x="8138160" y="3474720"/>
            <a:ext cx="3108960" cy="420624"/>
          </a:xfrm>
          <a:prstGeom prst="roundRect">
            <a:avLst>
              <a:gd name="adj" fmla="val 17391"/>
            </a:avLst>
          </a:prstGeom>
          <a:solidFill>
            <a:srgbClr val="FFFFFF"/>
          </a:solidFill>
          <a:ln/>
        </p:spPr>
      </p:sp>
      <p:sp>
        <p:nvSpPr>
          <p:cNvPr id="28" name="Shape 26"/>
          <p:cNvSpPr/>
          <p:nvPr/>
        </p:nvSpPr>
        <p:spPr>
          <a:xfrm>
            <a:off x="8247888" y="3611880"/>
            <a:ext cx="146304" cy="146304"/>
          </a:xfrm>
          <a:prstGeom prst="ellipse">
            <a:avLst/>
          </a:prstGeom>
          <a:solidFill>
            <a:srgbClr val="C1762C"/>
          </a:solidFill>
          <a:ln/>
        </p:spPr>
      </p:sp>
      <p:sp>
        <p:nvSpPr>
          <p:cNvPr id="29" name="Text 27"/>
          <p:cNvSpPr txBox="1"/>
          <p:nvPr/>
        </p:nvSpPr>
        <p:spPr>
          <a:xfrm>
            <a:off x="8503920" y="3474720"/>
            <a:ext cx="2651760" cy="420624"/>
          </a:xfrm>
          <a:prstGeom prst="rect">
            <a:avLst/>
          </a:prstGeom>
          <a:noFill/>
          <a:ln/>
        </p:spPr>
        <p:txBody>
          <a:bodyPr wrap="square" lIns="0" tIns="0" rIns="0" bIns="0" rtlCol="0" anchor="ctr"/>
          <a:lstStyle/>
          <a:p>
            <a:pPr indent="0" marL="0">
              <a:buNone/>
            </a:pPr>
            <a:r>
              <a:rPr lang="en-US" sz="1050" dirty="0">
                <a:solidFill>
                  <a:srgbClr val="1B3D24"/>
                </a:solidFill>
                <a:latin typeface="Meiryo" pitchFamily="34" charset="0"/>
                <a:ea typeface="Meiryo" pitchFamily="34" charset="-122"/>
                <a:cs typeface="Meiryo" pitchFamily="34" charset="-120"/>
              </a:rPr>
              <a:t>供給と需要のマッチング</a:t>
            </a:r>
            <a:endParaRPr lang="en-US" sz="1050" dirty="0"/>
          </a:p>
        </p:txBody>
      </p:sp>
      <p:sp>
        <p:nvSpPr>
          <p:cNvPr id="30" name="Shape 28"/>
          <p:cNvSpPr/>
          <p:nvPr/>
        </p:nvSpPr>
        <p:spPr>
          <a:xfrm>
            <a:off x="8138160" y="4005072"/>
            <a:ext cx="3108960" cy="420624"/>
          </a:xfrm>
          <a:prstGeom prst="roundRect">
            <a:avLst>
              <a:gd name="adj" fmla="val 17391"/>
            </a:avLst>
          </a:prstGeom>
          <a:solidFill>
            <a:srgbClr val="FFFFFF"/>
          </a:solidFill>
          <a:ln/>
        </p:spPr>
      </p:sp>
      <p:sp>
        <p:nvSpPr>
          <p:cNvPr id="31" name="Shape 29"/>
          <p:cNvSpPr/>
          <p:nvPr/>
        </p:nvSpPr>
        <p:spPr>
          <a:xfrm>
            <a:off x="8247888" y="4142232"/>
            <a:ext cx="146304" cy="146304"/>
          </a:xfrm>
          <a:prstGeom prst="ellipse">
            <a:avLst/>
          </a:prstGeom>
          <a:solidFill>
            <a:srgbClr val="C1762C"/>
          </a:solidFill>
          <a:ln/>
        </p:spPr>
      </p:sp>
      <p:sp>
        <p:nvSpPr>
          <p:cNvPr id="32" name="Text 30"/>
          <p:cNvSpPr txBox="1"/>
          <p:nvPr/>
        </p:nvSpPr>
        <p:spPr>
          <a:xfrm>
            <a:off x="8503920" y="4005072"/>
            <a:ext cx="2651760" cy="420624"/>
          </a:xfrm>
          <a:prstGeom prst="rect">
            <a:avLst/>
          </a:prstGeom>
          <a:noFill/>
          <a:ln/>
        </p:spPr>
        <p:txBody>
          <a:bodyPr wrap="square" lIns="0" tIns="0" rIns="0" bIns="0" rtlCol="0" anchor="ctr"/>
          <a:lstStyle/>
          <a:p>
            <a:pPr indent="0" marL="0">
              <a:buNone/>
            </a:pPr>
            <a:r>
              <a:rPr lang="en-US" sz="1050" dirty="0">
                <a:solidFill>
                  <a:srgbClr val="1B3D24"/>
                </a:solidFill>
                <a:latin typeface="Meiryo" pitchFamily="34" charset="0"/>
                <a:ea typeface="Meiryo" pitchFamily="34" charset="-122"/>
                <a:cs typeface="Meiryo" pitchFamily="34" charset="-120"/>
              </a:rPr>
              <a:t>寄付・連携企業への窓口</a:t>
            </a:r>
            <a:endParaRPr lang="en-US" sz="1050" dirty="0"/>
          </a:p>
        </p:txBody>
      </p:sp>
      <p:sp>
        <p:nvSpPr>
          <p:cNvPr id="33" name="Shape 31"/>
          <p:cNvSpPr/>
          <p:nvPr/>
        </p:nvSpPr>
        <p:spPr>
          <a:xfrm>
            <a:off x="8138160" y="4535424"/>
            <a:ext cx="3108960" cy="420624"/>
          </a:xfrm>
          <a:prstGeom prst="roundRect">
            <a:avLst>
              <a:gd name="adj" fmla="val 17391"/>
            </a:avLst>
          </a:prstGeom>
          <a:solidFill>
            <a:srgbClr val="FFFFFF"/>
          </a:solidFill>
          <a:ln/>
        </p:spPr>
      </p:sp>
      <p:sp>
        <p:nvSpPr>
          <p:cNvPr id="34" name="Shape 32"/>
          <p:cNvSpPr/>
          <p:nvPr/>
        </p:nvSpPr>
        <p:spPr>
          <a:xfrm>
            <a:off x="8247888" y="4672584"/>
            <a:ext cx="146304" cy="146304"/>
          </a:xfrm>
          <a:prstGeom prst="ellipse">
            <a:avLst/>
          </a:prstGeom>
          <a:solidFill>
            <a:srgbClr val="C1762C"/>
          </a:solidFill>
          <a:ln/>
        </p:spPr>
      </p:sp>
      <p:sp>
        <p:nvSpPr>
          <p:cNvPr id="35" name="Text 33"/>
          <p:cNvSpPr txBox="1"/>
          <p:nvPr/>
        </p:nvSpPr>
        <p:spPr>
          <a:xfrm>
            <a:off x="8503920" y="4535424"/>
            <a:ext cx="2651760" cy="420624"/>
          </a:xfrm>
          <a:prstGeom prst="rect">
            <a:avLst/>
          </a:prstGeom>
          <a:noFill/>
          <a:ln/>
        </p:spPr>
        <p:txBody>
          <a:bodyPr wrap="square" lIns="0" tIns="0" rIns="0" bIns="0" rtlCol="0" anchor="ctr"/>
          <a:lstStyle/>
          <a:p>
            <a:pPr indent="0" marL="0">
              <a:buNone/>
            </a:pPr>
            <a:r>
              <a:rPr lang="en-US" sz="1050" dirty="0">
                <a:solidFill>
                  <a:srgbClr val="1B3D24"/>
                </a:solidFill>
                <a:latin typeface="Meiryo" pitchFamily="34" charset="0"/>
                <a:ea typeface="Meiryo" pitchFamily="34" charset="-122"/>
                <a:cs typeface="Meiryo" pitchFamily="34" charset="-120"/>
              </a:rPr>
              <a:t>木材の調達・加工の手配</a:t>
            </a:r>
            <a:endParaRPr lang="en-US" sz="1050" dirty="0"/>
          </a:p>
        </p:txBody>
      </p:sp>
      <p:sp>
        <p:nvSpPr>
          <p:cNvPr id="36" name="Shape 34"/>
          <p:cNvSpPr/>
          <p:nvPr/>
        </p:nvSpPr>
        <p:spPr>
          <a:xfrm>
            <a:off x="8138160" y="5065776"/>
            <a:ext cx="3108960" cy="420624"/>
          </a:xfrm>
          <a:prstGeom prst="roundRect">
            <a:avLst>
              <a:gd name="adj" fmla="val 17391"/>
            </a:avLst>
          </a:prstGeom>
          <a:solidFill>
            <a:srgbClr val="FFFFFF"/>
          </a:solidFill>
          <a:ln/>
        </p:spPr>
      </p:sp>
      <p:sp>
        <p:nvSpPr>
          <p:cNvPr id="37" name="Shape 35"/>
          <p:cNvSpPr/>
          <p:nvPr/>
        </p:nvSpPr>
        <p:spPr>
          <a:xfrm>
            <a:off x="8247888" y="5202936"/>
            <a:ext cx="146304" cy="146304"/>
          </a:xfrm>
          <a:prstGeom prst="ellipse">
            <a:avLst/>
          </a:prstGeom>
          <a:solidFill>
            <a:srgbClr val="C1762C"/>
          </a:solidFill>
          <a:ln/>
        </p:spPr>
      </p:sp>
      <p:sp>
        <p:nvSpPr>
          <p:cNvPr id="38" name="Text 36"/>
          <p:cNvSpPr txBox="1"/>
          <p:nvPr/>
        </p:nvSpPr>
        <p:spPr>
          <a:xfrm>
            <a:off x="8503920" y="5065776"/>
            <a:ext cx="2651760" cy="420624"/>
          </a:xfrm>
          <a:prstGeom prst="rect">
            <a:avLst/>
          </a:prstGeom>
          <a:noFill/>
          <a:ln/>
        </p:spPr>
        <p:txBody>
          <a:bodyPr wrap="square" lIns="0" tIns="0" rIns="0" bIns="0" rtlCol="0" anchor="ctr"/>
          <a:lstStyle/>
          <a:p>
            <a:pPr indent="0" marL="0">
              <a:buNone/>
            </a:pPr>
            <a:r>
              <a:rPr lang="en-US" sz="1050" dirty="0">
                <a:solidFill>
                  <a:srgbClr val="1B3D24"/>
                </a:solidFill>
                <a:latin typeface="Meiryo" pitchFamily="34" charset="0"/>
                <a:ea typeface="Meiryo" pitchFamily="34" charset="-122"/>
                <a:cs typeface="Meiryo" pitchFamily="34" charset="-120"/>
              </a:rPr>
              <a:t>効果測定と対外発信</a:t>
            </a:r>
            <a:endParaRPr lang="en-US" sz="1050" dirty="0"/>
          </a:p>
        </p:txBody>
      </p:sp>
      <p:sp>
        <p:nvSpPr>
          <p:cNvPr id="39" name="Text 37"/>
          <p:cNvSpPr txBox="1"/>
          <p:nvPr/>
        </p:nvSpPr>
        <p:spPr>
          <a:xfrm>
            <a:off x="658368" y="6053328"/>
            <a:ext cx="6949440" cy="274320"/>
          </a:xfrm>
          <a:prstGeom prst="rect">
            <a:avLst/>
          </a:prstGeom>
          <a:noFill/>
          <a:ln/>
        </p:spPr>
        <p:txBody>
          <a:bodyPr wrap="square" lIns="0" tIns="0" rIns="0" bIns="0" rtlCol="0" anchor="t"/>
          <a:lstStyle/>
          <a:p>
            <a:pPr indent="0" marL="0">
              <a:buNone/>
            </a:pPr>
            <a:r>
              <a:rPr lang="en-US" sz="950" dirty="0">
                <a:solidFill>
                  <a:srgbClr val="5F6B64"/>
                </a:solidFill>
                <a:latin typeface="Meiryo" pitchFamily="34" charset="0"/>
                <a:ea typeface="Meiryo" pitchFamily="34" charset="-122"/>
                <a:cs typeface="Meiryo" pitchFamily="34" charset="-120"/>
              </a:rPr>
              <a:t>※ 企業版ふるさと納税（人材派遣型）を使えば、企業人材を推進体制に迎えることもできる。</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FOR COMPANIES</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企業から見た参加価値</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28</a:t>
            </a:r>
            <a:endParaRPr lang="en-US" sz="900" dirty="0"/>
          </a:p>
        </p:txBody>
      </p:sp>
      <p:sp>
        <p:nvSpPr>
          <p:cNvPr id="6" name="Shape 4"/>
          <p:cNvSpPr/>
          <p:nvPr/>
        </p:nvSpPr>
        <p:spPr>
          <a:xfrm>
            <a:off x="658368" y="1645920"/>
            <a:ext cx="5294376" cy="1572768"/>
          </a:xfrm>
          <a:prstGeom prst="roundRect">
            <a:avLst>
              <a:gd name="adj" fmla="val 5233"/>
            </a:avLst>
          </a:prstGeom>
          <a:solidFill>
            <a:srgbClr val="F4F6F1"/>
          </a:solidFill>
          <a:ln w="12700">
            <a:solidFill>
              <a:srgbClr val="DCE3D8"/>
            </a:solidFill>
            <a:prstDash val="solid"/>
          </a:ln>
        </p:spPr>
      </p:sp>
      <p:sp>
        <p:nvSpPr>
          <p:cNvPr id="7" name="Shape 5"/>
          <p:cNvSpPr/>
          <p:nvPr/>
        </p:nvSpPr>
        <p:spPr>
          <a:xfrm>
            <a:off x="969264" y="1956816"/>
            <a:ext cx="548640" cy="548640"/>
          </a:xfrm>
          <a:prstGeom prst="ellipse">
            <a:avLst/>
          </a:prstGeom>
          <a:solidFill>
            <a:srgbClr val="8FB566"/>
          </a:solidFill>
          <a:ln/>
        </p:spPr>
      </p:sp>
      <p:sp>
        <p:nvSpPr>
          <p:cNvPr id="8" name="Text 6"/>
          <p:cNvSpPr txBox="1"/>
          <p:nvPr/>
        </p:nvSpPr>
        <p:spPr>
          <a:xfrm>
            <a:off x="969264" y="195681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9" name="Text 7"/>
          <p:cNvSpPr txBox="1"/>
          <p:nvPr/>
        </p:nvSpPr>
        <p:spPr>
          <a:xfrm>
            <a:off x="1664208" y="1920240"/>
            <a:ext cx="3968496"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取引として示せる森林保全</a:t>
            </a:r>
            <a:endParaRPr lang="en-US" sz="1500" dirty="0"/>
          </a:p>
        </p:txBody>
      </p:sp>
      <p:sp>
        <p:nvSpPr>
          <p:cNvPr id="10" name="Text 8"/>
          <p:cNvSpPr txBox="1"/>
          <p:nvPr/>
        </p:nvSpPr>
        <p:spPr>
          <a:xfrm>
            <a:off x="1664208" y="2304288"/>
            <a:ext cx="3968496" cy="77724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「寄付しました」ではなく「八王子の木を使っています」と言える。グリーン購入や情報開示の実績としても扱いやすい。</a:t>
            </a:r>
            <a:endParaRPr lang="en-US" sz="1100" dirty="0"/>
          </a:p>
        </p:txBody>
      </p:sp>
      <p:sp>
        <p:nvSpPr>
          <p:cNvPr id="11" name="Shape 9"/>
          <p:cNvSpPr/>
          <p:nvPr/>
        </p:nvSpPr>
        <p:spPr>
          <a:xfrm>
            <a:off x="6245352" y="1645920"/>
            <a:ext cx="5294376" cy="1572768"/>
          </a:xfrm>
          <a:prstGeom prst="roundRect">
            <a:avLst>
              <a:gd name="adj" fmla="val 5233"/>
            </a:avLst>
          </a:prstGeom>
          <a:solidFill>
            <a:srgbClr val="F4F6F1"/>
          </a:solidFill>
          <a:ln w="12700">
            <a:solidFill>
              <a:srgbClr val="DCE3D8"/>
            </a:solidFill>
            <a:prstDash val="solid"/>
          </a:ln>
        </p:spPr>
      </p:sp>
      <p:sp>
        <p:nvSpPr>
          <p:cNvPr id="12" name="Shape 10"/>
          <p:cNvSpPr/>
          <p:nvPr/>
        </p:nvSpPr>
        <p:spPr>
          <a:xfrm>
            <a:off x="6556248" y="1956816"/>
            <a:ext cx="548640" cy="548640"/>
          </a:xfrm>
          <a:prstGeom prst="ellipse">
            <a:avLst/>
          </a:prstGeom>
          <a:solidFill>
            <a:srgbClr val="8FB566"/>
          </a:solidFill>
          <a:ln/>
        </p:spPr>
      </p:sp>
      <p:sp>
        <p:nvSpPr>
          <p:cNvPr id="13" name="Text 11"/>
          <p:cNvSpPr txBox="1"/>
          <p:nvPr/>
        </p:nvSpPr>
        <p:spPr>
          <a:xfrm>
            <a:off x="6556248" y="195681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4" name="Text 12"/>
          <p:cNvSpPr txBox="1"/>
          <p:nvPr/>
        </p:nvSpPr>
        <p:spPr>
          <a:xfrm>
            <a:off x="7251192" y="1920240"/>
            <a:ext cx="3968496"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定量化できる環境価値</a:t>
            </a:r>
            <a:endParaRPr lang="en-US" sz="1500" dirty="0"/>
          </a:p>
        </p:txBody>
      </p:sp>
      <p:sp>
        <p:nvSpPr>
          <p:cNvPr id="15" name="Text 13"/>
          <p:cNvSpPr txBox="1"/>
          <p:nvPr/>
        </p:nvSpPr>
        <p:spPr>
          <a:xfrm>
            <a:off x="7251192" y="2304288"/>
            <a:ext cx="3968496" cy="77724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CO2吸収量やJ-クレジットとして、数値で示せる。多摩の森活性化プロジェクトの認証とも接続できる。</a:t>
            </a:r>
            <a:endParaRPr lang="en-US" sz="1100" dirty="0"/>
          </a:p>
        </p:txBody>
      </p:sp>
      <p:sp>
        <p:nvSpPr>
          <p:cNvPr id="16" name="Shape 14"/>
          <p:cNvSpPr/>
          <p:nvPr/>
        </p:nvSpPr>
        <p:spPr>
          <a:xfrm>
            <a:off x="658368" y="3456432"/>
            <a:ext cx="5294376" cy="1572768"/>
          </a:xfrm>
          <a:prstGeom prst="roundRect">
            <a:avLst>
              <a:gd name="adj" fmla="val 5233"/>
            </a:avLst>
          </a:prstGeom>
          <a:solidFill>
            <a:srgbClr val="F4F6F1"/>
          </a:solidFill>
          <a:ln w="12700">
            <a:solidFill>
              <a:srgbClr val="DCE3D8"/>
            </a:solidFill>
            <a:prstDash val="solid"/>
          </a:ln>
        </p:spPr>
      </p:sp>
      <p:sp>
        <p:nvSpPr>
          <p:cNvPr id="17" name="Shape 15"/>
          <p:cNvSpPr/>
          <p:nvPr/>
        </p:nvSpPr>
        <p:spPr>
          <a:xfrm>
            <a:off x="969264" y="3767328"/>
            <a:ext cx="548640" cy="548640"/>
          </a:xfrm>
          <a:prstGeom prst="ellipse">
            <a:avLst/>
          </a:prstGeom>
          <a:solidFill>
            <a:srgbClr val="8FB566"/>
          </a:solidFill>
          <a:ln/>
        </p:spPr>
      </p:sp>
      <p:sp>
        <p:nvSpPr>
          <p:cNvPr id="18" name="Text 16"/>
          <p:cNvSpPr txBox="1"/>
          <p:nvPr/>
        </p:nvSpPr>
        <p:spPr>
          <a:xfrm>
            <a:off x="969264" y="376732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3</a:t>
            </a:r>
            <a:endParaRPr lang="en-US" sz="1500" dirty="0"/>
          </a:p>
        </p:txBody>
      </p:sp>
      <p:sp>
        <p:nvSpPr>
          <p:cNvPr id="19" name="Text 17"/>
          <p:cNvSpPr txBox="1"/>
          <p:nvPr/>
        </p:nvSpPr>
        <p:spPr>
          <a:xfrm>
            <a:off x="1664208" y="3730752"/>
            <a:ext cx="3968496"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地域との具体的な関係</a:t>
            </a:r>
            <a:endParaRPr lang="en-US" sz="1500" dirty="0"/>
          </a:p>
        </p:txBody>
      </p:sp>
      <p:sp>
        <p:nvSpPr>
          <p:cNvPr id="20" name="Text 18"/>
          <p:cNvSpPr txBox="1"/>
          <p:nvPr/>
        </p:nvSpPr>
        <p:spPr>
          <a:xfrm>
            <a:off x="1664208" y="4114800"/>
            <a:ext cx="3968496" cy="77724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従業員の森林体験、地域の学校との連携など、八王子という特定の場所との継続的な関わりが持てる。</a:t>
            </a:r>
            <a:endParaRPr lang="en-US" sz="1100" dirty="0"/>
          </a:p>
        </p:txBody>
      </p:sp>
      <p:sp>
        <p:nvSpPr>
          <p:cNvPr id="21" name="Shape 19"/>
          <p:cNvSpPr/>
          <p:nvPr/>
        </p:nvSpPr>
        <p:spPr>
          <a:xfrm>
            <a:off x="6245352" y="3456432"/>
            <a:ext cx="5294376" cy="1572768"/>
          </a:xfrm>
          <a:prstGeom prst="roundRect">
            <a:avLst>
              <a:gd name="adj" fmla="val 5233"/>
            </a:avLst>
          </a:prstGeom>
          <a:solidFill>
            <a:srgbClr val="FAEEDF"/>
          </a:solidFill>
          <a:ln/>
        </p:spPr>
      </p:sp>
      <p:sp>
        <p:nvSpPr>
          <p:cNvPr id="22" name="Shape 20"/>
          <p:cNvSpPr/>
          <p:nvPr/>
        </p:nvSpPr>
        <p:spPr>
          <a:xfrm>
            <a:off x="6556248" y="3767328"/>
            <a:ext cx="548640" cy="548640"/>
          </a:xfrm>
          <a:prstGeom prst="ellipse">
            <a:avLst/>
          </a:prstGeom>
          <a:solidFill>
            <a:srgbClr val="C1762C"/>
          </a:solidFill>
          <a:ln/>
        </p:spPr>
      </p:sp>
      <p:sp>
        <p:nvSpPr>
          <p:cNvPr id="23" name="Text 21"/>
          <p:cNvSpPr txBox="1"/>
          <p:nvPr/>
        </p:nvSpPr>
        <p:spPr>
          <a:xfrm>
            <a:off x="6556248" y="376732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4</a:t>
            </a:r>
            <a:endParaRPr lang="en-US" sz="1500" dirty="0"/>
          </a:p>
        </p:txBody>
      </p:sp>
      <p:sp>
        <p:nvSpPr>
          <p:cNvPr id="24" name="Text 22"/>
          <p:cNvSpPr txBox="1"/>
          <p:nvPr/>
        </p:nvSpPr>
        <p:spPr>
          <a:xfrm>
            <a:off x="7251192" y="3730752"/>
            <a:ext cx="3968496" cy="310896"/>
          </a:xfrm>
          <a:prstGeom prst="rect">
            <a:avLst/>
          </a:prstGeom>
          <a:noFill/>
          <a:ln/>
        </p:spPr>
        <p:txBody>
          <a:bodyPr wrap="square" lIns="0" tIns="0" rIns="0" bIns="0" rtlCol="0" anchor="t"/>
          <a:lstStyle/>
          <a:p>
            <a:pPr indent="0" marL="0">
              <a:buNone/>
            </a:pPr>
            <a:r>
              <a:rPr lang="en-US" sz="1500" b="1" dirty="0">
                <a:solidFill>
                  <a:srgbClr val="1B3D24"/>
                </a:solidFill>
                <a:latin typeface="Meiryo" pitchFamily="34" charset="0"/>
                <a:ea typeface="Meiryo" pitchFamily="34" charset="-122"/>
                <a:cs typeface="Meiryo" pitchFamily="34" charset="-120"/>
              </a:rPr>
              <a:t>税制上のメリット</a:t>
            </a:r>
            <a:endParaRPr lang="en-US" sz="1500" dirty="0"/>
          </a:p>
        </p:txBody>
      </p:sp>
      <p:sp>
        <p:nvSpPr>
          <p:cNvPr id="25" name="Text 23"/>
          <p:cNvSpPr txBox="1"/>
          <p:nvPr/>
        </p:nvSpPr>
        <p:spPr>
          <a:xfrm>
            <a:off x="7251192" y="4114800"/>
            <a:ext cx="3968496" cy="777240"/>
          </a:xfrm>
          <a:prstGeom prst="rect">
            <a:avLst/>
          </a:prstGeom>
          <a:noFill/>
          <a:ln/>
        </p:spPr>
        <p:txBody>
          <a:bodyPr wrap="square" lIns="0" tIns="0" rIns="0" bIns="0" rtlCol="0" anchor="t"/>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企業版ふるさと納税は、損金算入と税額控除を合わせて最大約9割の負担軽減となる（制度要件の確認が前提）。</a:t>
            </a:r>
            <a:endParaRPr lang="en-US" sz="1100" dirty="0"/>
          </a:p>
        </p:txBody>
      </p:sp>
      <p:sp>
        <p:nvSpPr>
          <p:cNvPr id="26" name="Text 24"/>
          <p:cNvSpPr txBox="1"/>
          <p:nvPr/>
        </p:nvSpPr>
        <p:spPr>
          <a:xfrm>
            <a:off x="658368" y="5230368"/>
            <a:ext cx="10874959" cy="365760"/>
          </a:xfrm>
          <a:prstGeom prst="rect">
            <a:avLst/>
          </a:prstGeom>
          <a:noFill/>
          <a:ln/>
        </p:spPr>
        <p:txBody>
          <a:bodyPr wrap="square" lIns="0" tIns="0" rIns="0" bIns="0" rtlCol="0" anchor="t"/>
          <a:lstStyle/>
          <a:p>
            <a:pPr indent="0" marL="0">
              <a:buNone/>
            </a:pPr>
            <a:r>
              <a:rPr lang="en-US" sz="1300" b="1" dirty="0">
                <a:solidFill>
                  <a:srgbClr val="1B3D24"/>
                </a:solidFill>
                <a:latin typeface="Meiryo" pitchFamily="34" charset="0"/>
                <a:ea typeface="Meiryo" pitchFamily="34" charset="-122"/>
                <a:cs typeface="Meiryo" pitchFamily="34" charset="-120"/>
              </a:rPr>
              <a:t>寄付の相手は市外に本社を持つ企業（制約01）。八王子に事業所・従業員・顧客を持つ企業を軸にアプローチする。</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OPEN ISSUES</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想定される論点と対応の方向</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29</a:t>
            </a:r>
            <a:endParaRPr lang="en-US" sz="900" dirty="0"/>
          </a:p>
        </p:txBody>
      </p:sp>
      <p:sp>
        <p:nvSpPr>
          <p:cNvPr id="6" name="Shape 4"/>
          <p:cNvSpPr/>
          <p:nvPr/>
        </p:nvSpPr>
        <p:spPr>
          <a:xfrm>
            <a:off x="658368" y="1664208"/>
            <a:ext cx="10874959" cy="941832"/>
          </a:xfrm>
          <a:prstGeom prst="roundRect">
            <a:avLst>
              <a:gd name="adj" fmla="val 8738"/>
            </a:avLst>
          </a:prstGeom>
          <a:solidFill>
            <a:srgbClr val="F4F6F1"/>
          </a:solidFill>
          <a:ln w="12700">
            <a:solidFill>
              <a:srgbClr val="DCE3D8"/>
            </a:solidFill>
            <a:prstDash val="solid"/>
          </a:ln>
        </p:spPr>
      </p:sp>
      <p:sp>
        <p:nvSpPr>
          <p:cNvPr id="7" name="Text 5"/>
          <p:cNvSpPr txBox="1"/>
          <p:nvPr/>
        </p:nvSpPr>
        <p:spPr>
          <a:xfrm>
            <a:off x="978408" y="1664208"/>
            <a:ext cx="1920240" cy="941832"/>
          </a:xfrm>
          <a:prstGeom prst="rect">
            <a:avLst/>
          </a:prstGeom>
          <a:noFill/>
          <a:ln/>
        </p:spPr>
        <p:txBody>
          <a:bodyPr wrap="square" lIns="0" tIns="0" rIns="0" bIns="0" rtlCol="0" anchor="ctr"/>
          <a:lstStyle/>
          <a:p>
            <a:pPr indent="0" marL="0">
              <a:buNone/>
            </a:pPr>
            <a:r>
              <a:rPr lang="en-US" sz="1350" b="1" dirty="0">
                <a:solidFill>
                  <a:srgbClr val="1B3D24"/>
                </a:solidFill>
                <a:latin typeface="Meiryo" pitchFamily="34" charset="0"/>
                <a:ea typeface="Meiryo" pitchFamily="34" charset="-122"/>
                <a:cs typeface="Meiryo" pitchFamily="34" charset="-120"/>
              </a:rPr>
              <a:t>供給の確度</a:t>
            </a:r>
            <a:endParaRPr lang="en-US" sz="1350" dirty="0"/>
          </a:p>
        </p:txBody>
      </p:sp>
      <p:sp>
        <p:nvSpPr>
          <p:cNvPr id="8" name="Text 6"/>
          <p:cNvSpPr txBox="1"/>
          <p:nvPr/>
        </p:nvSpPr>
        <p:spPr>
          <a:xfrm>
            <a:off x="3035808" y="1664208"/>
            <a:ext cx="3520440" cy="941832"/>
          </a:xfrm>
          <a:prstGeom prst="rect">
            <a:avLst/>
          </a:prstGeom>
          <a:noFill/>
          <a:ln/>
        </p:spPr>
        <p:txBody>
          <a:bodyPr wrap="square" lIns="0" tIns="0" rIns="0" bIns="0" rtlCol="0" anchor="ctr"/>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整備で出る木材の量・質・時期を、どこまで見通せるか</a:t>
            </a:r>
            <a:endParaRPr lang="en-US" sz="1100" dirty="0"/>
          </a:p>
        </p:txBody>
      </p:sp>
      <p:sp>
        <p:nvSpPr>
          <p:cNvPr id="9" name="Shape 7"/>
          <p:cNvSpPr/>
          <p:nvPr/>
        </p:nvSpPr>
        <p:spPr>
          <a:xfrm>
            <a:off x="6711696" y="2066544"/>
            <a:ext cx="274320" cy="164592"/>
          </a:xfrm>
          <a:prstGeom prst="rightArrow">
            <a:avLst/>
          </a:prstGeom>
          <a:solidFill>
            <a:srgbClr val="C1762C"/>
          </a:solidFill>
          <a:ln/>
        </p:spPr>
      </p:sp>
      <p:sp>
        <p:nvSpPr>
          <p:cNvPr id="10" name="Text 8"/>
          <p:cNvSpPr txBox="1"/>
          <p:nvPr/>
        </p:nvSpPr>
        <p:spPr>
          <a:xfrm>
            <a:off x="7168896" y="1664208"/>
            <a:ext cx="4023360" cy="941832"/>
          </a:xfrm>
          <a:prstGeom prst="rect">
            <a:avLst/>
          </a:prstGeom>
          <a:noFill/>
          <a:ln/>
        </p:spPr>
        <p:txBody>
          <a:bodyPr wrap="square" lIns="0" tIns="0" rIns="0" bIns="0" rtlCol="0" anchor="ctr"/>
          <a:lstStyle/>
          <a:p>
            <a:pPr indent="0" marL="0">
              <a:lnSpc>
                <a:spcPts val="1700"/>
              </a:lnSpc>
              <a:buNone/>
            </a:pPr>
            <a:r>
              <a:rPr lang="en-US" sz="1100" dirty="0">
                <a:solidFill>
                  <a:srgbClr val="23302A"/>
                </a:solidFill>
                <a:latin typeface="Meiryo" pitchFamily="34" charset="0"/>
                <a:ea typeface="Meiryo" pitchFamily="34" charset="-122"/>
                <a:cs typeface="Meiryo" pitchFamily="34" charset="-120"/>
              </a:rPr>
              <a:t>Phase 1の「森のカルテ」で先に把握する。モデル林から始め、精度を上げながら対象を広げる。</a:t>
            </a:r>
            <a:endParaRPr lang="en-US" sz="1100" dirty="0"/>
          </a:p>
        </p:txBody>
      </p:sp>
      <p:sp>
        <p:nvSpPr>
          <p:cNvPr id="11" name="Shape 9"/>
          <p:cNvSpPr/>
          <p:nvPr/>
        </p:nvSpPr>
        <p:spPr>
          <a:xfrm>
            <a:off x="658368" y="2688336"/>
            <a:ext cx="10874959" cy="941832"/>
          </a:xfrm>
          <a:prstGeom prst="roundRect">
            <a:avLst>
              <a:gd name="adj" fmla="val 8738"/>
            </a:avLst>
          </a:prstGeom>
          <a:solidFill>
            <a:srgbClr val="FFFFFF"/>
          </a:solidFill>
          <a:ln w="12700">
            <a:solidFill>
              <a:srgbClr val="DCE3D8"/>
            </a:solidFill>
            <a:prstDash val="solid"/>
          </a:ln>
        </p:spPr>
      </p:sp>
      <p:sp>
        <p:nvSpPr>
          <p:cNvPr id="12" name="Text 10"/>
          <p:cNvSpPr txBox="1"/>
          <p:nvPr/>
        </p:nvSpPr>
        <p:spPr>
          <a:xfrm>
            <a:off x="978408" y="2688336"/>
            <a:ext cx="1920240" cy="941832"/>
          </a:xfrm>
          <a:prstGeom prst="rect">
            <a:avLst/>
          </a:prstGeom>
          <a:noFill/>
          <a:ln/>
        </p:spPr>
        <p:txBody>
          <a:bodyPr wrap="square" lIns="0" tIns="0" rIns="0" bIns="0" rtlCol="0" anchor="ctr"/>
          <a:lstStyle/>
          <a:p>
            <a:pPr indent="0" marL="0">
              <a:buNone/>
            </a:pPr>
            <a:r>
              <a:rPr lang="en-US" sz="1350" b="1" dirty="0">
                <a:solidFill>
                  <a:srgbClr val="1B3D24"/>
                </a:solidFill>
                <a:latin typeface="Meiryo" pitchFamily="34" charset="0"/>
                <a:ea typeface="Meiryo" pitchFamily="34" charset="-122"/>
                <a:cs typeface="Meiryo" pitchFamily="34" charset="-120"/>
              </a:rPr>
              <a:t>価格競争力</a:t>
            </a:r>
            <a:endParaRPr lang="en-US" sz="1350" dirty="0"/>
          </a:p>
        </p:txBody>
      </p:sp>
      <p:sp>
        <p:nvSpPr>
          <p:cNvPr id="13" name="Text 11"/>
          <p:cNvSpPr txBox="1"/>
          <p:nvPr/>
        </p:nvSpPr>
        <p:spPr>
          <a:xfrm>
            <a:off x="3035808" y="2688336"/>
            <a:ext cx="3520440" cy="941832"/>
          </a:xfrm>
          <a:prstGeom prst="rect">
            <a:avLst/>
          </a:prstGeom>
          <a:noFill/>
          <a:ln/>
        </p:spPr>
        <p:txBody>
          <a:bodyPr wrap="square" lIns="0" tIns="0" rIns="0" bIns="0" rtlCol="0" anchor="ctr"/>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八王子産材は、他産地材と価格で戦えるか</a:t>
            </a:r>
            <a:endParaRPr lang="en-US" sz="1100" dirty="0"/>
          </a:p>
        </p:txBody>
      </p:sp>
      <p:sp>
        <p:nvSpPr>
          <p:cNvPr id="14" name="Shape 12"/>
          <p:cNvSpPr/>
          <p:nvPr/>
        </p:nvSpPr>
        <p:spPr>
          <a:xfrm>
            <a:off x="6711696" y="3090672"/>
            <a:ext cx="274320" cy="164592"/>
          </a:xfrm>
          <a:prstGeom prst="rightArrow">
            <a:avLst/>
          </a:prstGeom>
          <a:solidFill>
            <a:srgbClr val="C1762C"/>
          </a:solidFill>
          <a:ln/>
        </p:spPr>
      </p:sp>
      <p:sp>
        <p:nvSpPr>
          <p:cNvPr id="15" name="Text 13"/>
          <p:cNvSpPr txBox="1"/>
          <p:nvPr/>
        </p:nvSpPr>
        <p:spPr>
          <a:xfrm>
            <a:off x="7168896" y="2688336"/>
            <a:ext cx="4023360" cy="941832"/>
          </a:xfrm>
          <a:prstGeom prst="rect">
            <a:avLst/>
          </a:prstGeom>
          <a:noFill/>
          <a:ln/>
        </p:spPr>
        <p:txBody>
          <a:bodyPr wrap="square" lIns="0" tIns="0" rIns="0" bIns="0" rtlCol="0" anchor="ctr"/>
          <a:lstStyle/>
          <a:p>
            <a:pPr indent="0" marL="0">
              <a:lnSpc>
                <a:spcPts val="1700"/>
              </a:lnSpc>
              <a:buNone/>
            </a:pPr>
            <a:r>
              <a:rPr lang="en-US" sz="1100" dirty="0">
                <a:solidFill>
                  <a:srgbClr val="23302A"/>
                </a:solidFill>
                <a:latin typeface="Meiryo" pitchFamily="34" charset="0"/>
                <a:ea typeface="Meiryo" pitchFamily="34" charset="-122"/>
                <a:cs typeface="Meiryo" pitchFamily="34" charset="-120"/>
              </a:rPr>
              <a:t>価格だけで戦わない。産地・物語・環境価値を含めた価値で売る。小口・高付加価値の用途から入る。</a:t>
            </a:r>
            <a:endParaRPr lang="en-US" sz="1100" dirty="0"/>
          </a:p>
        </p:txBody>
      </p:sp>
      <p:sp>
        <p:nvSpPr>
          <p:cNvPr id="16" name="Shape 14"/>
          <p:cNvSpPr/>
          <p:nvPr/>
        </p:nvSpPr>
        <p:spPr>
          <a:xfrm>
            <a:off x="658368" y="3712464"/>
            <a:ext cx="10874959" cy="941832"/>
          </a:xfrm>
          <a:prstGeom prst="roundRect">
            <a:avLst>
              <a:gd name="adj" fmla="val 8738"/>
            </a:avLst>
          </a:prstGeom>
          <a:solidFill>
            <a:srgbClr val="F4F6F1"/>
          </a:solidFill>
          <a:ln w="12700">
            <a:solidFill>
              <a:srgbClr val="DCE3D8"/>
            </a:solidFill>
            <a:prstDash val="solid"/>
          </a:ln>
        </p:spPr>
      </p:sp>
      <p:sp>
        <p:nvSpPr>
          <p:cNvPr id="17" name="Text 15"/>
          <p:cNvSpPr txBox="1"/>
          <p:nvPr/>
        </p:nvSpPr>
        <p:spPr>
          <a:xfrm>
            <a:off x="978408" y="3712464"/>
            <a:ext cx="1920240" cy="941832"/>
          </a:xfrm>
          <a:prstGeom prst="rect">
            <a:avLst/>
          </a:prstGeom>
          <a:noFill/>
          <a:ln/>
        </p:spPr>
        <p:txBody>
          <a:bodyPr wrap="square" lIns="0" tIns="0" rIns="0" bIns="0" rtlCol="0" anchor="ctr"/>
          <a:lstStyle/>
          <a:p>
            <a:pPr indent="0" marL="0">
              <a:buNone/>
            </a:pPr>
            <a:r>
              <a:rPr lang="en-US" sz="1350" b="1" dirty="0">
                <a:solidFill>
                  <a:srgbClr val="1B3D24"/>
                </a:solidFill>
                <a:latin typeface="Meiryo" pitchFamily="34" charset="0"/>
                <a:ea typeface="Meiryo" pitchFamily="34" charset="-122"/>
                <a:cs typeface="Meiryo" pitchFamily="34" charset="-120"/>
              </a:rPr>
              <a:t>寄付企業の開拓</a:t>
            </a:r>
            <a:endParaRPr lang="en-US" sz="1350" dirty="0"/>
          </a:p>
        </p:txBody>
      </p:sp>
      <p:sp>
        <p:nvSpPr>
          <p:cNvPr id="18" name="Text 16"/>
          <p:cNvSpPr txBox="1"/>
          <p:nvPr/>
        </p:nvSpPr>
        <p:spPr>
          <a:xfrm>
            <a:off x="3035808" y="3712464"/>
            <a:ext cx="3520440" cy="941832"/>
          </a:xfrm>
          <a:prstGeom prst="rect">
            <a:avLst/>
          </a:prstGeom>
          <a:noFill/>
          <a:ln/>
        </p:spPr>
        <p:txBody>
          <a:bodyPr wrap="square" lIns="0" tIns="0" rIns="0" bIns="0" rtlCol="0" anchor="ctr"/>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市外に本社を持つ企業に、どう届けるか</a:t>
            </a:r>
            <a:endParaRPr lang="en-US" sz="1100" dirty="0"/>
          </a:p>
        </p:txBody>
      </p:sp>
      <p:sp>
        <p:nvSpPr>
          <p:cNvPr id="19" name="Shape 17"/>
          <p:cNvSpPr/>
          <p:nvPr/>
        </p:nvSpPr>
        <p:spPr>
          <a:xfrm>
            <a:off x="6711696" y="4114800"/>
            <a:ext cx="274320" cy="164592"/>
          </a:xfrm>
          <a:prstGeom prst="rightArrow">
            <a:avLst/>
          </a:prstGeom>
          <a:solidFill>
            <a:srgbClr val="C1762C"/>
          </a:solidFill>
          <a:ln/>
        </p:spPr>
      </p:sp>
      <p:sp>
        <p:nvSpPr>
          <p:cNvPr id="20" name="Text 18"/>
          <p:cNvSpPr txBox="1"/>
          <p:nvPr/>
        </p:nvSpPr>
        <p:spPr>
          <a:xfrm>
            <a:off x="7168896" y="3712464"/>
            <a:ext cx="4023360" cy="941832"/>
          </a:xfrm>
          <a:prstGeom prst="rect">
            <a:avLst/>
          </a:prstGeom>
          <a:noFill/>
          <a:ln/>
        </p:spPr>
        <p:txBody>
          <a:bodyPr wrap="square" lIns="0" tIns="0" rIns="0" bIns="0" rtlCol="0" anchor="ctr"/>
          <a:lstStyle/>
          <a:p>
            <a:pPr indent="0" marL="0">
              <a:lnSpc>
                <a:spcPts val="1700"/>
              </a:lnSpc>
              <a:buNone/>
            </a:pPr>
            <a:r>
              <a:rPr lang="en-US" sz="1100" dirty="0">
                <a:solidFill>
                  <a:srgbClr val="23302A"/>
                </a:solidFill>
                <a:latin typeface="Meiryo" pitchFamily="34" charset="0"/>
                <a:ea typeface="Meiryo" pitchFamily="34" charset="-122"/>
                <a:cs typeface="Meiryo" pitchFamily="34" charset="-120"/>
              </a:rPr>
              <a:t>八王子に事業所・従業員・顧客を持つ企業を軸にする。市内企業は購入パートナーとして別建てで巻き込む。</a:t>
            </a:r>
            <a:endParaRPr lang="en-US" sz="1100" dirty="0"/>
          </a:p>
        </p:txBody>
      </p:sp>
      <p:sp>
        <p:nvSpPr>
          <p:cNvPr id="21" name="Shape 19"/>
          <p:cNvSpPr/>
          <p:nvPr/>
        </p:nvSpPr>
        <p:spPr>
          <a:xfrm>
            <a:off x="658368" y="4736592"/>
            <a:ext cx="10874959" cy="941832"/>
          </a:xfrm>
          <a:prstGeom prst="roundRect">
            <a:avLst>
              <a:gd name="adj" fmla="val 8738"/>
            </a:avLst>
          </a:prstGeom>
          <a:solidFill>
            <a:srgbClr val="FFFFFF"/>
          </a:solidFill>
          <a:ln w="12700">
            <a:solidFill>
              <a:srgbClr val="DCE3D8"/>
            </a:solidFill>
            <a:prstDash val="solid"/>
          </a:ln>
        </p:spPr>
      </p:sp>
      <p:sp>
        <p:nvSpPr>
          <p:cNvPr id="22" name="Text 20"/>
          <p:cNvSpPr txBox="1"/>
          <p:nvPr/>
        </p:nvSpPr>
        <p:spPr>
          <a:xfrm>
            <a:off x="978408" y="4736592"/>
            <a:ext cx="1920240" cy="941832"/>
          </a:xfrm>
          <a:prstGeom prst="rect">
            <a:avLst/>
          </a:prstGeom>
          <a:noFill/>
          <a:ln/>
        </p:spPr>
        <p:txBody>
          <a:bodyPr wrap="square" lIns="0" tIns="0" rIns="0" bIns="0" rtlCol="0" anchor="ctr"/>
          <a:lstStyle/>
          <a:p>
            <a:pPr indent="0" marL="0">
              <a:buNone/>
            </a:pPr>
            <a:r>
              <a:rPr lang="en-US" sz="1350" b="1" dirty="0">
                <a:solidFill>
                  <a:srgbClr val="1B3D24"/>
                </a:solidFill>
                <a:latin typeface="Meiryo" pitchFamily="34" charset="0"/>
                <a:ea typeface="Meiryo" pitchFamily="34" charset="-122"/>
                <a:cs typeface="Meiryo" pitchFamily="34" charset="-120"/>
              </a:rPr>
              <a:t>推進の人員と体制</a:t>
            </a:r>
            <a:endParaRPr lang="en-US" sz="1350" dirty="0"/>
          </a:p>
        </p:txBody>
      </p:sp>
      <p:sp>
        <p:nvSpPr>
          <p:cNvPr id="23" name="Text 21"/>
          <p:cNvSpPr txBox="1"/>
          <p:nvPr/>
        </p:nvSpPr>
        <p:spPr>
          <a:xfrm>
            <a:off x="3035808" y="4736592"/>
            <a:ext cx="3520440" cy="941832"/>
          </a:xfrm>
          <a:prstGeom prst="rect">
            <a:avLst/>
          </a:prstGeom>
          <a:noFill/>
          <a:ln/>
        </p:spPr>
        <p:txBody>
          <a:bodyPr wrap="square" lIns="0" tIns="0" rIns="0" bIns="0" rtlCol="0" anchor="ctr"/>
          <a:lstStyle/>
          <a:p>
            <a:pPr indent="0" marL="0">
              <a:lnSpc>
                <a:spcPts val="1700"/>
              </a:lnSpc>
              <a:buNone/>
            </a:pPr>
            <a:r>
              <a:rPr lang="en-US" sz="1100" dirty="0">
                <a:solidFill>
                  <a:srgbClr val="5F6B64"/>
                </a:solidFill>
                <a:latin typeface="Meiryo" pitchFamily="34" charset="0"/>
                <a:ea typeface="Meiryo" pitchFamily="34" charset="-122"/>
                <a:cs typeface="Meiryo" pitchFamily="34" charset="-120"/>
              </a:rPr>
              <a:t>市の担当リソースだけで運営できるか</a:t>
            </a:r>
            <a:endParaRPr lang="en-US" sz="1100" dirty="0"/>
          </a:p>
        </p:txBody>
      </p:sp>
      <p:sp>
        <p:nvSpPr>
          <p:cNvPr id="24" name="Shape 22"/>
          <p:cNvSpPr/>
          <p:nvPr/>
        </p:nvSpPr>
        <p:spPr>
          <a:xfrm>
            <a:off x="6711696" y="5138928"/>
            <a:ext cx="274320" cy="164592"/>
          </a:xfrm>
          <a:prstGeom prst="rightArrow">
            <a:avLst/>
          </a:prstGeom>
          <a:solidFill>
            <a:srgbClr val="C1762C"/>
          </a:solidFill>
          <a:ln/>
        </p:spPr>
      </p:sp>
      <p:sp>
        <p:nvSpPr>
          <p:cNvPr id="25" name="Text 23"/>
          <p:cNvSpPr txBox="1"/>
          <p:nvPr/>
        </p:nvSpPr>
        <p:spPr>
          <a:xfrm>
            <a:off x="7168896" y="4736592"/>
            <a:ext cx="4023360" cy="941832"/>
          </a:xfrm>
          <a:prstGeom prst="rect">
            <a:avLst/>
          </a:prstGeom>
          <a:noFill/>
          <a:ln/>
        </p:spPr>
        <p:txBody>
          <a:bodyPr wrap="square" lIns="0" tIns="0" rIns="0" bIns="0" rtlCol="0" anchor="ctr"/>
          <a:lstStyle/>
          <a:p>
            <a:pPr indent="0" marL="0">
              <a:lnSpc>
                <a:spcPts val="1700"/>
              </a:lnSpc>
              <a:buNone/>
            </a:pPr>
            <a:r>
              <a:rPr lang="en-US" sz="1100" dirty="0">
                <a:solidFill>
                  <a:srgbClr val="23302A"/>
                </a:solidFill>
                <a:latin typeface="Meiryo" pitchFamily="34" charset="0"/>
                <a:ea typeface="Meiryo" pitchFamily="34" charset="-122"/>
                <a:cs typeface="Meiryo" pitchFamily="34" charset="-120"/>
              </a:rPr>
              <a:t>事務局機能を外部化する。人材派遣型の活用も選択肢に入れる。</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3251A"/>
        </a:solidFill>
      </p:bgPr>
    </p:bg>
    <p:spTree>
      <p:nvGrpSpPr>
        <p:cNvPr id="1" name=""/>
        <p:cNvGrpSpPr/>
        <p:nvPr/>
      </p:nvGrpSpPr>
      <p:grpSpPr>
        <a:xfrm>
          <a:off x="0" y="0"/>
          <a:ext cx="0" cy="0"/>
          <a:chOff x="0" y="0"/>
          <a:chExt cx="0" cy="0"/>
        </a:xfrm>
      </p:grpSpPr>
      <p:sp>
        <p:nvSpPr>
          <p:cNvPr id="2" name="Shape 0"/>
          <p:cNvSpPr/>
          <p:nvPr/>
        </p:nvSpPr>
        <p:spPr>
          <a:xfrm>
            <a:off x="9875520" y="4023360"/>
            <a:ext cx="1645920" cy="1645920"/>
          </a:xfrm>
          <a:prstGeom prst="ellipse">
            <a:avLst/>
          </a:prstGeom>
          <a:solidFill>
            <a:srgbClr val="FFFFFF">
              <a:alpha val="0"/>
            </a:srgbClr>
          </a:solidFill>
          <a:ln w="15875">
            <a:solidFill>
              <a:srgbClr val="8FB566">
                <a:alpha val="24000"/>
              </a:srgbClr>
            </a:solidFill>
            <a:prstDash val="solid"/>
          </a:ln>
        </p:spPr>
      </p:sp>
      <p:sp>
        <p:nvSpPr>
          <p:cNvPr id="3" name="Shape 1"/>
          <p:cNvSpPr/>
          <p:nvPr/>
        </p:nvSpPr>
        <p:spPr>
          <a:xfrm>
            <a:off x="9235440" y="3383280"/>
            <a:ext cx="2926080" cy="2926080"/>
          </a:xfrm>
          <a:prstGeom prst="ellipse">
            <a:avLst/>
          </a:prstGeom>
          <a:solidFill>
            <a:srgbClr val="FFFFFF">
              <a:alpha val="0"/>
            </a:srgbClr>
          </a:solidFill>
          <a:ln w="15875">
            <a:solidFill>
              <a:srgbClr val="8FB566">
                <a:alpha val="24000"/>
              </a:srgbClr>
            </a:solidFill>
            <a:prstDash val="solid"/>
          </a:ln>
        </p:spPr>
      </p:sp>
      <p:sp>
        <p:nvSpPr>
          <p:cNvPr id="4" name="Shape 2"/>
          <p:cNvSpPr/>
          <p:nvPr/>
        </p:nvSpPr>
        <p:spPr>
          <a:xfrm>
            <a:off x="8595360" y="2743200"/>
            <a:ext cx="4206240" cy="4206240"/>
          </a:xfrm>
          <a:prstGeom prst="ellipse">
            <a:avLst/>
          </a:prstGeom>
          <a:solidFill>
            <a:srgbClr val="FFFFFF">
              <a:alpha val="0"/>
            </a:srgbClr>
          </a:solidFill>
          <a:ln w="15875">
            <a:solidFill>
              <a:srgbClr val="8FB566">
                <a:alpha val="24000"/>
              </a:srgbClr>
            </a:solidFill>
            <a:prstDash val="solid"/>
          </a:ln>
        </p:spPr>
      </p:sp>
      <p:sp>
        <p:nvSpPr>
          <p:cNvPr id="5" name="Shape 3"/>
          <p:cNvSpPr/>
          <p:nvPr/>
        </p:nvSpPr>
        <p:spPr>
          <a:xfrm>
            <a:off x="7955280" y="2103120"/>
            <a:ext cx="5486400" cy="5486400"/>
          </a:xfrm>
          <a:prstGeom prst="ellipse">
            <a:avLst/>
          </a:prstGeom>
          <a:solidFill>
            <a:srgbClr val="FFFFFF">
              <a:alpha val="0"/>
            </a:srgbClr>
          </a:solidFill>
          <a:ln w="15875">
            <a:solidFill>
              <a:srgbClr val="8FB566">
                <a:alpha val="24000"/>
              </a:srgbClr>
            </a:solidFill>
            <a:prstDash val="solid"/>
          </a:ln>
        </p:spPr>
      </p:sp>
      <p:sp>
        <p:nvSpPr>
          <p:cNvPr id="6" name="Shape 4"/>
          <p:cNvSpPr/>
          <p:nvPr/>
        </p:nvSpPr>
        <p:spPr>
          <a:xfrm>
            <a:off x="7315200" y="1463040"/>
            <a:ext cx="6766560" cy="6766560"/>
          </a:xfrm>
          <a:prstGeom prst="ellipse">
            <a:avLst/>
          </a:prstGeom>
          <a:solidFill>
            <a:srgbClr val="FFFFFF">
              <a:alpha val="0"/>
            </a:srgbClr>
          </a:solidFill>
          <a:ln w="15875">
            <a:solidFill>
              <a:srgbClr val="8FB566">
                <a:alpha val="24000"/>
              </a:srgbClr>
            </a:solidFill>
            <a:prstDash val="solid"/>
          </a:ln>
        </p:spPr>
      </p:sp>
      <p:sp>
        <p:nvSpPr>
          <p:cNvPr id="7" name="Text 5"/>
          <p:cNvSpPr txBox="1"/>
          <p:nvPr/>
        </p:nvSpPr>
        <p:spPr>
          <a:xfrm>
            <a:off x="658368" y="749808"/>
            <a:ext cx="4572000" cy="274320"/>
          </a:xfrm>
          <a:prstGeom prst="rect">
            <a:avLst/>
          </a:prstGeom>
          <a:noFill/>
          <a:ln/>
        </p:spPr>
        <p:txBody>
          <a:bodyPr wrap="square" lIns="0" tIns="0" rIns="0" bIns="0" rtlCol="0" anchor="t"/>
          <a:lstStyle/>
          <a:p>
            <a:pPr indent="0" marL="0">
              <a:buNone/>
            </a:pPr>
            <a:r>
              <a:rPr lang="en-US" sz="1150" b="1" spc="150" kern="0" dirty="0">
                <a:solidFill>
                  <a:srgbClr val="8FB566"/>
                </a:solidFill>
                <a:latin typeface="Meiryo" pitchFamily="34" charset="0"/>
                <a:ea typeface="Meiryo" pitchFamily="34" charset="-122"/>
                <a:cs typeface="Meiryo" pitchFamily="34" charset="-120"/>
              </a:rPr>
              <a:t>CONCLUSION</a:t>
            </a:r>
            <a:endParaRPr lang="en-US" sz="1150" dirty="0"/>
          </a:p>
        </p:txBody>
      </p:sp>
      <p:sp>
        <p:nvSpPr>
          <p:cNvPr id="8" name="Text 6"/>
          <p:cNvSpPr txBox="1"/>
          <p:nvPr/>
        </p:nvSpPr>
        <p:spPr>
          <a:xfrm>
            <a:off x="658368" y="1234440"/>
            <a:ext cx="8778240" cy="1554480"/>
          </a:xfrm>
          <a:prstGeom prst="rect">
            <a:avLst/>
          </a:prstGeom>
          <a:noFill/>
          <a:ln/>
        </p:spPr>
        <p:txBody>
          <a:bodyPr wrap="square" lIns="0" tIns="0" rIns="0" bIns="0" rtlCol="0" anchor="t"/>
          <a:lstStyle/>
          <a:p>
            <a:pPr indent="0" marL="0">
              <a:lnSpc>
                <a:spcPts val="4400"/>
              </a:lnSpc>
              <a:buNone/>
            </a:pPr>
            <a:r>
              <a:rPr lang="en-US" sz="2700" b="1" dirty="0">
                <a:solidFill>
                  <a:srgbClr val="FFFFFF"/>
                </a:solidFill>
                <a:latin typeface="Meiryo" pitchFamily="34" charset="0"/>
                <a:ea typeface="Meiryo" pitchFamily="34" charset="-122"/>
                <a:cs typeface="Meiryo" pitchFamily="34" charset="-120"/>
              </a:rPr>
              <a:t>「森を守るためにお金を使う」から、</a:t>
            </a:r>
            <a:endParaRPr lang="en-US" sz="2700" dirty="0"/>
          </a:p>
          <a:p>
            <a:pPr indent="0" marL="0">
              <a:lnSpc>
                <a:spcPts val="4400"/>
              </a:lnSpc>
              <a:buNone/>
            </a:pPr>
            <a:r>
              <a:rPr lang="en-US" sz="2700" b="1" dirty="0">
                <a:solidFill>
                  <a:srgbClr val="FFFFFF"/>
                </a:solidFill>
                <a:latin typeface="Meiryo" pitchFamily="34" charset="0"/>
                <a:ea typeface="Meiryo" pitchFamily="34" charset="-122"/>
                <a:cs typeface="Meiryo" pitchFamily="34" charset="-120"/>
              </a:rPr>
              <a:t>「森から価値を生み、その価値で森を守る」へ。</a:t>
            </a:r>
            <a:endParaRPr lang="en-US" sz="2700" dirty="0"/>
          </a:p>
        </p:txBody>
      </p:sp>
      <p:sp>
        <p:nvSpPr>
          <p:cNvPr id="9" name="Text 7"/>
          <p:cNvSpPr txBox="1"/>
          <p:nvPr/>
        </p:nvSpPr>
        <p:spPr>
          <a:xfrm>
            <a:off x="658368" y="2880360"/>
            <a:ext cx="8229600" cy="731520"/>
          </a:xfrm>
          <a:prstGeom prst="rect">
            <a:avLst/>
          </a:prstGeom>
          <a:noFill/>
          <a:ln/>
        </p:spPr>
        <p:txBody>
          <a:bodyPr wrap="square" lIns="0" tIns="0" rIns="0" bIns="0" rtlCol="0" anchor="t"/>
          <a:lstStyle/>
          <a:p>
            <a:pPr indent="0" marL="0">
              <a:lnSpc>
                <a:spcPts val="2400"/>
              </a:lnSpc>
              <a:buNone/>
            </a:pPr>
            <a:r>
              <a:rPr lang="en-US" sz="1300" dirty="0">
                <a:solidFill>
                  <a:srgbClr val="C7D6BC"/>
                </a:solidFill>
                <a:latin typeface="Meiryo" pitchFamily="34" charset="0"/>
                <a:ea typeface="Meiryo" pitchFamily="34" charset="-122"/>
                <a:cs typeface="Meiryo" pitchFamily="34" charset="-120"/>
              </a:rPr>
              <a:t>既存の「多摩の森」や森林環境譲与税の取り組みを否定せず、それらを次の段階へ発展させる</a:t>
            </a:r>
            <a:endParaRPr lang="en-US" sz="1300" dirty="0"/>
          </a:p>
          <a:p>
            <a:pPr indent="0" marL="0">
              <a:lnSpc>
                <a:spcPts val="2400"/>
              </a:lnSpc>
              <a:buNone/>
            </a:pPr>
            <a:r>
              <a:rPr lang="en-US" sz="1300" dirty="0">
                <a:solidFill>
                  <a:srgbClr val="C7D6BC"/>
                </a:solidFill>
                <a:latin typeface="Meiryo" pitchFamily="34" charset="0"/>
                <a:ea typeface="Meiryo" pitchFamily="34" charset="-122"/>
                <a:cs typeface="Meiryo" pitchFamily="34" charset="-120"/>
              </a:rPr>
              <a:t>企業版ふるさと納税事業として提案する。</a:t>
            </a:r>
            <a:endParaRPr lang="en-US" sz="1300" dirty="0"/>
          </a:p>
        </p:txBody>
      </p:sp>
      <p:sp>
        <p:nvSpPr>
          <p:cNvPr id="10" name="Text 8"/>
          <p:cNvSpPr txBox="1"/>
          <p:nvPr/>
        </p:nvSpPr>
        <p:spPr>
          <a:xfrm>
            <a:off x="658368" y="3886200"/>
            <a:ext cx="4572000" cy="274320"/>
          </a:xfrm>
          <a:prstGeom prst="rect">
            <a:avLst/>
          </a:prstGeom>
          <a:noFill/>
          <a:ln/>
        </p:spPr>
        <p:txBody>
          <a:bodyPr wrap="square" lIns="0" tIns="0" rIns="0" bIns="0" rtlCol="0" anchor="t"/>
          <a:lstStyle/>
          <a:p>
            <a:pPr indent="0" marL="0">
              <a:buNone/>
            </a:pPr>
            <a:r>
              <a:rPr lang="en-US" sz="1300" b="1" dirty="0">
                <a:solidFill>
                  <a:srgbClr val="8FB566"/>
                </a:solidFill>
                <a:latin typeface="Meiryo" pitchFamily="34" charset="0"/>
                <a:ea typeface="Meiryo" pitchFamily="34" charset="-122"/>
                <a:cs typeface="Meiryo" pitchFamily="34" charset="-120"/>
              </a:rPr>
              <a:t>次のアクション</a:t>
            </a:r>
            <a:endParaRPr lang="en-US" sz="1300" dirty="0"/>
          </a:p>
        </p:txBody>
      </p:sp>
      <p:sp>
        <p:nvSpPr>
          <p:cNvPr id="11" name="Shape 9"/>
          <p:cNvSpPr/>
          <p:nvPr/>
        </p:nvSpPr>
        <p:spPr>
          <a:xfrm>
            <a:off x="658368" y="4352544"/>
            <a:ext cx="365760" cy="365760"/>
          </a:xfrm>
          <a:prstGeom prst="ellipse">
            <a:avLst/>
          </a:prstGeom>
          <a:solidFill>
            <a:srgbClr val="C1762C"/>
          </a:solidFill>
          <a:ln/>
        </p:spPr>
      </p:sp>
      <p:sp>
        <p:nvSpPr>
          <p:cNvPr id="12" name="Text 10"/>
          <p:cNvSpPr txBox="1"/>
          <p:nvPr/>
        </p:nvSpPr>
        <p:spPr>
          <a:xfrm>
            <a:off x="658368" y="4352544"/>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01</a:t>
            </a:r>
            <a:endParaRPr lang="en-US" sz="1050" dirty="0"/>
          </a:p>
        </p:txBody>
      </p:sp>
      <p:sp>
        <p:nvSpPr>
          <p:cNvPr id="13" name="Text 11"/>
          <p:cNvSpPr txBox="1"/>
          <p:nvPr/>
        </p:nvSpPr>
        <p:spPr>
          <a:xfrm>
            <a:off x="1225296" y="4315968"/>
            <a:ext cx="7772400" cy="438912"/>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庁内・関係者での構想共有と論点整理</a:t>
            </a:r>
            <a:endParaRPr lang="en-US" sz="1400" dirty="0"/>
          </a:p>
        </p:txBody>
      </p:sp>
      <p:sp>
        <p:nvSpPr>
          <p:cNvPr id="14" name="Shape 12"/>
          <p:cNvSpPr/>
          <p:nvPr/>
        </p:nvSpPr>
        <p:spPr>
          <a:xfrm>
            <a:off x="658368" y="4919472"/>
            <a:ext cx="365760" cy="365760"/>
          </a:xfrm>
          <a:prstGeom prst="ellipse">
            <a:avLst/>
          </a:prstGeom>
          <a:solidFill>
            <a:srgbClr val="C1762C"/>
          </a:solidFill>
          <a:ln/>
        </p:spPr>
      </p:sp>
      <p:sp>
        <p:nvSpPr>
          <p:cNvPr id="15" name="Text 13"/>
          <p:cNvSpPr txBox="1"/>
          <p:nvPr/>
        </p:nvSpPr>
        <p:spPr>
          <a:xfrm>
            <a:off x="658368" y="4919472"/>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02</a:t>
            </a:r>
            <a:endParaRPr lang="en-US" sz="1050" dirty="0"/>
          </a:p>
        </p:txBody>
      </p:sp>
      <p:sp>
        <p:nvSpPr>
          <p:cNvPr id="16" name="Text 14"/>
          <p:cNvSpPr txBox="1"/>
          <p:nvPr/>
        </p:nvSpPr>
        <p:spPr>
          <a:xfrm>
            <a:off x="1225296" y="4882896"/>
            <a:ext cx="7772400" cy="438912"/>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森のカルテを試行するモデル林の設定</a:t>
            </a:r>
            <a:endParaRPr lang="en-US" sz="1400" dirty="0"/>
          </a:p>
        </p:txBody>
      </p:sp>
      <p:sp>
        <p:nvSpPr>
          <p:cNvPr id="17" name="Shape 15"/>
          <p:cNvSpPr/>
          <p:nvPr/>
        </p:nvSpPr>
        <p:spPr>
          <a:xfrm>
            <a:off x="658368" y="5486400"/>
            <a:ext cx="365760" cy="365760"/>
          </a:xfrm>
          <a:prstGeom prst="ellipse">
            <a:avLst/>
          </a:prstGeom>
          <a:solidFill>
            <a:srgbClr val="C1762C"/>
          </a:solidFill>
          <a:ln/>
        </p:spPr>
      </p:sp>
      <p:sp>
        <p:nvSpPr>
          <p:cNvPr id="18" name="Text 16"/>
          <p:cNvSpPr txBox="1"/>
          <p:nvPr/>
        </p:nvSpPr>
        <p:spPr>
          <a:xfrm>
            <a:off x="658368" y="5486400"/>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03</a:t>
            </a:r>
            <a:endParaRPr lang="en-US" sz="1050" dirty="0"/>
          </a:p>
        </p:txBody>
      </p:sp>
      <p:sp>
        <p:nvSpPr>
          <p:cNvPr id="19" name="Text 17"/>
          <p:cNvSpPr txBox="1"/>
          <p:nvPr/>
        </p:nvSpPr>
        <p:spPr>
          <a:xfrm>
            <a:off x="1225296" y="5449824"/>
            <a:ext cx="7772400" cy="438912"/>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寄付・連携候補企業のロングリスト作成と意向打診</a:t>
            </a:r>
            <a:endParaRPr lang="en-US" sz="1400" dirty="0"/>
          </a:p>
        </p:txBody>
      </p:sp>
      <p:sp>
        <p:nvSpPr>
          <p:cNvPr id="20" name="Text 18"/>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21" name="Text 19"/>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65760"/>
            <a:ext cx="10874959" cy="237744"/>
          </a:xfrm>
          <a:prstGeom prst="rect">
            <a:avLst/>
          </a:prstGeom>
          <a:noFill/>
          <a:ln/>
        </p:spPr>
        <p:txBody>
          <a:bodyPr wrap="square" lIns="0" tIns="0" rIns="0" bIns="0" rtlCol="0" anchor="t"/>
          <a:lstStyle/>
          <a:p>
            <a:pPr indent="0" marL="0">
              <a:buNone/>
            </a:pPr>
            <a:r>
              <a:rPr lang="en-US" sz="1150" b="1" spc="150" kern="0" dirty="0">
                <a:solidFill>
                  <a:srgbClr val="5E7F3C"/>
                </a:solidFill>
                <a:latin typeface="Meiryo" pitchFamily="34" charset="0"/>
                <a:ea typeface="Meiryo" pitchFamily="34" charset="-122"/>
                <a:cs typeface="Meiryo" pitchFamily="34" charset="-120"/>
              </a:rPr>
              <a:t>NOTES</a:t>
            </a:r>
            <a:endParaRPr lang="en-US" sz="1150" dirty="0"/>
          </a:p>
        </p:txBody>
      </p:sp>
      <p:sp>
        <p:nvSpPr>
          <p:cNvPr id="3" name="Text 1"/>
          <p:cNvSpPr txBox="1"/>
          <p:nvPr/>
        </p:nvSpPr>
        <p:spPr>
          <a:xfrm>
            <a:off x="658368" y="640080"/>
            <a:ext cx="10874959" cy="621792"/>
          </a:xfrm>
          <a:prstGeom prst="rect">
            <a:avLst/>
          </a:prstGeom>
          <a:noFill/>
          <a:ln/>
        </p:spPr>
        <p:txBody>
          <a:bodyPr wrap="square" lIns="0" tIns="0" rIns="0" bIns="0" rtlCol="0" anchor="t"/>
          <a:lstStyle/>
          <a:p>
            <a:pPr indent="0" marL="0">
              <a:buNone/>
            </a:pPr>
            <a:r>
              <a:rPr lang="en-US" sz="2600" b="1" dirty="0">
                <a:solidFill>
                  <a:srgbClr val="1B3D24"/>
                </a:solidFill>
                <a:latin typeface="Meiryo" pitchFamily="34" charset="0"/>
                <a:ea typeface="Meiryo" pitchFamily="34" charset="-122"/>
                <a:cs typeface="Meiryo" pitchFamily="34" charset="-120"/>
              </a:rPr>
              <a:t>注記・主な参照資料</a:t>
            </a:r>
            <a:endParaRPr lang="en-US" sz="2600" dirty="0"/>
          </a:p>
        </p:txBody>
      </p:sp>
      <p:sp>
        <p:nvSpPr>
          <p:cNvPr id="4" name="Text 2"/>
          <p:cNvSpPr txBox="1"/>
          <p:nvPr/>
        </p:nvSpPr>
        <p:spPr>
          <a:xfrm>
            <a:off x="658368" y="6382512"/>
            <a:ext cx="4572000" cy="237744"/>
          </a:xfrm>
          <a:prstGeom prst="rect">
            <a:avLst/>
          </a:prstGeom>
          <a:noFill/>
          <a:ln/>
        </p:spPr>
        <p:txBody>
          <a:bodyPr wrap="square" lIns="0" tIns="0" rIns="0" bIns="0" rtlCol="0" anchor="t"/>
          <a:lstStyle/>
          <a:p>
            <a:pPr indent="0" marL="0">
              <a:buNone/>
            </a:pPr>
            <a:r>
              <a:rPr lang="en-US" sz="900" dirty="0">
                <a:solidFill>
                  <a:srgbClr val="5F6B64"/>
                </a:solidFill>
                <a:latin typeface="Meiryo" pitchFamily="34" charset="0"/>
                <a:ea typeface="Meiryo" pitchFamily="34" charset="-122"/>
                <a:cs typeface="Meiryo" pitchFamily="34" charset="-120"/>
              </a:rPr>
              <a:t>八王子の森を、地域産業に。</a:t>
            </a:r>
            <a:endParaRPr lang="en-US" sz="900" dirty="0"/>
          </a:p>
        </p:txBody>
      </p:sp>
      <p:sp>
        <p:nvSpPr>
          <p:cNvPr id="5" name="Text 3"/>
          <p:cNvSpPr txBox="1"/>
          <p:nvPr/>
        </p:nvSpPr>
        <p:spPr>
          <a:xfrm>
            <a:off x="10618927" y="6382512"/>
            <a:ext cx="914400" cy="237744"/>
          </a:xfrm>
          <a:prstGeom prst="rect">
            <a:avLst/>
          </a:prstGeom>
          <a:noFill/>
          <a:ln/>
        </p:spPr>
        <p:txBody>
          <a:bodyPr wrap="square" lIns="0" tIns="0" rIns="0" bIns="0" rtlCol="0" anchor="t"/>
          <a:lstStyle/>
          <a:p>
            <a:pPr algn="r" indent="0" marL="0">
              <a:buNone/>
            </a:pPr>
            <a:r>
              <a:rPr lang="en-US" sz="900" dirty="0">
                <a:solidFill>
                  <a:srgbClr val="5F6B64"/>
                </a:solidFill>
                <a:latin typeface="Meiryo" pitchFamily="34" charset="0"/>
                <a:ea typeface="Meiryo" pitchFamily="34" charset="-122"/>
                <a:cs typeface="Meiryo" pitchFamily="34" charset="-120"/>
              </a:rPr>
              <a:t>31</a:t>
            </a:r>
            <a:endParaRPr lang="en-US" sz="900" dirty="0"/>
          </a:p>
        </p:txBody>
      </p:sp>
      <p:sp>
        <p:nvSpPr>
          <p:cNvPr id="6" name="Shape 4"/>
          <p:cNvSpPr/>
          <p:nvPr/>
        </p:nvSpPr>
        <p:spPr>
          <a:xfrm>
            <a:off x="658368" y="1691640"/>
            <a:ext cx="10874959" cy="1371600"/>
          </a:xfrm>
          <a:prstGeom prst="roundRect">
            <a:avLst>
              <a:gd name="adj" fmla="val 6000"/>
            </a:avLst>
          </a:prstGeom>
          <a:solidFill>
            <a:srgbClr val="FAEEDF"/>
          </a:solidFill>
          <a:ln/>
        </p:spPr>
      </p:sp>
      <p:sp>
        <p:nvSpPr>
          <p:cNvPr id="7" name="Text 5"/>
          <p:cNvSpPr txBox="1"/>
          <p:nvPr/>
        </p:nvSpPr>
        <p:spPr>
          <a:xfrm>
            <a:off x="1024128" y="1901952"/>
            <a:ext cx="4572000" cy="256032"/>
          </a:xfrm>
          <a:prstGeom prst="rect">
            <a:avLst/>
          </a:prstGeom>
          <a:noFill/>
          <a:ln/>
        </p:spPr>
        <p:txBody>
          <a:bodyPr wrap="square" lIns="0" tIns="0" rIns="0" bIns="0" rtlCol="0" anchor="t"/>
          <a:lstStyle/>
          <a:p>
            <a:pPr indent="0" marL="0">
              <a:buNone/>
            </a:pPr>
            <a:r>
              <a:rPr lang="en-US" sz="1150" b="1" dirty="0">
                <a:solidFill>
                  <a:srgbClr val="C1762C"/>
                </a:solidFill>
                <a:latin typeface="Meiryo" pitchFamily="34" charset="0"/>
                <a:ea typeface="Meiryo" pitchFamily="34" charset="-122"/>
                <a:cs typeface="Meiryo" pitchFamily="34" charset="-120"/>
              </a:rPr>
              <a:t>本資料の位置づけ</a:t>
            </a:r>
            <a:endParaRPr lang="en-US" sz="1150" dirty="0"/>
          </a:p>
        </p:txBody>
      </p:sp>
      <p:sp>
        <p:nvSpPr>
          <p:cNvPr id="8" name="Text 6"/>
          <p:cNvSpPr txBox="1"/>
          <p:nvPr/>
        </p:nvSpPr>
        <p:spPr>
          <a:xfrm>
            <a:off x="1024128" y="2231136"/>
            <a:ext cx="10143439" cy="685800"/>
          </a:xfrm>
          <a:prstGeom prst="rect">
            <a:avLst/>
          </a:prstGeom>
          <a:noFill/>
          <a:ln/>
        </p:spPr>
        <p:txBody>
          <a:bodyPr wrap="square" lIns="0" tIns="0" rIns="0" bIns="0" rtlCol="0" anchor="t"/>
          <a:lstStyle/>
          <a:p>
            <a:pPr indent="0" marL="0">
              <a:lnSpc>
                <a:spcPts val="1800"/>
              </a:lnSpc>
              <a:buNone/>
            </a:pPr>
            <a:r>
              <a:rPr lang="en-US" sz="1150" dirty="0">
                <a:solidFill>
                  <a:srgbClr val="23302A"/>
                </a:solidFill>
                <a:latin typeface="Meiryo" pitchFamily="34" charset="0"/>
                <a:ea typeface="Meiryo" pitchFamily="34" charset="-122"/>
                <a:cs typeface="Meiryo" pitchFamily="34" charset="-120"/>
              </a:rPr>
              <a:t>本資料の施策・ロードマップ・KPIは検討用の案であり、確定した事業計画ではない。記載した数値・事実関係は八王子市および東京都の公表資料に基づく整理であり、提案化にあたっては最新資料での最終確認を行う。</a:t>
            </a:r>
            <a:endParaRPr lang="en-US" sz="1150" dirty="0"/>
          </a:p>
        </p:txBody>
      </p:sp>
      <p:sp>
        <p:nvSpPr>
          <p:cNvPr id="9" name="Text 7"/>
          <p:cNvSpPr txBox="1"/>
          <p:nvPr/>
        </p:nvSpPr>
        <p:spPr>
          <a:xfrm>
            <a:off x="658368" y="3310128"/>
            <a:ext cx="4572000" cy="274320"/>
          </a:xfrm>
          <a:prstGeom prst="rect">
            <a:avLst/>
          </a:prstGeom>
          <a:noFill/>
          <a:ln/>
        </p:spPr>
        <p:txBody>
          <a:bodyPr wrap="square" lIns="0" tIns="0" rIns="0" bIns="0" rtlCol="0" anchor="t"/>
          <a:lstStyle/>
          <a:p>
            <a:pPr indent="0" marL="0">
              <a:buNone/>
            </a:pPr>
            <a:r>
              <a:rPr lang="en-US" sz="1400" b="1" dirty="0">
                <a:solidFill>
                  <a:srgbClr val="1B3D24"/>
                </a:solidFill>
                <a:latin typeface="Meiryo" pitchFamily="34" charset="0"/>
                <a:ea typeface="Meiryo" pitchFamily="34" charset="-122"/>
                <a:cs typeface="Meiryo" pitchFamily="34" charset="-120"/>
              </a:rPr>
              <a:t>主な参照資料</a:t>
            </a:r>
            <a:endParaRPr lang="en-US" sz="1400" dirty="0"/>
          </a:p>
        </p:txBody>
      </p:sp>
      <p:sp>
        <p:nvSpPr>
          <p:cNvPr id="10" name="Shape 8"/>
          <p:cNvSpPr/>
          <p:nvPr/>
        </p:nvSpPr>
        <p:spPr>
          <a:xfrm>
            <a:off x="658368" y="3703320"/>
            <a:ext cx="5294376" cy="1965960"/>
          </a:xfrm>
          <a:prstGeom prst="roundRect">
            <a:avLst>
              <a:gd name="adj" fmla="val 4186"/>
            </a:avLst>
          </a:prstGeom>
          <a:solidFill>
            <a:srgbClr val="F4F6F1"/>
          </a:solidFill>
          <a:ln w="12700">
            <a:solidFill>
              <a:srgbClr val="DCE3D8"/>
            </a:solidFill>
            <a:prstDash val="solid"/>
          </a:ln>
        </p:spPr>
      </p:sp>
      <p:sp>
        <p:nvSpPr>
          <p:cNvPr id="11" name="Text 9"/>
          <p:cNvSpPr txBox="1"/>
          <p:nvPr/>
        </p:nvSpPr>
        <p:spPr>
          <a:xfrm>
            <a:off x="978408" y="3913632"/>
            <a:ext cx="4572000" cy="256032"/>
          </a:xfrm>
          <a:prstGeom prst="rect">
            <a:avLst/>
          </a:prstGeom>
          <a:noFill/>
          <a:ln/>
        </p:spPr>
        <p:txBody>
          <a:bodyPr wrap="square" lIns="0" tIns="0" rIns="0" bIns="0" rtlCol="0" anchor="t"/>
          <a:lstStyle/>
          <a:p>
            <a:pPr indent="0" marL="0">
              <a:buNone/>
            </a:pPr>
            <a:r>
              <a:rPr lang="en-US" sz="1200" b="1" dirty="0">
                <a:solidFill>
                  <a:srgbClr val="5E7F3C"/>
                </a:solidFill>
                <a:latin typeface="Meiryo" pitchFamily="34" charset="0"/>
                <a:ea typeface="Meiryo" pitchFamily="34" charset="-122"/>
                <a:cs typeface="Meiryo" pitchFamily="34" charset="-120"/>
              </a:rPr>
              <a:t>八王子市</a:t>
            </a:r>
            <a:endParaRPr lang="en-US" sz="1200" dirty="0"/>
          </a:p>
        </p:txBody>
      </p:sp>
      <p:sp>
        <p:nvSpPr>
          <p:cNvPr id="12" name="Text 10"/>
          <p:cNvSpPr txBox="1"/>
          <p:nvPr/>
        </p:nvSpPr>
        <p:spPr>
          <a:xfrm>
            <a:off x="978408" y="4261104"/>
            <a:ext cx="4663440" cy="128016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050" dirty="0">
                <a:solidFill>
                  <a:srgbClr val="23302A"/>
                </a:solidFill>
                <a:latin typeface="Meiryo" pitchFamily="34" charset="0"/>
                <a:ea typeface="Meiryo" pitchFamily="34" charset="-122"/>
                <a:cs typeface="Meiryo" pitchFamily="34" charset="-120"/>
              </a:rPr>
              <a:t>森林整備計画</a:t>
            </a:r>
            <a:endParaRPr lang="en-US" sz="1050" dirty="0"/>
          </a:p>
          <a:p>
            <a:pPr marL="342900" indent="-342900">
              <a:lnSpc>
                <a:spcPts val="1600"/>
              </a:lnSpc>
              <a:spcAft>
                <a:spcPts val="700"/>
              </a:spcAft>
              <a:buSzPct val="100000"/>
              <a:buChar char="▪"/>
            </a:pPr>
            <a:r>
              <a:rPr lang="en-US" sz="1050" dirty="0">
                <a:solidFill>
                  <a:srgbClr val="23302A"/>
                </a:solidFill>
                <a:latin typeface="Meiryo" pitchFamily="34" charset="0"/>
                <a:ea typeface="Meiryo" pitchFamily="34" charset="-122"/>
                <a:cs typeface="Meiryo" pitchFamily="34" charset="-120"/>
              </a:rPr>
              <a:t>森林環境譲与税関連資料</a:t>
            </a:r>
            <a:endParaRPr lang="en-US" sz="1050" dirty="0"/>
          </a:p>
          <a:p>
            <a:pPr marL="342900" indent="-342900">
              <a:lnSpc>
                <a:spcPts val="1600"/>
              </a:lnSpc>
              <a:spcAft>
                <a:spcPts val="700"/>
              </a:spcAft>
              <a:buSzPct val="100000"/>
              <a:buChar char="▪"/>
            </a:pPr>
            <a:r>
              <a:rPr lang="en-US" sz="1050" dirty="0">
                <a:solidFill>
                  <a:srgbClr val="23302A"/>
                </a:solidFill>
                <a:latin typeface="Meiryo" pitchFamily="34" charset="0"/>
                <a:ea typeface="Meiryo" pitchFamily="34" charset="-122"/>
                <a:cs typeface="Meiryo" pitchFamily="34" charset="-120"/>
              </a:rPr>
              <a:t>2026年度予算（森林環境施策）</a:t>
            </a:r>
            <a:endParaRPr lang="en-US" sz="1050" dirty="0"/>
          </a:p>
          <a:p>
            <a:pPr marL="342900" indent="-342900">
              <a:lnSpc>
                <a:spcPts val="1600"/>
              </a:lnSpc>
              <a:spcAft>
                <a:spcPts val="700"/>
              </a:spcAft>
              <a:buSzPct val="100000"/>
              <a:buChar char="▪"/>
            </a:pPr>
            <a:r>
              <a:rPr lang="en-US" sz="1050" dirty="0">
                <a:solidFill>
                  <a:srgbClr val="23302A"/>
                </a:solidFill>
                <a:latin typeface="Meiryo" pitchFamily="34" charset="0"/>
                <a:ea typeface="Meiryo" pitchFamily="34" charset="-122"/>
                <a:cs typeface="Meiryo" pitchFamily="34" charset="-120"/>
              </a:rPr>
              <a:t>公共建築物等における多摩産材利用推進方針</a:t>
            </a:r>
            <a:endParaRPr lang="en-US" sz="1050" dirty="0"/>
          </a:p>
          <a:p>
            <a:pPr marL="342900" indent="-342900">
              <a:lnSpc>
                <a:spcPts val="1600"/>
              </a:lnSpc>
              <a:spcAft>
                <a:spcPts val="700"/>
              </a:spcAft>
              <a:buSzPct val="100000"/>
              <a:buChar char="▪"/>
            </a:pPr>
            <a:r>
              <a:rPr lang="en-US" sz="1050" dirty="0">
                <a:solidFill>
                  <a:srgbClr val="23302A"/>
                </a:solidFill>
                <a:latin typeface="Meiryo" pitchFamily="34" charset="0"/>
                <a:ea typeface="Meiryo" pitchFamily="34" charset="-122"/>
                <a:cs typeface="Meiryo" pitchFamily="34" charset="-120"/>
              </a:rPr>
              <a:t>はち★ベビギフト</a:t>
            </a:r>
            <a:endParaRPr lang="en-US" sz="1050" dirty="0"/>
          </a:p>
        </p:txBody>
      </p:sp>
      <p:sp>
        <p:nvSpPr>
          <p:cNvPr id="13" name="Shape 11"/>
          <p:cNvSpPr/>
          <p:nvPr/>
        </p:nvSpPr>
        <p:spPr>
          <a:xfrm>
            <a:off x="6245352" y="3703320"/>
            <a:ext cx="5294376" cy="1965960"/>
          </a:xfrm>
          <a:prstGeom prst="roundRect">
            <a:avLst>
              <a:gd name="adj" fmla="val 4186"/>
            </a:avLst>
          </a:prstGeom>
          <a:solidFill>
            <a:srgbClr val="F4F6F1"/>
          </a:solidFill>
          <a:ln w="12700">
            <a:solidFill>
              <a:srgbClr val="DCE3D8"/>
            </a:solidFill>
            <a:prstDash val="solid"/>
          </a:ln>
        </p:spPr>
      </p:sp>
      <p:sp>
        <p:nvSpPr>
          <p:cNvPr id="14" name="Text 12"/>
          <p:cNvSpPr txBox="1"/>
          <p:nvPr/>
        </p:nvSpPr>
        <p:spPr>
          <a:xfrm>
            <a:off x="6565392" y="3913632"/>
            <a:ext cx="4572000" cy="256032"/>
          </a:xfrm>
          <a:prstGeom prst="rect">
            <a:avLst/>
          </a:prstGeom>
          <a:noFill/>
          <a:ln/>
        </p:spPr>
        <p:txBody>
          <a:bodyPr wrap="square" lIns="0" tIns="0" rIns="0" bIns="0" rtlCol="0" anchor="t"/>
          <a:lstStyle/>
          <a:p>
            <a:pPr indent="0" marL="0">
              <a:buNone/>
            </a:pPr>
            <a:r>
              <a:rPr lang="en-US" sz="1200" b="1" dirty="0">
                <a:solidFill>
                  <a:srgbClr val="5E7F3C"/>
                </a:solidFill>
                <a:latin typeface="Meiryo" pitchFamily="34" charset="0"/>
                <a:ea typeface="Meiryo" pitchFamily="34" charset="-122"/>
                <a:cs typeface="Meiryo" pitchFamily="34" charset="-120"/>
              </a:rPr>
              <a:t>東京都・国</a:t>
            </a:r>
            <a:endParaRPr lang="en-US" sz="1200" dirty="0"/>
          </a:p>
        </p:txBody>
      </p:sp>
      <p:sp>
        <p:nvSpPr>
          <p:cNvPr id="15" name="Text 13"/>
          <p:cNvSpPr txBox="1"/>
          <p:nvPr/>
        </p:nvSpPr>
        <p:spPr>
          <a:xfrm>
            <a:off x="6565392" y="4261104"/>
            <a:ext cx="4663440" cy="128016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050" dirty="0">
                <a:solidFill>
                  <a:srgbClr val="23302A"/>
                </a:solidFill>
                <a:latin typeface="Meiryo" pitchFamily="34" charset="0"/>
                <a:ea typeface="Meiryo" pitchFamily="34" charset="-122"/>
                <a:cs typeface="Meiryo" pitchFamily="34" charset="-120"/>
              </a:rPr>
              <a:t>「多摩の森」活性化プロジェクト</a:t>
            </a:r>
            <a:endParaRPr lang="en-US" sz="1050" dirty="0"/>
          </a:p>
          <a:p>
            <a:pPr marL="342900" indent="-342900">
              <a:lnSpc>
                <a:spcPts val="1600"/>
              </a:lnSpc>
              <a:spcAft>
                <a:spcPts val="700"/>
              </a:spcAft>
              <a:buSzPct val="100000"/>
              <a:buChar char="▪"/>
            </a:pPr>
            <a:r>
              <a:rPr lang="en-US" sz="1050" dirty="0">
                <a:solidFill>
                  <a:srgbClr val="23302A"/>
                </a:solidFill>
                <a:latin typeface="Meiryo" pitchFamily="34" charset="0"/>
                <a:ea typeface="Meiryo" pitchFamily="34" charset="-122"/>
                <a:cs typeface="Meiryo" pitchFamily="34" charset="-120"/>
              </a:rPr>
              <a:t>多摩産材の利用促進に関する施策</a:t>
            </a:r>
            <a:endParaRPr lang="en-US" sz="1050" dirty="0"/>
          </a:p>
          <a:p>
            <a:pPr marL="342900" indent="-342900">
              <a:lnSpc>
                <a:spcPts val="1600"/>
              </a:lnSpc>
              <a:spcAft>
                <a:spcPts val="700"/>
              </a:spcAft>
              <a:buSzPct val="100000"/>
              <a:buChar char="▪"/>
            </a:pPr>
            <a:r>
              <a:rPr lang="en-US" sz="1050" dirty="0">
                <a:solidFill>
                  <a:srgbClr val="23302A"/>
                </a:solidFill>
                <a:latin typeface="Meiryo" pitchFamily="34" charset="0"/>
                <a:ea typeface="Meiryo" pitchFamily="34" charset="-122"/>
                <a:cs typeface="Meiryo" pitchFamily="34" charset="-120"/>
              </a:rPr>
              <a:t>内閣府「企業版ふるさと納税ポータルサイト」</a:t>
            </a:r>
            <a:endParaRPr lang="en-US" sz="1050" dirty="0"/>
          </a:p>
          <a:p>
            <a:pPr marL="342900" indent="-342900">
              <a:lnSpc>
                <a:spcPts val="1600"/>
              </a:lnSpc>
              <a:spcAft>
                <a:spcPts val="700"/>
              </a:spcAft>
              <a:buSzPct val="100000"/>
              <a:buChar char="▪"/>
            </a:pPr>
            <a:r>
              <a:rPr lang="en-US" sz="1050" dirty="0">
                <a:solidFill>
                  <a:srgbClr val="23302A"/>
                </a:solidFill>
                <a:latin typeface="Meiryo" pitchFamily="34" charset="0"/>
                <a:ea typeface="Meiryo" pitchFamily="34" charset="-122"/>
                <a:cs typeface="Meiryo" pitchFamily="34" charset="-120"/>
              </a:rPr>
              <a:t>J-クレジット制度（森林分野）</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八王子の森を、地域産業に。</dc:title>
  <dc:subject>PptxGenJS Presentation</dc:subject>
  <dc:creator>株式会社森未来</dc:creator>
  <cp:lastModifiedBy>株式会社森未来</cp:lastModifiedBy>
  <cp:revision>1</cp:revision>
  <dcterms:created xsi:type="dcterms:W3CDTF">2026-09-02T14:51:05Z</dcterms:created>
  <dcterms:modified xsi:type="dcterms:W3CDTF">2026-09-02T14:51:05Z</dcterms:modified>
</cp:coreProperties>
</file>