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現状と方針" id="{31894f31-7df7-5231-99bb-d9d702d2ed35}">
          <p14:sldIdLst>
            <p14:sldId id="256"/>
            <p14:sldId id="257"/>
            <p14:sldId id="258"/>
            <p14:sldId id="259"/>
          </p14:sldIdLst>
        </p14:section>
        <p14:section name="実行計画" id="{53e592d5-92ac-6024-cc98-fbffe5a01295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補強と管理" id="{c749cfb0-10b1-4118-2f39-322d04222fae}">
          <p14:sldIdLst>
            <p14:sldId id="267"/>
            <p14:sldId id="268"/>
            <p14:sldId id="269"/>
            <p14:sldId id="270"/>
          </p14:sldIdLst>
        </p14:section>
        <p14:section name="次アクション" id="{45225ad3-e5e4-1ec6-68cd-1d03a8af566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予算と玉・着地見通し（千円）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金額（千円）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予算</c:v>
                  </c:pt>
                  <c:pt idx="1">
                    <c:v>総玉</c:v>
                  </c:pt>
                  <c:pt idx="2">
                    <c:v>AB玉</c:v>
                  </c:pt>
                  <c:pt idx="3">
                    <c:v>着地見通し（下限）</c:v>
                  </c:pt>
                  <c:pt idx="4">
                    <c:v>着地見通し（上限）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479138</c:v>
                </c:pt>
                <c:pt idx="1">
                  <c:v>381434</c:v>
                </c:pt>
                <c:pt idx="2">
                  <c:v>156745</c:v>
                </c:pt>
                <c:pt idx="3">
                  <c:v>262750</c:v>
                </c:pt>
                <c:pt idx="4">
                  <c:v>299627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00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きっかけ別の成約率（直近2年・593件）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成約率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営業G（新規）</c:v>
                  </c:pt>
                  <c:pt idx="1">
                    <c:v>取引先リピート</c:v>
                  </c:pt>
                  <c:pt idx="2">
                    <c:v>営業G（リピート）</c:v>
                  </c:pt>
                  <c:pt idx="3">
                    <c:v>eTREE</c:v>
                  </c:pt>
                  <c:pt idx="4">
                    <c:v>商談前営業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41.8</c:v>
                </c:pt>
                <c:pt idx="2">
                  <c:v>41.1</c:v>
                </c:pt>
                <c:pt idx="3">
                  <c:v>15.7</c:v>
                </c:pt>
                <c:pt idx="4">
                  <c:v>10.3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前回提示した3層モデルは順番が今期向きではなかった。組織の立て直しを先頭に置き直した版です。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は Phase 1 と並行。順番ではなく同時に走らせる。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数値は9/1営業会議と9/11のSF出力。営業3分類＝木材コーディネート＋TREEBATON／OEM／建築。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来期の仕込みを売上で評価しないと最初に決めておく。出るはずのない時期に売上で測ると施策が死ぬ。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と Phase 2 は並行。Phase 3 は来期の売上に乗る前提で仕込みだけ始める。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金額未入力と3月集中は、新規営業ゼロで今期の数字に効く。最優先。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エグゼにコンテンツ作成や仕組みづくりをさせない。素材は現場から、形にするのはマネージャー。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最初から高い目標を置かない。2週間の実測を取ってから基準を決める。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商談前営業は成約率10.3%・CD玉1,290千円（全体の0.7%）。今期の数字には効かないので、Phase 1の主力には置かない。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3商品ずつ回す。1サイクルを1ヶ月で区切って、反応率を比較する。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前回の失敗はDMという手段が悪いのではなく、リストと訴求と導線が揃っていなかった可能性が高い。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6番は仕組みの話。これを先に合意しておかないと、Phase 2・3が「効果が出ない」と判断されて止まる。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ここは経営に対しても正直に出す。規格商品で2.6億を埋める絵を描くと、後で必ず破綻する。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施策が死ぬのは、出るはずのない時期に売上で評価されるとき。評価軸を先に決めておく。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左がリスク、右が対応。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この3点を会議で決めて終わる。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1153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9115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7E4C8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森未来 営業部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E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8F"/>
                </a:solidFill>
              </a:rPr>
              <a:t>森未来 営業部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営業部 立て直し計画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E4C8"/>
                </a:solidFill>
              </a:rPr>
              <a:t>今期の着地に効く順番で打つ　／　2026年10月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D6AE"/>
                </a:solidFill>
              </a:rPr>
              <a:t>Phase 0 組織の立て直し　→　Phase 1 アカウント別アプローチ　→　Phase 2 規格商品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結論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</a:rPr>
              <a:t>今期の売上を作るのは、新規開拓ではなく「落とす力」と「既存の掘り起こし」</a:t>
            </a:r>
            <a:endParaRPr lang="en-US" sz="1700" dirty="0"/>
          </a:p>
        </p:txBody>
      </p:sp>
      <p:sp>
        <p:nvSpPr>
          <p:cNvPr id="4" name="step0"/>
          <p:cNvSpPr/>
          <p:nvPr/>
        </p:nvSpPr>
        <p:spPr>
          <a:xfrm>
            <a:off x="640080" y="1828800"/>
            <a:ext cx="10911535" cy="1234440"/>
          </a:xfrm>
          <a:prstGeom prst="roundRect">
            <a:avLst>
              <a:gd name="adj" fmla="val 4444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5" name="num0"/>
          <p:cNvSpPr/>
          <p:nvPr/>
        </p:nvSpPr>
        <p:spPr>
          <a:xfrm>
            <a:off x="896112" y="2066544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66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1F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最初の2〜3週間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3113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組織の立て直し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7860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CC0"/>
                </a:solidFill>
              </a:rPr>
              <a:t>エグゼ・ディレクターの業務効率化と、提案数の管理を先に立てる。ここが詰まったまま玉を増やしても落ちない。</a:t>
            </a:r>
            <a:endParaRPr lang="en-US" sz="1200" dirty="0"/>
          </a:p>
        </p:txBody>
      </p:sp>
      <p:sp>
        <p:nvSpPr>
          <p:cNvPr id="10" name="step1"/>
          <p:cNvSpPr/>
          <p:nvPr/>
        </p:nvSpPr>
        <p:spPr>
          <a:xfrm>
            <a:off x="640080" y="3200400"/>
            <a:ext cx="10911535" cy="1234440"/>
          </a:xfrm>
          <a:prstGeom prst="roundRect">
            <a:avLst>
              <a:gd name="adj" fmla="val 4444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896112" y="3438144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34381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1F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55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11月〜1月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0273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企業別分析とアカウント別アプローチ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95020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CC0"/>
                </a:solidFill>
              </a:rPr>
              <a:t>リピート系の成約率は41%台で最も確実。誰がどこへ行くかを決め、放置アカウントを起こす。</a:t>
            </a:r>
            <a:endParaRPr lang="en-US" sz="1200" dirty="0"/>
          </a:p>
        </p:txBody>
      </p:sp>
      <p:sp>
        <p:nvSpPr>
          <p:cNvPr id="16" name="step2"/>
          <p:cNvSpPr/>
          <p:nvPr/>
        </p:nvSpPr>
        <p:spPr>
          <a:xfrm>
            <a:off x="640080" y="4572000"/>
            <a:ext cx="10911535" cy="1234440"/>
          </a:xfrm>
          <a:prstGeom prst="roundRect">
            <a:avLst>
              <a:gd name="adj" fmla="val 4444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17" name="num2"/>
          <p:cNvSpPr/>
          <p:nvPr/>
        </p:nvSpPr>
        <p:spPr>
          <a:xfrm>
            <a:off x="896112" y="4809744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809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D1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27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11月〜（並行）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97433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ニッチ商品のDM＋eTREE掲載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32180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CC0"/>
                </a:solidFill>
              </a:rPr>
              <a:t>大手商社・有名メーカーが扱わない領域。リードタイムが短く、今期に乗る唯一の新規ライン。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現在地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下期のAB玉比率が16.1%。上期の73.3%から落ちている</a:t>
            </a:r>
            <a:endParaRPr lang="en-US" sz="1500" dirty="0"/>
          </a:p>
        </p:txBody>
      </p:sp>
      <p:sp>
        <p:nvSpPr>
          <p:cNvPr id="4" name="stat-今期予算（営業3分類・千円）"/>
          <p:cNvSpPr/>
          <p:nvPr/>
        </p:nvSpPr>
        <p:spPr>
          <a:xfrm>
            <a:off x="640080" y="1664208"/>
            <a:ext cx="2625014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47088"/>
            <a:ext cx="2259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</a:rPr>
              <a:t>479,138</a:t>
            </a:r>
            <a:pPr algn="l" indent="0" marL="0">
              <a:buNone/>
            </a:pP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2592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今期予算（営業3分類・千円）</a:t>
            </a:r>
            <a:endParaRPr lang="en-US" sz="1100" dirty="0"/>
          </a:p>
        </p:txBody>
      </p:sp>
      <p:sp>
        <p:nvSpPr>
          <p:cNvPr id="7" name="stat-総玉（9/11時点・千円）"/>
          <p:cNvSpPr/>
          <p:nvPr/>
        </p:nvSpPr>
        <p:spPr>
          <a:xfrm>
            <a:off x="3402254" y="1664208"/>
            <a:ext cx="2625014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1847088"/>
            <a:ext cx="2259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</a:rPr>
              <a:t>381,434</a:t>
            </a:r>
            <a:pPr algn="l" indent="0" marL="0">
              <a:buNone/>
            </a:pP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85134" y="2468880"/>
            <a:ext cx="22592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総玉（9/11時点・千円）</a:t>
            </a:r>
            <a:endParaRPr lang="en-US" sz="1100" dirty="0"/>
          </a:p>
        </p:txBody>
      </p:sp>
      <p:sp>
        <p:nvSpPr>
          <p:cNvPr id="10" name="stat-AB玉（千円）　総玉比 32.7%"/>
          <p:cNvSpPr/>
          <p:nvPr/>
        </p:nvSpPr>
        <p:spPr>
          <a:xfrm>
            <a:off x="6164428" y="1664208"/>
            <a:ext cx="2625014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7308" y="1847088"/>
            <a:ext cx="2259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7941"/>
                </a:solidFill>
              </a:rPr>
              <a:t>156,745</a:t>
            </a:r>
            <a:pPr algn="l" indent="0" marL="0">
              <a:buNone/>
            </a:pP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47308" y="2468880"/>
            <a:ext cx="22592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AB玉（千円）　総玉比 32.7%</a:t>
            </a:r>
            <a:endParaRPr lang="en-US" sz="1100" dirty="0"/>
          </a:p>
        </p:txBody>
      </p:sp>
      <p:sp>
        <p:nvSpPr>
          <p:cNvPr id="13" name="stat-下期のAB玉比率（上期 73.3%）"/>
          <p:cNvSpPr/>
          <p:nvPr/>
        </p:nvSpPr>
        <p:spPr>
          <a:xfrm>
            <a:off x="8926601" y="1664208"/>
            <a:ext cx="2625014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09481" y="1847088"/>
            <a:ext cx="22592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04A3C"/>
                </a:solidFill>
              </a:rPr>
              <a:t>16.1</a:t>
            </a:r>
            <a:pPr algn="l" indent="0" marL="0">
              <a:buNone/>
            </a:pPr>
            <a:r>
              <a:rPr lang="en-US" sz="1300" b="1" dirty="0">
                <a:solidFill>
                  <a:srgbClr val="B04A3C"/>
                </a:solidFill>
              </a:rPr>
              <a:t> 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09481" y="2468880"/>
            <a:ext cx="22592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下期のAB玉比率（上期 73.3%）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246120"/>
          <a:ext cx="6858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note"/>
          <p:cNvSpPr/>
          <p:nvPr/>
        </p:nvSpPr>
        <p:spPr>
          <a:xfrm>
            <a:off x="7772400" y="3246120"/>
            <a:ext cx="3779215" cy="2926080"/>
          </a:xfrm>
          <a:prstGeom prst="roundRect">
            <a:avLst>
              <a:gd name="adj" fmla="val 1875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着地見通しの前提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3794760"/>
            <a:ext cx="34134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CD玉 224,689千円 からの転換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成約率 37.3%（下限）〜 57.4%（上限）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着地率 54.8% 〜 62.5%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不足 179,511 〜 216,388千円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なぜ順番を変えるか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リードタイムから逆算すると、いま起こす新規の多くは今期に乗らない</a:t>
            </a:r>
            <a:endParaRPr lang="en-US" sz="1500" dirty="0"/>
          </a:p>
        </p:txBody>
      </p:sp>
      <p:sp>
        <p:nvSpPr>
          <p:cNvPr id="4" name="lt0"/>
          <p:cNvSpPr/>
          <p:nvPr/>
        </p:nvSpPr>
        <p:spPr>
          <a:xfrm>
            <a:off x="640080" y="1691640"/>
            <a:ext cx="3484778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3082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4A3C"/>
                </a:solidFill>
              </a:rPr>
              <a:t>130日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42032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高単価案件の商談日数 中央値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4495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04A3C"/>
                </a:solidFill>
              </a:rPr>
              <a:t>今期成約のデッドラインは 11月末</a:t>
            </a:r>
            <a:endParaRPr lang="en-US" sz="1200" dirty="0"/>
          </a:p>
        </p:txBody>
      </p:sp>
      <p:sp>
        <p:nvSpPr>
          <p:cNvPr id="8" name="lt1"/>
          <p:cNvSpPr/>
          <p:nvPr/>
        </p:nvSpPr>
        <p:spPr>
          <a:xfrm>
            <a:off x="4353458" y="1691640"/>
            <a:ext cx="3484778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4626" y="1828800"/>
            <a:ext cx="3082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23日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554626" y="2542032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通常案件の商談日数 中央値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54626" y="304495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</a:rPr>
              <a:t>規格商品なら今期に乗る</a:t>
            </a:r>
            <a:endParaRPr lang="en-US" sz="1200" dirty="0"/>
          </a:p>
        </p:txBody>
      </p:sp>
      <p:sp>
        <p:nvSpPr>
          <p:cNvPr id="12" name="lt2"/>
          <p:cNvSpPr/>
          <p:nvPr/>
        </p:nvSpPr>
        <p:spPr>
          <a:xfrm>
            <a:off x="8066837" y="1691640"/>
            <a:ext cx="3484778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8005" y="1828800"/>
            <a:ext cx="3082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7941"/>
                </a:solidFill>
              </a:rPr>
              <a:t>24%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68005" y="2542032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高単価25件が金額の 77% を占める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68005" y="3044952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7941"/>
                </a:solidFill>
              </a:rPr>
              <a:t>単価の高い玉を落としきることが最優先</a:t>
            </a:r>
            <a:endParaRPr lang="en-US" sz="1200" dirty="0"/>
          </a:p>
        </p:txBody>
      </p:sp>
      <p:sp>
        <p:nvSpPr>
          <p:cNvPr id="16" name="box"/>
          <p:cNvSpPr/>
          <p:nvPr/>
        </p:nvSpPr>
        <p:spPr>
          <a:xfrm>
            <a:off x="640080" y="3749040"/>
            <a:ext cx="10911535" cy="2240280"/>
          </a:xfrm>
          <a:prstGeom prst="roundRect">
            <a:avLst>
              <a:gd name="adj" fmla="val 2449"/>
            </a:avLst>
          </a:prstGeom>
          <a:solidFill>
            <a:srgbClr val="FBF2E9"/>
          </a:solidFill>
          <a:ln w="12700">
            <a:solidFill>
              <a:srgbClr val="EBD9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9319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41"/>
                </a:solidFill>
              </a:rPr>
              <a:t>したがって、打ち手を2つに分けて管理する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343400"/>
          <a:ext cx="103628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114800"/>
                <a:gridCol w="3291840"/>
                <a:gridCol w="1856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打ち手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評価指標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効果が出る時期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今期に乗る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保有玉の消化・既存掘り起こし・規格商品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商談数／成約金額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11月〜3月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来期の仕込み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新規開拓・相談される仕組みづくり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接触社数／相談件数（売上では見ない）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来期以降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全体ロードマップ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Phase 0 を済ませないと Phase 1・2 を回す余力が出ない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691640"/>
            <a:ext cx="117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</a:rPr>
              <a:t>10月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471808" y="1691640"/>
            <a:ext cx="117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</a:rPr>
              <a:t>11月</a:t>
            </a:r>
            <a:endParaRPr lang="en-US" sz="1100" dirty="0"/>
          </a:p>
        </p:txBody>
      </p:sp>
      <p:sp>
        <p:nvSpPr>
          <p:cNvPr id="6" name="grid1"/>
          <p:cNvSpPr/>
          <p:nvPr/>
        </p:nvSpPr>
        <p:spPr>
          <a:xfrm>
            <a:off x="4471808" y="2011680"/>
            <a:ext cx="7315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51776" y="1691640"/>
            <a:ext cx="117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</a:rPr>
              <a:t>12月</a:t>
            </a:r>
            <a:endParaRPr lang="en-US" sz="1100" dirty="0"/>
          </a:p>
        </p:txBody>
      </p:sp>
      <p:sp>
        <p:nvSpPr>
          <p:cNvPr id="8" name="grid2"/>
          <p:cNvSpPr/>
          <p:nvPr/>
        </p:nvSpPr>
        <p:spPr>
          <a:xfrm>
            <a:off x="5651776" y="2011680"/>
            <a:ext cx="7315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31744" y="1691640"/>
            <a:ext cx="117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</a:rPr>
              <a:t>1月</a:t>
            </a:r>
            <a:endParaRPr lang="en-US" sz="1100" dirty="0"/>
          </a:p>
        </p:txBody>
      </p:sp>
      <p:sp>
        <p:nvSpPr>
          <p:cNvPr id="10" name="grid3"/>
          <p:cNvSpPr/>
          <p:nvPr/>
        </p:nvSpPr>
        <p:spPr>
          <a:xfrm>
            <a:off x="6831744" y="2011680"/>
            <a:ext cx="7315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11712" y="1691640"/>
            <a:ext cx="117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</a:rPr>
              <a:t>2月</a:t>
            </a:r>
            <a:endParaRPr lang="en-US" sz="1100" dirty="0"/>
          </a:p>
        </p:txBody>
      </p:sp>
      <p:sp>
        <p:nvSpPr>
          <p:cNvPr id="12" name="grid4"/>
          <p:cNvSpPr/>
          <p:nvPr/>
        </p:nvSpPr>
        <p:spPr>
          <a:xfrm>
            <a:off x="8011712" y="2011680"/>
            <a:ext cx="7315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91679" y="1691640"/>
            <a:ext cx="117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</a:rPr>
              <a:t>3月</a:t>
            </a:r>
            <a:endParaRPr lang="en-US" sz="1100" dirty="0"/>
          </a:p>
        </p:txBody>
      </p:sp>
      <p:sp>
        <p:nvSpPr>
          <p:cNvPr id="14" name="grid5"/>
          <p:cNvSpPr/>
          <p:nvPr/>
        </p:nvSpPr>
        <p:spPr>
          <a:xfrm>
            <a:off x="9191679" y="2011680"/>
            <a:ext cx="7315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371647" y="1691640"/>
            <a:ext cx="117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</a:rPr>
              <a:t>来期</a:t>
            </a:r>
            <a:endParaRPr lang="en-US" sz="1100" dirty="0"/>
          </a:p>
        </p:txBody>
      </p:sp>
      <p:sp>
        <p:nvSpPr>
          <p:cNvPr id="16" name="grid6"/>
          <p:cNvSpPr/>
          <p:nvPr/>
        </p:nvSpPr>
        <p:spPr>
          <a:xfrm>
            <a:off x="10371647" y="2011680"/>
            <a:ext cx="7315" cy="32004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7" name="badge-0"/>
          <p:cNvSpPr/>
          <p:nvPr/>
        </p:nvSpPr>
        <p:spPr>
          <a:xfrm>
            <a:off x="640080" y="2130552"/>
            <a:ext cx="384048" cy="384048"/>
          </a:xfrm>
          <a:prstGeom prst="ellipse">
            <a:avLst/>
          </a:prstGeom>
          <a:solidFill>
            <a:srgbClr val="B04A3C"/>
          </a:solidFill>
          <a:ln w="12700">
            <a:solidFill>
              <a:srgbClr val="B04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112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組織の立て直し</a:t>
            </a:r>
            <a:endParaRPr lang="en-US" sz="1100" dirty="0"/>
          </a:p>
        </p:txBody>
      </p:sp>
      <p:sp>
        <p:nvSpPr>
          <p:cNvPr id="20" name="bar0"/>
          <p:cNvSpPr/>
          <p:nvPr/>
        </p:nvSpPr>
        <p:spPr>
          <a:xfrm>
            <a:off x="3319272" y="2148840"/>
            <a:ext cx="830112" cy="347472"/>
          </a:xfrm>
          <a:prstGeom prst="roundRect">
            <a:avLst>
              <a:gd name="adj" fmla="val 26316"/>
            </a:avLst>
          </a:prstGeom>
          <a:solidFill>
            <a:srgbClr val="B04A3C"/>
          </a:solidFill>
          <a:ln/>
        </p:spPr>
      </p:sp>
      <p:sp>
        <p:nvSpPr>
          <p:cNvPr id="21" name="badge-1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2889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アカウント別アプローチ</a:t>
            </a:r>
            <a:endParaRPr lang="en-US" sz="1100" dirty="0"/>
          </a:p>
        </p:txBody>
      </p:sp>
      <p:sp>
        <p:nvSpPr>
          <p:cNvPr id="24" name="bar1"/>
          <p:cNvSpPr/>
          <p:nvPr/>
        </p:nvSpPr>
        <p:spPr>
          <a:xfrm>
            <a:off x="4204248" y="2926080"/>
            <a:ext cx="3780032" cy="347472"/>
          </a:xfrm>
          <a:prstGeom prst="roundRect">
            <a:avLst>
              <a:gd name="adj" fmla="val 26316"/>
            </a:avLst>
          </a:prstGeom>
          <a:solidFill>
            <a:srgbClr val="2C5F2D"/>
          </a:solidFill>
          <a:ln/>
        </p:spPr>
      </p:sp>
      <p:sp>
        <p:nvSpPr>
          <p:cNvPr id="25" name="badge-2"/>
          <p:cNvSpPr/>
          <p:nvPr/>
        </p:nvSpPr>
        <p:spPr>
          <a:xfrm>
            <a:off x="640080" y="3685032"/>
            <a:ext cx="384048" cy="384048"/>
          </a:xfrm>
          <a:prstGeom prst="ellipse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6667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ニッチ商品 DM＋eTREE掲載</a:t>
            </a:r>
            <a:endParaRPr lang="en-US" sz="1100" dirty="0"/>
          </a:p>
        </p:txBody>
      </p:sp>
      <p:sp>
        <p:nvSpPr>
          <p:cNvPr id="28" name="bar2"/>
          <p:cNvSpPr/>
          <p:nvPr/>
        </p:nvSpPr>
        <p:spPr>
          <a:xfrm>
            <a:off x="4499240" y="3703320"/>
            <a:ext cx="4665008" cy="347472"/>
          </a:xfrm>
          <a:prstGeom prst="roundRect">
            <a:avLst>
              <a:gd name="adj" fmla="val 26316"/>
            </a:avLst>
          </a:prstGeom>
          <a:solidFill>
            <a:srgbClr val="C87941"/>
          </a:solidFill>
          <a:ln/>
        </p:spPr>
      </p:sp>
      <p:sp>
        <p:nvSpPr>
          <p:cNvPr id="29" name="badge-3"/>
          <p:cNvSpPr/>
          <p:nvPr/>
        </p:nvSpPr>
        <p:spPr>
          <a:xfrm>
            <a:off x="640080" y="4462272"/>
            <a:ext cx="384048" cy="384048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44439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相談される仕組み（来期）</a:t>
            </a:r>
            <a:endParaRPr lang="en-US" sz="1100" dirty="0"/>
          </a:p>
        </p:txBody>
      </p:sp>
      <p:sp>
        <p:nvSpPr>
          <p:cNvPr id="32" name="bar3"/>
          <p:cNvSpPr/>
          <p:nvPr/>
        </p:nvSpPr>
        <p:spPr>
          <a:xfrm>
            <a:off x="6859176" y="4480560"/>
            <a:ext cx="4665008" cy="347472"/>
          </a:xfrm>
          <a:prstGeom prst="roundRect">
            <a:avLst>
              <a:gd name="adj" fmla="val 26316"/>
            </a:avLst>
          </a:prstGeom>
          <a:solidFill>
            <a:srgbClr val="97BC62"/>
          </a:solidFill>
          <a:ln/>
        </p:spPr>
      </p:sp>
      <p:sp>
        <p:nvSpPr>
          <p:cNvPr id="33" name="deadline"/>
          <p:cNvSpPr/>
          <p:nvPr/>
        </p:nvSpPr>
        <p:spPr>
          <a:xfrm>
            <a:off x="5651776" y="2011680"/>
            <a:ext cx="22860" cy="3200400"/>
          </a:xfrm>
          <a:prstGeom prst="rect">
            <a:avLst/>
          </a:prstGeom>
          <a:solidFill>
            <a:srgbClr val="B04A3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779792" y="5303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A3C"/>
                </a:solidFill>
              </a:rPr>
              <a:t>11月末　高単価の新規はここを過ぎると来期扱い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Phase 0　組織の立て直し（2〜3週間）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玉を増やす前に、いま持っている玉を落とせる状態にする</a:t>
            </a:r>
            <a:endParaRPr lang="en-US" sz="1500" dirty="0"/>
          </a:p>
        </p:txBody>
      </p:sp>
      <p:sp>
        <p:nvSpPr>
          <p:cNvPr id="4" name="now"/>
          <p:cNvSpPr/>
          <p:nvPr/>
        </p:nvSpPr>
        <p:spPr>
          <a:xfrm>
            <a:off x="640080" y="1691640"/>
            <a:ext cx="5272888" cy="2286000"/>
          </a:xfrm>
          <a:prstGeom prst="roundRect">
            <a:avLst>
              <a:gd name="adj" fmla="val 2400"/>
            </a:avLst>
          </a:prstGeom>
          <a:solidFill>
            <a:srgbClr val="FAF0EE"/>
          </a:solidFill>
          <a:ln w="12700">
            <a:solidFill>
              <a:srgbClr val="EDD8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4A3C"/>
                </a:solidFill>
              </a:rPr>
              <a:t>いま起きていること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481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片岡さんがCD玉の83%（152,852千円・68件）を保有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処理能力 年8,000万円に対して 1.9倍の保有量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11月以降はエグゼ2名・ディレクター3名（兼務・時短）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五江渕さんの引き継ぎ 47件 29,903千円・担当者22名が未完</a:t>
            </a:r>
            <a:endParaRPr lang="en-US" sz="1250" dirty="0"/>
          </a:p>
        </p:txBody>
      </p:sp>
      <p:sp>
        <p:nvSpPr>
          <p:cNvPr id="7" name="do"/>
          <p:cNvSpPr/>
          <p:nvPr/>
        </p:nvSpPr>
        <p:spPr>
          <a:xfrm>
            <a:off x="6278728" y="1691640"/>
            <a:ext cx="5272888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7328" y="182880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2〜3週間でやること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212848"/>
            <a:ext cx="481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保有玉を処理能力の範囲に再配分する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提案の型を作り、1件あたりの作成時間を下げる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提案数を週次でカウントし、プッシュの量を可視化する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引き継ぎを完了させ、接触が切れた先をゼロにする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879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41"/>
                </a:solidFill>
              </a:rPr>
              <a:t>営業活動をしなくても数字が動くもの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7200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00400"/>
                <a:gridCol w="2221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CD玉の金額未入力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119件中 31件（26%）が未入力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担当ごとに期限を切って入力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 +40,517千円が見えるようになる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3月への集中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CD玉の65%（49件 118,974千円）が3月完了予定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2月までに倒せる案件を特定し前倒し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期末の検収・納期リスクを回避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Phase 0 ①　エグゼ・ディレクター業務の効率化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個人の頑張りではなく、持ち方と作り方を変える</a:t>
            </a:r>
            <a:endParaRPr lang="en-US" sz="1500" dirty="0"/>
          </a:p>
        </p:txBody>
      </p:sp>
      <p:sp>
        <p:nvSpPr>
          <p:cNvPr id="4" name="blk0"/>
          <p:cNvSpPr/>
          <p:nvPr/>
        </p:nvSpPr>
        <p:spPr>
          <a:xfrm>
            <a:off x="640080" y="1691640"/>
            <a:ext cx="3484778" cy="30175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badge-1"/>
          <p:cNvSpPr/>
          <p:nvPr/>
        </p:nvSpPr>
        <p:spPr>
          <a:xfrm>
            <a:off x="841248" y="1874520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保有の偏りを直す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87168"/>
            <a:ext cx="30824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片岡さんの68件を棚卸し、動いていない案件を他メンバーへ移す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1人あたりの保有金額に上限の目安を置く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移管時は顧客への接触をセットにする（担当交代は接触の口実になる）</a:t>
            </a:r>
            <a:endParaRPr lang="en-US" sz="1250" dirty="0"/>
          </a:p>
        </p:txBody>
      </p:sp>
      <p:sp>
        <p:nvSpPr>
          <p:cNvPr id="9" name="blk1"/>
          <p:cNvSpPr/>
          <p:nvPr/>
        </p:nvSpPr>
        <p:spPr>
          <a:xfrm>
            <a:off x="4353458" y="1691640"/>
            <a:ext cx="3484778" cy="30175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0" name="badge-2"/>
          <p:cNvSpPr/>
          <p:nvPr/>
        </p:nvSpPr>
        <p:spPr>
          <a:xfrm>
            <a:off x="4554626" y="1874520"/>
            <a:ext cx="420624" cy="420624"/>
          </a:xfrm>
          <a:prstGeom prst="ellipse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4626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84978" y="18288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41"/>
                </a:solidFill>
              </a:rPr>
              <a:t>提案を型にする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4626" y="2487168"/>
            <a:ext cx="30824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頻出パターンをテンプレ化（不燃・屋外・コストレンジ別の樹種代替案）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過去の採用実例を1枚にまとめ、提案に添付できる状態にする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片岡さんの判断基準を言語化し、他メンバーが使える形に残す</a:t>
            </a:r>
            <a:endParaRPr lang="en-US" sz="1250" dirty="0"/>
          </a:p>
        </p:txBody>
      </p:sp>
      <p:sp>
        <p:nvSpPr>
          <p:cNvPr id="14" name="blk2"/>
          <p:cNvSpPr/>
          <p:nvPr/>
        </p:nvSpPr>
        <p:spPr>
          <a:xfrm>
            <a:off x="8066837" y="1691640"/>
            <a:ext cx="3484778" cy="30175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5" name="badge-3"/>
          <p:cNvSpPr/>
          <p:nvPr/>
        </p:nvSpPr>
        <p:spPr>
          <a:xfrm>
            <a:off x="8268005" y="1874520"/>
            <a:ext cx="420624" cy="420624"/>
          </a:xfrm>
          <a:prstGeom prst="ellipse">
            <a:avLst/>
          </a:prstGeom>
          <a:solidFill>
            <a:srgbClr val="5A7D5A"/>
          </a:solidFill>
          <a:ln w="12700">
            <a:solidFill>
              <a:srgbClr val="5A7D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8005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98357" y="18288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7D5A"/>
                </a:solidFill>
              </a:rPr>
              <a:t>手戻りを減らす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68005" y="2487168"/>
            <a:ext cx="308244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見積依頼の受付フォーマットを統一（用途・数量・納期・予算を必須に）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着手から提出までの日数を記録し、どこで止まるかを特定する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ディレクターが一次対応できる範囲を決め、エグゼに回す基準を作る</a:t>
            </a:r>
            <a:endParaRPr lang="en-US" sz="1250" dirty="0"/>
          </a:p>
        </p:txBody>
      </p:sp>
      <p:sp>
        <p:nvSpPr>
          <p:cNvPr id="19" name="p7note"/>
          <p:cNvSpPr/>
          <p:nvPr/>
        </p:nvSpPr>
        <p:spPr>
          <a:xfrm>
            <a:off x="640080" y="4956048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FBF2E9"/>
          </a:solidFill>
          <a:ln w="12700">
            <a:solidFill>
              <a:srgbClr val="EBD9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102352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エグゼには仕組みづくりをさせない。素材は現場から出してもらい、形にするのはマネージャーが引き取る。10月は通常業務と並行になるので、移管の判断は高橋が行い、エグゼ側の作業は最小にする。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Phase 0 ②　提案のプッシュと提案数管理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商談数より手前の「提案数」を数える。ここが唯一、自分たちで動かせる量</a:t>
            </a:r>
            <a:endParaRPr lang="en-US" sz="1500" dirty="0"/>
          </a:p>
        </p:txBody>
      </p:sp>
      <p:sp>
        <p:nvSpPr>
          <p:cNvPr id="4" name="flow0"/>
          <p:cNvSpPr/>
          <p:nvPr/>
        </p:nvSpPr>
        <p:spPr>
          <a:xfrm>
            <a:off x="640080" y="1737360"/>
            <a:ext cx="233172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941"/>
                </a:solidFill>
              </a:rPr>
              <a:t>提案数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こちらから出した提案の件数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95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7676"/>
                </a:solidFill>
              </a:rPr>
              <a:t>週次・全員</a:t>
            </a:r>
            <a:endParaRPr lang="en-US" sz="1100" dirty="0"/>
          </a:p>
        </p:txBody>
      </p:sp>
      <p:sp>
        <p:nvSpPr>
          <p:cNvPr id="8" name="arrow0"/>
          <p:cNvSpPr/>
          <p:nvPr/>
        </p:nvSpPr>
        <p:spPr>
          <a:xfrm>
            <a:off x="3088008" y="2395728"/>
            <a:ext cx="295802" cy="274320"/>
          </a:xfrm>
          <a:prstGeom prst="rightArrow">
            <a:avLst/>
          </a:prstGeom>
          <a:solidFill>
            <a:srgbClr val="D4DCC7"/>
          </a:solidFill>
          <a:ln/>
        </p:spPr>
      </p:sp>
      <p:sp>
        <p:nvSpPr>
          <p:cNvPr id="9" name="flow1"/>
          <p:cNvSpPr/>
          <p:nvPr/>
        </p:nvSpPr>
        <p:spPr>
          <a:xfrm>
            <a:off x="3500018" y="1737360"/>
            <a:ext cx="233172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2898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商談化数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82898" y="2286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SFに商談として登録された件数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82898" y="28895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7676"/>
                </a:solidFill>
              </a:rPr>
              <a:t>週次</a:t>
            </a:r>
            <a:endParaRPr lang="en-US" sz="1100" dirty="0"/>
          </a:p>
        </p:txBody>
      </p:sp>
      <p:sp>
        <p:nvSpPr>
          <p:cNvPr id="13" name="arrow1"/>
          <p:cNvSpPr/>
          <p:nvPr/>
        </p:nvSpPr>
        <p:spPr>
          <a:xfrm>
            <a:off x="5947946" y="2395728"/>
            <a:ext cx="295802" cy="274320"/>
          </a:xfrm>
          <a:prstGeom prst="rightArrow">
            <a:avLst/>
          </a:prstGeom>
          <a:solidFill>
            <a:srgbClr val="D4DCC7"/>
          </a:solidFill>
          <a:ln/>
        </p:spPr>
      </p:sp>
      <p:sp>
        <p:nvSpPr>
          <p:cNvPr id="14" name="flow2"/>
          <p:cNvSpPr/>
          <p:nvPr/>
        </p:nvSpPr>
        <p:spPr>
          <a:xfrm>
            <a:off x="6359957" y="1737360"/>
            <a:ext cx="233172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42837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7D5A"/>
                </a:solidFill>
              </a:rPr>
              <a:t>AB玉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42837" y="2286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確度A・Bに上がった金額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42837" y="28895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7676"/>
                </a:solidFill>
              </a:rPr>
              <a:t>週次</a:t>
            </a:r>
            <a:endParaRPr lang="en-US" sz="1100" dirty="0"/>
          </a:p>
        </p:txBody>
      </p:sp>
      <p:sp>
        <p:nvSpPr>
          <p:cNvPr id="18" name="arrow2"/>
          <p:cNvSpPr/>
          <p:nvPr/>
        </p:nvSpPr>
        <p:spPr>
          <a:xfrm>
            <a:off x="8807885" y="2395728"/>
            <a:ext cx="295802" cy="274320"/>
          </a:xfrm>
          <a:prstGeom prst="rightArrow">
            <a:avLst/>
          </a:prstGeom>
          <a:solidFill>
            <a:srgbClr val="D4DCC7"/>
          </a:solidFill>
          <a:ln/>
        </p:spPr>
      </p:sp>
      <p:sp>
        <p:nvSpPr>
          <p:cNvPr id="19" name="flow3"/>
          <p:cNvSpPr/>
          <p:nvPr/>
        </p:nvSpPr>
        <p:spPr>
          <a:xfrm>
            <a:off x="9219895" y="1737360"/>
            <a:ext cx="233172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02775" y="1901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D1F"/>
                </a:solidFill>
              </a:rPr>
              <a:t>成約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402775" y="2286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受注金額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402775" y="28895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7676"/>
                </a:solidFill>
              </a:rPr>
              <a:t>月次</a:t>
            </a:r>
            <a:endParaRPr lang="en-US" sz="1100" dirty="0"/>
          </a:p>
        </p:txBody>
      </p:sp>
      <p:sp>
        <p:nvSpPr>
          <p:cNvPr id="23" name="rule1"/>
          <p:cNvSpPr/>
          <p:nvPr/>
        </p:nvSpPr>
        <p:spPr>
          <a:xfrm>
            <a:off x="640080" y="3611880"/>
            <a:ext cx="5272888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3767328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運用のルール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16052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提案＝相手に出した資料・見積。口頭の雑談は数えない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1人あたりの週次目標を置き、火曜のメンバー会議で確認する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未達を責めるのではなく、出せなかった理由を潰すために使う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提案から商談化しなかった分は理由を1行だけ残す</a:t>
            </a:r>
            <a:endParaRPr lang="en-US" sz="1250" dirty="0"/>
          </a:p>
        </p:txBody>
      </p:sp>
      <p:sp>
        <p:nvSpPr>
          <p:cNvPr id="26" name="rule2"/>
          <p:cNvSpPr/>
          <p:nvPr/>
        </p:nvSpPr>
        <p:spPr>
          <a:xfrm>
            <a:off x="6278728" y="3611880"/>
            <a:ext cx="5272888" cy="2194560"/>
          </a:xfrm>
          <a:prstGeom prst="roundRect">
            <a:avLst>
              <a:gd name="adj" fmla="val 2500"/>
            </a:avLst>
          </a:prstGeom>
          <a:solidFill>
            <a:srgbClr val="FBF2E9"/>
          </a:solidFill>
          <a:ln w="12700">
            <a:solidFill>
              <a:srgbClr val="EBD9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7328" y="3767328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41"/>
                </a:solidFill>
              </a:rPr>
              <a:t>なぜ提案数なのか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07328" y="4160520"/>
            <a:ext cx="4815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商談数も成約も、相手の都合が入るので自分たちでは動かせない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提案数は100%こちら側の変数。増やせば必ず下流が動く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いま「何件出したか」を誰も答えられない状態になっている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まず数えるところから。目標設定は2週間の実測を見てから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Phase 1　企業別分析とアカウント別アプローチ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リピート系の成約率は41%台。最も確実に当たる玉がここにある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4406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</a:rPr>
              <a:t>※「営業G（新規）」は n=5 のため参考値</a:t>
            </a:r>
            <a:endParaRPr lang="en-US" sz="1000" dirty="0"/>
          </a:p>
        </p:txBody>
      </p:sp>
      <p:sp>
        <p:nvSpPr>
          <p:cNvPr id="6" name="p1"/>
          <p:cNvSpPr/>
          <p:nvPr/>
        </p:nvSpPr>
        <p:spPr>
          <a:xfrm>
            <a:off x="6537960" y="1737360"/>
            <a:ext cx="5013655" cy="4069080"/>
          </a:xfrm>
          <a:prstGeom prst="roundRect">
            <a:avLst>
              <a:gd name="adj" fmla="val 1348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874520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やること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267712"/>
            <a:ext cx="4556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顧客アプローチ管理DB・顧客担当者DBを稼働させる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1社につき窓口を1名に確定し、行く／行かないを明示する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最終接触から3ヶ月以上空いた先を全件洗い出す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既存顧客の別部署・別拠点へ横展開する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4041648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41"/>
                </a:solidFill>
              </a:rPr>
              <a:t>企業別分析の4つの軸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4434840"/>
            <a:ext cx="4556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過去取引額と粗利率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最終接触からの経過日数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社内の接点の厚さ（担当者が何人いるか）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相手側の事業の伸び（受注環境）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Phase 2　ニッチ商品のDM発信とeTREE掲載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大手商社・有名メーカーが扱わない商品に絞る。価格競争の外側で戦う</a:t>
            </a:r>
            <a:endParaRPr lang="en-US" sz="1500" dirty="0"/>
          </a:p>
        </p:txBody>
      </p:sp>
      <p:sp>
        <p:nvSpPr>
          <p:cNvPr id="4" name="p2c0"/>
          <p:cNvSpPr/>
          <p:nvPr/>
        </p:nvSpPr>
        <p:spPr>
          <a:xfrm>
            <a:off x="640080" y="1691640"/>
            <a:ext cx="3484778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3082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なぜニッチ商品か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40280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大手が扱う規格品は価格勝負になり、当社の強みが出ない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ニッチ商品は比較対象が少なく、指名で相談が来る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当社は調達の幅が広い。ここが一番活きる領域</a:t>
            </a:r>
            <a:endParaRPr lang="en-US" sz="1250" dirty="0"/>
          </a:p>
        </p:txBody>
      </p:sp>
      <p:sp>
        <p:nvSpPr>
          <p:cNvPr id="7" name="p2c1"/>
          <p:cNvSpPr/>
          <p:nvPr/>
        </p:nvSpPr>
        <p:spPr>
          <a:xfrm>
            <a:off x="4353458" y="1691640"/>
            <a:ext cx="3484778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4626" y="1847088"/>
            <a:ext cx="3082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41"/>
                </a:solidFill>
              </a:rPr>
              <a:t>なぜ今期に効くか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4626" y="2240280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通常案件の商談日数は中央値23日（高単価は130日）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規格商品は仕様が決まっているので提案工数が小さい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エグゼの手を使わず、受注処理型で回せる</a:t>
            </a:r>
            <a:endParaRPr lang="en-US" sz="1250" dirty="0"/>
          </a:p>
        </p:txBody>
      </p:sp>
      <p:sp>
        <p:nvSpPr>
          <p:cNvPr id="10" name="p2c2"/>
          <p:cNvSpPr/>
          <p:nvPr/>
        </p:nvSpPr>
        <p:spPr>
          <a:xfrm>
            <a:off x="8066837" y="1691640"/>
            <a:ext cx="3484778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8005" y="1847088"/>
            <a:ext cx="3082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7D5A"/>
                </a:solidFill>
              </a:rPr>
              <a:t>売上以外の効果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68005" y="2240280"/>
            <a:ext cx="30824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低リスクで新規顧客との最初の取引を作れる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その後のコーディネート案件の入口になる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eTREE掲載で「探されたときに出る」状態が残る</a:t>
            </a:r>
            <a:endParaRPr lang="en-US" sz="1250" dirty="0"/>
          </a:p>
        </p:txBody>
      </p:sp>
      <p:sp>
        <p:nvSpPr>
          <p:cNvPr id="13" name="p2flow"/>
          <p:cNvSpPr/>
          <p:nvPr/>
        </p:nvSpPr>
        <p:spPr>
          <a:xfrm>
            <a:off x="640080" y="4389120"/>
            <a:ext cx="10911535" cy="1463040"/>
          </a:xfrm>
          <a:prstGeom prst="roundRect">
            <a:avLst>
              <a:gd name="adj" fmla="val 3750"/>
            </a:avLst>
          </a:prstGeom>
          <a:solidFill>
            <a:srgbClr val="1E3D1F"/>
          </a:solidFill>
          <a:ln w="12700">
            <a:solidFill>
              <a:srgbClr val="1E3D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進め方</a:t>
            </a:r>
            <a:endParaRPr lang="en-US" sz="1300" dirty="0"/>
          </a:p>
        </p:txBody>
      </p:sp>
      <p:sp>
        <p:nvSpPr>
          <p:cNvPr id="15" name="st0"/>
          <p:cNvSpPr/>
          <p:nvPr/>
        </p:nvSpPr>
        <p:spPr>
          <a:xfrm>
            <a:off x="914400" y="49194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2A4F2A"/>
          </a:solidFill>
          <a:ln w="12700">
            <a:solidFill>
              <a:srgbClr val="4A7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9194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商品を3つ選ぶ</a:t>
            </a:r>
            <a:endParaRPr lang="en-US" sz="1200" dirty="0"/>
          </a:p>
        </p:txBody>
      </p:sp>
      <p:sp>
        <p:nvSpPr>
          <p:cNvPr id="17" name="st1"/>
          <p:cNvSpPr/>
          <p:nvPr/>
        </p:nvSpPr>
        <p:spPr>
          <a:xfrm>
            <a:off x="3006776" y="49194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2A4F2A"/>
          </a:solidFill>
          <a:ln w="12700">
            <a:solidFill>
              <a:srgbClr val="4A7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06776" y="49194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eTREEに掲載する</a:t>
            </a:r>
            <a:endParaRPr lang="en-US" sz="1200" dirty="0"/>
          </a:p>
        </p:txBody>
      </p:sp>
      <p:sp>
        <p:nvSpPr>
          <p:cNvPr id="19" name="st2"/>
          <p:cNvSpPr/>
          <p:nvPr/>
        </p:nvSpPr>
        <p:spPr>
          <a:xfrm>
            <a:off x="5099152" y="49194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2A4F2A"/>
          </a:solidFill>
          <a:ln w="12700">
            <a:solidFill>
              <a:srgbClr val="4A7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99152" y="49194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対象リストにDM</a:t>
            </a:r>
            <a:endParaRPr lang="en-US" sz="1200" dirty="0"/>
          </a:p>
        </p:txBody>
      </p:sp>
      <p:sp>
        <p:nvSpPr>
          <p:cNvPr id="21" name="st3"/>
          <p:cNvSpPr/>
          <p:nvPr/>
        </p:nvSpPr>
        <p:spPr>
          <a:xfrm>
            <a:off x="7191527" y="49194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2A4F2A"/>
          </a:solidFill>
          <a:ln w="12700">
            <a:solidFill>
              <a:srgbClr val="4A7A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91527" y="49194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反応を記録する</a:t>
            </a:r>
            <a:endParaRPr lang="en-US" sz="1200" dirty="0"/>
          </a:p>
        </p:txBody>
      </p:sp>
      <p:sp>
        <p:nvSpPr>
          <p:cNvPr id="23" name="st4"/>
          <p:cNvSpPr/>
          <p:nvPr/>
        </p:nvSpPr>
        <p:spPr>
          <a:xfrm>
            <a:off x="9283903" y="4919472"/>
            <a:ext cx="1993392" cy="566928"/>
          </a:xfrm>
          <a:prstGeom prst="roundRect">
            <a:avLst>
              <a:gd name="adj" fmla="val 16129"/>
            </a:avLst>
          </a:prstGeom>
          <a:solidFill>
            <a:srgbClr val="2A4F2A"/>
          </a:solidFill>
          <a:ln w="12700">
            <a:solidFill>
              <a:srgbClr val="4A7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83903" y="491947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次の3商品へ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Phase 2 の前提　前回のDMは反応がなかった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檜天板・カラーMDFは反応なしで9/8にクローズ。同じやり方は繰り返さない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286000"/>
                <a:gridCol w="4754880"/>
                <a:gridCol w="2587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今回変えること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狙い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広く配信した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eTREE流入者・過去問い合わせ先・既存顧客の別部署に絞る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すでに木材を探している人にだけ当てる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訴求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商品の紹介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「この用途・この予算なら成立する」という判断材料の形にする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カタログではなく設計判断を助ける情報にする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DM単体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eTREE掲載とセット。検索で確認でき、サンプルが頼める状態にする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DMで見た人が自分で裏取りできる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反応がないまま終了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1商品ごとに配信数・開封・問い合わせ数を記録する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次にどこを直すかが分かる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etree"/>
          <p:cNvSpPr/>
          <p:nvPr/>
        </p:nvSpPr>
        <p:spPr>
          <a:xfrm>
            <a:off x="640080" y="4709160"/>
            <a:ext cx="10911535" cy="1143000"/>
          </a:xfrm>
          <a:prstGeom prst="roundRect">
            <a:avLst>
              <a:gd name="adj" fmla="val 4800"/>
            </a:avLst>
          </a:prstGeom>
          <a:solidFill>
            <a:srgbClr val="FBF2E9"/>
          </a:solidFill>
          <a:ln w="12700">
            <a:solidFill>
              <a:srgbClr val="EBD9C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41"/>
                </a:solidFill>
              </a:rPr>
              <a:t>eTREEは母数がある。取りこぼしているのはCVR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193792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月54千UU・問い合わせ月15件前後＝CVR 約0.03%。これを0.06%にするだけで問い合わせは倍になる。新規に集客するより桁違いに安い。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これ以外に加えたい6つ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いずれも新規開拓より確実で、工数が小さいもの</a:t>
            </a:r>
            <a:endParaRPr lang="en-US" sz="1500" dirty="0"/>
          </a:p>
        </p:txBody>
      </p:sp>
      <p:sp>
        <p:nvSpPr>
          <p:cNvPr id="4" name="add0"/>
          <p:cNvSpPr/>
          <p:nvPr/>
        </p:nvSpPr>
        <p:spPr>
          <a:xfrm>
            <a:off x="640080" y="1691640"/>
            <a:ext cx="5272888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badge-1"/>
          <p:cNvSpPr/>
          <p:nvPr/>
        </p:nvSpPr>
        <p:spPr>
          <a:xfrm>
            <a:off x="841248" y="1874520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3794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失注・長期案件の掘り起こし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185416"/>
            <a:ext cx="435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「予算が合わなかった」失注はニッチ商品で再提案できる。Phase 2 と直結する</a:t>
            </a:r>
            <a:endParaRPr lang="en-US" sz="1150" dirty="0"/>
          </a:p>
        </p:txBody>
      </p:sp>
      <p:sp>
        <p:nvSpPr>
          <p:cNvPr id="9" name="add1"/>
          <p:cNvSpPr/>
          <p:nvPr/>
        </p:nvSpPr>
        <p:spPr>
          <a:xfrm>
            <a:off x="6278728" y="1691640"/>
            <a:ext cx="5272888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0" name="badge-2"/>
          <p:cNvSpPr/>
          <p:nvPr/>
        </p:nvSpPr>
        <p:spPr>
          <a:xfrm>
            <a:off x="6479896" y="1874520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9896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91960" y="183794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既存顧客の横展開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1960" y="2185416"/>
            <a:ext cx="435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三井不動産レジデンシャル7名・船場6名など、社内に複数の接点がある会社から別部署へ</a:t>
            </a:r>
            <a:endParaRPr lang="en-US" sz="1150" dirty="0"/>
          </a:p>
        </p:txBody>
      </p:sp>
      <p:sp>
        <p:nvSpPr>
          <p:cNvPr id="14" name="add2"/>
          <p:cNvSpPr/>
          <p:nvPr/>
        </p:nvSpPr>
        <p:spPr>
          <a:xfrm>
            <a:off x="640080" y="3108960"/>
            <a:ext cx="5272888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5" name="badge-3"/>
          <p:cNvSpPr/>
          <p:nvPr/>
        </p:nvSpPr>
        <p:spPr>
          <a:xfrm>
            <a:off x="841248" y="3291840"/>
            <a:ext cx="402336" cy="402336"/>
          </a:xfrm>
          <a:prstGeom prst="ellipse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25526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41"/>
                </a:solidFill>
              </a:rPr>
              <a:t>失注理由のデータ化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602736"/>
            <a:ext cx="435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なぜ負けたかが分からないと、効率化の打ち手が決められない。SFの失注理由を分類して月次で見る</a:t>
            </a:r>
            <a:endParaRPr lang="en-US" sz="1150" dirty="0"/>
          </a:p>
        </p:txBody>
      </p:sp>
      <p:sp>
        <p:nvSpPr>
          <p:cNvPr id="19" name="add3"/>
          <p:cNvSpPr/>
          <p:nvPr/>
        </p:nvSpPr>
        <p:spPr>
          <a:xfrm>
            <a:off x="6278728" y="3108960"/>
            <a:ext cx="5272888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20" name="badge-4"/>
          <p:cNvSpPr/>
          <p:nvPr/>
        </p:nvSpPr>
        <p:spPr>
          <a:xfrm>
            <a:off x="6479896" y="3291840"/>
            <a:ext cx="402336" cy="402336"/>
          </a:xfrm>
          <a:prstGeom prst="ellipse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9896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91960" y="325526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41"/>
                </a:solidFill>
              </a:rPr>
              <a:t>紹介ルートの明示化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1960" y="3602736"/>
            <a:ext cx="435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中川さん経由の丹青社のように、紹介は確度が高い。誰が誰を紹介できるかを社内で棚卸しする</a:t>
            </a:r>
            <a:endParaRPr lang="en-US" sz="1150" dirty="0"/>
          </a:p>
        </p:txBody>
      </p:sp>
      <p:sp>
        <p:nvSpPr>
          <p:cNvPr id="24" name="add4"/>
          <p:cNvSpPr/>
          <p:nvPr/>
        </p:nvSpPr>
        <p:spPr>
          <a:xfrm>
            <a:off x="640080" y="4526280"/>
            <a:ext cx="5272888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25" name="badge-5"/>
          <p:cNvSpPr/>
          <p:nvPr/>
        </p:nvSpPr>
        <p:spPr>
          <a:xfrm>
            <a:off x="841248" y="4709160"/>
            <a:ext cx="402336" cy="402336"/>
          </a:xfrm>
          <a:prstGeom prst="ellipse">
            <a:avLst/>
          </a:prstGeom>
          <a:solidFill>
            <a:srgbClr val="5A7D5A"/>
          </a:solidFill>
          <a:ln w="12700">
            <a:solidFill>
              <a:srgbClr val="5A7D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67258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D5A"/>
                </a:solidFill>
              </a:rPr>
              <a:t>粗利率での優先順位づけ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5020056"/>
            <a:ext cx="435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金額だけで追うと忙しいだけで利益が残らない。粗利率の低い案件を意図的に外す判断を入れる</a:t>
            </a:r>
            <a:endParaRPr lang="en-US" sz="1150" dirty="0"/>
          </a:p>
        </p:txBody>
      </p:sp>
      <p:sp>
        <p:nvSpPr>
          <p:cNvPr id="29" name="add5"/>
          <p:cNvSpPr/>
          <p:nvPr/>
        </p:nvSpPr>
        <p:spPr>
          <a:xfrm>
            <a:off x="6278728" y="4526280"/>
            <a:ext cx="5272888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30" name="badge-6"/>
          <p:cNvSpPr/>
          <p:nvPr/>
        </p:nvSpPr>
        <p:spPr>
          <a:xfrm>
            <a:off x="6479896" y="4709160"/>
            <a:ext cx="402336" cy="402336"/>
          </a:xfrm>
          <a:prstGeom prst="ellipse">
            <a:avLst/>
          </a:prstGeom>
          <a:solidFill>
            <a:srgbClr val="B04A3C"/>
          </a:solidFill>
          <a:ln w="12700">
            <a:solidFill>
              <a:srgbClr val="B04A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9896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91960" y="4672584"/>
            <a:ext cx="435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A3C"/>
                </a:solidFill>
              </a:rPr>
              <a:t>今期／来期の線引きの宣言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91960" y="5020056"/>
            <a:ext cx="435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11月末以降に起こす高単価新規は来期扱いと先に決める。これがないと施策が誤って評価される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今期着地への寄与と、正直な限界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規格商品だけで不足を埋めることはできない。主力はあくまで保有玉の消化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4206240"/>
                <a:gridCol w="10332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打ち手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今期への寄与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根拠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着手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CD玉の金額補完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 +40,517千円（可視化）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119件中31件が金額未入力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CD→AB の転換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68,613 〜 105,490千円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CD玉224,689千円 × 成約率37.3〜57.4%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3月集中の前倒し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期末の取りこぼしを回避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CD玉の65%（118,974千円）が3月完了予定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放置アカウントの掘り起こし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リピート成約率41%台で最も確実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営業G（リピート）期待値 565千円／件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ニッチ商品の規格販売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数千万円規模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通常案件の平均単価 256千円 × 件数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mit"/>
          <p:cNvSpPr/>
          <p:nvPr/>
        </p:nvSpPr>
        <p:spPr>
          <a:xfrm>
            <a:off x="640080" y="4754880"/>
            <a:ext cx="10911535" cy="1188720"/>
          </a:xfrm>
          <a:prstGeom prst="roundRect">
            <a:avLst>
              <a:gd name="adj" fmla="val 4615"/>
            </a:avLst>
          </a:prstGeom>
          <a:solidFill>
            <a:srgbClr val="FAF0EE"/>
          </a:solidFill>
          <a:ln w="12700">
            <a:solidFill>
              <a:srgbClr val="EDD8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882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A3C"/>
                </a:solidFill>
              </a:rPr>
              <a:t>限界をはっきりさせておく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21208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規格商品の平均単価を256千円とすると、5,000万円を作るには約200件が必要。現実的ではない。規格商品は「新規との接点を作る入口」として評価し、今期の売上の主力はPhase 0・Phase 1に置く。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管理指標と会議体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見る指標をフェーズごとに分ける。来期の仕込みを売上で測らない</a:t>
            </a:r>
            <a:endParaRPr lang="en-US" sz="1500" dirty="0"/>
          </a:p>
        </p:txBody>
      </p:sp>
      <p:sp>
        <p:nvSpPr>
          <p:cNvPr id="4" name="kpi"/>
          <p:cNvSpPr/>
          <p:nvPr/>
        </p:nvSpPr>
        <p:spPr>
          <a:xfrm>
            <a:off x="640080" y="1691640"/>
            <a:ext cx="5272888" cy="4069080"/>
          </a:xfrm>
          <a:prstGeom prst="roundRect">
            <a:avLst>
              <a:gd name="adj" fmla="val 1348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週次・月次で見る指標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240280"/>
          <a:ext cx="4815688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頻度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提案数（提出ベース）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新規商談件数・金額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AB玉の増減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1人あたり保有玉の金額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放置3ヶ月以上の社数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DM反応率・eTREE問い合わせ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失注理由の分類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tg"/>
          <p:cNvSpPr/>
          <p:nvPr/>
        </p:nvSpPr>
        <p:spPr>
          <a:xfrm>
            <a:off x="6278728" y="1691640"/>
            <a:ext cx="5272888" cy="1920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07328" y="1847088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会議体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07328" y="224028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火曜：FD定例（メンバー）— 提案数と案件の共有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水曜：高橋＋経営 — 数字と方針の確認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月次：企業別の状況レビュー</a:t>
            </a:r>
            <a:endParaRPr lang="en-US" sz="1250" dirty="0"/>
          </a:p>
        </p:txBody>
      </p:sp>
      <p:sp>
        <p:nvSpPr>
          <p:cNvPr id="10" name="eval"/>
          <p:cNvSpPr/>
          <p:nvPr/>
        </p:nvSpPr>
        <p:spPr>
          <a:xfrm>
            <a:off x="6278728" y="3840480"/>
            <a:ext cx="5272888" cy="1920240"/>
          </a:xfrm>
          <a:prstGeom prst="roundRect">
            <a:avLst>
              <a:gd name="adj" fmla="val 2857"/>
            </a:avLst>
          </a:prstGeom>
          <a:solidFill>
            <a:srgbClr val="FBF2E9"/>
          </a:solidFill>
          <a:ln w="12700">
            <a:solidFill>
              <a:srgbClr val="EBD9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7328" y="3995928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941"/>
                </a:solidFill>
              </a:rPr>
              <a:t>評価の分け方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07328" y="438912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Phase 0・1：商談数と成約金額で評価する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Phase 2：反応率と問い合わせ数で評価する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chemeClr val="tx1"/>
                </a:solidFill>
              </a:rPr>
              <a:t>Phase 3：接触社数と相談件数のみ。売上では見ない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前提とリスク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この計画が崩れるとしたら、どこからか</a:t>
            </a:r>
            <a:endParaRPr lang="en-US" sz="1500" dirty="0"/>
          </a:p>
        </p:txBody>
      </p:sp>
      <p:sp>
        <p:nvSpPr>
          <p:cNvPr id="4" name="risk0"/>
          <p:cNvSpPr/>
          <p:nvPr/>
        </p:nvSpPr>
        <p:spPr>
          <a:xfrm>
            <a:off x="640080" y="1691640"/>
            <a:ext cx="10911535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5" name="dot0"/>
          <p:cNvSpPr/>
          <p:nvPr/>
        </p:nvSpPr>
        <p:spPr>
          <a:xfrm>
            <a:off x="868680" y="2020824"/>
            <a:ext cx="219456" cy="219456"/>
          </a:xfrm>
          <a:prstGeom prst="ellipse">
            <a:avLst/>
          </a:prstGeom>
          <a:solidFill>
            <a:srgbClr val="B04A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80136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4A3C"/>
                </a:solidFill>
              </a:rPr>
              <a:t>Phase 0 が終わらない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801368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棚卸しと再配分は、動かす側にも工数がかかる。10月は通常業務と並行になる</a:t>
            </a:r>
            <a:endParaRPr lang="en-US" sz="1150" dirty="0"/>
          </a:p>
        </p:txBody>
      </p:sp>
      <p:sp>
        <p:nvSpPr>
          <p:cNvPr id="8" name="sep0"/>
          <p:cNvSpPr/>
          <p:nvPr/>
        </p:nvSpPr>
        <p:spPr>
          <a:xfrm>
            <a:off x="8001000" y="1856232"/>
            <a:ext cx="10973" cy="658368"/>
          </a:xfrm>
          <a:prstGeom prst="rect">
            <a:avLst/>
          </a:prstGeom>
          <a:solidFill>
            <a:srgbClr val="DDE3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83880" y="1801368"/>
            <a:ext cx="31391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</a:rPr>
              <a:t>高橋が主導し、エグゼの作業を最小にする。移管の判断は高橋が行う</a:t>
            </a:r>
            <a:endParaRPr lang="en-US" sz="1150" dirty="0"/>
          </a:p>
        </p:txBody>
      </p:sp>
      <p:sp>
        <p:nvSpPr>
          <p:cNvPr id="10" name="risk1"/>
          <p:cNvSpPr/>
          <p:nvPr/>
        </p:nvSpPr>
        <p:spPr>
          <a:xfrm>
            <a:off x="640080" y="2788920"/>
            <a:ext cx="10911535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1" name="dot1"/>
          <p:cNvSpPr/>
          <p:nvPr/>
        </p:nvSpPr>
        <p:spPr>
          <a:xfrm>
            <a:off x="868680" y="3118104"/>
            <a:ext cx="219456" cy="219456"/>
          </a:xfrm>
          <a:prstGeom prst="ellipse">
            <a:avLst/>
          </a:prstGeom>
          <a:solidFill>
            <a:srgbClr val="C879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289864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41"/>
                </a:solidFill>
              </a:rPr>
              <a:t>規格商品が今期を埋めない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898648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平均単価256千円では件数が足りない。売上の主力にはならない</a:t>
            </a:r>
            <a:endParaRPr lang="en-US" sz="1150" dirty="0"/>
          </a:p>
        </p:txBody>
      </p:sp>
      <p:sp>
        <p:nvSpPr>
          <p:cNvPr id="14" name="sep1"/>
          <p:cNvSpPr/>
          <p:nvPr/>
        </p:nvSpPr>
        <p:spPr>
          <a:xfrm>
            <a:off x="8001000" y="2953512"/>
            <a:ext cx="10973" cy="658368"/>
          </a:xfrm>
          <a:prstGeom prst="rect">
            <a:avLst/>
          </a:prstGeom>
          <a:solidFill>
            <a:srgbClr val="DDE3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2898648"/>
            <a:ext cx="31391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</a:rPr>
              <a:t>期待値を最初から低く置き、接点づくりの施策として評価する</a:t>
            </a:r>
            <a:endParaRPr lang="en-US" sz="1150" dirty="0"/>
          </a:p>
        </p:txBody>
      </p:sp>
      <p:sp>
        <p:nvSpPr>
          <p:cNvPr id="16" name="risk2"/>
          <p:cNvSpPr/>
          <p:nvPr/>
        </p:nvSpPr>
        <p:spPr>
          <a:xfrm>
            <a:off x="640080" y="3886200"/>
            <a:ext cx="10911535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17" name="dot2"/>
          <p:cNvSpPr/>
          <p:nvPr/>
        </p:nvSpPr>
        <p:spPr>
          <a:xfrm>
            <a:off x="868680" y="4215384"/>
            <a:ext cx="219456" cy="219456"/>
          </a:xfrm>
          <a:prstGeom prst="ellipse">
            <a:avLst/>
          </a:prstGeom>
          <a:solidFill>
            <a:srgbClr val="C879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34440" y="399592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941"/>
                </a:solidFill>
              </a:rPr>
              <a:t>11月以降の体制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995928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エグゼ2名・ディレクター3名（兼務・時短）。新規開拓の人的余力はない</a:t>
            </a:r>
            <a:endParaRPr lang="en-US" sz="1150" dirty="0"/>
          </a:p>
        </p:txBody>
      </p:sp>
      <p:sp>
        <p:nvSpPr>
          <p:cNvPr id="20" name="sep2"/>
          <p:cNvSpPr/>
          <p:nvPr/>
        </p:nvSpPr>
        <p:spPr>
          <a:xfrm>
            <a:off x="8001000" y="4050792"/>
            <a:ext cx="10973" cy="658368"/>
          </a:xfrm>
          <a:prstGeom prst="rect">
            <a:avLst/>
          </a:prstGeom>
          <a:solidFill>
            <a:srgbClr val="DDE3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3995928"/>
            <a:ext cx="31391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</a:rPr>
              <a:t>新規は規格商品とeTREE経由に限定し、人手をかけない形にする</a:t>
            </a:r>
            <a:endParaRPr lang="en-US" sz="1150" dirty="0"/>
          </a:p>
        </p:txBody>
      </p:sp>
      <p:sp>
        <p:nvSpPr>
          <p:cNvPr id="22" name="risk3"/>
          <p:cNvSpPr/>
          <p:nvPr/>
        </p:nvSpPr>
        <p:spPr>
          <a:xfrm>
            <a:off x="640080" y="4983480"/>
            <a:ext cx="10911535" cy="987552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E2E7D9"/>
            </a:solidFill>
            <a:prstDash val="solid"/>
          </a:ln>
        </p:spPr>
      </p:sp>
      <p:sp>
        <p:nvSpPr>
          <p:cNvPr id="23" name="dot3"/>
          <p:cNvSpPr/>
          <p:nvPr/>
        </p:nvSpPr>
        <p:spPr>
          <a:xfrm>
            <a:off x="868680" y="5312664"/>
            <a:ext cx="219456" cy="21945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34440" y="509320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接触が切れた先が戻らない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5093208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担当が変わると相談が来なくなる。五江渕さん分47件・担当者22名が該当</a:t>
            </a:r>
            <a:endParaRPr lang="en-US" sz="1150" dirty="0"/>
          </a:p>
        </p:txBody>
      </p:sp>
      <p:sp>
        <p:nvSpPr>
          <p:cNvPr id="26" name="sep3"/>
          <p:cNvSpPr/>
          <p:nvPr/>
        </p:nvSpPr>
        <p:spPr>
          <a:xfrm>
            <a:off x="8001000" y="5148072"/>
            <a:ext cx="10973" cy="658368"/>
          </a:xfrm>
          <a:prstGeom prst="rect">
            <a:avLst/>
          </a:prstGeom>
          <a:solidFill>
            <a:srgbClr val="DDE3D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83880" y="5093208"/>
            <a:ext cx="31391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</a:rPr>
              <a:t>引き継ぎを10月中に完了させ、交代の挨拶を接触の機会として使う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84048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次の2週間でやること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</a:rPr>
              <a:t>10月中に終わらせる。ここが終わらないと11月の動きが作れない</a:t>
            </a:r>
            <a:endParaRPr lang="en-US" sz="1500" dirty="0"/>
          </a:p>
        </p:txBody>
      </p:sp>
      <p:sp>
        <p:nvSpPr>
          <p:cNvPr id="4" name="todo0"/>
          <p:cNvSpPr/>
          <p:nvPr/>
        </p:nvSpPr>
        <p:spPr>
          <a:xfrm>
            <a:off x="640080" y="1783080"/>
            <a:ext cx="5272888" cy="914400"/>
          </a:xfrm>
          <a:prstGeom prst="roundRect">
            <a:avLst>
              <a:gd name="adj" fmla="val 6000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5" name="tnum0"/>
          <p:cNvSpPr/>
          <p:nvPr/>
        </p:nvSpPr>
        <p:spPr>
          <a:xfrm>
            <a:off x="868680" y="202996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1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47672"/>
            <a:ext cx="303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片岡さん案件の棚卸しと再配分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95648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高橋</a:t>
            </a:r>
            <a:endParaRPr lang="en-US" sz="1200" dirty="0"/>
          </a:p>
        </p:txBody>
      </p:sp>
      <p:sp>
        <p:nvSpPr>
          <p:cNvPr id="9" name="todo1"/>
          <p:cNvSpPr/>
          <p:nvPr/>
        </p:nvSpPr>
        <p:spPr>
          <a:xfrm>
            <a:off x="6278728" y="1783080"/>
            <a:ext cx="5272888" cy="914400"/>
          </a:xfrm>
          <a:prstGeom prst="roundRect">
            <a:avLst>
              <a:gd name="adj" fmla="val 6000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10" name="tnum1"/>
          <p:cNvSpPr/>
          <p:nvPr/>
        </p:nvSpPr>
        <p:spPr>
          <a:xfrm>
            <a:off x="6507328" y="202996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732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1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947672"/>
            <a:ext cx="303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提案数カウントの開始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134295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全員</a:t>
            </a:r>
            <a:endParaRPr lang="en-US" sz="1200" dirty="0"/>
          </a:p>
        </p:txBody>
      </p:sp>
      <p:sp>
        <p:nvSpPr>
          <p:cNvPr id="14" name="todo2"/>
          <p:cNvSpPr/>
          <p:nvPr/>
        </p:nvSpPr>
        <p:spPr>
          <a:xfrm>
            <a:off x="640080" y="2926080"/>
            <a:ext cx="5272888" cy="914400"/>
          </a:xfrm>
          <a:prstGeom prst="roundRect">
            <a:avLst>
              <a:gd name="adj" fmla="val 6000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15" name="tnum2"/>
          <p:cNvSpPr/>
          <p:nvPr/>
        </p:nvSpPr>
        <p:spPr>
          <a:xfrm>
            <a:off x="868680" y="317296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1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090672"/>
            <a:ext cx="303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CD玉 金額未入力31件の入力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95648" y="3090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各担当</a:t>
            </a:r>
            <a:endParaRPr lang="en-US" sz="1200" dirty="0"/>
          </a:p>
        </p:txBody>
      </p:sp>
      <p:sp>
        <p:nvSpPr>
          <p:cNvPr id="19" name="todo3"/>
          <p:cNvSpPr/>
          <p:nvPr/>
        </p:nvSpPr>
        <p:spPr>
          <a:xfrm>
            <a:off x="6278728" y="2926080"/>
            <a:ext cx="5272888" cy="914400"/>
          </a:xfrm>
          <a:prstGeom prst="roundRect">
            <a:avLst>
              <a:gd name="adj" fmla="val 6000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20" name="tnum3"/>
          <p:cNvSpPr/>
          <p:nvPr/>
        </p:nvSpPr>
        <p:spPr>
          <a:xfrm>
            <a:off x="6507328" y="317296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7328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1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55968" y="3090672"/>
            <a:ext cx="303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五江渕さん引き継ぎの完了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134295" y="3090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要割当</a:t>
            </a:r>
            <a:endParaRPr lang="en-US" sz="1200" dirty="0"/>
          </a:p>
        </p:txBody>
      </p:sp>
      <p:sp>
        <p:nvSpPr>
          <p:cNvPr id="24" name="todo4"/>
          <p:cNvSpPr/>
          <p:nvPr/>
        </p:nvSpPr>
        <p:spPr>
          <a:xfrm>
            <a:off x="640080" y="4069080"/>
            <a:ext cx="5272888" cy="914400"/>
          </a:xfrm>
          <a:prstGeom prst="roundRect">
            <a:avLst>
              <a:gd name="adj" fmla="val 6000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25" name="tnum4"/>
          <p:cNvSpPr/>
          <p:nvPr/>
        </p:nvSpPr>
        <p:spPr>
          <a:xfrm>
            <a:off x="868680" y="431596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1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233672"/>
            <a:ext cx="303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3月集中案件の前倒し候補の特定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95648" y="4233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高橋</a:t>
            </a:r>
            <a:endParaRPr lang="en-US" sz="1200" dirty="0"/>
          </a:p>
        </p:txBody>
      </p:sp>
      <p:sp>
        <p:nvSpPr>
          <p:cNvPr id="29" name="todo5"/>
          <p:cNvSpPr/>
          <p:nvPr/>
        </p:nvSpPr>
        <p:spPr>
          <a:xfrm>
            <a:off x="6278728" y="4069080"/>
            <a:ext cx="5272888" cy="914400"/>
          </a:xfrm>
          <a:prstGeom prst="roundRect">
            <a:avLst>
              <a:gd name="adj" fmla="val 6000"/>
            </a:avLst>
          </a:prstGeom>
          <a:solidFill>
            <a:srgbClr val="2A4F2A"/>
          </a:solidFill>
          <a:ln w="12700">
            <a:solidFill>
              <a:srgbClr val="3D6B3D"/>
            </a:solidFill>
            <a:prstDash val="solid"/>
          </a:ln>
        </p:spPr>
      </p:sp>
      <p:sp>
        <p:nvSpPr>
          <p:cNvPr id="30" name="tnum5"/>
          <p:cNvSpPr/>
          <p:nvPr/>
        </p:nvSpPr>
        <p:spPr>
          <a:xfrm>
            <a:off x="6507328" y="4315968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07328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1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5968" y="4233672"/>
            <a:ext cx="3032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ニッチ商品の候補3点の選定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134295" y="4233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高橋・落合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決めたいこと　①　提案数の週次目標をいつ置くか　②　ニッチ商品3点を誰が選ぶか　③　11月末を今期／来期の線引きとしてよいか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nmirai Sales">
  <a:themeElements>
    <a:clrScheme name="Shinmirai Sales">
      <a:dk1>
        <a:srgbClr val="1A1A1A"/>
      </a:dk1>
      <a:lt1>
        <a:srgbClr val="FFFFFF"/>
      </a:lt1>
      <a:dk2>
        <a:srgbClr val="1E3D1F"/>
      </a:dk2>
      <a:lt2>
        <a:srgbClr val="F0F3EB"/>
      </a:lt2>
      <a:accent1>
        <a:srgbClr val="2C5F2D"/>
      </a:accent1>
      <a:accent2>
        <a:srgbClr val="97BC62"/>
      </a:accent2>
      <a:accent3>
        <a:srgbClr val="C87941"/>
      </a:accent3>
      <a:accent4>
        <a:srgbClr val="5A7D5A"/>
      </a:accent4>
      <a:accent5>
        <a:srgbClr val="767676"/>
      </a:accent5>
      <a:accent6>
        <a:srgbClr val="B04A3C"/>
      </a:accent6>
      <a:hlink>
        <a:srgbClr val="2C5F2D"/>
      </a:hlink>
      <a:folHlink>
        <a:srgbClr val="5A7D5A"/>
      </a:folHlink>
    </a:clrScheme>
    <a:fontScheme name="Shinmirai Sales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森未来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営業部 立て直し計画</dc:title>
  <dc:subject>PptxGenJS Presentation</dc:subject>
  <dc:creator>営業部</dc:creator>
  <cp:lastModifiedBy>営業部</cp:lastModifiedBy>
  <cp:revision>1</cp:revision>
  <dcterms:created xsi:type="dcterms:W3CDTF">2026-10-04T12:07:22Z</dcterms:created>
  <dcterms:modified xsi:type="dcterms:W3CDTF">2026-10-04T12:07:22Z</dcterms:modified>
</cp:coreProperties>
</file>